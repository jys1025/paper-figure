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400800" cy="4953000"/>
  <p:notesSz cx="4953000" cy="64008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BSAE: spike-to-spike compression with delay-tolerant training
Technical replay of an existing design; no new image generation performed. Based on local BSAE config.yaml, models/autoencoder.py, models/layers.py, models/delay.py, losses/van_rossum.py and train.py; source hashes recorded separately. Expanded shared architecture, six Linear+LIF stages per side, binary 32-channel bottleneck. Adapter and validity mask only before shared encoder. Original target receives the learned causal per-channel delay; reconstruction bypasses delay. Both branches use the same 20-bin exponential kernel with full convolution. Current training pads 30 zero-tail bins; no measured performance or model-generated raster is shown. Raster patterns, filtered curves and the three-tap impulse response are explicitly schematic. Native editable explanation, independent generated neural-recording pictogram. Whole image draft is excluded. Draft inspected and transfer plan saved before native authoring. U-Net original architecture inspected only for dimension and contraction/expansion representation: https://lmbweb.informatik.uni-freiburg.de/people/ronneber/u-net/u-net-architecture.png . Simple mathematical labels are native grouped text, not OMML. Intended width 177.8 mm.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anel-a"/>
          <p:cNvSpPr/>
          <p:nvPr/>
        </p:nvSpPr>
        <p:spPr>
          <a:xfrm>
            <a:off x="152400" y="85725"/>
            <a:ext cx="6096000" cy="21907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62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 Spike-to-spike compression</a:t>
            </a:r>
            <a:endParaRPr lang="en-US" sz="1125" dirty="0"/>
          </a:p>
        </p:txBody>
      </p:sp>
      <p:pic>
        <p:nvPicPr>
          <p:cNvPr id="4" name="neural-recording-picture" descr="Generated illustrative pictogram of cultured-neuron recording on an electrode array.">    </p:cNvPr>
          <p:cNvPicPr>
            <a:picLocks noChangeAspect="1"/>
          </p:cNvPicPr>
          <p:nvPr/>
        </p:nvPicPr>
        <p:blipFill>
          <a:blip r:embed="rId1"/>
          <a:srcRect l="0" t="0" r="0" b="0"/>
          <a:stretch>
            <a:fillRect/>
          </a:stretch>
        </p:blipFill>
        <p:spPr>
          <a:xfrm>
            <a:off x="9525" y="752475"/>
            <a:ext cx="561975" cy="561975"/>
          </a:xfrm>
          <a:prstGeom prst="rect">
            <a:avLst/>
          </a:prstGeom>
        </p:spPr>
      </p:pic>
      <p:sp>
        <p:nvSpPr>
          <p:cNvPr id="5" name="recording-caption"/>
          <p:cNvSpPr/>
          <p:nvPr/>
        </p:nvSpPr>
        <p:spPr>
          <a:xfrm>
            <a:off x="19050" y="1371600"/>
            <a:ext cx="552450" cy="2762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5" dirty="0">
                <a:solidFill>
                  <a:srgbClr val="5258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</a:t>
            </a:r>
            <a:endParaRPr lang="en-US" sz="735" dirty="0"/>
          </a:p>
          <a:p>
            <a:pPr algn="ctr" indent="0" marL="0">
              <a:buNone/>
            </a:pPr>
            <a:r>
              <a:rPr lang="en-US" sz="735" dirty="0">
                <a:solidFill>
                  <a:srgbClr val="5258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recording</a:t>
            </a:r>
            <a:endParaRPr lang="en-US" sz="735" dirty="0"/>
          </a:p>
        </p:txBody>
      </p:sp>
      <p:sp>
        <p:nvSpPr>
          <p:cNvPr id="6" name="input-title"/>
          <p:cNvSpPr/>
          <p:nvPr/>
        </p:nvSpPr>
        <p:spPr>
          <a:xfrm>
            <a:off x="657225" y="438150"/>
            <a:ext cx="762000" cy="1619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67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900" dirty="0"/>
          </a:p>
        </p:txBody>
      </p:sp>
      <p:sp>
        <p:nvSpPr>
          <p:cNvPr id="7" name="input-X.0"/>
          <p:cNvSpPr/>
          <p:nvPr/>
        </p:nvSpPr>
        <p:spPr>
          <a:xfrm>
            <a:off x="979932" y="609600"/>
            <a:ext cx="154686" cy="27527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i="1" dirty="0">
                <a:solidFill>
                  <a:srgbClr val="267F7C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X</a:t>
            </a:r>
            <a:endParaRPr lang="en-US" sz="1275" dirty="0"/>
          </a:p>
        </p:txBody>
      </p:sp>
      <p:sp>
        <p:nvSpPr>
          <p:cNvPr id="8" name="input-spikes"/>
          <p:cNvSpPr/>
          <p:nvPr/>
        </p:nvSpPr>
        <p:spPr>
          <a:xfrm>
            <a:off x="657225" y="838200"/>
            <a:ext cx="762000" cy="628650"/>
          </a:xfrm>
          <a:prstGeom prst="rect">
            <a:avLst/>
          </a:prstGeom>
          <a:solidFill>
            <a:srgbClr val="FFFFFF"/>
          </a:solidFill>
          <a:ln w="10001">
            <a:solidFill>
              <a:srgbClr val="4C817E"/>
            </a:solidFill>
            <a:prstDash val="solid"/>
          </a:ln>
        </p:spPr>
      </p:sp>
      <p:grpSp>
        <p:nvGrpSpPr>
          <p:cNvPr id="210" name="input-spikes-events"/>
          <p:cNvGrpSpPr/>
          <p:nvPr/>
        </p:nvGrpSpPr>
        <p:grpSpPr>
          <a:xfrm>
            <a:off x="714375" y="914400"/>
            <a:ext cx="647700" cy="485870"/>
            <a:chOff x="714375" y="914400"/>
            <a:chExt cx="647700" cy="485870"/>
          </a:xfrm>
        </p:grpSpPr>
        <p:sp>
          <p:nvSpPr>
            <p:cNvPr id="9" name="input-spikes-baseline-0"/>
            <p:cNvSpPr/>
            <p:nvPr/>
          </p:nvSpPr>
          <p:spPr>
            <a:xfrm>
              <a:off x="714375" y="981075"/>
              <a:ext cx="647700" cy="95"/>
            </a:xfrm>
            <a:custGeom>
              <a:avLst/>
              <a:gdLst/>
              <a:ahLst/>
              <a:cxnLst/>
              <a:rect l="0" t="0" r="r" b="b"/>
              <a:pathLst>
                <a:path w="680000" h="100" fill="none" stroke="1">
                  <a:moveTo>
                    <a:pt x="0" y="0"/>
                  </a:moveTo>
                  <a:lnTo>
                    <a:pt x="680000" y="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 w="4286" cap="rnd">
              <a:solidFill>
                <a:srgbClr val="D3D8DA"/>
              </a:solidFill>
              <a:prstDash val="solid"/>
              <a:round/>
            </a:ln>
          </p:spPr>
        </p:sp>
        <p:sp>
          <p:nvSpPr>
            <p:cNvPr id="10" name="input-spikes-spike-0-0"/>
            <p:cNvSpPr/>
            <p:nvPr/>
          </p:nvSpPr>
          <p:spPr>
            <a:xfrm>
              <a:off x="768350" y="914400"/>
              <a:ext cx="95" cy="66675"/>
            </a:xfrm>
            <a:custGeom>
              <a:avLst/>
              <a:gdLst/>
              <a:ahLst/>
              <a:cxnLst/>
              <a:rect l="0" t="0" r="r" b="b"/>
              <a:pathLst>
                <a:path w="100" h="70000" fill="none" stroke="1">
                  <a:moveTo>
                    <a:pt x="0" y="70000"/>
                  </a:moveTo>
                  <a:lnTo>
                    <a:pt x="0" y="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 w="10001" cap="rnd">
              <a:solidFill>
                <a:srgbClr val="267F7C"/>
              </a:solidFill>
              <a:prstDash val="solid"/>
              <a:round/>
            </a:ln>
          </p:spPr>
        </p:sp>
        <p:sp>
          <p:nvSpPr>
            <p:cNvPr id="11" name="input-spikes-spike-0-1"/>
            <p:cNvSpPr/>
            <p:nvPr/>
          </p:nvSpPr>
          <p:spPr>
            <a:xfrm>
              <a:off x="795338" y="914400"/>
              <a:ext cx="95" cy="66675"/>
            </a:xfrm>
            <a:custGeom>
              <a:avLst/>
              <a:gdLst/>
              <a:ahLst/>
              <a:cxnLst/>
              <a:rect l="0" t="0" r="r" b="b"/>
              <a:pathLst>
                <a:path w="100" h="70000" fill="none" stroke="1">
                  <a:moveTo>
                    <a:pt x="0" y="70000"/>
                  </a:moveTo>
                  <a:lnTo>
                    <a:pt x="0" y="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 w="10001" cap="rnd">
              <a:solidFill>
                <a:srgbClr val="267F7C"/>
              </a:solidFill>
              <a:prstDash val="solid"/>
              <a:round/>
            </a:ln>
          </p:spPr>
        </p:sp>
        <p:sp>
          <p:nvSpPr>
            <p:cNvPr id="12" name="input-spikes-spike-0-2"/>
            <p:cNvSpPr/>
            <p:nvPr/>
          </p:nvSpPr>
          <p:spPr>
            <a:xfrm>
              <a:off x="930275" y="914400"/>
              <a:ext cx="95" cy="66675"/>
            </a:xfrm>
            <a:custGeom>
              <a:avLst/>
              <a:gdLst/>
              <a:ahLst/>
              <a:cxnLst/>
              <a:rect l="0" t="0" r="r" b="b"/>
              <a:pathLst>
                <a:path w="100" h="70000" fill="none" stroke="1">
                  <a:moveTo>
                    <a:pt x="0" y="70000"/>
                  </a:moveTo>
                  <a:lnTo>
                    <a:pt x="0" y="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 w="10001" cap="rnd">
              <a:solidFill>
                <a:srgbClr val="267F7C"/>
              </a:solidFill>
              <a:prstDash val="solid"/>
              <a:round/>
            </a:ln>
          </p:spPr>
        </p:sp>
        <p:sp>
          <p:nvSpPr>
            <p:cNvPr id="13" name="input-spikes-spike-0-3"/>
            <p:cNvSpPr/>
            <p:nvPr/>
          </p:nvSpPr>
          <p:spPr>
            <a:xfrm>
              <a:off x="1065213" y="914400"/>
              <a:ext cx="95" cy="66675"/>
            </a:xfrm>
            <a:custGeom>
              <a:avLst/>
              <a:gdLst/>
              <a:ahLst/>
              <a:cxnLst/>
              <a:rect l="0" t="0" r="r" b="b"/>
              <a:pathLst>
                <a:path w="100" h="70000" fill="none" stroke="1">
                  <a:moveTo>
                    <a:pt x="0" y="70000"/>
                  </a:moveTo>
                  <a:lnTo>
                    <a:pt x="0" y="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 w="10001" cap="rnd">
              <a:solidFill>
                <a:srgbClr val="267F7C"/>
              </a:solidFill>
              <a:prstDash val="solid"/>
              <a:round/>
            </a:ln>
          </p:spPr>
        </p:sp>
        <p:sp>
          <p:nvSpPr>
            <p:cNvPr id="14" name="input-spikes-spike-0-4"/>
            <p:cNvSpPr/>
            <p:nvPr/>
          </p:nvSpPr>
          <p:spPr>
            <a:xfrm>
              <a:off x="1200150" y="914400"/>
              <a:ext cx="95" cy="66675"/>
            </a:xfrm>
            <a:custGeom>
              <a:avLst/>
              <a:gdLst/>
              <a:ahLst/>
              <a:cxnLst/>
              <a:rect l="0" t="0" r="r" b="b"/>
              <a:pathLst>
                <a:path w="100" h="70000" fill="none" stroke="1">
                  <a:moveTo>
                    <a:pt x="0" y="70000"/>
                  </a:moveTo>
                  <a:lnTo>
                    <a:pt x="0" y="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 w="10001" cap="rnd">
              <a:solidFill>
                <a:srgbClr val="267F7C"/>
              </a:solidFill>
              <a:prstDash val="solid"/>
              <a:round/>
            </a:ln>
          </p:spPr>
        </p:sp>
        <p:sp>
          <p:nvSpPr>
            <p:cNvPr id="15" name="input-spikes-baseline-1"/>
            <p:cNvSpPr/>
            <p:nvPr/>
          </p:nvSpPr>
          <p:spPr>
            <a:xfrm>
              <a:off x="714375" y="1120775"/>
              <a:ext cx="647700" cy="95"/>
            </a:xfrm>
            <a:custGeom>
              <a:avLst/>
              <a:gdLst/>
              <a:ahLst/>
              <a:cxnLst/>
              <a:rect l="0" t="0" r="r" b="b"/>
              <a:pathLst>
                <a:path w="680000" h="100" fill="none" stroke="1">
                  <a:moveTo>
                    <a:pt x="0" y="0"/>
                  </a:moveTo>
                  <a:lnTo>
                    <a:pt x="680000" y="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 w="4286" cap="rnd">
              <a:solidFill>
                <a:srgbClr val="D3D8DA"/>
              </a:solidFill>
              <a:prstDash val="solid"/>
              <a:round/>
            </a:ln>
          </p:spPr>
        </p:sp>
        <p:sp>
          <p:nvSpPr>
            <p:cNvPr id="16" name="input-spikes-spike-1-0"/>
            <p:cNvSpPr/>
            <p:nvPr/>
          </p:nvSpPr>
          <p:spPr>
            <a:xfrm>
              <a:off x="741363" y="1054100"/>
              <a:ext cx="95" cy="66675"/>
            </a:xfrm>
            <a:custGeom>
              <a:avLst/>
              <a:gdLst/>
              <a:ahLst/>
              <a:cxnLst/>
              <a:rect l="0" t="0" r="r" b="b"/>
              <a:pathLst>
                <a:path w="100" h="70000" fill="none" stroke="1">
                  <a:moveTo>
                    <a:pt x="0" y="70000"/>
                  </a:moveTo>
                  <a:lnTo>
                    <a:pt x="0" y="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 w="10001" cap="rnd">
              <a:solidFill>
                <a:srgbClr val="267F7C"/>
              </a:solidFill>
              <a:prstDash val="solid"/>
              <a:round/>
            </a:ln>
          </p:spPr>
        </p:sp>
        <p:sp>
          <p:nvSpPr>
            <p:cNvPr id="17" name="input-spikes-spike-1-1"/>
            <p:cNvSpPr/>
            <p:nvPr/>
          </p:nvSpPr>
          <p:spPr>
            <a:xfrm>
              <a:off x="876300" y="1054100"/>
              <a:ext cx="95" cy="66675"/>
            </a:xfrm>
            <a:custGeom>
              <a:avLst/>
              <a:gdLst/>
              <a:ahLst/>
              <a:cxnLst/>
              <a:rect l="0" t="0" r="r" b="b"/>
              <a:pathLst>
                <a:path w="100" h="70000" fill="none" stroke="1">
                  <a:moveTo>
                    <a:pt x="0" y="70000"/>
                  </a:moveTo>
                  <a:lnTo>
                    <a:pt x="0" y="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 w="10001" cap="rnd">
              <a:solidFill>
                <a:srgbClr val="267F7C"/>
              </a:solidFill>
              <a:prstDash val="solid"/>
              <a:round/>
            </a:ln>
          </p:spPr>
        </p:sp>
        <p:sp>
          <p:nvSpPr>
            <p:cNvPr id="18" name="input-spikes-spike-1-2"/>
            <p:cNvSpPr/>
            <p:nvPr/>
          </p:nvSpPr>
          <p:spPr>
            <a:xfrm>
              <a:off x="903288" y="1054100"/>
              <a:ext cx="95" cy="66675"/>
            </a:xfrm>
            <a:custGeom>
              <a:avLst/>
              <a:gdLst/>
              <a:ahLst/>
              <a:cxnLst/>
              <a:rect l="0" t="0" r="r" b="b"/>
              <a:pathLst>
                <a:path w="100" h="70000" fill="none" stroke="1">
                  <a:moveTo>
                    <a:pt x="0" y="70000"/>
                  </a:moveTo>
                  <a:lnTo>
                    <a:pt x="0" y="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 w="10001" cap="rnd">
              <a:solidFill>
                <a:srgbClr val="267F7C"/>
              </a:solidFill>
              <a:prstDash val="solid"/>
              <a:round/>
            </a:ln>
          </p:spPr>
        </p:sp>
        <p:sp>
          <p:nvSpPr>
            <p:cNvPr id="19" name="input-spikes-spike-1-3"/>
            <p:cNvSpPr/>
            <p:nvPr/>
          </p:nvSpPr>
          <p:spPr>
            <a:xfrm>
              <a:off x="1092200" y="1054100"/>
              <a:ext cx="95" cy="66675"/>
            </a:xfrm>
            <a:custGeom>
              <a:avLst/>
              <a:gdLst/>
              <a:ahLst/>
              <a:cxnLst/>
              <a:rect l="0" t="0" r="r" b="b"/>
              <a:pathLst>
                <a:path w="100" h="70000" fill="none" stroke="1">
                  <a:moveTo>
                    <a:pt x="0" y="70000"/>
                  </a:moveTo>
                  <a:lnTo>
                    <a:pt x="0" y="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 w="10001" cap="rnd">
              <a:solidFill>
                <a:srgbClr val="267F7C"/>
              </a:solidFill>
              <a:prstDash val="solid"/>
              <a:round/>
            </a:ln>
          </p:spPr>
        </p:sp>
        <p:sp>
          <p:nvSpPr>
            <p:cNvPr id="20" name="input-spikes-spike-1-4"/>
            <p:cNvSpPr/>
            <p:nvPr/>
          </p:nvSpPr>
          <p:spPr>
            <a:xfrm>
              <a:off x="1254125" y="1054100"/>
              <a:ext cx="95" cy="66675"/>
            </a:xfrm>
            <a:custGeom>
              <a:avLst/>
              <a:gdLst/>
              <a:ahLst/>
              <a:cxnLst/>
              <a:rect l="0" t="0" r="r" b="b"/>
              <a:pathLst>
                <a:path w="100" h="70000" fill="none" stroke="1">
                  <a:moveTo>
                    <a:pt x="0" y="70000"/>
                  </a:moveTo>
                  <a:lnTo>
                    <a:pt x="0" y="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 w="10001" cap="rnd">
              <a:solidFill>
                <a:srgbClr val="267F7C"/>
              </a:solidFill>
              <a:prstDash val="solid"/>
              <a:round/>
            </a:ln>
          </p:spPr>
        </p:sp>
        <p:sp>
          <p:nvSpPr>
            <p:cNvPr id="21" name="input-spikes-baseline-2"/>
            <p:cNvSpPr/>
            <p:nvPr/>
          </p:nvSpPr>
          <p:spPr>
            <a:xfrm>
              <a:off x="714375" y="1260475"/>
              <a:ext cx="647700" cy="95"/>
            </a:xfrm>
            <a:custGeom>
              <a:avLst/>
              <a:gdLst/>
              <a:ahLst/>
              <a:cxnLst/>
              <a:rect l="0" t="0" r="r" b="b"/>
              <a:pathLst>
                <a:path w="680000" h="100" fill="none" stroke="1">
                  <a:moveTo>
                    <a:pt x="0" y="0"/>
                  </a:moveTo>
                  <a:lnTo>
                    <a:pt x="680000" y="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 w="4286" cap="rnd">
              <a:solidFill>
                <a:srgbClr val="D3D8DA"/>
              </a:solidFill>
              <a:prstDash val="solid"/>
              <a:round/>
            </a:ln>
          </p:spPr>
        </p:sp>
        <p:sp>
          <p:nvSpPr>
            <p:cNvPr id="22" name="input-spikes-spike-2-0"/>
            <p:cNvSpPr/>
            <p:nvPr/>
          </p:nvSpPr>
          <p:spPr>
            <a:xfrm>
              <a:off x="822325" y="1193800"/>
              <a:ext cx="95" cy="66675"/>
            </a:xfrm>
            <a:custGeom>
              <a:avLst/>
              <a:gdLst/>
              <a:ahLst/>
              <a:cxnLst/>
              <a:rect l="0" t="0" r="r" b="b"/>
              <a:pathLst>
                <a:path w="100" h="70000" fill="none" stroke="1">
                  <a:moveTo>
                    <a:pt x="0" y="70000"/>
                  </a:moveTo>
                  <a:lnTo>
                    <a:pt x="0" y="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 w="10001" cap="rnd">
              <a:solidFill>
                <a:srgbClr val="267F7C"/>
              </a:solidFill>
              <a:prstDash val="solid"/>
              <a:round/>
            </a:ln>
          </p:spPr>
        </p:sp>
        <p:sp>
          <p:nvSpPr>
            <p:cNvPr id="23" name="input-spikes-spike-2-1"/>
            <p:cNvSpPr/>
            <p:nvPr/>
          </p:nvSpPr>
          <p:spPr>
            <a:xfrm>
              <a:off x="957263" y="1193800"/>
              <a:ext cx="95" cy="66675"/>
            </a:xfrm>
            <a:custGeom>
              <a:avLst/>
              <a:gdLst/>
              <a:ahLst/>
              <a:cxnLst/>
              <a:rect l="0" t="0" r="r" b="b"/>
              <a:pathLst>
                <a:path w="100" h="70000" fill="none" stroke="1">
                  <a:moveTo>
                    <a:pt x="0" y="70000"/>
                  </a:moveTo>
                  <a:lnTo>
                    <a:pt x="0" y="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 w="10001" cap="rnd">
              <a:solidFill>
                <a:srgbClr val="267F7C"/>
              </a:solidFill>
              <a:prstDash val="solid"/>
              <a:round/>
            </a:ln>
          </p:spPr>
        </p:sp>
        <p:sp>
          <p:nvSpPr>
            <p:cNvPr id="24" name="input-spikes-spike-2-2"/>
            <p:cNvSpPr/>
            <p:nvPr/>
          </p:nvSpPr>
          <p:spPr>
            <a:xfrm>
              <a:off x="1038225" y="1193800"/>
              <a:ext cx="95" cy="66675"/>
            </a:xfrm>
            <a:custGeom>
              <a:avLst/>
              <a:gdLst/>
              <a:ahLst/>
              <a:cxnLst/>
              <a:rect l="0" t="0" r="r" b="b"/>
              <a:pathLst>
                <a:path w="100" h="70000" fill="none" stroke="1">
                  <a:moveTo>
                    <a:pt x="0" y="70000"/>
                  </a:moveTo>
                  <a:lnTo>
                    <a:pt x="0" y="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 w="10001" cap="rnd">
              <a:solidFill>
                <a:srgbClr val="267F7C"/>
              </a:solidFill>
              <a:prstDash val="solid"/>
              <a:round/>
            </a:ln>
          </p:spPr>
        </p:sp>
        <p:sp>
          <p:nvSpPr>
            <p:cNvPr id="25" name="input-spikes-spike-2-3"/>
            <p:cNvSpPr/>
            <p:nvPr/>
          </p:nvSpPr>
          <p:spPr>
            <a:xfrm>
              <a:off x="1200150" y="1193800"/>
              <a:ext cx="95" cy="66675"/>
            </a:xfrm>
            <a:custGeom>
              <a:avLst/>
              <a:gdLst/>
              <a:ahLst/>
              <a:cxnLst/>
              <a:rect l="0" t="0" r="r" b="b"/>
              <a:pathLst>
                <a:path w="100" h="70000" fill="none" stroke="1">
                  <a:moveTo>
                    <a:pt x="0" y="70000"/>
                  </a:moveTo>
                  <a:lnTo>
                    <a:pt x="0" y="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 w="10001" cap="rnd">
              <a:solidFill>
                <a:srgbClr val="267F7C"/>
              </a:solidFill>
              <a:prstDash val="solid"/>
              <a:round/>
            </a:ln>
          </p:spPr>
        </p:sp>
        <p:sp>
          <p:nvSpPr>
            <p:cNvPr id="26" name="input-spikes-spike-2-4"/>
            <p:cNvSpPr/>
            <p:nvPr/>
          </p:nvSpPr>
          <p:spPr>
            <a:xfrm>
              <a:off x="1281113" y="1193800"/>
              <a:ext cx="95" cy="66675"/>
            </a:xfrm>
            <a:custGeom>
              <a:avLst/>
              <a:gdLst/>
              <a:ahLst/>
              <a:cxnLst/>
              <a:rect l="0" t="0" r="r" b="b"/>
              <a:pathLst>
                <a:path w="100" h="70000" fill="none" stroke="1">
                  <a:moveTo>
                    <a:pt x="0" y="70000"/>
                  </a:moveTo>
                  <a:lnTo>
                    <a:pt x="0" y="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 w="10001" cap="rnd">
              <a:solidFill>
                <a:srgbClr val="267F7C"/>
              </a:solidFill>
              <a:prstDash val="solid"/>
              <a:round/>
            </a:ln>
          </p:spPr>
        </p:sp>
        <p:sp>
          <p:nvSpPr>
            <p:cNvPr id="27" name="input-spikes-baseline-3"/>
            <p:cNvSpPr/>
            <p:nvPr/>
          </p:nvSpPr>
          <p:spPr>
            <a:xfrm>
              <a:off x="714375" y="1400175"/>
              <a:ext cx="647700" cy="95"/>
            </a:xfrm>
            <a:custGeom>
              <a:avLst/>
              <a:gdLst/>
              <a:ahLst/>
              <a:cxnLst/>
              <a:rect l="0" t="0" r="r" b="b"/>
              <a:pathLst>
                <a:path w="680000" h="100" fill="none" stroke="1">
                  <a:moveTo>
                    <a:pt x="0" y="0"/>
                  </a:moveTo>
                  <a:lnTo>
                    <a:pt x="680000" y="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 w="4286" cap="rnd">
              <a:solidFill>
                <a:srgbClr val="D3D8DA"/>
              </a:solidFill>
              <a:prstDash val="solid"/>
              <a:round/>
            </a:ln>
          </p:spPr>
        </p:sp>
        <p:sp>
          <p:nvSpPr>
            <p:cNvPr id="28" name="input-spikes-spike-3-0"/>
            <p:cNvSpPr/>
            <p:nvPr/>
          </p:nvSpPr>
          <p:spPr>
            <a:xfrm>
              <a:off x="795338" y="1333500"/>
              <a:ext cx="95" cy="66675"/>
            </a:xfrm>
            <a:custGeom>
              <a:avLst/>
              <a:gdLst/>
              <a:ahLst/>
              <a:cxnLst/>
              <a:rect l="0" t="0" r="r" b="b"/>
              <a:pathLst>
                <a:path w="100" h="70000" fill="none" stroke="1">
                  <a:moveTo>
                    <a:pt x="0" y="70000"/>
                  </a:moveTo>
                  <a:lnTo>
                    <a:pt x="0" y="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 w="10001" cap="rnd">
              <a:solidFill>
                <a:srgbClr val="267F7C"/>
              </a:solidFill>
              <a:prstDash val="solid"/>
              <a:round/>
            </a:ln>
          </p:spPr>
        </p:sp>
        <p:sp>
          <p:nvSpPr>
            <p:cNvPr id="29" name="input-spikes-spike-3-1"/>
            <p:cNvSpPr/>
            <p:nvPr/>
          </p:nvSpPr>
          <p:spPr>
            <a:xfrm>
              <a:off x="849313" y="1333500"/>
              <a:ext cx="95" cy="66675"/>
            </a:xfrm>
            <a:custGeom>
              <a:avLst/>
              <a:gdLst/>
              <a:ahLst/>
              <a:cxnLst/>
              <a:rect l="0" t="0" r="r" b="b"/>
              <a:pathLst>
                <a:path w="100" h="70000" fill="none" stroke="1">
                  <a:moveTo>
                    <a:pt x="0" y="70000"/>
                  </a:moveTo>
                  <a:lnTo>
                    <a:pt x="0" y="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 w="10001" cap="rnd">
              <a:solidFill>
                <a:srgbClr val="267F7C"/>
              </a:solidFill>
              <a:prstDash val="solid"/>
              <a:round/>
            </a:ln>
          </p:spPr>
        </p:sp>
        <p:sp>
          <p:nvSpPr>
            <p:cNvPr id="30" name="input-spikes-spike-3-2"/>
            <p:cNvSpPr/>
            <p:nvPr/>
          </p:nvSpPr>
          <p:spPr>
            <a:xfrm>
              <a:off x="1011237" y="1333500"/>
              <a:ext cx="95" cy="66675"/>
            </a:xfrm>
            <a:custGeom>
              <a:avLst/>
              <a:gdLst/>
              <a:ahLst/>
              <a:cxnLst/>
              <a:rect l="0" t="0" r="r" b="b"/>
              <a:pathLst>
                <a:path w="100" h="70000" fill="none" stroke="1">
                  <a:moveTo>
                    <a:pt x="0" y="70000"/>
                  </a:moveTo>
                  <a:lnTo>
                    <a:pt x="0" y="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 w="10001" cap="rnd">
              <a:solidFill>
                <a:srgbClr val="267F7C"/>
              </a:solidFill>
              <a:prstDash val="solid"/>
              <a:round/>
            </a:ln>
          </p:spPr>
        </p:sp>
        <p:sp>
          <p:nvSpPr>
            <p:cNvPr id="31" name="input-spikes-spike-3-3"/>
            <p:cNvSpPr/>
            <p:nvPr/>
          </p:nvSpPr>
          <p:spPr>
            <a:xfrm>
              <a:off x="1173163" y="1333500"/>
              <a:ext cx="95" cy="66675"/>
            </a:xfrm>
            <a:custGeom>
              <a:avLst/>
              <a:gdLst/>
              <a:ahLst/>
              <a:cxnLst/>
              <a:rect l="0" t="0" r="r" b="b"/>
              <a:pathLst>
                <a:path w="100" h="70000" fill="none" stroke="1">
                  <a:moveTo>
                    <a:pt x="0" y="70000"/>
                  </a:moveTo>
                  <a:lnTo>
                    <a:pt x="0" y="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 w="10001" cap="rnd">
              <a:solidFill>
                <a:srgbClr val="267F7C"/>
              </a:solidFill>
              <a:prstDash val="solid"/>
              <a:round/>
            </a:ln>
          </p:spPr>
        </p:sp>
        <p:sp>
          <p:nvSpPr>
            <p:cNvPr id="32" name="input-spikes-spike-3-4"/>
            <p:cNvSpPr/>
            <p:nvPr/>
          </p:nvSpPr>
          <p:spPr>
            <a:xfrm>
              <a:off x="1308100" y="1333500"/>
              <a:ext cx="95" cy="66675"/>
            </a:xfrm>
            <a:custGeom>
              <a:avLst/>
              <a:gdLst/>
              <a:ahLst/>
              <a:cxnLst/>
              <a:rect l="0" t="0" r="r" b="b"/>
              <a:pathLst>
                <a:path w="100" h="70000" fill="none" stroke="1">
                  <a:moveTo>
                    <a:pt x="0" y="70000"/>
                  </a:moveTo>
                  <a:lnTo>
                    <a:pt x="0" y="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 w="10001" cap="rnd">
              <a:solidFill>
                <a:srgbClr val="267F7C"/>
              </a:solidFill>
              <a:prstDash val="solid"/>
              <a:round/>
            </a:ln>
          </p:spPr>
        </p:sp>
      </p:grpSp>
      <p:sp>
        <p:nvSpPr>
          <p:cNvPr id="33" name="input-dimension"/>
          <p:cNvSpPr/>
          <p:nvPr/>
        </p:nvSpPr>
        <p:spPr>
          <a:xfrm>
            <a:off x="600075" y="1514475"/>
            <a:ext cx="876300" cy="152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267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1024 channels</a:t>
            </a:r>
            <a:endParaRPr lang="en-US" sz="788" dirty="0"/>
          </a:p>
        </p:txBody>
      </p:sp>
      <p:sp>
        <p:nvSpPr>
          <p:cNvPr id="34" name="input-adapter"/>
          <p:cNvSpPr/>
          <p:nvPr/>
        </p:nvSpPr>
        <p:spPr>
          <a:xfrm>
            <a:off x="1562100" y="942975"/>
            <a:ext cx="447675" cy="419100"/>
          </a:xfrm>
          <a:prstGeom prst="rect">
            <a:avLst/>
          </a:prstGeom>
          <a:solidFill>
            <a:srgbClr val="EFF1F2"/>
          </a:solidFill>
          <a:ln w="9525">
            <a:solidFill>
              <a:srgbClr val="747B7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262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788" dirty="0"/>
          </a:p>
          <a:p>
            <a:pPr algn="ctr" indent="0" marL="0">
              <a:buNone/>
            </a:pPr>
            <a:r>
              <a:rPr lang="en-US" sz="788" dirty="0">
                <a:solidFill>
                  <a:srgbClr val="262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</a:t>
            </a:r>
            <a:endParaRPr lang="en-US" sz="788" dirty="0"/>
          </a:p>
          <a:p>
            <a:pPr algn="ctr" indent="0" marL="0">
              <a:buNone/>
            </a:pPr>
            <a:r>
              <a:rPr lang="en-US" sz="788" dirty="0">
                <a:solidFill>
                  <a:srgbClr val="262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mask</a:t>
            </a:r>
            <a:endParaRPr lang="en-US" sz="788" dirty="0"/>
          </a:p>
        </p:txBody>
      </p:sp>
      <p:sp>
        <p:nvSpPr>
          <p:cNvPr id="35" name="adapter-caption"/>
          <p:cNvSpPr/>
          <p:nvPr/>
        </p:nvSpPr>
        <p:spPr>
          <a:xfrm>
            <a:off x="1504950" y="1438275"/>
            <a:ext cx="561975" cy="152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5" dirty="0">
                <a:solidFill>
                  <a:srgbClr val="5258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only</a:t>
            </a:r>
            <a:endParaRPr lang="en-US" sz="705" dirty="0"/>
          </a:p>
        </p:txBody>
      </p:sp>
      <p:sp>
        <p:nvSpPr>
          <p:cNvPr id="36" name="encoder-title"/>
          <p:cNvSpPr/>
          <p:nvPr/>
        </p:nvSpPr>
        <p:spPr>
          <a:xfrm>
            <a:off x="2133600" y="333375"/>
            <a:ext cx="1190625" cy="1619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5" b="1" dirty="0">
                <a:solidFill>
                  <a:srgbClr val="267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encoder</a:t>
            </a:r>
            <a:endParaRPr lang="en-US" sz="885" dirty="0"/>
          </a:p>
        </p:txBody>
      </p:sp>
      <p:sp>
        <p:nvSpPr>
          <p:cNvPr id="37" name="encoder-stage-kind"/>
          <p:cNvSpPr/>
          <p:nvPr/>
        </p:nvSpPr>
        <p:spPr>
          <a:xfrm>
            <a:off x="2133600" y="504825"/>
            <a:ext cx="1190625" cy="1143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5" dirty="0">
                <a:solidFill>
                  <a:srgbClr val="267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× Linear + LIF</a:t>
            </a:r>
            <a:endParaRPr lang="en-US" sz="735" dirty="0"/>
          </a:p>
        </p:txBody>
      </p:sp>
      <p:sp>
        <p:nvSpPr>
          <p:cNvPr id="38" name="decoder-title"/>
          <p:cNvSpPr/>
          <p:nvPr/>
        </p:nvSpPr>
        <p:spPr>
          <a:xfrm>
            <a:off x="4076700" y="333375"/>
            <a:ext cx="1200150" cy="1619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5" b="1" dirty="0">
                <a:solidFill>
                  <a:srgbClr val="B95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decoder</a:t>
            </a:r>
            <a:endParaRPr lang="en-US" sz="885" dirty="0"/>
          </a:p>
        </p:txBody>
      </p:sp>
      <p:sp>
        <p:nvSpPr>
          <p:cNvPr id="39" name="decoder-stage-kind"/>
          <p:cNvSpPr/>
          <p:nvPr/>
        </p:nvSpPr>
        <p:spPr>
          <a:xfrm>
            <a:off x="4076700" y="504825"/>
            <a:ext cx="1200150" cy="1143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5" dirty="0">
                <a:solidFill>
                  <a:srgbClr val="B95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× Linear + LIF</a:t>
            </a:r>
            <a:endParaRPr lang="en-US" sz="735" dirty="0"/>
          </a:p>
        </p:txBody>
      </p:sp>
      <p:grpSp>
        <p:nvGrpSpPr>
          <p:cNvPr id="211" name="encoder-stages"/>
          <p:cNvGrpSpPr/>
          <p:nvPr/>
        </p:nvGrpSpPr>
        <p:grpSpPr>
          <a:xfrm>
            <a:off x="2124075" y="657225"/>
            <a:ext cx="1209675" cy="990600"/>
            <a:chOff x="2124075" y="657225"/>
            <a:chExt cx="1209675" cy="990600"/>
          </a:xfrm>
        </p:grpSpPr>
        <p:sp>
          <p:nvSpPr>
            <p:cNvPr id="40" name="encoder-stage-0"/>
            <p:cNvSpPr/>
            <p:nvPr/>
          </p:nvSpPr>
          <p:spPr>
            <a:xfrm>
              <a:off x="2139315" y="657225"/>
              <a:ext cx="187008" cy="990600"/>
            </a:xfrm>
            <a:custGeom>
              <a:avLst/>
              <a:gdLst/>
              <a:ahLst/>
              <a:cxnLst/>
              <a:rect l="0" t="0" r="r" b="b"/>
              <a:pathLst>
                <a:path w="196333" h="1040000" fill="norm" stroke="1">
                  <a:moveTo>
                    <a:pt x="0" y="0"/>
                  </a:moveTo>
                  <a:lnTo>
                    <a:pt x="196333" y="0"/>
                  </a:lnTo>
                  <a:lnTo>
                    <a:pt x="196333" y="1040000"/>
                  </a:lnTo>
                  <a:lnTo>
                    <a:pt x="0" y="1040000"/>
                  </a:lnTo>
                  <a:close/>
                </a:path>
              </a:pathLst>
            </a:custGeom>
            <a:solidFill>
              <a:srgbClr val="D9EEEC"/>
            </a:solidFill>
            <a:ln w="7620" cap="rnd">
              <a:solidFill>
                <a:srgbClr val="4C817E"/>
              </a:solidFill>
              <a:prstDash val="solid"/>
              <a:round/>
            </a:ln>
          </p:spPr>
        </p:sp>
        <p:sp>
          <p:nvSpPr>
            <p:cNvPr id="41" name="encoder-width-0"/>
            <p:cNvSpPr/>
            <p:nvPr/>
          </p:nvSpPr>
          <p:spPr>
            <a:xfrm>
              <a:off x="2124075" y="1085850"/>
              <a:ext cx="217488" cy="14287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675" b="1" dirty="0">
                  <a:solidFill>
                    <a:srgbClr val="267F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1024</a:t>
              </a:r>
              <a:endParaRPr lang="en-US" sz="675" dirty="0"/>
            </a:p>
          </p:txBody>
        </p:sp>
        <p:sp>
          <p:nvSpPr>
            <p:cNvPr id="42" name="encoder-stage-1"/>
            <p:cNvSpPr/>
            <p:nvPr/>
          </p:nvSpPr>
          <p:spPr>
            <a:xfrm>
              <a:off x="2337753" y="657225"/>
              <a:ext cx="187007" cy="990600"/>
            </a:xfrm>
            <a:custGeom>
              <a:avLst/>
              <a:gdLst/>
              <a:ahLst/>
              <a:cxnLst/>
              <a:rect l="0" t="0" r="r" b="b"/>
              <a:pathLst>
                <a:path w="196333" h="1040000" fill="norm" stroke="1">
                  <a:moveTo>
                    <a:pt x="0" y="0"/>
                  </a:moveTo>
                  <a:lnTo>
                    <a:pt x="196333" y="80000"/>
                  </a:lnTo>
                  <a:lnTo>
                    <a:pt x="196333" y="960000"/>
                  </a:lnTo>
                  <a:lnTo>
                    <a:pt x="0" y="1040000"/>
                  </a:lnTo>
                  <a:close/>
                </a:path>
              </a:pathLst>
            </a:custGeom>
            <a:solidFill>
              <a:srgbClr val="D9EEEC"/>
            </a:solidFill>
            <a:ln w="7620" cap="rnd">
              <a:solidFill>
                <a:srgbClr val="4C817E"/>
              </a:solidFill>
              <a:prstDash val="solid"/>
              <a:round/>
            </a:ln>
          </p:spPr>
        </p:sp>
        <p:sp>
          <p:nvSpPr>
            <p:cNvPr id="43" name="encoder-width-1"/>
            <p:cNvSpPr/>
            <p:nvPr/>
          </p:nvSpPr>
          <p:spPr>
            <a:xfrm>
              <a:off x="2322513" y="1085850"/>
              <a:ext cx="217488" cy="14287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675" b="1" dirty="0">
                  <a:solidFill>
                    <a:srgbClr val="267F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768</a:t>
              </a:r>
              <a:endParaRPr lang="en-US" sz="675" dirty="0"/>
            </a:p>
          </p:txBody>
        </p:sp>
        <p:sp>
          <p:nvSpPr>
            <p:cNvPr id="44" name="encoder-stage-2"/>
            <p:cNvSpPr/>
            <p:nvPr/>
          </p:nvSpPr>
          <p:spPr>
            <a:xfrm>
              <a:off x="2536190" y="733425"/>
              <a:ext cx="187007" cy="838200"/>
            </a:xfrm>
            <a:custGeom>
              <a:avLst/>
              <a:gdLst/>
              <a:ahLst/>
              <a:cxnLst/>
              <a:rect l="0" t="0" r="r" b="b"/>
              <a:pathLst>
                <a:path w="196333" h="880000" fill="norm" stroke="1">
                  <a:moveTo>
                    <a:pt x="0" y="0"/>
                  </a:moveTo>
                  <a:lnTo>
                    <a:pt x="196333" y="80000"/>
                  </a:lnTo>
                  <a:lnTo>
                    <a:pt x="196333" y="800000"/>
                  </a:lnTo>
                  <a:lnTo>
                    <a:pt x="0" y="880000"/>
                  </a:lnTo>
                  <a:close/>
                </a:path>
              </a:pathLst>
            </a:custGeom>
            <a:solidFill>
              <a:srgbClr val="D9EEEC"/>
            </a:solidFill>
            <a:ln w="7620" cap="rnd">
              <a:solidFill>
                <a:srgbClr val="4C817E"/>
              </a:solidFill>
              <a:prstDash val="solid"/>
              <a:round/>
            </a:ln>
          </p:spPr>
        </p:sp>
        <p:sp>
          <p:nvSpPr>
            <p:cNvPr id="45" name="encoder-width-2"/>
            <p:cNvSpPr/>
            <p:nvPr/>
          </p:nvSpPr>
          <p:spPr>
            <a:xfrm>
              <a:off x="2520950" y="1085850"/>
              <a:ext cx="217488" cy="14287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675" b="1" dirty="0">
                  <a:solidFill>
                    <a:srgbClr val="267F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512</a:t>
              </a:r>
              <a:endParaRPr lang="en-US" sz="675" dirty="0"/>
            </a:p>
          </p:txBody>
        </p:sp>
        <p:sp>
          <p:nvSpPr>
            <p:cNvPr id="46" name="encoder-stage-3"/>
            <p:cNvSpPr/>
            <p:nvPr/>
          </p:nvSpPr>
          <p:spPr>
            <a:xfrm>
              <a:off x="2734628" y="809625"/>
              <a:ext cx="187007" cy="685800"/>
            </a:xfrm>
            <a:custGeom>
              <a:avLst/>
              <a:gdLst/>
              <a:ahLst/>
              <a:cxnLst/>
              <a:rect l="0" t="0" r="r" b="b"/>
              <a:pathLst>
                <a:path w="196333" h="720000" fill="norm" stroke="1">
                  <a:moveTo>
                    <a:pt x="0" y="0"/>
                  </a:moveTo>
                  <a:lnTo>
                    <a:pt x="196333" y="90000"/>
                  </a:lnTo>
                  <a:lnTo>
                    <a:pt x="196333" y="630000"/>
                  </a:lnTo>
                  <a:lnTo>
                    <a:pt x="0" y="720000"/>
                  </a:lnTo>
                  <a:close/>
                </a:path>
              </a:pathLst>
            </a:custGeom>
            <a:solidFill>
              <a:srgbClr val="D9EEEC"/>
            </a:solidFill>
            <a:ln w="7620" cap="rnd">
              <a:solidFill>
                <a:srgbClr val="4C817E"/>
              </a:solidFill>
              <a:prstDash val="solid"/>
              <a:round/>
            </a:ln>
          </p:spPr>
        </p:sp>
        <p:sp>
          <p:nvSpPr>
            <p:cNvPr id="47" name="encoder-width-3"/>
            <p:cNvSpPr/>
            <p:nvPr/>
          </p:nvSpPr>
          <p:spPr>
            <a:xfrm>
              <a:off x="2719388" y="1085850"/>
              <a:ext cx="217488" cy="14287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675" b="1" dirty="0">
                  <a:solidFill>
                    <a:srgbClr val="267F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256</a:t>
              </a:r>
              <a:endParaRPr lang="en-US" sz="675" dirty="0"/>
            </a:p>
          </p:txBody>
        </p:sp>
        <p:sp>
          <p:nvSpPr>
            <p:cNvPr id="48" name="encoder-stage-4"/>
            <p:cNvSpPr/>
            <p:nvPr/>
          </p:nvSpPr>
          <p:spPr>
            <a:xfrm>
              <a:off x="2933065" y="895350"/>
              <a:ext cx="187007" cy="514350"/>
            </a:xfrm>
            <a:custGeom>
              <a:avLst/>
              <a:gdLst/>
              <a:ahLst/>
              <a:cxnLst/>
              <a:rect l="0" t="0" r="r" b="b"/>
              <a:pathLst>
                <a:path w="196333" h="540000" fill="norm" stroke="1">
                  <a:moveTo>
                    <a:pt x="0" y="0"/>
                  </a:moveTo>
                  <a:lnTo>
                    <a:pt x="196333" y="80000"/>
                  </a:lnTo>
                  <a:lnTo>
                    <a:pt x="196333" y="460000"/>
                  </a:lnTo>
                  <a:lnTo>
                    <a:pt x="0" y="540000"/>
                  </a:lnTo>
                  <a:close/>
                </a:path>
              </a:pathLst>
            </a:custGeom>
            <a:solidFill>
              <a:srgbClr val="D9EEEC"/>
            </a:solidFill>
            <a:ln w="7620" cap="rnd">
              <a:solidFill>
                <a:srgbClr val="4C817E"/>
              </a:solidFill>
              <a:prstDash val="solid"/>
              <a:round/>
            </a:ln>
          </p:spPr>
        </p:sp>
        <p:sp>
          <p:nvSpPr>
            <p:cNvPr id="49" name="encoder-width-4"/>
            <p:cNvSpPr/>
            <p:nvPr/>
          </p:nvSpPr>
          <p:spPr>
            <a:xfrm>
              <a:off x="2917825" y="1085850"/>
              <a:ext cx="217488" cy="14287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675" b="1" dirty="0">
                  <a:solidFill>
                    <a:srgbClr val="267F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128</a:t>
              </a:r>
              <a:endParaRPr lang="en-US" sz="675" dirty="0"/>
            </a:p>
          </p:txBody>
        </p:sp>
        <p:sp>
          <p:nvSpPr>
            <p:cNvPr id="50" name="encoder-stage-5"/>
            <p:cNvSpPr/>
            <p:nvPr/>
          </p:nvSpPr>
          <p:spPr>
            <a:xfrm>
              <a:off x="3131503" y="971550"/>
              <a:ext cx="187007" cy="361950"/>
            </a:xfrm>
            <a:custGeom>
              <a:avLst/>
              <a:gdLst/>
              <a:ahLst/>
              <a:cxnLst/>
              <a:rect l="0" t="0" r="r" b="b"/>
              <a:pathLst>
                <a:path w="196333" h="380000" fill="norm" stroke="1">
                  <a:moveTo>
                    <a:pt x="0" y="0"/>
                  </a:moveTo>
                  <a:lnTo>
                    <a:pt x="196333" y="70000"/>
                  </a:lnTo>
                  <a:lnTo>
                    <a:pt x="196333" y="310000"/>
                  </a:lnTo>
                  <a:lnTo>
                    <a:pt x="0" y="380000"/>
                  </a:lnTo>
                  <a:close/>
                </a:path>
              </a:pathLst>
            </a:custGeom>
            <a:solidFill>
              <a:srgbClr val="D9EEEC"/>
            </a:solidFill>
            <a:ln w="7620" cap="rnd">
              <a:solidFill>
                <a:srgbClr val="4C817E"/>
              </a:solidFill>
              <a:prstDash val="solid"/>
              <a:round/>
            </a:ln>
          </p:spPr>
        </p:sp>
        <p:sp>
          <p:nvSpPr>
            <p:cNvPr id="51" name="encoder-width-5"/>
            <p:cNvSpPr/>
            <p:nvPr/>
          </p:nvSpPr>
          <p:spPr>
            <a:xfrm>
              <a:off x="3116262" y="1085850"/>
              <a:ext cx="217488" cy="14287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675" b="1" dirty="0">
                  <a:solidFill>
                    <a:srgbClr val="267F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32</a:t>
              </a:r>
              <a:endParaRPr lang="en-US" sz="675" dirty="0"/>
            </a:p>
          </p:txBody>
        </p:sp>
      </p:grpSp>
      <p:sp>
        <p:nvSpPr>
          <p:cNvPr id="52" name="encoder-in"/>
          <p:cNvSpPr/>
          <p:nvPr/>
        </p:nvSpPr>
        <p:spPr>
          <a:xfrm>
            <a:off x="2128838" y="657225"/>
            <a:ext cx="14288" cy="990600"/>
          </a:xfrm>
          <a:prstGeom prst="rect">
            <a:avLst/>
          </a:prstGeom>
          <a:solidFill>
            <a:srgbClr val="4C817E"/>
          </a:solidFill>
          <a:ln w="3810">
            <a:solidFill>
              <a:srgbClr val="4C817E"/>
            </a:solidFill>
            <a:prstDash val="solid"/>
          </a:ln>
        </p:spPr>
      </p:sp>
      <p:sp>
        <p:nvSpPr>
          <p:cNvPr id="53" name="encoder-out"/>
          <p:cNvSpPr/>
          <p:nvPr/>
        </p:nvSpPr>
        <p:spPr>
          <a:xfrm>
            <a:off x="3314700" y="1038225"/>
            <a:ext cx="14288" cy="228600"/>
          </a:xfrm>
          <a:prstGeom prst="rect">
            <a:avLst/>
          </a:prstGeom>
          <a:solidFill>
            <a:srgbClr val="4C817E"/>
          </a:solidFill>
          <a:ln w="3810">
            <a:solidFill>
              <a:srgbClr val="4C817E"/>
            </a:solidFill>
            <a:prstDash val="solid"/>
          </a:ln>
        </p:spPr>
      </p:sp>
      <p:grpSp>
        <p:nvGrpSpPr>
          <p:cNvPr id="212" name="decoder-stages"/>
          <p:cNvGrpSpPr/>
          <p:nvPr/>
        </p:nvGrpSpPr>
        <p:grpSpPr>
          <a:xfrm>
            <a:off x="4067175" y="657225"/>
            <a:ext cx="1219200" cy="990600"/>
            <a:chOff x="4067175" y="657225"/>
            <a:chExt cx="1219200" cy="990600"/>
          </a:xfrm>
        </p:grpSpPr>
        <p:sp>
          <p:nvSpPr>
            <p:cNvPr id="54" name="decoder-stage-0"/>
            <p:cNvSpPr/>
            <p:nvPr/>
          </p:nvSpPr>
          <p:spPr>
            <a:xfrm>
              <a:off x="4082415" y="971550"/>
              <a:ext cx="188595" cy="361950"/>
            </a:xfrm>
            <a:custGeom>
              <a:avLst/>
              <a:gdLst/>
              <a:ahLst/>
              <a:cxnLst/>
              <a:rect l="0" t="0" r="r" b="b"/>
              <a:pathLst>
                <a:path w="198000" h="380000" fill="norm" stroke="1">
                  <a:moveTo>
                    <a:pt x="0" y="70000"/>
                  </a:moveTo>
                  <a:lnTo>
                    <a:pt x="198000" y="0"/>
                  </a:lnTo>
                  <a:lnTo>
                    <a:pt x="198000" y="380000"/>
                  </a:lnTo>
                  <a:lnTo>
                    <a:pt x="0" y="310000"/>
                  </a:lnTo>
                  <a:close/>
                </a:path>
              </a:pathLst>
            </a:custGeom>
            <a:solidFill>
              <a:srgbClr val="F7E0DB"/>
            </a:solidFill>
            <a:ln w="7620" cap="rnd">
              <a:solidFill>
                <a:srgbClr val="AB6A5E"/>
              </a:solidFill>
              <a:prstDash val="solid"/>
              <a:round/>
            </a:ln>
          </p:spPr>
        </p:sp>
        <p:sp>
          <p:nvSpPr>
            <p:cNvPr id="55" name="decoder-width-0"/>
            <p:cNvSpPr/>
            <p:nvPr/>
          </p:nvSpPr>
          <p:spPr>
            <a:xfrm>
              <a:off x="4067175" y="1085850"/>
              <a:ext cx="219075" cy="14287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675" b="1" dirty="0">
                  <a:solidFill>
                    <a:srgbClr val="B9544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128</a:t>
              </a:r>
              <a:endParaRPr lang="en-US" sz="675" dirty="0"/>
            </a:p>
          </p:txBody>
        </p:sp>
        <p:sp>
          <p:nvSpPr>
            <p:cNvPr id="56" name="decoder-stage-1"/>
            <p:cNvSpPr/>
            <p:nvPr/>
          </p:nvSpPr>
          <p:spPr>
            <a:xfrm>
              <a:off x="4282440" y="895350"/>
              <a:ext cx="188595" cy="514350"/>
            </a:xfrm>
            <a:custGeom>
              <a:avLst/>
              <a:gdLst/>
              <a:ahLst/>
              <a:cxnLst/>
              <a:rect l="0" t="0" r="r" b="b"/>
              <a:pathLst>
                <a:path w="198000" h="540000" fill="norm" stroke="1">
                  <a:moveTo>
                    <a:pt x="0" y="80000"/>
                  </a:moveTo>
                  <a:lnTo>
                    <a:pt x="198000" y="0"/>
                  </a:lnTo>
                  <a:lnTo>
                    <a:pt x="198000" y="540000"/>
                  </a:lnTo>
                  <a:lnTo>
                    <a:pt x="0" y="460000"/>
                  </a:lnTo>
                  <a:close/>
                </a:path>
              </a:pathLst>
            </a:custGeom>
            <a:solidFill>
              <a:srgbClr val="F7E0DB"/>
            </a:solidFill>
            <a:ln w="7620" cap="rnd">
              <a:solidFill>
                <a:srgbClr val="AB6A5E"/>
              </a:solidFill>
              <a:prstDash val="solid"/>
              <a:round/>
            </a:ln>
          </p:spPr>
        </p:sp>
        <p:sp>
          <p:nvSpPr>
            <p:cNvPr id="57" name="decoder-width-1"/>
            <p:cNvSpPr/>
            <p:nvPr/>
          </p:nvSpPr>
          <p:spPr>
            <a:xfrm>
              <a:off x="4267200" y="1085850"/>
              <a:ext cx="219075" cy="14287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675" b="1" dirty="0">
                  <a:solidFill>
                    <a:srgbClr val="B9544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256</a:t>
              </a:r>
              <a:endParaRPr lang="en-US" sz="675" dirty="0"/>
            </a:p>
          </p:txBody>
        </p:sp>
        <p:sp>
          <p:nvSpPr>
            <p:cNvPr id="58" name="decoder-stage-2"/>
            <p:cNvSpPr/>
            <p:nvPr/>
          </p:nvSpPr>
          <p:spPr>
            <a:xfrm>
              <a:off x="4482465" y="809625"/>
              <a:ext cx="188595" cy="685800"/>
            </a:xfrm>
            <a:custGeom>
              <a:avLst/>
              <a:gdLst/>
              <a:ahLst/>
              <a:cxnLst/>
              <a:rect l="0" t="0" r="r" b="b"/>
              <a:pathLst>
                <a:path w="198000" h="720000" fill="norm" stroke="1">
                  <a:moveTo>
                    <a:pt x="0" y="90000"/>
                  </a:moveTo>
                  <a:lnTo>
                    <a:pt x="198000" y="0"/>
                  </a:lnTo>
                  <a:lnTo>
                    <a:pt x="198000" y="720000"/>
                  </a:lnTo>
                  <a:lnTo>
                    <a:pt x="0" y="630000"/>
                  </a:lnTo>
                  <a:close/>
                </a:path>
              </a:pathLst>
            </a:custGeom>
            <a:solidFill>
              <a:srgbClr val="F7E0DB"/>
            </a:solidFill>
            <a:ln w="7620" cap="rnd">
              <a:solidFill>
                <a:srgbClr val="AB6A5E"/>
              </a:solidFill>
              <a:prstDash val="solid"/>
              <a:round/>
            </a:ln>
          </p:spPr>
        </p:sp>
        <p:sp>
          <p:nvSpPr>
            <p:cNvPr id="59" name="decoder-width-2"/>
            <p:cNvSpPr/>
            <p:nvPr/>
          </p:nvSpPr>
          <p:spPr>
            <a:xfrm>
              <a:off x="4467225" y="1085850"/>
              <a:ext cx="219075" cy="14287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675" b="1" dirty="0">
                  <a:solidFill>
                    <a:srgbClr val="B9544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512</a:t>
              </a:r>
              <a:endParaRPr lang="en-US" sz="675" dirty="0"/>
            </a:p>
          </p:txBody>
        </p:sp>
        <p:sp>
          <p:nvSpPr>
            <p:cNvPr id="60" name="decoder-stage-3"/>
            <p:cNvSpPr/>
            <p:nvPr/>
          </p:nvSpPr>
          <p:spPr>
            <a:xfrm>
              <a:off x="4682490" y="733425"/>
              <a:ext cx="188595" cy="838200"/>
            </a:xfrm>
            <a:custGeom>
              <a:avLst/>
              <a:gdLst/>
              <a:ahLst/>
              <a:cxnLst/>
              <a:rect l="0" t="0" r="r" b="b"/>
              <a:pathLst>
                <a:path w="198000" h="880000" fill="norm" stroke="1">
                  <a:moveTo>
                    <a:pt x="0" y="80000"/>
                  </a:moveTo>
                  <a:lnTo>
                    <a:pt x="198000" y="0"/>
                  </a:lnTo>
                  <a:lnTo>
                    <a:pt x="198000" y="880000"/>
                  </a:lnTo>
                  <a:lnTo>
                    <a:pt x="0" y="800000"/>
                  </a:lnTo>
                  <a:close/>
                </a:path>
              </a:pathLst>
            </a:custGeom>
            <a:solidFill>
              <a:srgbClr val="F7E0DB"/>
            </a:solidFill>
            <a:ln w="7620" cap="rnd">
              <a:solidFill>
                <a:srgbClr val="AB6A5E"/>
              </a:solidFill>
              <a:prstDash val="solid"/>
              <a:round/>
            </a:ln>
          </p:spPr>
        </p:sp>
        <p:sp>
          <p:nvSpPr>
            <p:cNvPr id="61" name="decoder-width-3"/>
            <p:cNvSpPr/>
            <p:nvPr/>
          </p:nvSpPr>
          <p:spPr>
            <a:xfrm>
              <a:off x="4667250" y="1085850"/>
              <a:ext cx="219075" cy="14287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675" b="1" dirty="0">
                  <a:solidFill>
                    <a:srgbClr val="B9544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768</a:t>
              </a:r>
              <a:endParaRPr lang="en-US" sz="675" dirty="0"/>
            </a:p>
          </p:txBody>
        </p:sp>
        <p:sp>
          <p:nvSpPr>
            <p:cNvPr id="62" name="decoder-stage-4"/>
            <p:cNvSpPr/>
            <p:nvPr/>
          </p:nvSpPr>
          <p:spPr>
            <a:xfrm>
              <a:off x="4882515" y="657225"/>
              <a:ext cx="188595" cy="990600"/>
            </a:xfrm>
            <a:custGeom>
              <a:avLst/>
              <a:gdLst/>
              <a:ahLst/>
              <a:cxnLst/>
              <a:rect l="0" t="0" r="r" b="b"/>
              <a:pathLst>
                <a:path w="198000" h="1040000" fill="norm" stroke="1">
                  <a:moveTo>
                    <a:pt x="0" y="80000"/>
                  </a:moveTo>
                  <a:lnTo>
                    <a:pt x="198000" y="0"/>
                  </a:lnTo>
                  <a:lnTo>
                    <a:pt x="198000" y="1040000"/>
                  </a:lnTo>
                  <a:lnTo>
                    <a:pt x="0" y="960000"/>
                  </a:lnTo>
                  <a:close/>
                </a:path>
              </a:pathLst>
            </a:custGeom>
            <a:solidFill>
              <a:srgbClr val="F7E0DB"/>
            </a:solidFill>
            <a:ln w="7620" cap="rnd">
              <a:solidFill>
                <a:srgbClr val="AB6A5E"/>
              </a:solidFill>
              <a:prstDash val="solid"/>
              <a:round/>
            </a:ln>
          </p:spPr>
        </p:sp>
        <p:sp>
          <p:nvSpPr>
            <p:cNvPr id="63" name="decoder-width-4"/>
            <p:cNvSpPr/>
            <p:nvPr/>
          </p:nvSpPr>
          <p:spPr>
            <a:xfrm>
              <a:off x="4867275" y="1085850"/>
              <a:ext cx="219075" cy="14287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675" b="1" dirty="0">
                  <a:solidFill>
                    <a:srgbClr val="B9544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1024</a:t>
              </a:r>
              <a:endParaRPr lang="en-US" sz="675" dirty="0"/>
            </a:p>
          </p:txBody>
        </p:sp>
        <p:sp>
          <p:nvSpPr>
            <p:cNvPr id="64" name="decoder-stage-5"/>
            <p:cNvSpPr/>
            <p:nvPr/>
          </p:nvSpPr>
          <p:spPr>
            <a:xfrm>
              <a:off x="5082540" y="657225"/>
              <a:ext cx="188595" cy="990600"/>
            </a:xfrm>
            <a:custGeom>
              <a:avLst/>
              <a:gdLst/>
              <a:ahLst/>
              <a:cxnLst/>
              <a:rect l="0" t="0" r="r" b="b"/>
              <a:pathLst>
                <a:path w="198000" h="1040000" fill="norm" stroke="1">
                  <a:moveTo>
                    <a:pt x="0" y="0"/>
                  </a:moveTo>
                  <a:lnTo>
                    <a:pt x="198000" y="0"/>
                  </a:lnTo>
                  <a:lnTo>
                    <a:pt x="198000" y="1040000"/>
                  </a:lnTo>
                  <a:lnTo>
                    <a:pt x="0" y="1040000"/>
                  </a:lnTo>
                  <a:close/>
                </a:path>
              </a:pathLst>
            </a:custGeom>
            <a:solidFill>
              <a:srgbClr val="F7E0DB"/>
            </a:solidFill>
            <a:ln w="7620" cap="rnd">
              <a:solidFill>
                <a:srgbClr val="AB6A5E"/>
              </a:solidFill>
              <a:prstDash val="solid"/>
              <a:round/>
            </a:ln>
          </p:spPr>
        </p:sp>
        <p:sp>
          <p:nvSpPr>
            <p:cNvPr id="65" name="decoder-width-5"/>
            <p:cNvSpPr/>
            <p:nvPr/>
          </p:nvSpPr>
          <p:spPr>
            <a:xfrm>
              <a:off x="5067300" y="1085850"/>
              <a:ext cx="219075" cy="14287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675" b="1" dirty="0">
                  <a:solidFill>
                    <a:srgbClr val="B9544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1024</a:t>
              </a:r>
              <a:endParaRPr lang="en-US" sz="675" dirty="0"/>
            </a:p>
          </p:txBody>
        </p:sp>
      </p:grpSp>
      <p:sp>
        <p:nvSpPr>
          <p:cNvPr id="66" name="decoder-in"/>
          <p:cNvSpPr/>
          <p:nvPr/>
        </p:nvSpPr>
        <p:spPr>
          <a:xfrm>
            <a:off x="4071938" y="1038225"/>
            <a:ext cx="14288" cy="228600"/>
          </a:xfrm>
          <a:prstGeom prst="rect">
            <a:avLst/>
          </a:prstGeom>
          <a:solidFill>
            <a:srgbClr val="AB6A5E"/>
          </a:solidFill>
          <a:ln w="3810">
            <a:solidFill>
              <a:srgbClr val="AB6A5E"/>
            </a:solidFill>
            <a:prstDash val="solid"/>
          </a:ln>
        </p:spPr>
      </p:sp>
      <p:sp>
        <p:nvSpPr>
          <p:cNvPr id="67" name="decoder-out"/>
          <p:cNvSpPr/>
          <p:nvPr/>
        </p:nvSpPr>
        <p:spPr>
          <a:xfrm>
            <a:off x="5267325" y="657225"/>
            <a:ext cx="14288" cy="990600"/>
          </a:xfrm>
          <a:prstGeom prst="rect">
            <a:avLst/>
          </a:prstGeom>
          <a:solidFill>
            <a:srgbClr val="AB6A5E"/>
          </a:solidFill>
          <a:ln w="3810">
            <a:solidFill>
              <a:srgbClr val="AB6A5E"/>
            </a:solidFill>
            <a:prstDash val="solid"/>
          </a:ln>
        </p:spPr>
      </p:sp>
      <p:sp>
        <p:nvSpPr>
          <p:cNvPr id="68" name="latent-title"/>
          <p:cNvSpPr/>
          <p:nvPr/>
        </p:nvSpPr>
        <p:spPr>
          <a:xfrm>
            <a:off x="3333750" y="590550"/>
            <a:ext cx="723900" cy="1619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3" b="1" dirty="0">
                <a:solidFill>
                  <a:srgbClr val="8F7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latent</a:t>
            </a:r>
            <a:endParaRPr lang="en-US" sz="863" dirty="0"/>
          </a:p>
        </p:txBody>
      </p:sp>
      <p:sp>
        <p:nvSpPr>
          <p:cNvPr id="69" name="latent-Z.0"/>
          <p:cNvSpPr/>
          <p:nvPr/>
        </p:nvSpPr>
        <p:spPr>
          <a:xfrm>
            <a:off x="3644694" y="752475"/>
            <a:ext cx="140113" cy="27527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i="1" dirty="0">
                <a:solidFill>
                  <a:srgbClr val="8F702B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Z</a:t>
            </a:r>
            <a:endParaRPr lang="en-US" sz="1275" dirty="0"/>
          </a:p>
        </p:txBody>
      </p:sp>
      <p:sp>
        <p:nvSpPr>
          <p:cNvPr id="70" name="latent-spikes"/>
          <p:cNvSpPr/>
          <p:nvPr/>
        </p:nvSpPr>
        <p:spPr>
          <a:xfrm>
            <a:off x="3486150" y="990600"/>
            <a:ext cx="419100" cy="323850"/>
          </a:xfrm>
          <a:prstGeom prst="rect">
            <a:avLst/>
          </a:prstGeom>
          <a:solidFill>
            <a:srgbClr val="FFFFFF"/>
          </a:solidFill>
          <a:ln w="10001">
            <a:solidFill>
              <a:srgbClr val="977C3C"/>
            </a:solidFill>
            <a:prstDash val="solid"/>
          </a:ln>
        </p:spPr>
      </p:sp>
      <p:grpSp>
        <p:nvGrpSpPr>
          <p:cNvPr id="213" name="latent-spikes-events"/>
          <p:cNvGrpSpPr/>
          <p:nvPr/>
        </p:nvGrpSpPr>
        <p:grpSpPr>
          <a:xfrm>
            <a:off x="3543300" y="1066800"/>
            <a:ext cx="304800" cy="181070"/>
            <a:chOff x="3543300" y="1066800"/>
            <a:chExt cx="304800" cy="181070"/>
          </a:xfrm>
        </p:grpSpPr>
        <p:sp>
          <p:nvSpPr>
            <p:cNvPr id="71" name="latent-spikes-baseline-0"/>
            <p:cNvSpPr/>
            <p:nvPr/>
          </p:nvSpPr>
          <p:spPr>
            <a:xfrm>
              <a:off x="3543300" y="1133475"/>
              <a:ext cx="304800" cy="95"/>
            </a:xfrm>
            <a:custGeom>
              <a:avLst/>
              <a:gdLst/>
              <a:ahLst/>
              <a:cxnLst/>
              <a:rect l="0" t="0" r="r" b="b"/>
              <a:pathLst>
                <a:path w="320000" h="100" fill="none" stroke="1">
                  <a:moveTo>
                    <a:pt x="0" y="0"/>
                  </a:moveTo>
                  <a:lnTo>
                    <a:pt x="320000" y="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 w="4286" cap="rnd">
              <a:solidFill>
                <a:srgbClr val="D3D8DA"/>
              </a:solidFill>
              <a:prstDash val="solid"/>
              <a:round/>
            </a:ln>
          </p:spPr>
        </p:sp>
        <p:sp>
          <p:nvSpPr>
            <p:cNvPr id="72" name="latent-spikes-spike-0-0"/>
            <p:cNvSpPr/>
            <p:nvPr/>
          </p:nvSpPr>
          <p:spPr>
            <a:xfrm>
              <a:off x="3568700" y="1066800"/>
              <a:ext cx="95" cy="66675"/>
            </a:xfrm>
            <a:custGeom>
              <a:avLst/>
              <a:gdLst/>
              <a:ahLst/>
              <a:cxnLst/>
              <a:rect l="0" t="0" r="r" b="b"/>
              <a:pathLst>
                <a:path w="100" h="70000" fill="none" stroke="1">
                  <a:moveTo>
                    <a:pt x="0" y="70000"/>
                  </a:moveTo>
                  <a:lnTo>
                    <a:pt x="0" y="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 w="10001" cap="rnd">
              <a:solidFill>
                <a:srgbClr val="8F702B"/>
              </a:solidFill>
              <a:prstDash val="solid"/>
              <a:round/>
            </a:ln>
          </p:spPr>
        </p:sp>
        <p:sp>
          <p:nvSpPr>
            <p:cNvPr id="73" name="latent-spikes-spike-0-1"/>
            <p:cNvSpPr/>
            <p:nvPr/>
          </p:nvSpPr>
          <p:spPr>
            <a:xfrm>
              <a:off x="3644900" y="1066800"/>
              <a:ext cx="95" cy="66675"/>
            </a:xfrm>
            <a:custGeom>
              <a:avLst/>
              <a:gdLst/>
              <a:ahLst/>
              <a:cxnLst/>
              <a:rect l="0" t="0" r="r" b="b"/>
              <a:pathLst>
                <a:path w="100" h="70000" fill="none" stroke="1">
                  <a:moveTo>
                    <a:pt x="0" y="70000"/>
                  </a:moveTo>
                  <a:lnTo>
                    <a:pt x="0" y="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 w="10001" cap="rnd">
              <a:solidFill>
                <a:srgbClr val="8F702B"/>
              </a:solidFill>
              <a:prstDash val="solid"/>
              <a:round/>
            </a:ln>
          </p:spPr>
        </p:sp>
        <p:sp>
          <p:nvSpPr>
            <p:cNvPr id="74" name="latent-spikes-spike-0-2"/>
            <p:cNvSpPr/>
            <p:nvPr/>
          </p:nvSpPr>
          <p:spPr>
            <a:xfrm>
              <a:off x="3771900" y="1066800"/>
              <a:ext cx="95" cy="66675"/>
            </a:xfrm>
            <a:custGeom>
              <a:avLst/>
              <a:gdLst/>
              <a:ahLst/>
              <a:cxnLst/>
              <a:rect l="0" t="0" r="r" b="b"/>
              <a:pathLst>
                <a:path w="100" h="70000" fill="none" stroke="1">
                  <a:moveTo>
                    <a:pt x="0" y="70000"/>
                  </a:moveTo>
                  <a:lnTo>
                    <a:pt x="0" y="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 w="10001" cap="rnd">
              <a:solidFill>
                <a:srgbClr val="8F702B"/>
              </a:solidFill>
              <a:prstDash val="solid"/>
              <a:round/>
            </a:ln>
          </p:spPr>
        </p:sp>
        <p:sp>
          <p:nvSpPr>
            <p:cNvPr id="75" name="latent-spikes-baseline-1"/>
            <p:cNvSpPr/>
            <p:nvPr/>
          </p:nvSpPr>
          <p:spPr>
            <a:xfrm>
              <a:off x="3543300" y="1190625"/>
              <a:ext cx="304800" cy="95"/>
            </a:xfrm>
            <a:custGeom>
              <a:avLst/>
              <a:gdLst/>
              <a:ahLst/>
              <a:cxnLst/>
              <a:rect l="0" t="0" r="r" b="b"/>
              <a:pathLst>
                <a:path w="320000" h="100" fill="none" stroke="1">
                  <a:moveTo>
                    <a:pt x="0" y="0"/>
                  </a:moveTo>
                  <a:lnTo>
                    <a:pt x="320000" y="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 w="4286" cap="rnd">
              <a:solidFill>
                <a:srgbClr val="D3D8DA"/>
              </a:solidFill>
              <a:prstDash val="solid"/>
              <a:round/>
            </a:ln>
          </p:spPr>
        </p:sp>
        <p:sp>
          <p:nvSpPr>
            <p:cNvPr id="76" name="latent-spikes-spike-1-0"/>
            <p:cNvSpPr/>
            <p:nvPr/>
          </p:nvSpPr>
          <p:spPr>
            <a:xfrm>
              <a:off x="3594100" y="1123950"/>
              <a:ext cx="95" cy="66675"/>
            </a:xfrm>
            <a:custGeom>
              <a:avLst/>
              <a:gdLst/>
              <a:ahLst/>
              <a:cxnLst/>
              <a:rect l="0" t="0" r="r" b="b"/>
              <a:pathLst>
                <a:path w="100" h="70000" fill="none" stroke="1">
                  <a:moveTo>
                    <a:pt x="0" y="70000"/>
                  </a:moveTo>
                  <a:lnTo>
                    <a:pt x="0" y="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 w="10001" cap="rnd">
              <a:solidFill>
                <a:srgbClr val="8F702B"/>
              </a:solidFill>
              <a:prstDash val="solid"/>
              <a:round/>
            </a:ln>
          </p:spPr>
        </p:sp>
        <p:sp>
          <p:nvSpPr>
            <p:cNvPr id="77" name="latent-spikes-spike-1-1"/>
            <p:cNvSpPr/>
            <p:nvPr/>
          </p:nvSpPr>
          <p:spPr>
            <a:xfrm>
              <a:off x="3695700" y="1123950"/>
              <a:ext cx="95" cy="66675"/>
            </a:xfrm>
            <a:custGeom>
              <a:avLst/>
              <a:gdLst/>
              <a:ahLst/>
              <a:cxnLst/>
              <a:rect l="0" t="0" r="r" b="b"/>
              <a:pathLst>
                <a:path w="100" h="70000" fill="none" stroke="1">
                  <a:moveTo>
                    <a:pt x="0" y="70000"/>
                  </a:moveTo>
                  <a:lnTo>
                    <a:pt x="0" y="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 w="10001" cap="rnd">
              <a:solidFill>
                <a:srgbClr val="8F702B"/>
              </a:solidFill>
              <a:prstDash val="solid"/>
              <a:round/>
            </a:ln>
          </p:spPr>
        </p:sp>
        <p:sp>
          <p:nvSpPr>
            <p:cNvPr id="78" name="latent-spikes-spike-1-2"/>
            <p:cNvSpPr/>
            <p:nvPr/>
          </p:nvSpPr>
          <p:spPr>
            <a:xfrm>
              <a:off x="3784600" y="1123950"/>
              <a:ext cx="95" cy="66675"/>
            </a:xfrm>
            <a:custGeom>
              <a:avLst/>
              <a:gdLst/>
              <a:ahLst/>
              <a:cxnLst/>
              <a:rect l="0" t="0" r="r" b="b"/>
              <a:pathLst>
                <a:path w="100" h="70000" fill="none" stroke="1">
                  <a:moveTo>
                    <a:pt x="0" y="70000"/>
                  </a:moveTo>
                  <a:lnTo>
                    <a:pt x="0" y="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 w="10001" cap="rnd">
              <a:solidFill>
                <a:srgbClr val="8F702B"/>
              </a:solidFill>
              <a:prstDash val="solid"/>
              <a:round/>
            </a:ln>
          </p:spPr>
        </p:sp>
        <p:sp>
          <p:nvSpPr>
            <p:cNvPr id="79" name="latent-spikes-baseline-2"/>
            <p:cNvSpPr/>
            <p:nvPr/>
          </p:nvSpPr>
          <p:spPr>
            <a:xfrm>
              <a:off x="3543300" y="1247775"/>
              <a:ext cx="304800" cy="95"/>
            </a:xfrm>
            <a:custGeom>
              <a:avLst/>
              <a:gdLst/>
              <a:ahLst/>
              <a:cxnLst/>
              <a:rect l="0" t="0" r="r" b="b"/>
              <a:pathLst>
                <a:path w="320000" h="100" fill="none" stroke="1">
                  <a:moveTo>
                    <a:pt x="0" y="0"/>
                  </a:moveTo>
                  <a:lnTo>
                    <a:pt x="320000" y="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 w="4286" cap="rnd">
              <a:solidFill>
                <a:srgbClr val="D3D8DA"/>
              </a:solidFill>
              <a:prstDash val="solid"/>
              <a:round/>
            </a:ln>
          </p:spPr>
        </p:sp>
        <p:sp>
          <p:nvSpPr>
            <p:cNvPr id="80" name="latent-spikes-spike-2-0"/>
            <p:cNvSpPr/>
            <p:nvPr/>
          </p:nvSpPr>
          <p:spPr>
            <a:xfrm>
              <a:off x="3556000" y="1181100"/>
              <a:ext cx="95" cy="66675"/>
            </a:xfrm>
            <a:custGeom>
              <a:avLst/>
              <a:gdLst/>
              <a:ahLst/>
              <a:cxnLst/>
              <a:rect l="0" t="0" r="r" b="b"/>
              <a:pathLst>
                <a:path w="100" h="70000" fill="none" stroke="1">
                  <a:moveTo>
                    <a:pt x="0" y="70000"/>
                  </a:moveTo>
                  <a:lnTo>
                    <a:pt x="0" y="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 w="10001" cap="rnd">
              <a:solidFill>
                <a:srgbClr val="8F702B"/>
              </a:solidFill>
              <a:prstDash val="solid"/>
              <a:round/>
            </a:ln>
          </p:spPr>
        </p:sp>
        <p:sp>
          <p:nvSpPr>
            <p:cNvPr id="81" name="latent-spikes-spike-2-1"/>
            <p:cNvSpPr/>
            <p:nvPr/>
          </p:nvSpPr>
          <p:spPr>
            <a:xfrm>
              <a:off x="3657600" y="1181100"/>
              <a:ext cx="95" cy="66675"/>
            </a:xfrm>
            <a:custGeom>
              <a:avLst/>
              <a:gdLst/>
              <a:ahLst/>
              <a:cxnLst/>
              <a:rect l="0" t="0" r="r" b="b"/>
              <a:pathLst>
                <a:path w="100" h="70000" fill="none" stroke="1">
                  <a:moveTo>
                    <a:pt x="0" y="70000"/>
                  </a:moveTo>
                  <a:lnTo>
                    <a:pt x="0" y="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 w="10001" cap="rnd">
              <a:solidFill>
                <a:srgbClr val="8F702B"/>
              </a:solidFill>
              <a:prstDash val="solid"/>
              <a:round/>
            </a:ln>
          </p:spPr>
        </p:sp>
        <p:sp>
          <p:nvSpPr>
            <p:cNvPr id="82" name="latent-spikes-spike-2-2"/>
            <p:cNvSpPr/>
            <p:nvPr/>
          </p:nvSpPr>
          <p:spPr>
            <a:xfrm>
              <a:off x="3759200" y="1181100"/>
              <a:ext cx="95" cy="66675"/>
            </a:xfrm>
            <a:custGeom>
              <a:avLst/>
              <a:gdLst/>
              <a:ahLst/>
              <a:cxnLst/>
              <a:rect l="0" t="0" r="r" b="b"/>
              <a:pathLst>
                <a:path w="100" h="70000" fill="none" stroke="1">
                  <a:moveTo>
                    <a:pt x="0" y="70000"/>
                  </a:moveTo>
                  <a:lnTo>
                    <a:pt x="0" y="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 w="10001" cap="rnd">
              <a:solidFill>
                <a:srgbClr val="8F702B"/>
              </a:solidFill>
              <a:prstDash val="solid"/>
              <a:round/>
            </a:ln>
          </p:spPr>
        </p:sp>
      </p:grpSp>
      <p:sp>
        <p:nvSpPr>
          <p:cNvPr id="83" name="latent-dimension"/>
          <p:cNvSpPr/>
          <p:nvPr/>
        </p:nvSpPr>
        <p:spPr>
          <a:xfrm>
            <a:off x="3333750" y="1381125"/>
            <a:ext cx="733425" cy="152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8F7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channels</a:t>
            </a:r>
            <a:endParaRPr lang="en-US" sz="788" dirty="0"/>
          </a:p>
        </p:txBody>
      </p:sp>
      <p:sp>
        <p:nvSpPr>
          <p:cNvPr id="84" name="output-title"/>
          <p:cNvSpPr/>
          <p:nvPr/>
        </p:nvSpPr>
        <p:spPr>
          <a:xfrm>
            <a:off x="5381625" y="438150"/>
            <a:ext cx="933450" cy="1619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B95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Reconstruction</a:t>
            </a:r>
            <a:endParaRPr lang="en-US" sz="870" dirty="0"/>
          </a:p>
        </p:txBody>
      </p:sp>
      <p:grpSp>
        <p:nvGrpSpPr>
          <p:cNvPr id="214" name="output-X"/>
          <p:cNvGrpSpPr/>
          <p:nvPr/>
        </p:nvGrpSpPr>
        <p:grpSpPr>
          <a:xfrm>
            <a:off x="5799582" y="609029"/>
            <a:ext cx="154686" cy="304419"/>
            <a:chOff x="5799582" y="609029"/>
            <a:chExt cx="154686" cy="304419"/>
          </a:xfrm>
        </p:grpSpPr>
        <p:sp>
          <p:nvSpPr>
            <p:cNvPr id="85" name="output-X.0"/>
            <p:cNvSpPr/>
            <p:nvPr/>
          </p:nvSpPr>
          <p:spPr>
            <a:xfrm>
              <a:off x="5799582" y="638175"/>
              <a:ext cx="154686" cy="275273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75" i="1" dirty="0">
                  <a:solidFill>
                    <a:srgbClr val="B95446"/>
                  </a:solidFill>
                  <a:latin typeface="Liberation Serif" pitchFamily="34" charset="0"/>
                  <a:ea typeface="Liberation Serif" pitchFamily="34" charset="-122"/>
                  <a:cs typeface="Liberation Serif" pitchFamily="34" charset="-120"/>
                </a:rPr>
                <a:t>X</a:t>
              </a:r>
              <a:endParaRPr lang="en-US" sz="1275" dirty="0"/>
            </a:p>
          </p:txBody>
        </p:sp>
        <p:sp>
          <p:nvSpPr>
            <p:cNvPr id="86" name="output-X.1"/>
            <p:cNvSpPr/>
            <p:nvPr/>
          </p:nvSpPr>
          <p:spPr>
            <a:xfrm>
              <a:off x="5835206" y="609029"/>
              <a:ext cx="84201" cy="178927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29" dirty="0">
                  <a:solidFill>
                    <a:srgbClr val="B95446"/>
                  </a:solidFill>
                  <a:latin typeface="Liberation Serif" pitchFamily="34" charset="0"/>
                  <a:ea typeface="Liberation Serif" pitchFamily="34" charset="-122"/>
                  <a:cs typeface="Liberation Serif" pitchFamily="34" charset="-120"/>
                </a:rPr>
                <a:t>^</a:t>
              </a:r>
              <a:endParaRPr lang="en-US" sz="829" dirty="0"/>
            </a:p>
          </p:txBody>
        </p:sp>
      </p:grpSp>
      <p:sp>
        <p:nvSpPr>
          <p:cNvPr id="87" name="output-spikes"/>
          <p:cNvSpPr/>
          <p:nvPr/>
        </p:nvSpPr>
        <p:spPr>
          <a:xfrm>
            <a:off x="5467350" y="838200"/>
            <a:ext cx="790575" cy="628650"/>
          </a:xfrm>
          <a:prstGeom prst="rect">
            <a:avLst/>
          </a:prstGeom>
          <a:solidFill>
            <a:srgbClr val="FFFFFF"/>
          </a:solidFill>
          <a:ln w="10001">
            <a:solidFill>
              <a:srgbClr val="AB6A5E"/>
            </a:solidFill>
            <a:prstDash val="solid"/>
          </a:ln>
        </p:spPr>
      </p:sp>
      <p:grpSp>
        <p:nvGrpSpPr>
          <p:cNvPr id="215" name="output-spikes-events"/>
          <p:cNvGrpSpPr/>
          <p:nvPr/>
        </p:nvGrpSpPr>
        <p:grpSpPr>
          <a:xfrm>
            <a:off x="5524500" y="914400"/>
            <a:ext cx="676275" cy="485870"/>
            <a:chOff x="5524500" y="914400"/>
            <a:chExt cx="676275" cy="485870"/>
          </a:xfrm>
        </p:grpSpPr>
        <p:sp>
          <p:nvSpPr>
            <p:cNvPr id="88" name="output-spikes-baseline-0"/>
            <p:cNvSpPr/>
            <p:nvPr/>
          </p:nvSpPr>
          <p:spPr>
            <a:xfrm>
              <a:off x="5524500" y="981075"/>
              <a:ext cx="676275" cy="95"/>
            </a:xfrm>
            <a:custGeom>
              <a:avLst/>
              <a:gdLst/>
              <a:ahLst/>
              <a:cxnLst/>
              <a:rect l="0" t="0" r="r" b="b"/>
              <a:pathLst>
                <a:path w="710000" h="100" fill="none" stroke="1">
                  <a:moveTo>
                    <a:pt x="0" y="0"/>
                  </a:moveTo>
                  <a:lnTo>
                    <a:pt x="710000" y="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 w="4286" cap="rnd">
              <a:solidFill>
                <a:srgbClr val="D3D8DA"/>
              </a:solidFill>
              <a:prstDash val="solid"/>
              <a:round/>
            </a:ln>
          </p:spPr>
        </p:sp>
        <p:sp>
          <p:nvSpPr>
            <p:cNvPr id="89" name="output-spikes-spike-0-0"/>
            <p:cNvSpPr/>
            <p:nvPr/>
          </p:nvSpPr>
          <p:spPr>
            <a:xfrm>
              <a:off x="5609034" y="914400"/>
              <a:ext cx="95" cy="66675"/>
            </a:xfrm>
            <a:custGeom>
              <a:avLst/>
              <a:gdLst/>
              <a:ahLst/>
              <a:cxnLst/>
              <a:rect l="0" t="0" r="r" b="b"/>
              <a:pathLst>
                <a:path w="100" h="70000" fill="none" stroke="1">
                  <a:moveTo>
                    <a:pt x="0" y="70000"/>
                  </a:moveTo>
                  <a:lnTo>
                    <a:pt x="0" y="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 w="10001" cap="rnd">
              <a:solidFill>
                <a:srgbClr val="B95446"/>
              </a:solidFill>
              <a:prstDash val="solid"/>
              <a:round/>
            </a:ln>
          </p:spPr>
        </p:sp>
        <p:sp>
          <p:nvSpPr>
            <p:cNvPr id="90" name="output-spikes-spike-0-1"/>
            <p:cNvSpPr/>
            <p:nvPr/>
          </p:nvSpPr>
          <p:spPr>
            <a:xfrm>
              <a:off x="5665391" y="914400"/>
              <a:ext cx="95" cy="66675"/>
            </a:xfrm>
            <a:custGeom>
              <a:avLst/>
              <a:gdLst/>
              <a:ahLst/>
              <a:cxnLst/>
              <a:rect l="0" t="0" r="r" b="b"/>
              <a:pathLst>
                <a:path w="100" h="70000" fill="none" stroke="1">
                  <a:moveTo>
                    <a:pt x="0" y="70000"/>
                  </a:moveTo>
                  <a:lnTo>
                    <a:pt x="0" y="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 w="10001" cap="rnd">
              <a:solidFill>
                <a:srgbClr val="B95446"/>
              </a:solidFill>
              <a:prstDash val="solid"/>
              <a:round/>
            </a:ln>
          </p:spPr>
        </p:sp>
        <p:sp>
          <p:nvSpPr>
            <p:cNvPr id="91" name="output-spikes-spike-0-2"/>
            <p:cNvSpPr/>
            <p:nvPr/>
          </p:nvSpPr>
          <p:spPr>
            <a:xfrm>
              <a:off x="5778103" y="914400"/>
              <a:ext cx="95" cy="66675"/>
            </a:xfrm>
            <a:custGeom>
              <a:avLst/>
              <a:gdLst/>
              <a:ahLst/>
              <a:cxnLst/>
              <a:rect l="0" t="0" r="r" b="b"/>
              <a:pathLst>
                <a:path w="100" h="70000" fill="none" stroke="1">
                  <a:moveTo>
                    <a:pt x="0" y="70000"/>
                  </a:moveTo>
                  <a:lnTo>
                    <a:pt x="0" y="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 w="10001" cap="rnd">
              <a:solidFill>
                <a:srgbClr val="B95446"/>
              </a:solidFill>
              <a:prstDash val="solid"/>
              <a:round/>
            </a:ln>
          </p:spPr>
        </p:sp>
        <p:sp>
          <p:nvSpPr>
            <p:cNvPr id="92" name="output-spikes-spike-0-3"/>
            <p:cNvSpPr/>
            <p:nvPr/>
          </p:nvSpPr>
          <p:spPr>
            <a:xfrm>
              <a:off x="5918994" y="914400"/>
              <a:ext cx="95" cy="66675"/>
            </a:xfrm>
            <a:custGeom>
              <a:avLst/>
              <a:gdLst/>
              <a:ahLst/>
              <a:cxnLst/>
              <a:rect l="0" t="0" r="r" b="b"/>
              <a:pathLst>
                <a:path w="100" h="70000" fill="none" stroke="1">
                  <a:moveTo>
                    <a:pt x="0" y="70000"/>
                  </a:moveTo>
                  <a:lnTo>
                    <a:pt x="0" y="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 w="10001" cap="rnd">
              <a:solidFill>
                <a:srgbClr val="B95446"/>
              </a:solidFill>
              <a:prstDash val="solid"/>
              <a:round/>
            </a:ln>
          </p:spPr>
        </p:sp>
        <p:sp>
          <p:nvSpPr>
            <p:cNvPr id="93" name="output-spikes-spike-0-4"/>
            <p:cNvSpPr/>
            <p:nvPr/>
          </p:nvSpPr>
          <p:spPr>
            <a:xfrm>
              <a:off x="6059884" y="914400"/>
              <a:ext cx="95" cy="66675"/>
            </a:xfrm>
            <a:custGeom>
              <a:avLst/>
              <a:gdLst/>
              <a:ahLst/>
              <a:cxnLst/>
              <a:rect l="0" t="0" r="r" b="b"/>
              <a:pathLst>
                <a:path w="100" h="70000" fill="none" stroke="1">
                  <a:moveTo>
                    <a:pt x="0" y="70000"/>
                  </a:moveTo>
                  <a:lnTo>
                    <a:pt x="0" y="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 w="10001" cap="rnd">
              <a:solidFill>
                <a:srgbClr val="B95446"/>
              </a:solidFill>
              <a:prstDash val="solid"/>
              <a:round/>
            </a:ln>
          </p:spPr>
        </p:sp>
        <p:sp>
          <p:nvSpPr>
            <p:cNvPr id="94" name="output-spikes-baseline-1"/>
            <p:cNvSpPr/>
            <p:nvPr/>
          </p:nvSpPr>
          <p:spPr>
            <a:xfrm>
              <a:off x="5524500" y="1120775"/>
              <a:ext cx="676275" cy="95"/>
            </a:xfrm>
            <a:custGeom>
              <a:avLst/>
              <a:gdLst/>
              <a:ahLst/>
              <a:cxnLst/>
              <a:rect l="0" t="0" r="r" b="b"/>
              <a:pathLst>
                <a:path w="710000" h="100" fill="none" stroke="1">
                  <a:moveTo>
                    <a:pt x="0" y="0"/>
                  </a:moveTo>
                  <a:lnTo>
                    <a:pt x="710000" y="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 w="4286" cap="rnd">
              <a:solidFill>
                <a:srgbClr val="D3D8DA"/>
              </a:solidFill>
              <a:prstDash val="solid"/>
              <a:round/>
            </a:ln>
          </p:spPr>
        </p:sp>
        <p:sp>
          <p:nvSpPr>
            <p:cNvPr id="95" name="output-spikes-spike-1-0"/>
            <p:cNvSpPr/>
            <p:nvPr/>
          </p:nvSpPr>
          <p:spPr>
            <a:xfrm>
              <a:off x="5580856" y="1054100"/>
              <a:ext cx="95" cy="66675"/>
            </a:xfrm>
            <a:custGeom>
              <a:avLst/>
              <a:gdLst/>
              <a:ahLst/>
              <a:cxnLst/>
              <a:rect l="0" t="0" r="r" b="b"/>
              <a:pathLst>
                <a:path w="100" h="70000" fill="none" stroke="1">
                  <a:moveTo>
                    <a:pt x="0" y="70000"/>
                  </a:moveTo>
                  <a:lnTo>
                    <a:pt x="0" y="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 w="10001" cap="rnd">
              <a:solidFill>
                <a:srgbClr val="B95446"/>
              </a:solidFill>
              <a:prstDash val="solid"/>
              <a:round/>
            </a:ln>
          </p:spPr>
        </p:sp>
        <p:sp>
          <p:nvSpPr>
            <p:cNvPr id="96" name="output-spikes-spike-1-1"/>
            <p:cNvSpPr/>
            <p:nvPr/>
          </p:nvSpPr>
          <p:spPr>
            <a:xfrm>
              <a:off x="5721747" y="1054100"/>
              <a:ext cx="95" cy="66675"/>
            </a:xfrm>
            <a:custGeom>
              <a:avLst/>
              <a:gdLst/>
              <a:ahLst/>
              <a:cxnLst/>
              <a:rect l="0" t="0" r="r" b="b"/>
              <a:pathLst>
                <a:path w="100" h="70000" fill="none" stroke="1">
                  <a:moveTo>
                    <a:pt x="0" y="70000"/>
                  </a:moveTo>
                  <a:lnTo>
                    <a:pt x="0" y="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 w="10001" cap="rnd">
              <a:solidFill>
                <a:srgbClr val="B95446"/>
              </a:solidFill>
              <a:prstDash val="solid"/>
              <a:round/>
            </a:ln>
          </p:spPr>
        </p:sp>
        <p:sp>
          <p:nvSpPr>
            <p:cNvPr id="97" name="output-spikes-spike-1-2"/>
            <p:cNvSpPr/>
            <p:nvPr/>
          </p:nvSpPr>
          <p:spPr>
            <a:xfrm>
              <a:off x="5778103" y="1054100"/>
              <a:ext cx="95" cy="66675"/>
            </a:xfrm>
            <a:custGeom>
              <a:avLst/>
              <a:gdLst/>
              <a:ahLst/>
              <a:cxnLst/>
              <a:rect l="0" t="0" r="r" b="b"/>
              <a:pathLst>
                <a:path w="100" h="70000" fill="none" stroke="1">
                  <a:moveTo>
                    <a:pt x="0" y="70000"/>
                  </a:moveTo>
                  <a:lnTo>
                    <a:pt x="0" y="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 w="10001" cap="rnd">
              <a:solidFill>
                <a:srgbClr val="B95446"/>
              </a:solidFill>
              <a:prstDash val="solid"/>
              <a:round/>
            </a:ln>
          </p:spPr>
        </p:sp>
        <p:sp>
          <p:nvSpPr>
            <p:cNvPr id="98" name="output-spikes-spike-1-3"/>
            <p:cNvSpPr/>
            <p:nvPr/>
          </p:nvSpPr>
          <p:spPr>
            <a:xfrm>
              <a:off x="5947172" y="1054100"/>
              <a:ext cx="95" cy="66675"/>
            </a:xfrm>
            <a:custGeom>
              <a:avLst/>
              <a:gdLst/>
              <a:ahLst/>
              <a:cxnLst/>
              <a:rect l="0" t="0" r="r" b="b"/>
              <a:pathLst>
                <a:path w="100" h="70000" fill="none" stroke="1">
                  <a:moveTo>
                    <a:pt x="0" y="70000"/>
                  </a:moveTo>
                  <a:lnTo>
                    <a:pt x="0" y="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 w="10001" cap="rnd">
              <a:solidFill>
                <a:srgbClr val="B95446"/>
              </a:solidFill>
              <a:prstDash val="solid"/>
              <a:round/>
            </a:ln>
          </p:spPr>
        </p:sp>
        <p:sp>
          <p:nvSpPr>
            <p:cNvPr id="99" name="output-spikes-spike-1-4"/>
            <p:cNvSpPr/>
            <p:nvPr/>
          </p:nvSpPr>
          <p:spPr>
            <a:xfrm>
              <a:off x="6116241" y="1054100"/>
              <a:ext cx="95" cy="66675"/>
            </a:xfrm>
            <a:custGeom>
              <a:avLst/>
              <a:gdLst/>
              <a:ahLst/>
              <a:cxnLst/>
              <a:rect l="0" t="0" r="r" b="b"/>
              <a:pathLst>
                <a:path w="100" h="70000" fill="none" stroke="1">
                  <a:moveTo>
                    <a:pt x="0" y="70000"/>
                  </a:moveTo>
                  <a:lnTo>
                    <a:pt x="0" y="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 w="10001" cap="rnd">
              <a:solidFill>
                <a:srgbClr val="B95446"/>
              </a:solidFill>
              <a:prstDash val="solid"/>
              <a:round/>
            </a:ln>
          </p:spPr>
        </p:sp>
        <p:sp>
          <p:nvSpPr>
            <p:cNvPr id="100" name="output-spikes-baseline-2"/>
            <p:cNvSpPr/>
            <p:nvPr/>
          </p:nvSpPr>
          <p:spPr>
            <a:xfrm>
              <a:off x="5524500" y="1260475"/>
              <a:ext cx="676275" cy="95"/>
            </a:xfrm>
            <a:custGeom>
              <a:avLst/>
              <a:gdLst/>
              <a:ahLst/>
              <a:cxnLst/>
              <a:rect l="0" t="0" r="r" b="b"/>
              <a:pathLst>
                <a:path w="710000" h="100" fill="none" stroke="1">
                  <a:moveTo>
                    <a:pt x="0" y="0"/>
                  </a:moveTo>
                  <a:lnTo>
                    <a:pt x="710000" y="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 w="4286" cap="rnd">
              <a:solidFill>
                <a:srgbClr val="D3D8DA"/>
              </a:solidFill>
              <a:prstDash val="solid"/>
              <a:round/>
            </a:ln>
          </p:spPr>
        </p:sp>
        <p:sp>
          <p:nvSpPr>
            <p:cNvPr id="101" name="output-spikes-spike-2-0"/>
            <p:cNvSpPr/>
            <p:nvPr/>
          </p:nvSpPr>
          <p:spPr>
            <a:xfrm>
              <a:off x="5665391" y="1193800"/>
              <a:ext cx="95" cy="66675"/>
            </a:xfrm>
            <a:custGeom>
              <a:avLst/>
              <a:gdLst/>
              <a:ahLst/>
              <a:cxnLst/>
              <a:rect l="0" t="0" r="r" b="b"/>
              <a:pathLst>
                <a:path w="100" h="70000" fill="none" stroke="1">
                  <a:moveTo>
                    <a:pt x="0" y="70000"/>
                  </a:moveTo>
                  <a:lnTo>
                    <a:pt x="0" y="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 w="10001" cap="rnd">
              <a:solidFill>
                <a:srgbClr val="B95446"/>
              </a:solidFill>
              <a:prstDash val="solid"/>
              <a:round/>
            </a:ln>
          </p:spPr>
        </p:sp>
        <p:sp>
          <p:nvSpPr>
            <p:cNvPr id="102" name="output-spikes-spike-2-1"/>
            <p:cNvSpPr/>
            <p:nvPr/>
          </p:nvSpPr>
          <p:spPr>
            <a:xfrm>
              <a:off x="5806281" y="1193800"/>
              <a:ext cx="95" cy="66675"/>
            </a:xfrm>
            <a:custGeom>
              <a:avLst/>
              <a:gdLst/>
              <a:ahLst/>
              <a:cxnLst/>
              <a:rect l="0" t="0" r="r" b="b"/>
              <a:pathLst>
                <a:path w="100" h="70000" fill="none" stroke="1">
                  <a:moveTo>
                    <a:pt x="0" y="70000"/>
                  </a:moveTo>
                  <a:lnTo>
                    <a:pt x="0" y="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 w="10001" cap="rnd">
              <a:solidFill>
                <a:srgbClr val="B95446"/>
              </a:solidFill>
              <a:prstDash val="solid"/>
              <a:round/>
            </a:ln>
          </p:spPr>
        </p:sp>
        <p:sp>
          <p:nvSpPr>
            <p:cNvPr id="103" name="output-spikes-spike-2-2"/>
            <p:cNvSpPr/>
            <p:nvPr/>
          </p:nvSpPr>
          <p:spPr>
            <a:xfrm>
              <a:off x="5890816" y="1193800"/>
              <a:ext cx="95" cy="66675"/>
            </a:xfrm>
            <a:custGeom>
              <a:avLst/>
              <a:gdLst/>
              <a:ahLst/>
              <a:cxnLst/>
              <a:rect l="0" t="0" r="r" b="b"/>
              <a:pathLst>
                <a:path w="100" h="70000" fill="none" stroke="1">
                  <a:moveTo>
                    <a:pt x="0" y="70000"/>
                  </a:moveTo>
                  <a:lnTo>
                    <a:pt x="0" y="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 w="10001" cap="rnd">
              <a:solidFill>
                <a:srgbClr val="B95446"/>
              </a:solidFill>
              <a:prstDash val="solid"/>
              <a:round/>
            </a:ln>
          </p:spPr>
        </p:sp>
        <p:sp>
          <p:nvSpPr>
            <p:cNvPr id="104" name="output-spikes-spike-2-3"/>
            <p:cNvSpPr/>
            <p:nvPr/>
          </p:nvSpPr>
          <p:spPr>
            <a:xfrm>
              <a:off x="6059884" y="1193800"/>
              <a:ext cx="95" cy="66675"/>
            </a:xfrm>
            <a:custGeom>
              <a:avLst/>
              <a:gdLst/>
              <a:ahLst/>
              <a:cxnLst/>
              <a:rect l="0" t="0" r="r" b="b"/>
              <a:pathLst>
                <a:path w="100" h="70000" fill="none" stroke="1">
                  <a:moveTo>
                    <a:pt x="0" y="70000"/>
                  </a:moveTo>
                  <a:lnTo>
                    <a:pt x="0" y="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 w="10001" cap="rnd">
              <a:solidFill>
                <a:srgbClr val="B95446"/>
              </a:solidFill>
              <a:prstDash val="solid"/>
              <a:round/>
            </a:ln>
          </p:spPr>
        </p:sp>
        <p:sp>
          <p:nvSpPr>
            <p:cNvPr id="105" name="output-spikes-spike-2-4"/>
            <p:cNvSpPr/>
            <p:nvPr/>
          </p:nvSpPr>
          <p:spPr>
            <a:xfrm>
              <a:off x="6144419" y="1193800"/>
              <a:ext cx="95" cy="66675"/>
            </a:xfrm>
            <a:custGeom>
              <a:avLst/>
              <a:gdLst/>
              <a:ahLst/>
              <a:cxnLst/>
              <a:rect l="0" t="0" r="r" b="b"/>
              <a:pathLst>
                <a:path w="100" h="70000" fill="none" stroke="1">
                  <a:moveTo>
                    <a:pt x="0" y="70000"/>
                  </a:moveTo>
                  <a:lnTo>
                    <a:pt x="0" y="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 w="10001" cap="rnd">
              <a:solidFill>
                <a:srgbClr val="B95446"/>
              </a:solidFill>
              <a:prstDash val="solid"/>
              <a:round/>
            </a:ln>
          </p:spPr>
        </p:sp>
        <p:sp>
          <p:nvSpPr>
            <p:cNvPr id="106" name="output-spikes-baseline-3"/>
            <p:cNvSpPr/>
            <p:nvPr/>
          </p:nvSpPr>
          <p:spPr>
            <a:xfrm>
              <a:off x="5524500" y="1400175"/>
              <a:ext cx="676275" cy="95"/>
            </a:xfrm>
            <a:custGeom>
              <a:avLst/>
              <a:gdLst/>
              <a:ahLst/>
              <a:cxnLst/>
              <a:rect l="0" t="0" r="r" b="b"/>
              <a:pathLst>
                <a:path w="710000" h="100" fill="none" stroke="1">
                  <a:moveTo>
                    <a:pt x="0" y="0"/>
                  </a:moveTo>
                  <a:lnTo>
                    <a:pt x="710000" y="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 w="4286" cap="rnd">
              <a:solidFill>
                <a:srgbClr val="D3D8DA"/>
              </a:solidFill>
              <a:prstDash val="solid"/>
              <a:round/>
            </a:ln>
          </p:spPr>
        </p:sp>
        <p:sp>
          <p:nvSpPr>
            <p:cNvPr id="107" name="output-spikes-spike-3-0"/>
            <p:cNvSpPr/>
            <p:nvPr/>
          </p:nvSpPr>
          <p:spPr>
            <a:xfrm>
              <a:off x="5637213" y="1333500"/>
              <a:ext cx="95" cy="66675"/>
            </a:xfrm>
            <a:custGeom>
              <a:avLst/>
              <a:gdLst/>
              <a:ahLst/>
              <a:cxnLst/>
              <a:rect l="0" t="0" r="r" b="b"/>
              <a:pathLst>
                <a:path w="100" h="70000" fill="none" stroke="1">
                  <a:moveTo>
                    <a:pt x="0" y="70000"/>
                  </a:moveTo>
                  <a:lnTo>
                    <a:pt x="0" y="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 w="10001" cap="rnd">
              <a:solidFill>
                <a:srgbClr val="B95446"/>
              </a:solidFill>
              <a:prstDash val="solid"/>
              <a:round/>
            </a:ln>
          </p:spPr>
        </p:sp>
        <p:sp>
          <p:nvSpPr>
            <p:cNvPr id="108" name="output-spikes-spike-3-1"/>
            <p:cNvSpPr/>
            <p:nvPr/>
          </p:nvSpPr>
          <p:spPr>
            <a:xfrm>
              <a:off x="5721747" y="1333500"/>
              <a:ext cx="95" cy="66675"/>
            </a:xfrm>
            <a:custGeom>
              <a:avLst/>
              <a:gdLst/>
              <a:ahLst/>
              <a:cxnLst/>
              <a:rect l="0" t="0" r="r" b="b"/>
              <a:pathLst>
                <a:path w="100" h="70000" fill="none" stroke="1">
                  <a:moveTo>
                    <a:pt x="0" y="70000"/>
                  </a:moveTo>
                  <a:lnTo>
                    <a:pt x="0" y="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 w="10001" cap="rnd">
              <a:solidFill>
                <a:srgbClr val="B95446"/>
              </a:solidFill>
              <a:prstDash val="solid"/>
              <a:round/>
            </a:ln>
          </p:spPr>
        </p:sp>
        <p:sp>
          <p:nvSpPr>
            <p:cNvPr id="109" name="output-spikes-spike-3-2"/>
            <p:cNvSpPr/>
            <p:nvPr/>
          </p:nvSpPr>
          <p:spPr>
            <a:xfrm>
              <a:off x="5862638" y="1333500"/>
              <a:ext cx="95" cy="66675"/>
            </a:xfrm>
            <a:custGeom>
              <a:avLst/>
              <a:gdLst/>
              <a:ahLst/>
              <a:cxnLst/>
              <a:rect l="0" t="0" r="r" b="b"/>
              <a:pathLst>
                <a:path w="100" h="70000" fill="none" stroke="1">
                  <a:moveTo>
                    <a:pt x="0" y="70000"/>
                  </a:moveTo>
                  <a:lnTo>
                    <a:pt x="0" y="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 w="10001" cap="rnd">
              <a:solidFill>
                <a:srgbClr val="B95446"/>
              </a:solidFill>
              <a:prstDash val="solid"/>
              <a:round/>
            </a:ln>
          </p:spPr>
        </p:sp>
        <p:sp>
          <p:nvSpPr>
            <p:cNvPr id="110" name="output-spikes-spike-3-3"/>
            <p:cNvSpPr/>
            <p:nvPr/>
          </p:nvSpPr>
          <p:spPr>
            <a:xfrm>
              <a:off x="6031706" y="1333500"/>
              <a:ext cx="95" cy="66675"/>
            </a:xfrm>
            <a:custGeom>
              <a:avLst/>
              <a:gdLst/>
              <a:ahLst/>
              <a:cxnLst/>
              <a:rect l="0" t="0" r="r" b="b"/>
              <a:pathLst>
                <a:path w="100" h="70000" fill="none" stroke="1">
                  <a:moveTo>
                    <a:pt x="0" y="70000"/>
                  </a:moveTo>
                  <a:lnTo>
                    <a:pt x="0" y="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 w="10001" cap="rnd">
              <a:solidFill>
                <a:srgbClr val="B95446"/>
              </a:solidFill>
              <a:prstDash val="solid"/>
              <a:round/>
            </a:ln>
          </p:spPr>
        </p:sp>
        <p:sp>
          <p:nvSpPr>
            <p:cNvPr id="111" name="output-spikes-spike-3-4"/>
            <p:cNvSpPr/>
            <p:nvPr/>
          </p:nvSpPr>
          <p:spPr>
            <a:xfrm>
              <a:off x="6172597" y="1333500"/>
              <a:ext cx="95" cy="66675"/>
            </a:xfrm>
            <a:custGeom>
              <a:avLst/>
              <a:gdLst/>
              <a:ahLst/>
              <a:cxnLst/>
              <a:rect l="0" t="0" r="r" b="b"/>
              <a:pathLst>
                <a:path w="100" h="70000" fill="none" stroke="1">
                  <a:moveTo>
                    <a:pt x="0" y="70000"/>
                  </a:moveTo>
                  <a:lnTo>
                    <a:pt x="0" y="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 w="10001" cap="rnd">
              <a:solidFill>
                <a:srgbClr val="B95446"/>
              </a:solidFill>
              <a:prstDash val="solid"/>
              <a:round/>
            </a:ln>
          </p:spPr>
        </p:sp>
      </p:grpSp>
      <p:sp>
        <p:nvSpPr>
          <p:cNvPr id="112" name="output-dimension"/>
          <p:cNvSpPr/>
          <p:nvPr/>
        </p:nvSpPr>
        <p:spPr>
          <a:xfrm>
            <a:off x="5419725" y="1514475"/>
            <a:ext cx="876300" cy="152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B95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1024 channels</a:t>
            </a:r>
            <a:endParaRPr lang="en-US" sz="788" dirty="0"/>
          </a:p>
        </p:txBody>
      </p:sp>
      <p:cxnSp>
        <p:nvCxnSpPr>
          <p:cNvPr id="113" name="main-0"/>
          <p:cNvCxnSpPr>
            <a:stCxn id="8" idx="3"/>
            <a:endCxn id="34" idx="1"/>
          </p:cNvCxnSpPr>
          <p:nvPr/>
        </p:nvCxnSpPr>
        <p:spPr>
          <a:xfrm>
            <a:off x="1419225" y="1152525"/>
            <a:ext cx="142875" cy="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w="22384" cap="rnd">
            <a:solidFill>
              <a:srgbClr val="394248"/>
            </a:solidFill>
            <a:prstDash val="solid"/>
            <a:round/>
            <a:tailEnd type="triangle" w="med" len="med"/>
          </a:ln>
        </p:spPr>
      </p:cxnSp>
      <p:cxnSp>
        <p:nvCxnSpPr>
          <p:cNvPr id="114" name="main-1"/>
          <p:cNvCxnSpPr>
            <a:stCxn id="34" idx="3"/>
            <a:endCxn id="52" idx="1"/>
          </p:cNvCxnSpPr>
          <p:nvPr/>
        </p:nvCxnSpPr>
        <p:spPr>
          <a:xfrm>
            <a:off x="2009775" y="1152525"/>
            <a:ext cx="119062" cy="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w="22384" cap="rnd">
            <a:solidFill>
              <a:srgbClr val="394248"/>
            </a:solidFill>
            <a:prstDash val="solid"/>
            <a:round/>
            <a:tailEnd type="triangle" w="med" len="med"/>
          </a:ln>
        </p:spPr>
      </p:cxnSp>
      <p:cxnSp>
        <p:nvCxnSpPr>
          <p:cNvPr id="115" name="main-2"/>
          <p:cNvCxnSpPr>
            <a:stCxn id="53" idx="3"/>
            <a:endCxn id="70" idx="1"/>
          </p:cNvCxnSpPr>
          <p:nvPr/>
        </p:nvCxnSpPr>
        <p:spPr>
          <a:xfrm>
            <a:off x="3328988" y="1152525"/>
            <a:ext cx="157162" cy="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w="22384" cap="rnd">
            <a:solidFill>
              <a:srgbClr val="394248"/>
            </a:solidFill>
            <a:prstDash val="solid"/>
            <a:round/>
            <a:tailEnd type="triangle" w="med" len="med"/>
          </a:ln>
        </p:spPr>
      </p:cxnSp>
      <p:cxnSp>
        <p:nvCxnSpPr>
          <p:cNvPr id="116" name="main-3"/>
          <p:cNvCxnSpPr>
            <a:stCxn id="70" idx="3"/>
            <a:endCxn id="66" idx="1"/>
          </p:cNvCxnSpPr>
          <p:nvPr/>
        </p:nvCxnSpPr>
        <p:spPr>
          <a:xfrm>
            <a:off x="3905250" y="1152525"/>
            <a:ext cx="166688" cy="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w="22384" cap="rnd">
            <a:solidFill>
              <a:srgbClr val="394248"/>
            </a:solidFill>
            <a:prstDash val="solid"/>
            <a:round/>
            <a:tailEnd type="triangle" w="med" len="med"/>
          </a:ln>
        </p:spPr>
      </p:cxnSp>
      <p:cxnSp>
        <p:nvCxnSpPr>
          <p:cNvPr id="117" name="main-4"/>
          <p:cNvCxnSpPr>
            <a:stCxn id="67" idx="3"/>
            <a:endCxn id="87" idx="1"/>
          </p:cNvCxnSpPr>
          <p:nvPr/>
        </p:nvCxnSpPr>
        <p:spPr>
          <a:xfrm>
            <a:off x="5281612" y="1152525"/>
            <a:ext cx="185738" cy="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w="22384" cap="rnd">
            <a:solidFill>
              <a:srgbClr val="394248"/>
            </a:solidFill>
            <a:prstDash val="solid"/>
            <a:round/>
            <a:tailEnd type="triangle" w="med" len="med"/>
          </a:ln>
        </p:spPr>
      </p:cxnSp>
      <p:sp>
        <p:nvSpPr>
          <p:cNvPr id="118" name="encoder-sequence"/>
          <p:cNvSpPr/>
          <p:nvPr/>
        </p:nvSpPr>
        <p:spPr>
          <a:xfrm>
            <a:off x="152400" y="1781175"/>
            <a:ext cx="3086100" cy="1619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3" dirty="0">
                <a:solidFill>
                  <a:srgbClr val="262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Encoder: 1024 → 1024 → 768 → 512 → 256 → 128 → 32</a:t>
            </a:r>
            <a:endParaRPr lang="en-US" sz="773" dirty="0"/>
          </a:p>
        </p:txBody>
      </p:sp>
      <p:sp>
        <p:nvSpPr>
          <p:cNvPr id="119" name="decoder-sequence"/>
          <p:cNvSpPr/>
          <p:nvPr/>
        </p:nvSpPr>
        <p:spPr>
          <a:xfrm>
            <a:off x="3257550" y="1781175"/>
            <a:ext cx="2990850" cy="1619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3" dirty="0">
                <a:solidFill>
                  <a:srgbClr val="262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Decoder: 32 → 128 → 256 → 512 → 768 → 1024 → 1024</a:t>
            </a:r>
            <a:endParaRPr lang="en-US" sz="773" dirty="0"/>
          </a:p>
        </p:txBody>
      </p:sp>
      <p:sp>
        <p:nvSpPr>
          <p:cNvPr id="120" name="time-preserved"/>
          <p:cNvSpPr/>
          <p:nvPr/>
        </p:nvSpPr>
        <p:spPr>
          <a:xfrm>
            <a:off x="152400" y="1971675"/>
            <a:ext cx="6096000" cy="14287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3" dirty="0">
                <a:solidFill>
                  <a:srgbClr val="5258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runs left to right and is preserved through the shared stages.</a:t>
            </a:r>
            <a:endParaRPr lang="en-US" sz="773" dirty="0"/>
          </a:p>
        </p:txBody>
      </p:sp>
      <p:sp>
        <p:nvSpPr>
          <p:cNvPr id="121" name="panel-separator"/>
          <p:cNvSpPr/>
          <p:nvPr/>
        </p:nvSpPr>
        <p:spPr>
          <a:xfrm>
            <a:off x="152400" y="2181225"/>
            <a:ext cx="6096000" cy="95"/>
          </a:xfrm>
          <a:custGeom>
            <a:avLst/>
            <a:gdLst/>
            <a:ahLst/>
            <a:cxnLst/>
            <a:rect l="0" t="0" r="r" b="b"/>
            <a:pathLst>
              <a:path w="6400000" h="100" fill="none" stroke="1">
                <a:moveTo>
                  <a:pt x="0" y="0"/>
                </a:moveTo>
                <a:lnTo>
                  <a:pt x="6400000" y="0"/>
                </a:lnTo>
              </a:path>
            </a:pathLst>
          </a:custGeom>
          <a:solidFill>
            <a:srgbClr val="FFFFFF">
              <a:alpha val="0"/>
            </a:srgbClr>
          </a:solidFill>
          <a:ln w="6667" cap="rnd">
            <a:solidFill>
              <a:srgbClr val="B7BEC1"/>
            </a:solidFill>
            <a:prstDash val="solid"/>
            <a:round/>
          </a:ln>
        </p:spPr>
      </p:sp>
      <p:sp>
        <p:nvSpPr>
          <p:cNvPr id="122" name="panel-b"/>
          <p:cNvSpPr/>
          <p:nvPr/>
        </p:nvSpPr>
        <p:spPr>
          <a:xfrm>
            <a:off x="152400" y="2238375"/>
            <a:ext cx="6096000" cy="2000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62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 Delay-tolerant training</a:t>
            </a:r>
            <a:endParaRPr lang="en-US" sz="1125" dirty="0"/>
          </a:p>
        </p:txBody>
      </p:sp>
      <p:sp>
        <p:nvSpPr>
          <p:cNvPr id="123" name="target-caption"/>
          <p:cNvSpPr/>
          <p:nvPr/>
        </p:nvSpPr>
        <p:spPr>
          <a:xfrm>
            <a:off x="228600" y="2552700"/>
            <a:ext cx="895350" cy="152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267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target</a:t>
            </a:r>
            <a:endParaRPr lang="en-US" sz="825" dirty="0"/>
          </a:p>
        </p:txBody>
      </p:sp>
      <p:sp>
        <p:nvSpPr>
          <p:cNvPr id="124" name="target-X.0"/>
          <p:cNvSpPr/>
          <p:nvPr/>
        </p:nvSpPr>
        <p:spPr>
          <a:xfrm>
            <a:off x="1141857" y="2533650"/>
            <a:ext cx="154686" cy="27527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i="1" dirty="0">
                <a:solidFill>
                  <a:srgbClr val="267F7C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X</a:t>
            </a:r>
            <a:endParaRPr lang="en-US" sz="1275" dirty="0"/>
          </a:p>
        </p:txBody>
      </p:sp>
      <p:sp>
        <p:nvSpPr>
          <p:cNvPr id="125" name="target-spikes"/>
          <p:cNvSpPr/>
          <p:nvPr/>
        </p:nvSpPr>
        <p:spPr>
          <a:xfrm>
            <a:off x="228600" y="2824163"/>
            <a:ext cx="895350" cy="371475"/>
          </a:xfrm>
          <a:prstGeom prst="rect">
            <a:avLst/>
          </a:prstGeom>
          <a:solidFill>
            <a:srgbClr val="FFFFFF"/>
          </a:solidFill>
          <a:ln w="10001">
            <a:solidFill>
              <a:srgbClr val="4C817E"/>
            </a:solidFill>
            <a:prstDash val="solid"/>
          </a:ln>
        </p:spPr>
      </p:sp>
      <p:grpSp>
        <p:nvGrpSpPr>
          <p:cNvPr id="216" name="target-spikes-events"/>
          <p:cNvGrpSpPr/>
          <p:nvPr/>
        </p:nvGrpSpPr>
        <p:grpSpPr>
          <a:xfrm>
            <a:off x="285750" y="2900363"/>
            <a:ext cx="781050" cy="66770"/>
            <a:chOff x="285750" y="2900363"/>
            <a:chExt cx="781050" cy="66770"/>
          </a:xfrm>
        </p:grpSpPr>
        <p:sp>
          <p:nvSpPr>
            <p:cNvPr id="126" name="target-spikes-baseline-0"/>
            <p:cNvSpPr/>
            <p:nvPr/>
          </p:nvSpPr>
          <p:spPr>
            <a:xfrm>
              <a:off x="285750" y="2967038"/>
              <a:ext cx="781050" cy="95"/>
            </a:xfrm>
            <a:custGeom>
              <a:avLst/>
              <a:gdLst/>
              <a:ahLst/>
              <a:cxnLst/>
              <a:rect l="0" t="0" r="r" b="b"/>
              <a:pathLst>
                <a:path w="820000" h="100" fill="none" stroke="1">
                  <a:moveTo>
                    <a:pt x="0" y="0"/>
                  </a:moveTo>
                  <a:lnTo>
                    <a:pt x="820000" y="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 w="4286" cap="rnd">
              <a:solidFill>
                <a:srgbClr val="D3D8DA"/>
              </a:solidFill>
              <a:prstDash val="solid"/>
              <a:round/>
            </a:ln>
          </p:spPr>
        </p:sp>
        <p:sp>
          <p:nvSpPr>
            <p:cNvPr id="127" name="target-spikes-spike-0-0"/>
            <p:cNvSpPr/>
            <p:nvPr/>
          </p:nvSpPr>
          <p:spPr>
            <a:xfrm>
              <a:off x="350838" y="2900363"/>
              <a:ext cx="95" cy="66675"/>
            </a:xfrm>
            <a:custGeom>
              <a:avLst/>
              <a:gdLst/>
              <a:ahLst/>
              <a:cxnLst/>
              <a:rect l="0" t="0" r="r" b="b"/>
              <a:pathLst>
                <a:path w="100" h="70000" fill="none" stroke="1">
                  <a:moveTo>
                    <a:pt x="0" y="70000"/>
                  </a:moveTo>
                  <a:lnTo>
                    <a:pt x="0" y="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 w="10001" cap="rnd">
              <a:solidFill>
                <a:srgbClr val="267F7C"/>
              </a:solidFill>
              <a:prstDash val="solid"/>
              <a:round/>
            </a:ln>
          </p:spPr>
        </p:sp>
        <p:sp>
          <p:nvSpPr>
            <p:cNvPr id="128" name="target-spikes-spike-0-1"/>
            <p:cNvSpPr/>
            <p:nvPr/>
          </p:nvSpPr>
          <p:spPr>
            <a:xfrm>
              <a:off x="383381" y="2900363"/>
              <a:ext cx="95" cy="66675"/>
            </a:xfrm>
            <a:custGeom>
              <a:avLst/>
              <a:gdLst/>
              <a:ahLst/>
              <a:cxnLst/>
              <a:rect l="0" t="0" r="r" b="b"/>
              <a:pathLst>
                <a:path w="100" h="70000" fill="none" stroke="1">
                  <a:moveTo>
                    <a:pt x="0" y="70000"/>
                  </a:moveTo>
                  <a:lnTo>
                    <a:pt x="0" y="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 w="10001" cap="rnd">
              <a:solidFill>
                <a:srgbClr val="267F7C"/>
              </a:solidFill>
              <a:prstDash val="solid"/>
              <a:round/>
            </a:ln>
          </p:spPr>
        </p:sp>
        <p:sp>
          <p:nvSpPr>
            <p:cNvPr id="129" name="target-spikes-spike-0-2"/>
            <p:cNvSpPr/>
            <p:nvPr/>
          </p:nvSpPr>
          <p:spPr>
            <a:xfrm>
              <a:off x="546100" y="2900363"/>
              <a:ext cx="95" cy="66675"/>
            </a:xfrm>
            <a:custGeom>
              <a:avLst/>
              <a:gdLst/>
              <a:ahLst/>
              <a:cxnLst/>
              <a:rect l="0" t="0" r="r" b="b"/>
              <a:pathLst>
                <a:path w="100" h="70000" fill="none" stroke="1">
                  <a:moveTo>
                    <a:pt x="0" y="70000"/>
                  </a:moveTo>
                  <a:lnTo>
                    <a:pt x="0" y="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 w="10001" cap="rnd">
              <a:solidFill>
                <a:srgbClr val="267F7C"/>
              </a:solidFill>
              <a:prstDash val="solid"/>
              <a:round/>
            </a:ln>
          </p:spPr>
        </p:sp>
        <p:sp>
          <p:nvSpPr>
            <p:cNvPr id="130" name="target-spikes-spike-0-3"/>
            <p:cNvSpPr/>
            <p:nvPr/>
          </p:nvSpPr>
          <p:spPr>
            <a:xfrm>
              <a:off x="708819" y="2900363"/>
              <a:ext cx="95" cy="66675"/>
            </a:xfrm>
            <a:custGeom>
              <a:avLst/>
              <a:gdLst/>
              <a:ahLst/>
              <a:cxnLst/>
              <a:rect l="0" t="0" r="r" b="b"/>
              <a:pathLst>
                <a:path w="100" h="70000" fill="none" stroke="1">
                  <a:moveTo>
                    <a:pt x="0" y="70000"/>
                  </a:moveTo>
                  <a:lnTo>
                    <a:pt x="0" y="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 w="10001" cap="rnd">
              <a:solidFill>
                <a:srgbClr val="267F7C"/>
              </a:solidFill>
              <a:prstDash val="solid"/>
              <a:round/>
            </a:ln>
          </p:spPr>
        </p:sp>
        <p:sp>
          <p:nvSpPr>
            <p:cNvPr id="131" name="target-spikes-spike-0-4"/>
            <p:cNvSpPr/>
            <p:nvPr/>
          </p:nvSpPr>
          <p:spPr>
            <a:xfrm>
              <a:off x="871538" y="2900363"/>
              <a:ext cx="95" cy="66675"/>
            </a:xfrm>
            <a:custGeom>
              <a:avLst/>
              <a:gdLst/>
              <a:ahLst/>
              <a:cxnLst/>
              <a:rect l="0" t="0" r="r" b="b"/>
              <a:pathLst>
                <a:path w="100" h="70000" fill="none" stroke="1">
                  <a:moveTo>
                    <a:pt x="0" y="70000"/>
                  </a:moveTo>
                  <a:lnTo>
                    <a:pt x="0" y="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 w="10001" cap="rnd">
              <a:solidFill>
                <a:srgbClr val="267F7C"/>
              </a:solidFill>
              <a:prstDash val="solid"/>
              <a:round/>
            </a:ln>
          </p:spPr>
        </p:sp>
      </p:grpSp>
      <p:sp>
        <p:nvSpPr>
          <p:cNvPr id="132" name="target-definition"/>
          <p:cNvSpPr/>
          <p:nvPr/>
        </p:nvSpPr>
        <p:spPr>
          <a:xfrm>
            <a:off x="228600" y="3238500"/>
            <a:ext cx="1000125" cy="1238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5258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adaptation</a:t>
            </a:r>
            <a:endParaRPr lang="en-US" sz="720" dirty="0"/>
          </a:p>
        </p:txBody>
      </p:sp>
      <p:sp>
        <p:nvSpPr>
          <p:cNvPr id="133" name="causal-delay"/>
          <p:cNvSpPr/>
          <p:nvPr/>
        </p:nvSpPr>
        <p:spPr>
          <a:xfrm>
            <a:off x="1438275" y="2714625"/>
            <a:ext cx="1152525" cy="590550"/>
          </a:xfrm>
          <a:prstGeom prst="rect">
            <a:avLst/>
          </a:prstGeom>
          <a:solidFill>
            <a:srgbClr val="EFF1F2"/>
          </a:solidFill>
          <a:ln w="9525">
            <a:solidFill>
              <a:srgbClr val="747B7F"/>
            </a:solidFill>
            <a:prstDash val="solid"/>
          </a:ln>
        </p:spPr>
      </p:sp>
      <p:sp>
        <p:nvSpPr>
          <p:cNvPr id="134" name="delay-heading"/>
          <p:cNvSpPr/>
          <p:nvPr/>
        </p:nvSpPr>
        <p:spPr>
          <a:xfrm>
            <a:off x="1495425" y="2762250"/>
            <a:ext cx="1038225" cy="152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262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 causal delay</a:t>
            </a:r>
            <a:endParaRPr lang="en-US" sz="825" dirty="0"/>
          </a:p>
        </p:txBody>
      </p:sp>
      <p:grpSp>
        <p:nvGrpSpPr>
          <p:cNvPr id="217" name="delay-probability"/>
          <p:cNvGrpSpPr/>
          <p:nvPr/>
        </p:nvGrpSpPr>
        <p:grpSpPr>
          <a:xfrm>
            <a:off x="1848174" y="2933700"/>
            <a:ext cx="397688" cy="275273"/>
            <a:chOff x="1848174" y="2933700"/>
            <a:chExt cx="397688" cy="275273"/>
          </a:xfrm>
        </p:grpSpPr>
        <p:sp>
          <p:nvSpPr>
            <p:cNvPr id="135" name="delay-probability.0"/>
            <p:cNvSpPr/>
            <p:nvPr/>
          </p:nvSpPr>
          <p:spPr>
            <a:xfrm>
              <a:off x="1848174" y="2933700"/>
              <a:ext cx="129540" cy="275273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75" i="1" dirty="0">
                  <a:solidFill>
                    <a:srgbClr val="26292B"/>
                  </a:solidFill>
                  <a:latin typeface="Liberation Serif" pitchFamily="34" charset="0"/>
                  <a:ea typeface="Liberation Serif" pitchFamily="34" charset="-122"/>
                  <a:cs typeface="Liberation Serif" pitchFamily="34" charset="-120"/>
                </a:rPr>
                <a:t>p</a:t>
              </a:r>
              <a:endParaRPr lang="en-US" sz="1275" dirty="0"/>
            </a:p>
          </p:txBody>
        </p:sp>
        <p:sp>
          <p:nvSpPr>
            <p:cNvPr id="136" name="delay-probability.1"/>
            <p:cNvSpPr/>
            <p:nvPr/>
          </p:nvSpPr>
          <p:spPr>
            <a:xfrm>
              <a:off x="1930756" y="3011424"/>
              <a:ext cx="88087" cy="18718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67" i="1" dirty="0">
                  <a:solidFill>
                    <a:srgbClr val="26292B"/>
                  </a:solidFill>
                  <a:latin typeface="Liberation Serif" pitchFamily="34" charset="0"/>
                  <a:ea typeface="Liberation Serif" pitchFamily="34" charset="-122"/>
                  <a:cs typeface="Liberation Serif" pitchFamily="34" charset="-120"/>
                </a:rPr>
                <a:t>c</a:t>
              </a:r>
              <a:endParaRPr lang="en-US" sz="867" dirty="0"/>
            </a:p>
          </p:txBody>
        </p:sp>
        <p:sp>
          <p:nvSpPr>
            <p:cNvPr id="137" name="delay-probability.2"/>
            <p:cNvSpPr/>
            <p:nvPr/>
          </p:nvSpPr>
          <p:spPr>
            <a:xfrm>
              <a:off x="1980305" y="2933700"/>
              <a:ext cx="129540" cy="275273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75" dirty="0">
                  <a:solidFill>
                    <a:srgbClr val="26292B"/>
                  </a:solidFill>
                  <a:latin typeface="Liberation Serif" pitchFamily="34" charset="0"/>
                  <a:ea typeface="Liberation Serif" pitchFamily="34" charset="-122"/>
                  <a:cs typeface="Liberation Serif" pitchFamily="34" charset="-120"/>
                </a:rPr>
                <a:t>(</a:t>
              </a:r>
              <a:endParaRPr lang="en-US" sz="1275" dirty="0"/>
            </a:p>
          </p:txBody>
        </p:sp>
        <p:sp>
          <p:nvSpPr>
            <p:cNvPr id="138" name="delay-probability.3"/>
            <p:cNvSpPr/>
            <p:nvPr/>
          </p:nvSpPr>
          <p:spPr>
            <a:xfrm>
              <a:off x="2035359" y="2933700"/>
              <a:ext cx="129540" cy="275273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75" i="1" dirty="0">
                  <a:solidFill>
                    <a:srgbClr val="26292B"/>
                  </a:solidFill>
                  <a:latin typeface="Liberation Serif" pitchFamily="34" charset="0"/>
                  <a:ea typeface="Liberation Serif" pitchFamily="34" charset="-122"/>
                  <a:cs typeface="Liberation Serif" pitchFamily="34" charset="-120"/>
                </a:rPr>
                <a:t>d</a:t>
              </a:r>
              <a:endParaRPr lang="en-US" sz="1275" dirty="0"/>
            </a:p>
          </p:txBody>
        </p:sp>
        <p:sp>
          <p:nvSpPr>
            <p:cNvPr id="139" name="delay-probability.4"/>
            <p:cNvSpPr/>
            <p:nvPr/>
          </p:nvSpPr>
          <p:spPr>
            <a:xfrm>
              <a:off x="2116322" y="2933700"/>
              <a:ext cx="129540" cy="275273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75" dirty="0">
                  <a:solidFill>
                    <a:srgbClr val="26292B"/>
                  </a:solidFill>
                  <a:latin typeface="Liberation Serif" pitchFamily="34" charset="0"/>
                  <a:ea typeface="Liberation Serif" pitchFamily="34" charset="-122"/>
                  <a:cs typeface="Liberation Serif" pitchFamily="34" charset="-120"/>
                </a:rPr>
                <a:t>)</a:t>
              </a:r>
              <a:endParaRPr lang="en-US" sz="1275" dirty="0"/>
            </a:p>
          </p:txBody>
        </p:sp>
      </p:grpSp>
      <p:sp>
        <p:nvSpPr>
          <p:cNvPr id="140" name="delay-support"/>
          <p:cNvSpPr/>
          <p:nvPr/>
        </p:nvSpPr>
        <p:spPr>
          <a:xfrm>
            <a:off x="1476375" y="3152775"/>
            <a:ext cx="1076325" cy="1238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13" dirty="0">
                <a:solidFill>
                  <a:srgbClr val="5258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0–30 bins, per channel</a:t>
            </a:r>
            <a:endParaRPr lang="en-US" sz="713" dirty="0"/>
          </a:p>
        </p:txBody>
      </p:sp>
      <p:sp>
        <p:nvSpPr>
          <p:cNvPr id="141" name="reconstruction-caption"/>
          <p:cNvSpPr/>
          <p:nvPr/>
        </p:nvSpPr>
        <p:spPr>
          <a:xfrm>
            <a:off x="228600" y="3457575"/>
            <a:ext cx="981075" cy="152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B95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Reconstruction</a:t>
            </a:r>
            <a:endParaRPr lang="en-US" sz="825" dirty="0"/>
          </a:p>
        </p:txBody>
      </p:sp>
      <p:grpSp>
        <p:nvGrpSpPr>
          <p:cNvPr id="218" name="reconstruction-X"/>
          <p:cNvGrpSpPr/>
          <p:nvPr/>
        </p:nvGrpSpPr>
        <p:grpSpPr>
          <a:xfrm>
            <a:off x="1265682" y="3437954"/>
            <a:ext cx="154686" cy="304419"/>
            <a:chOff x="1265682" y="3437954"/>
            <a:chExt cx="154686" cy="304419"/>
          </a:xfrm>
        </p:grpSpPr>
        <p:sp>
          <p:nvSpPr>
            <p:cNvPr id="142" name="reconstruction-X.0"/>
            <p:cNvSpPr/>
            <p:nvPr/>
          </p:nvSpPr>
          <p:spPr>
            <a:xfrm>
              <a:off x="1265682" y="3467100"/>
              <a:ext cx="154686" cy="275273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275" i="1" dirty="0">
                  <a:solidFill>
                    <a:srgbClr val="B95446"/>
                  </a:solidFill>
                  <a:latin typeface="Liberation Serif" pitchFamily="34" charset="0"/>
                  <a:ea typeface="Liberation Serif" pitchFamily="34" charset="-122"/>
                  <a:cs typeface="Liberation Serif" pitchFamily="34" charset="-120"/>
                </a:rPr>
                <a:t>X</a:t>
              </a:r>
              <a:endParaRPr lang="en-US" sz="1275" dirty="0"/>
            </a:p>
          </p:txBody>
        </p:sp>
        <p:sp>
          <p:nvSpPr>
            <p:cNvPr id="143" name="reconstruction-X.1"/>
            <p:cNvSpPr/>
            <p:nvPr/>
          </p:nvSpPr>
          <p:spPr>
            <a:xfrm>
              <a:off x="1301306" y="3437954"/>
              <a:ext cx="84201" cy="178927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829" dirty="0">
                  <a:solidFill>
                    <a:srgbClr val="B95446"/>
                  </a:solidFill>
                  <a:latin typeface="Liberation Serif" pitchFamily="34" charset="0"/>
                  <a:ea typeface="Liberation Serif" pitchFamily="34" charset="-122"/>
                  <a:cs typeface="Liberation Serif" pitchFamily="34" charset="-120"/>
                </a:rPr>
                <a:t>^</a:t>
              </a:r>
              <a:endParaRPr lang="en-US" sz="829" dirty="0"/>
            </a:p>
          </p:txBody>
        </p:sp>
      </p:grpSp>
      <p:sp>
        <p:nvSpPr>
          <p:cNvPr id="144" name="reconstruction-spikes"/>
          <p:cNvSpPr/>
          <p:nvPr/>
        </p:nvSpPr>
        <p:spPr>
          <a:xfrm>
            <a:off x="228600" y="3767138"/>
            <a:ext cx="895350" cy="371475"/>
          </a:xfrm>
          <a:prstGeom prst="rect">
            <a:avLst/>
          </a:prstGeom>
          <a:solidFill>
            <a:srgbClr val="FFFFFF"/>
          </a:solidFill>
          <a:ln w="10001">
            <a:solidFill>
              <a:srgbClr val="AB6A5E"/>
            </a:solidFill>
            <a:prstDash val="solid"/>
          </a:ln>
        </p:spPr>
      </p:sp>
      <p:grpSp>
        <p:nvGrpSpPr>
          <p:cNvPr id="219" name="reconstruction-spikes-events"/>
          <p:cNvGrpSpPr/>
          <p:nvPr/>
        </p:nvGrpSpPr>
        <p:grpSpPr>
          <a:xfrm>
            <a:off x="285750" y="3843338"/>
            <a:ext cx="781050" cy="66770"/>
            <a:chOff x="285750" y="3843338"/>
            <a:chExt cx="781050" cy="66770"/>
          </a:xfrm>
        </p:grpSpPr>
        <p:sp>
          <p:nvSpPr>
            <p:cNvPr id="145" name="reconstruction-spikes-baseline-0"/>
            <p:cNvSpPr/>
            <p:nvPr/>
          </p:nvSpPr>
          <p:spPr>
            <a:xfrm>
              <a:off x="285750" y="3910013"/>
              <a:ext cx="781050" cy="95"/>
            </a:xfrm>
            <a:custGeom>
              <a:avLst/>
              <a:gdLst/>
              <a:ahLst/>
              <a:cxnLst/>
              <a:rect l="0" t="0" r="r" b="b"/>
              <a:pathLst>
                <a:path w="820000" h="100" fill="none" stroke="1">
                  <a:moveTo>
                    <a:pt x="0" y="0"/>
                  </a:moveTo>
                  <a:lnTo>
                    <a:pt x="820000" y="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 w="4286" cap="rnd">
              <a:solidFill>
                <a:srgbClr val="D3D8DA"/>
              </a:solidFill>
              <a:prstDash val="solid"/>
              <a:round/>
            </a:ln>
          </p:spPr>
        </p:sp>
        <p:sp>
          <p:nvSpPr>
            <p:cNvPr id="146" name="reconstruction-spikes-spike-0-0"/>
            <p:cNvSpPr/>
            <p:nvPr/>
          </p:nvSpPr>
          <p:spPr>
            <a:xfrm>
              <a:off x="383381" y="3843338"/>
              <a:ext cx="95" cy="66675"/>
            </a:xfrm>
            <a:custGeom>
              <a:avLst/>
              <a:gdLst/>
              <a:ahLst/>
              <a:cxnLst/>
              <a:rect l="0" t="0" r="r" b="b"/>
              <a:pathLst>
                <a:path w="100" h="70000" fill="none" stroke="1">
                  <a:moveTo>
                    <a:pt x="0" y="70000"/>
                  </a:moveTo>
                  <a:lnTo>
                    <a:pt x="0" y="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 w="10001" cap="rnd">
              <a:solidFill>
                <a:srgbClr val="B95446"/>
              </a:solidFill>
              <a:prstDash val="solid"/>
              <a:round/>
            </a:ln>
          </p:spPr>
        </p:sp>
        <p:sp>
          <p:nvSpPr>
            <p:cNvPr id="147" name="reconstruction-spikes-spike-0-1"/>
            <p:cNvSpPr/>
            <p:nvPr/>
          </p:nvSpPr>
          <p:spPr>
            <a:xfrm>
              <a:off x="448469" y="3843338"/>
              <a:ext cx="95" cy="66675"/>
            </a:xfrm>
            <a:custGeom>
              <a:avLst/>
              <a:gdLst/>
              <a:ahLst/>
              <a:cxnLst/>
              <a:rect l="0" t="0" r="r" b="b"/>
              <a:pathLst>
                <a:path w="100" h="70000" fill="none" stroke="1">
                  <a:moveTo>
                    <a:pt x="0" y="70000"/>
                  </a:moveTo>
                  <a:lnTo>
                    <a:pt x="0" y="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 w="10001" cap="rnd">
              <a:solidFill>
                <a:srgbClr val="B95446"/>
              </a:solidFill>
              <a:prstDash val="solid"/>
              <a:round/>
            </a:ln>
          </p:spPr>
        </p:sp>
        <p:sp>
          <p:nvSpPr>
            <p:cNvPr id="148" name="reconstruction-spikes-spike-0-2"/>
            <p:cNvSpPr/>
            <p:nvPr/>
          </p:nvSpPr>
          <p:spPr>
            <a:xfrm>
              <a:off x="578644" y="3843338"/>
              <a:ext cx="95" cy="66675"/>
            </a:xfrm>
            <a:custGeom>
              <a:avLst/>
              <a:gdLst/>
              <a:ahLst/>
              <a:cxnLst/>
              <a:rect l="0" t="0" r="r" b="b"/>
              <a:pathLst>
                <a:path w="100" h="70000" fill="none" stroke="1">
                  <a:moveTo>
                    <a:pt x="0" y="70000"/>
                  </a:moveTo>
                  <a:lnTo>
                    <a:pt x="0" y="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 w="10001" cap="rnd">
              <a:solidFill>
                <a:srgbClr val="B95446"/>
              </a:solidFill>
              <a:prstDash val="solid"/>
              <a:round/>
            </a:ln>
          </p:spPr>
        </p:sp>
        <p:sp>
          <p:nvSpPr>
            <p:cNvPr id="149" name="reconstruction-spikes-spike-0-3"/>
            <p:cNvSpPr/>
            <p:nvPr/>
          </p:nvSpPr>
          <p:spPr>
            <a:xfrm>
              <a:off x="741363" y="3843338"/>
              <a:ext cx="95" cy="66675"/>
            </a:xfrm>
            <a:custGeom>
              <a:avLst/>
              <a:gdLst/>
              <a:ahLst/>
              <a:cxnLst/>
              <a:rect l="0" t="0" r="r" b="b"/>
              <a:pathLst>
                <a:path w="100" h="70000" fill="none" stroke="1">
                  <a:moveTo>
                    <a:pt x="0" y="70000"/>
                  </a:moveTo>
                  <a:lnTo>
                    <a:pt x="0" y="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 w="10001" cap="rnd">
              <a:solidFill>
                <a:srgbClr val="B95446"/>
              </a:solidFill>
              <a:prstDash val="solid"/>
              <a:round/>
            </a:ln>
          </p:spPr>
        </p:sp>
        <p:sp>
          <p:nvSpPr>
            <p:cNvPr id="150" name="reconstruction-spikes-spike-0-4"/>
            <p:cNvSpPr/>
            <p:nvPr/>
          </p:nvSpPr>
          <p:spPr>
            <a:xfrm>
              <a:off x="904081" y="3843338"/>
              <a:ext cx="95" cy="66675"/>
            </a:xfrm>
            <a:custGeom>
              <a:avLst/>
              <a:gdLst/>
              <a:ahLst/>
              <a:cxnLst/>
              <a:rect l="0" t="0" r="r" b="b"/>
              <a:pathLst>
                <a:path w="100" h="70000" fill="none" stroke="1">
                  <a:moveTo>
                    <a:pt x="0" y="70000"/>
                  </a:moveTo>
                  <a:lnTo>
                    <a:pt x="0" y="0"/>
                  </a:lnTo>
                </a:path>
              </a:pathLst>
            </a:custGeom>
            <a:solidFill>
              <a:srgbClr val="FFFFFF">
                <a:alpha val="0"/>
              </a:srgbClr>
            </a:solidFill>
            <a:ln w="10001" cap="rnd">
              <a:solidFill>
                <a:srgbClr val="B95446"/>
              </a:solidFill>
              <a:prstDash val="solid"/>
              <a:round/>
            </a:ln>
          </p:spPr>
        </p:sp>
      </p:grpSp>
      <p:sp>
        <p:nvSpPr>
          <p:cNvPr id="151" name="target-filter"/>
          <p:cNvSpPr/>
          <p:nvPr/>
        </p:nvSpPr>
        <p:spPr>
          <a:xfrm>
            <a:off x="3105150" y="2714625"/>
            <a:ext cx="1638300" cy="590550"/>
          </a:xfrm>
          <a:prstGeom prst="rect">
            <a:avLst/>
          </a:prstGeom>
          <a:solidFill>
            <a:srgbClr val="EFF1F2"/>
          </a:solidFill>
          <a:ln w="9525">
            <a:solidFill>
              <a:srgbClr val="747B7F"/>
            </a:solidFill>
            <a:prstDash val="solid"/>
          </a:ln>
        </p:spPr>
      </p:sp>
      <p:sp>
        <p:nvSpPr>
          <p:cNvPr id="152" name="target-filter-title"/>
          <p:cNvSpPr/>
          <p:nvPr/>
        </p:nvSpPr>
        <p:spPr>
          <a:xfrm>
            <a:off x="3152775" y="2752725"/>
            <a:ext cx="1543050" cy="1333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5" b="1" dirty="0">
                <a:solidFill>
                  <a:srgbClr val="267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Exponential filtering</a:t>
            </a:r>
            <a:endParaRPr lang="en-US" sz="795" dirty="0"/>
          </a:p>
        </p:txBody>
      </p:sp>
      <p:sp>
        <p:nvSpPr>
          <p:cNvPr id="153" name="target-filter-baseline"/>
          <p:cNvSpPr/>
          <p:nvPr/>
        </p:nvSpPr>
        <p:spPr>
          <a:xfrm>
            <a:off x="3209925" y="3219450"/>
            <a:ext cx="1428750" cy="95"/>
          </a:xfrm>
          <a:custGeom>
            <a:avLst/>
            <a:gdLst/>
            <a:ahLst/>
            <a:cxnLst/>
            <a:rect l="0" t="0" r="r" b="b"/>
            <a:pathLst>
              <a:path w="1500000" h="100" fill="none" stroke="1">
                <a:moveTo>
                  <a:pt x="0" y="0"/>
                </a:moveTo>
                <a:lnTo>
                  <a:pt x="1500000" y="0"/>
                </a:lnTo>
              </a:path>
            </a:pathLst>
          </a:custGeom>
          <a:solidFill>
            <a:srgbClr val="FFFFFF">
              <a:alpha val="0"/>
            </a:srgbClr>
          </a:solidFill>
          <a:ln w="5239" cap="rnd">
            <a:solidFill>
              <a:srgbClr val="ABB2B6"/>
            </a:solidFill>
            <a:prstDash val="solid"/>
            <a:round/>
          </a:ln>
        </p:spPr>
      </p:sp>
      <p:sp>
        <p:nvSpPr>
          <p:cNvPr id="154" name="target-filter-trace"/>
          <p:cNvSpPr/>
          <p:nvPr/>
        </p:nvSpPr>
        <p:spPr>
          <a:xfrm>
            <a:off x="3209925" y="2935663"/>
            <a:ext cx="1428750" cy="283787"/>
          </a:xfrm>
          <a:custGeom>
            <a:avLst/>
            <a:gdLst/>
            <a:ahLst/>
            <a:cxnLst/>
            <a:rect l="0" t="0" r="r" b="b"/>
            <a:pathLst>
              <a:path w="1500000" h="297940" fill="none" stroke="1">
                <a:moveTo>
                  <a:pt x="0" y="297940"/>
                </a:moveTo>
                <a:lnTo>
                  <a:pt x="31250" y="297940"/>
                </a:lnTo>
                <a:lnTo>
                  <a:pt x="62500" y="259094"/>
                </a:lnTo>
                <a:lnTo>
                  <a:pt x="93750" y="130176"/>
                </a:lnTo>
                <a:lnTo>
                  <a:pt x="125000" y="5204"/>
                </a:lnTo>
                <a:lnTo>
                  <a:pt x="156250" y="0"/>
                </a:lnTo>
                <a:lnTo>
                  <a:pt x="187500" y="54007"/>
                </a:lnTo>
                <a:lnTo>
                  <a:pt x="218750" y="98225"/>
                </a:lnTo>
                <a:lnTo>
                  <a:pt x="250000" y="95581"/>
                </a:lnTo>
                <a:lnTo>
                  <a:pt x="281250" y="35149"/>
                </a:lnTo>
                <a:lnTo>
                  <a:pt x="312500" y="24516"/>
                </a:lnTo>
                <a:lnTo>
                  <a:pt x="343750" y="74080"/>
                </a:lnTo>
                <a:lnTo>
                  <a:pt x="375000" y="114659"/>
                </a:lnTo>
                <a:lnTo>
                  <a:pt x="406250" y="109036"/>
                </a:lnTo>
                <a:lnTo>
                  <a:pt x="437500" y="46165"/>
                </a:lnTo>
                <a:lnTo>
                  <a:pt x="468750" y="33536"/>
                </a:lnTo>
                <a:lnTo>
                  <a:pt x="500000" y="81464"/>
                </a:lnTo>
                <a:lnTo>
                  <a:pt x="531250" y="120704"/>
                </a:lnTo>
                <a:lnTo>
                  <a:pt x="562500" y="113986"/>
                </a:lnTo>
                <a:lnTo>
                  <a:pt x="593750" y="50217"/>
                </a:lnTo>
                <a:lnTo>
                  <a:pt x="625000" y="36853"/>
                </a:lnTo>
                <a:lnTo>
                  <a:pt x="656250" y="84180"/>
                </a:lnTo>
                <a:lnTo>
                  <a:pt x="687500" y="123640"/>
                </a:lnTo>
                <a:lnTo>
                  <a:pt x="718750" y="157725"/>
                </a:lnTo>
                <a:lnTo>
                  <a:pt x="750000" y="185988"/>
                </a:lnTo>
                <a:lnTo>
                  <a:pt x="781250" y="207348"/>
                </a:lnTo>
                <a:lnTo>
                  <a:pt x="812500" y="223770"/>
                </a:lnTo>
                <a:lnTo>
                  <a:pt x="843750" y="237214"/>
                </a:lnTo>
                <a:lnTo>
                  <a:pt x="875000" y="248934"/>
                </a:lnTo>
                <a:lnTo>
                  <a:pt x="906250" y="259596"/>
                </a:lnTo>
                <a:lnTo>
                  <a:pt x="937500" y="267613"/>
                </a:lnTo>
                <a:lnTo>
                  <a:pt x="968750" y="273111"/>
                </a:lnTo>
                <a:lnTo>
                  <a:pt x="1000000" y="277611"/>
                </a:lnTo>
                <a:lnTo>
                  <a:pt x="1031250" y="282008"/>
                </a:lnTo>
                <a:lnTo>
                  <a:pt x="1062500" y="286674"/>
                </a:lnTo>
                <a:lnTo>
                  <a:pt x="1093750" y="289784"/>
                </a:lnTo>
                <a:lnTo>
                  <a:pt x="1125000" y="291262"/>
                </a:lnTo>
                <a:lnTo>
                  <a:pt x="1156250" y="292472"/>
                </a:lnTo>
                <a:lnTo>
                  <a:pt x="1187500" y="294175"/>
                </a:lnTo>
                <a:lnTo>
                  <a:pt x="1218750" y="296636"/>
                </a:lnTo>
                <a:lnTo>
                  <a:pt x="1250000" y="297940"/>
                </a:lnTo>
                <a:lnTo>
                  <a:pt x="1281250" y="297940"/>
                </a:lnTo>
                <a:lnTo>
                  <a:pt x="1312500" y="297940"/>
                </a:lnTo>
                <a:lnTo>
                  <a:pt x="1343750" y="297940"/>
                </a:lnTo>
                <a:lnTo>
                  <a:pt x="1375000" y="297940"/>
                </a:lnTo>
                <a:lnTo>
                  <a:pt x="1406250" y="297940"/>
                </a:lnTo>
                <a:lnTo>
                  <a:pt x="1437500" y="297940"/>
                </a:lnTo>
                <a:lnTo>
                  <a:pt x="1468750" y="297940"/>
                </a:lnTo>
                <a:lnTo>
                  <a:pt x="1500000" y="297940"/>
                </a:lnTo>
              </a:path>
            </a:pathLst>
          </a:custGeom>
          <a:solidFill>
            <a:srgbClr val="FFFFFF">
              <a:alpha val="0"/>
            </a:srgbClr>
          </a:solidFill>
          <a:ln w="11430" cap="rnd">
            <a:solidFill>
              <a:srgbClr val="267F7C"/>
            </a:solidFill>
            <a:prstDash val="solid"/>
            <a:round/>
          </a:ln>
        </p:spPr>
      </p:sp>
      <p:sp>
        <p:nvSpPr>
          <p:cNvPr id="155" name="output-filter"/>
          <p:cNvSpPr/>
          <p:nvPr/>
        </p:nvSpPr>
        <p:spPr>
          <a:xfrm>
            <a:off x="3105150" y="3657600"/>
            <a:ext cx="1638300" cy="590550"/>
          </a:xfrm>
          <a:prstGeom prst="rect">
            <a:avLst/>
          </a:prstGeom>
          <a:solidFill>
            <a:srgbClr val="EFF1F2"/>
          </a:solidFill>
          <a:ln w="9525">
            <a:solidFill>
              <a:srgbClr val="747B7F"/>
            </a:solidFill>
            <a:prstDash val="solid"/>
          </a:ln>
        </p:spPr>
      </p:sp>
      <p:sp>
        <p:nvSpPr>
          <p:cNvPr id="156" name="output-filter-title"/>
          <p:cNvSpPr/>
          <p:nvPr/>
        </p:nvSpPr>
        <p:spPr>
          <a:xfrm>
            <a:off x="3152775" y="3695700"/>
            <a:ext cx="1543050" cy="1333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5" b="1" dirty="0">
                <a:solidFill>
                  <a:srgbClr val="B95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Exponential filtering</a:t>
            </a:r>
            <a:endParaRPr lang="en-US" sz="795" dirty="0"/>
          </a:p>
        </p:txBody>
      </p:sp>
      <p:sp>
        <p:nvSpPr>
          <p:cNvPr id="157" name="output-filter-baseline"/>
          <p:cNvSpPr/>
          <p:nvPr/>
        </p:nvSpPr>
        <p:spPr>
          <a:xfrm>
            <a:off x="3209925" y="4162425"/>
            <a:ext cx="1428750" cy="95"/>
          </a:xfrm>
          <a:custGeom>
            <a:avLst/>
            <a:gdLst/>
            <a:ahLst/>
            <a:cxnLst/>
            <a:rect l="0" t="0" r="r" b="b"/>
            <a:pathLst>
              <a:path w="1500000" h="100" fill="none" stroke="1">
                <a:moveTo>
                  <a:pt x="0" y="0"/>
                </a:moveTo>
                <a:lnTo>
                  <a:pt x="1500000" y="0"/>
                </a:lnTo>
              </a:path>
            </a:pathLst>
          </a:custGeom>
          <a:solidFill>
            <a:srgbClr val="FFFFFF">
              <a:alpha val="0"/>
            </a:srgbClr>
          </a:solidFill>
          <a:ln w="5239" cap="rnd">
            <a:solidFill>
              <a:srgbClr val="ABB2B6"/>
            </a:solidFill>
            <a:prstDash val="solid"/>
            <a:round/>
          </a:ln>
        </p:spPr>
      </p:sp>
      <p:sp>
        <p:nvSpPr>
          <p:cNvPr id="158" name="output-filter-trace"/>
          <p:cNvSpPr/>
          <p:nvPr/>
        </p:nvSpPr>
        <p:spPr>
          <a:xfrm>
            <a:off x="3209925" y="3838575"/>
            <a:ext cx="1428750" cy="323850"/>
          </a:xfrm>
          <a:custGeom>
            <a:avLst/>
            <a:gdLst/>
            <a:ahLst/>
            <a:cxnLst/>
            <a:rect l="0" t="0" r="r" b="b"/>
            <a:pathLst>
              <a:path w="1500000" h="340000" fill="none" stroke="1">
                <a:moveTo>
                  <a:pt x="0" y="340000"/>
                </a:moveTo>
                <a:lnTo>
                  <a:pt x="31250" y="340000"/>
                </a:lnTo>
                <a:lnTo>
                  <a:pt x="62500" y="340000"/>
                </a:lnTo>
                <a:lnTo>
                  <a:pt x="93750" y="145772"/>
                </a:lnTo>
                <a:lnTo>
                  <a:pt x="125000" y="180980"/>
                </a:lnTo>
                <a:lnTo>
                  <a:pt x="156250" y="15578"/>
                </a:lnTo>
                <a:lnTo>
                  <a:pt x="187500" y="74385"/>
                </a:lnTo>
                <a:lnTo>
                  <a:pt x="218750" y="122533"/>
                </a:lnTo>
                <a:lnTo>
                  <a:pt x="250000" y="161953"/>
                </a:lnTo>
                <a:lnTo>
                  <a:pt x="281250" y="0"/>
                </a:lnTo>
                <a:lnTo>
                  <a:pt x="312500" y="61632"/>
                </a:lnTo>
                <a:lnTo>
                  <a:pt x="343750" y="112091"/>
                </a:lnTo>
                <a:lnTo>
                  <a:pt x="375000" y="153404"/>
                </a:lnTo>
                <a:lnTo>
                  <a:pt x="406250" y="187228"/>
                </a:lnTo>
                <a:lnTo>
                  <a:pt x="437500" y="20693"/>
                </a:lnTo>
                <a:lnTo>
                  <a:pt x="468750" y="78574"/>
                </a:lnTo>
                <a:lnTo>
                  <a:pt x="500000" y="125962"/>
                </a:lnTo>
                <a:lnTo>
                  <a:pt x="531250" y="164761"/>
                </a:lnTo>
                <a:lnTo>
                  <a:pt x="562500" y="196526"/>
                </a:lnTo>
                <a:lnTo>
                  <a:pt x="593750" y="28306"/>
                </a:lnTo>
                <a:lnTo>
                  <a:pt x="625000" y="84807"/>
                </a:lnTo>
                <a:lnTo>
                  <a:pt x="656250" y="131065"/>
                </a:lnTo>
                <a:lnTo>
                  <a:pt x="687500" y="168939"/>
                </a:lnTo>
                <a:lnTo>
                  <a:pt x="718750" y="203504"/>
                </a:lnTo>
                <a:lnTo>
                  <a:pt x="750000" y="228247"/>
                </a:lnTo>
                <a:lnTo>
                  <a:pt x="781250" y="252062"/>
                </a:lnTo>
                <a:lnTo>
                  <a:pt x="812500" y="268002"/>
                </a:lnTo>
                <a:lnTo>
                  <a:pt x="843750" y="281053"/>
                </a:lnTo>
                <a:lnTo>
                  <a:pt x="875000" y="291738"/>
                </a:lnTo>
                <a:lnTo>
                  <a:pt x="906250" y="304044"/>
                </a:lnTo>
                <a:lnTo>
                  <a:pt x="937500" y="310562"/>
                </a:lnTo>
                <a:lnTo>
                  <a:pt x="968750" y="315898"/>
                </a:lnTo>
                <a:lnTo>
                  <a:pt x="1000000" y="320267"/>
                </a:lnTo>
                <a:lnTo>
                  <a:pt x="1031250" y="323844"/>
                </a:lnTo>
                <a:lnTo>
                  <a:pt x="1062500" y="330330"/>
                </a:lnTo>
                <a:lnTo>
                  <a:pt x="1093750" y="332083"/>
                </a:lnTo>
                <a:lnTo>
                  <a:pt x="1125000" y="333518"/>
                </a:lnTo>
                <a:lnTo>
                  <a:pt x="1156250" y="334693"/>
                </a:lnTo>
                <a:lnTo>
                  <a:pt x="1187500" y="335655"/>
                </a:lnTo>
                <a:lnTo>
                  <a:pt x="1218750" y="340000"/>
                </a:lnTo>
                <a:lnTo>
                  <a:pt x="1250000" y="340000"/>
                </a:lnTo>
                <a:lnTo>
                  <a:pt x="1281250" y="340000"/>
                </a:lnTo>
                <a:lnTo>
                  <a:pt x="1312500" y="340000"/>
                </a:lnTo>
                <a:lnTo>
                  <a:pt x="1343750" y="340000"/>
                </a:lnTo>
                <a:lnTo>
                  <a:pt x="1375000" y="340000"/>
                </a:lnTo>
                <a:lnTo>
                  <a:pt x="1406250" y="340000"/>
                </a:lnTo>
                <a:lnTo>
                  <a:pt x="1437500" y="340000"/>
                </a:lnTo>
                <a:lnTo>
                  <a:pt x="1468750" y="340000"/>
                </a:lnTo>
                <a:lnTo>
                  <a:pt x="1500000" y="340000"/>
                </a:lnTo>
              </a:path>
            </a:pathLst>
          </a:custGeom>
          <a:solidFill>
            <a:srgbClr val="FFFFFF">
              <a:alpha val="0"/>
            </a:srgbClr>
          </a:solidFill>
          <a:ln w="11430" cap="rnd">
            <a:solidFill>
              <a:srgbClr val="B95446"/>
            </a:solidFill>
            <a:prstDash val="solid"/>
            <a:round/>
          </a:ln>
        </p:spPr>
      </p:sp>
      <p:sp>
        <p:nvSpPr>
          <p:cNvPr id="159" name="filter-definition"/>
          <p:cNvSpPr/>
          <p:nvPr/>
        </p:nvSpPr>
        <p:spPr>
          <a:xfrm>
            <a:off x="3105150" y="3381375"/>
            <a:ext cx="1647825" cy="152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5" dirty="0">
                <a:solidFill>
                  <a:srgbClr val="5258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kernel, full convolution</a:t>
            </a:r>
            <a:endParaRPr lang="en-US" sz="765" dirty="0"/>
          </a:p>
        </p:txBody>
      </p:sp>
      <p:sp>
        <p:nvSpPr>
          <p:cNvPr id="160" name="loss"/>
          <p:cNvSpPr/>
          <p:nvPr/>
        </p:nvSpPr>
        <p:spPr>
          <a:xfrm>
            <a:off x="5314950" y="2886075"/>
            <a:ext cx="933450" cy="1200150"/>
          </a:xfrm>
          <a:prstGeom prst="rect">
            <a:avLst/>
          </a:prstGeom>
          <a:solidFill>
            <a:srgbClr val="EFF1F2"/>
          </a:solidFill>
          <a:ln w="10478">
            <a:solidFill>
              <a:srgbClr val="747B7F"/>
            </a:solidFill>
            <a:prstDash val="solid"/>
          </a:ln>
        </p:spPr>
      </p:sp>
      <p:sp>
        <p:nvSpPr>
          <p:cNvPr id="161" name="loss-target-port"/>
          <p:cNvSpPr/>
          <p:nvPr/>
        </p:nvSpPr>
        <p:spPr>
          <a:xfrm>
            <a:off x="5300663" y="2962275"/>
            <a:ext cx="28575" cy="95250"/>
          </a:xfrm>
          <a:prstGeom prst="rect">
            <a:avLst/>
          </a:prstGeom>
          <a:solidFill>
            <a:srgbClr val="267F7C"/>
          </a:solidFill>
          <a:ln w="3810">
            <a:solidFill>
              <a:srgbClr val="267F7C"/>
            </a:solidFill>
            <a:prstDash val="solid"/>
          </a:ln>
        </p:spPr>
      </p:sp>
      <p:sp>
        <p:nvSpPr>
          <p:cNvPr id="162" name="loss-output-port"/>
          <p:cNvSpPr/>
          <p:nvPr/>
        </p:nvSpPr>
        <p:spPr>
          <a:xfrm>
            <a:off x="5300663" y="3905250"/>
            <a:ext cx="28575" cy="95250"/>
          </a:xfrm>
          <a:prstGeom prst="rect">
            <a:avLst/>
          </a:prstGeom>
          <a:solidFill>
            <a:srgbClr val="B95446"/>
          </a:solidFill>
          <a:ln w="3810">
            <a:solidFill>
              <a:srgbClr val="B95446"/>
            </a:solidFill>
            <a:prstDash val="solid"/>
          </a:ln>
        </p:spPr>
      </p:sp>
      <p:sp>
        <p:nvSpPr>
          <p:cNvPr id="163" name="loss-name"/>
          <p:cNvSpPr/>
          <p:nvPr/>
        </p:nvSpPr>
        <p:spPr>
          <a:xfrm>
            <a:off x="5381625" y="3190875"/>
            <a:ext cx="80010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5" b="1" dirty="0">
                <a:solidFill>
                  <a:srgbClr val="262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squared</a:t>
            </a:r>
            <a:endParaRPr lang="en-US" sz="885" dirty="0"/>
          </a:p>
          <a:p>
            <a:pPr algn="ctr" indent="0" marL="0">
              <a:buNone/>
            </a:pPr>
            <a:r>
              <a:rPr lang="en-US" sz="885" b="1" dirty="0">
                <a:solidFill>
                  <a:srgbClr val="262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difference</a:t>
            </a:r>
            <a:endParaRPr lang="en-US" sz="885" dirty="0"/>
          </a:p>
        </p:txBody>
      </p:sp>
      <p:grpSp>
        <p:nvGrpSpPr>
          <p:cNvPr id="220" name="loss-symbol"/>
          <p:cNvGrpSpPr/>
          <p:nvPr/>
        </p:nvGrpSpPr>
        <p:grpSpPr>
          <a:xfrm>
            <a:off x="5629656" y="3600450"/>
            <a:ext cx="342138" cy="323850"/>
            <a:chOff x="5629656" y="3600450"/>
            <a:chExt cx="342138" cy="323850"/>
          </a:xfrm>
        </p:grpSpPr>
        <p:sp>
          <p:nvSpPr>
            <p:cNvPr id="164" name="loss-symbol.0"/>
            <p:cNvSpPr/>
            <p:nvPr/>
          </p:nvSpPr>
          <p:spPr>
            <a:xfrm>
              <a:off x="5629656" y="3600450"/>
              <a:ext cx="154305" cy="32385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500" i="1" dirty="0">
                  <a:solidFill>
                    <a:srgbClr val="26292B"/>
                  </a:solidFill>
                  <a:latin typeface="Liberation Serif" pitchFamily="34" charset="0"/>
                  <a:ea typeface="Liberation Serif" pitchFamily="34" charset="-122"/>
                  <a:cs typeface="Liberation Serif" pitchFamily="34" charset="-120"/>
                </a:rPr>
                <a:t>L</a:t>
              </a:r>
              <a:endParaRPr lang="en-US" sz="1500" dirty="0"/>
            </a:p>
          </p:txBody>
        </p:sp>
        <p:sp>
          <p:nvSpPr>
            <p:cNvPr id="165" name="loss-symbol.1"/>
            <p:cNvSpPr/>
            <p:nvPr/>
          </p:nvSpPr>
          <p:spPr>
            <a:xfrm>
              <a:off x="5745861" y="3691890"/>
              <a:ext cx="225933" cy="220218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1020" dirty="0">
                  <a:solidFill>
                    <a:srgbClr val="26292B"/>
                  </a:solidFill>
                  <a:latin typeface="Liberation Serif" pitchFamily="34" charset="0"/>
                  <a:ea typeface="Liberation Serif" pitchFamily="34" charset="-122"/>
                  <a:cs typeface="Liberation Serif" pitchFamily="34" charset="-120"/>
                </a:rPr>
                <a:t>VR</a:t>
              </a:r>
              <a:endParaRPr lang="en-US" sz="1020" dirty="0"/>
            </a:p>
          </p:txBody>
        </p:sp>
      </p:grpSp>
      <p:cxnSp>
        <p:nvCxnSpPr>
          <p:cNvPr id="166" name="target-to-delay"/>
          <p:cNvCxnSpPr>
            <a:stCxn id="125" idx="3"/>
            <a:endCxn id="133" idx="1"/>
          </p:cNvCxnSpPr>
          <p:nvPr/>
        </p:nvCxnSpPr>
        <p:spPr>
          <a:xfrm>
            <a:off x="1123950" y="3009900"/>
            <a:ext cx="314325" cy="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w="20479" cap="rnd">
            <a:solidFill>
              <a:srgbClr val="267F7C"/>
            </a:solidFill>
            <a:prstDash val="solid"/>
            <a:round/>
            <a:tailEnd type="triangle" w="med" len="med"/>
          </a:ln>
        </p:spPr>
      </p:cxnSp>
      <p:cxnSp>
        <p:nvCxnSpPr>
          <p:cNvPr id="167" name="delay-to-filter"/>
          <p:cNvCxnSpPr>
            <a:stCxn id="133" idx="3"/>
            <a:endCxn id="151" idx="1"/>
          </p:cNvCxnSpPr>
          <p:nvPr/>
        </p:nvCxnSpPr>
        <p:spPr>
          <a:xfrm>
            <a:off x="2590800" y="3009900"/>
            <a:ext cx="514350" cy="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w="20479" cap="rnd">
            <a:solidFill>
              <a:srgbClr val="267F7C"/>
            </a:solidFill>
            <a:prstDash val="solid"/>
            <a:round/>
            <a:tailEnd type="triangle" w="med" len="med"/>
          </a:ln>
        </p:spPr>
      </p:cxnSp>
      <p:cxnSp>
        <p:nvCxnSpPr>
          <p:cNvPr id="168" name="reconstruction-to-filter"/>
          <p:cNvCxnSpPr>
            <a:stCxn id="144" idx="3"/>
            <a:endCxn id="155" idx="1"/>
          </p:cNvCxnSpPr>
          <p:nvPr/>
        </p:nvCxnSpPr>
        <p:spPr>
          <a:xfrm>
            <a:off x="1123950" y="3952875"/>
            <a:ext cx="1981200" cy="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w="20479" cap="rnd">
            <a:solidFill>
              <a:srgbClr val="B95446"/>
            </a:solidFill>
            <a:prstDash val="solid"/>
            <a:round/>
            <a:tailEnd type="triangle" w="med" len="med"/>
          </a:ln>
        </p:spPr>
      </p:cxnSp>
      <p:cxnSp>
        <p:nvCxnSpPr>
          <p:cNvPr id="169" name="target-to-loss"/>
          <p:cNvCxnSpPr>
            <a:stCxn id="151" idx="3"/>
            <a:endCxn id="161" idx="1"/>
          </p:cNvCxnSpPr>
          <p:nvPr/>
        </p:nvCxnSpPr>
        <p:spPr>
          <a:xfrm>
            <a:off x="4743450" y="3009900"/>
            <a:ext cx="557212" cy="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w="20479" cap="rnd">
            <a:solidFill>
              <a:srgbClr val="267F7C"/>
            </a:solidFill>
            <a:prstDash val="solid"/>
            <a:round/>
            <a:tailEnd type="triangle" w="med" len="med"/>
          </a:ln>
        </p:spPr>
      </p:cxnSp>
      <p:cxnSp>
        <p:nvCxnSpPr>
          <p:cNvPr id="170" name="output-to-loss"/>
          <p:cNvCxnSpPr>
            <a:stCxn id="155" idx="3"/>
            <a:endCxn id="162" idx="1"/>
          </p:cNvCxnSpPr>
          <p:nvPr/>
        </p:nvCxnSpPr>
        <p:spPr>
          <a:xfrm>
            <a:off x="4743450" y="3952875"/>
            <a:ext cx="557212" cy="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w="20479" cap="rnd">
            <a:solidFill>
              <a:srgbClr val="B95446"/>
            </a:solidFill>
            <a:prstDash val="solid"/>
            <a:round/>
            <a:tailEnd type="triangle" w="med" len="med"/>
          </a:ln>
        </p:spPr>
      </p:cxnSp>
      <p:sp>
        <p:nvSpPr>
          <p:cNvPr id="171" name="inset-separator"/>
          <p:cNvSpPr/>
          <p:nvPr/>
        </p:nvSpPr>
        <p:spPr>
          <a:xfrm>
            <a:off x="152400" y="4333875"/>
            <a:ext cx="6096000" cy="95"/>
          </a:xfrm>
          <a:custGeom>
            <a:avLst/>
            <a:gdLst/>
            <a:ahLst/>
            <a:cxnLst/>
            <a:rect l="0" t="0" r="r" b="b"/>
            <a:pathLst>
              <a:path w="6400000" h="100" fill="none" stroke="1">
                <a:moveTo>
                  <a:pt x="0" y="0"/>
                </a:moveTo>
                <a:lnTo>
                  <a:pt x="6400000" y="0"/>
                </a:lnTo>
              </a:path>
            </a:pathLst>
          </a:custGeom>
          <a:solidFill>
            <a:srgbClr val="FFFFFF">
              <a:alpha val="0"/>
            </a:srgbClr>
          </a:solidFill>
          <a:ln w="6667" cap="rnd">
            <a:solidFill>
              <a:srgbClr val="BAC3C8"/>
            </a:solidFill>
            <a:prstDash val="dash"/>
            <a:round/>
          </a:ln>
        </p:spPr>
      </p:sp>
      <p:sp>
        <p:nvSpPr>
          <p:cNvPr id="172" name="inset-caption"/>
          <p:cNvSpPr/>
          <p:nvPr/>
        </p:nvSpPr>
        <p:spPr>
          <a:xfrm>
            <a:off x="152400" y="4391025"/>
            <a:ext cx="1524000" cy="152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62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causal delay</a:t>
            </a:r>
            <a:endParaRPr lang="en-US" sz="825" dirty="0"/>
          </a:p>
        </p:txBody>
      </p:sp>
      <p:sp>
        <p:nvSpPr>
          <p:cNvPr id="173" name="inset-description"/>
          <p:cNvSpPr/>
          <p:nvPr/>
        </p:nvSpPr>
        <p:spPr>
          <a:xfrm>
            <a:off x="152400" y="4572000"/>
            <a:ext cx="1562100" cy="14287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13" dirty="0">
                <a:solidFill>
                  <a:srgbClr val="5258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event spreads to later bins</a:t>
            </a:r>
            <a:endParaRPr lang="en-US" sz="713" dirty="0"/>
          </a:p>
        </p:txBody>
      </p:sp>
      <p:sp>
        <p:nvSpPr>
          <p:cNvPr id="174" name="impulse-base"/>
          <p:cNvSpPr/>
          <p:nvPr/>
        </p:nvSpPr>
        <p:spPr>
          <a:xfrm>
            <a:off x="1828800" y="4676775"/>
            <a:ext cx="523875" cy="95"/>
          </a:xfrm>
          <a:custGeom>
            <a:avLst/>
            <a:gdLst/>
            <a:ahLst/>
            <a:cxnLst/>
            <a:rect l="0" t="0" r="r" b="b"/>
            <a:pathLst>
              <a:path w="550000" h="100" fill="none" stroke="1">
                <a:moveTo>
                  <a:pt x="0" y="0"/>
                </a:moveTo>
                <a:lnTo>
                  <a:pt x="550000" y="0"/>
                </a:lnTo>
              </a:path>
            </a:pathLst>
          </a:custGeom>
          <a:solidFill>
            <a:srgbClr val="FFFFFF">
              <a:alpha val="0"/>
            </a:srgbClr>
          </a:solidFill>
          <a:ln w="5715" cap="rnd">
            <a:solidFill>
              <a:srgbClr val="747B7F"/>
            </a:solidFill>
            <a:prstDash val="solid"/>
            <a:round/>
          </a:ln>
        </p:spPr>
      </p:sp>
      <p:sp>
        <p:nvSpPr>
          <p:cNvPr id="175" name="impulse-event"/>
          <p:cNvSpPr/>
          <p:nvPr/>
        </p:nvSpPr>
        <p:spPr>
          <a:xfrm>
            <a:off x="1990725" y="4410075"/>
            <a:ext cx="95" cy="266700"/>
          </a:xfrm>
          <a:custGeom>
            <a:avLst/>
            <a:gdLst/>
            <a:ahLst/>
            <a:cxnLst/>
            <a:rect l="0" t="0" r="r" b="b"/>
            <a:pathLst>
              <a:path w="100" h="280000" fill="none" stroke="1">
                <a:moveTo>
                  <a:pt x="0" y="280000"/>
                </a:moveTo>
                <a:lnTo>
                  <a:pt x="0" y="0"/>
                </a:lnTo>
              </a:path>
            </a:pathLst>
          </a:custGeom>
          <a:solidFill>
            <a:srgbClr val="FFFFFF">
              <a:alpha val="0"/>
            </a:srgbClr>
          </a:solidFill>
          <a:ln w="16192" cap="rnd">
            <a:solidFill>
              <a:srgbClr val="267F7C"/>
            </a:solidFill>
            <a:prstDash val="solid"/>
            <a:round/>
          </a:ln>
        </p:spPr>
      </p:sp>
      <p:sp>
        <p:nvSpPr>
          <p:cNvPr id="176" name="impulse-t.0"/>
          <p:cNvSpPr/>
          <p:nvPr/>
        </p:nvSpPr>
        <p:spPr>
          <a:xfrm>
            <a:off x="1974151" y="4686300"/>
            <a:ext cx="91440" cy="194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26292B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t</a:t>
            </a:r>
            <a:endParaRPr lang="en-US" sz="900" dirty="0"/>
          </a:p>
        </p:txBody>
      </p:sp>
      <p:sp>
        <p:nvSpPr>
          <p:cNvPr id="177" name="inset-arrow-1"/>
          <p:cNvSpPr/>
          <p:nvPr/>
        </p:nvSpPr>
        <p:spPr>
          <a:xfrm>
            <a:off x="2476500" y="4581525"/>
            <a:ext cx="247650" cy="95"/>
          </a:xfrm>
          <a:custGeom>
            <a:avLst/>
            <a:gdLst/>
            <a:ahLst/>
            <a:cxnLst/>
            <a:rect l="0" t="0" r="r" b="b"/>
            <a:pathLst>
              <a:path w="260000" h="100" fill="none" stroke="1">
                <a:moveTo>
                  <a:pt x="0" y="0"/>
                </a:moveTo>
                <a:lnTo>
                  <a:pt x="260000" y="0"/>
                </a:lnTo>
              </a:path>
            </a:pathLst>
          </a:custGeom>
          <a:solidFill>
            <a:srgbClr val="FFFFFF">
              <a:alpha val="0"/>
            </a:srgbClr>
          </a:solidFill>
          <a:ln w="14288" cap="rnd">
            <a:solidFill>
              <a:srgbClr val="394248"/>
            </a:solidFill>
            <a:prstDash val="solid"/>
            <a:round/>
          </a:ln>
        </p:spPr>
      </p:sp>
      <p:sp>
        <p:nvSpPr>
          <p:cNvPr id="178" name="inset-arrowhead-1"/>
          <p:cNvSpPr/>
          <p:nvPr/>
        </p:nvSpPr>
        <p:spPr>
          <a:xfrm>
            <a:off x="2667000" y="4552950"/>
            <a:ext cx="57150" cy="57150"/>
          </a:xfrm>
          <a:custGeom>
            <a:avLst/>
            <a:gdLst/>
            <a:ahLst/>
            <a:cxnLst/>
            <a:rect l="0" t="0" r="r" b="b"/>
            <a:pathLst>
              <a:path w="60000" h="60000" fill="norm" stroke="1">
                <a:moveTo>
                  <a:pt x="60000" y="30000"/>
                </a:moveTo>
                <a:lnTo>
                  <a:pt x="0" y="0"/>
                </a:lnTo>
                <a:lnTo>
                  <a:pt x="0" y="60000"/>
                </a:lnTo>
                <a:close/>
              </a:path>
            </a:pathLst>
          </a:custGeom>
          <a:solidFill>
            <a:srgbClr val="394248"/>
          </a:solidFill>
          <a:ln w="2857" cap="rnd">
            <a:solidFill>
              <a:srgbClr val="394248"/>
            </a:solidFill>
            <a:prstDash val="solid"/>
            <a:round/>
          </a:ln>
        </p:spPr>
      </p:sp>
      <p:sp>
        <p:nvSpPr>
          <p:cNvPr id="179" name="delay-tap-0"/>
          <p:cNvSpPr/>
          <p:nvPr/>
        </p:nvSpPr>
        <p:spPr>
          <a:xfrm>
            <a:off x="2838450" y="4381500"/>
            <a:ext cx="247650" cy="1238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62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</a:t>
            </a:r>
            <a:endParaRPr lang="en-US" sz="750" dirty="0"/>
          </a:p>
        </p:txBody>
      </p:sp>
      <p:sp>
        <p:nvSpPr>
          <p:cNvPr id="180" name="delay-probability-bar-0"/>
          <p:cNvSpPr/>
          <p:nvPr/>
        </p:nvSpPr>
        <p:spPr>
          <a:xfrm>
            <a:off x="2933700" y="4623435"/>
            <a:ext cx="57150" cy="53340"/>
          </a:xfrm>
          <a:prstGeom prst="rect">
            <a:avLst/>
          </a:prstGeom>
          <a:solidFill>
            <a:srgbClr val="267F7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grpSp>
        <p:nvGrpSpPr>
          <p:cNvPr id="221" name="delay-index-0"/>
          <p:cNvGrpSpPr/>
          <p:nvPr/>
        </p:nvGrpSpPr>
        <p:grpSpPr>
          <a:xfrm>
            <a:off x="2866263" y="4686300"/>
            <a:ext cx="230124" cy="194310"/>
            <a:chOff x="2866263" y="4686300"/>
            <a:chExt cx="230124" cy="194310"/>
          </a:xfrm>
        </p:grpSpPr>
        <p:sp>
          <p:nvSpPr>
            <p:cNvPr id="181" name="delay-index-0.0"/>
            <p:cNvSpPr/>
            <p:nvPr/>
          </p:nvSpPr>
          <p:spPr>
            <a:xfrm>
              <a:off x="2866263" y="4686300"/>
              <a:ext cx="95250" cy="19431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900" i="1" dirty="0">
                  <a:solidFill>
                    <a:srgbClr val="26292B"/>
                  </a:solidFill>
                  <a:latin typeface="Liberation Serif" pitchFamily="34" charset="0"/>
                  <a:ea typeface="Liberation Serif" pitchFamily="34" charset="-122"/>
                  <a:cs typeface="Liberation Serif" pitchFamily="34" charset="-120"/>
                </a:rPr>
                <a:t>d</a:t>
              </a:r>
              <a:endParaRPr lang="en-US" sz="900" dirty="0"/>
            </a:p>
          </p:txBody>
        </p:sp>
        <p:sp>
          <p:nvSpPr>
            <p:cNvPr id="182" name="delay-index-0.1"/>
            <p:cNvSpPr/>
            <p:nvPr/>
          </p:nvSpPr>
          <p:spPr>
            <a:xfrm>
              <a:off x="2923413" y="4686300"/>
              <a:ext cx="112395" cy="19431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26292B"/>
                  </a:solidFill>
                  <a:latin typeface="Liberation Serif" pitchFamily="34" charset="0"/>
                  <a:ea typeface="Liberation Serif" pitchFamily="34" charset="-122"/>
                  <a:cs typeface="Liberation Serif" pitchFamily="34" charset="-120"/>
                </a:rPr>
                <a:t>=</a:t>
              </a:r>
              <a:endParaRPr lang="en-US" sz="900" dirty="0"/>
            </a:p>
          </p:txBody>
        </p:sp>
        <p:sp>
          <p:nvSpPr>
            <p:cNvPr id="183" name="delay-index-0.2"/>
            <p:cNvSpPr/>
            <p:nvPr/>
          </p:nvSpPr>
          <p:spPr>
            <a:xfrm>
              <a:off x="2997708" y="4686300"/>
              <a:ext cx="98679" cy="19431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26292B"/>
                  </a:solidFill>
                  <a:latin typeface="Liberation Serif" pitchFamily="34" charset="0"/>
                  <a:ea typeface="Liberation Serif" pitchFamily="34" charset="-122"/>
                  <a:cs typeface="Liberation Serif" pitchFamily="34" charset="-120"/>
                </a:rPr>
                <a:t>0</a:t>
              </a:r>
              <a:endParaRPr lang="en-US" sz="900" dirty="0"/>
            </a:p>
          </p:txBody>
        </p:sp>
      </p:grpSp>
      <p:sp>
        <p:nvSpPr>
          <p:cNvPr id="184" name="delay-tap-1"/>
          <p:cNvSpPr/>
          <p:nvPr/>
        </p:nvSpPr>
        <p:spPr>
          <a:xfrm>
            <a:off x="3171825" y="4381500"/>
            <a:ext cx="247650" cy="1238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62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</a:t>
            </a:r>
            <a:endParaRPr lang="en-US" sz="750" dirty="0"/>
          </a:p>
        </p:txBody>
      </p:sp>
      <p:sp>
        <p:nvSpPr>
          <p:cNvPr id="185" name="delay-probability-bar-1"/>
          <p:cNvSpPr/>
          <p:nvPr/>
        </p:nvSpPr>
        <p:spPr>
          <a:xfrm>
            <a:off x="3267075" y="4543425"/>
            <a:ext cx="57150" cy="133350"/>
          </a:xfrm>
          <a:prstGeom prst="rect">
            <a:avLst/>
          </a:prstGeom>
          <a:solidFill>
            <a:srgbClr val="267F7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grpSp>
        <p:nvGrpSpPr>
          <p:cNvPr id="222" name="delay-index-1"/>
          <p:cNvGrpSpPr/>
          <p:nvPr/>
        </p:nvGrpSpPr>
        <p:grpSpPr>
          <a:xfrm>
            <a:off x="3199638" y="4686300"/>
            <a:ext cx="230124" cy="194310"/>
            <a:chOff x="3199638" y="4686300"/>
            <a:chExt cx="230124" cy="194310"/>
          </a:xfrm>
        </p:grpSpPr>
        <p:sp>
          <p:nvSpPr>
            <p:cNvPr id="186" name="delay-index-1.0"/>
            <p:cNvSpPr/>
            <p:nvPr/>
          </p:nvSpPr>
          <p:spPr>
            <a:xfrm>
              <a:off x="3199638" y="4686300"/>
              <a:ext cx="95250" cy="19431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900" i="1" dirty="0">
                  <a:solidFill>
                    <a:srgbClr val="26292B"/>
                  </a:solidFill>
                  <a:latin typeface="Liberation Serif" pitchFamily="34" charset="0"/>
                  <a:ea typeface="Liberation Serif" pitchFamily="34" charset="-122"/>
                  <a:cs typeface="Liberation Serif" pitchFamily="34" charset="-120"/>
                </a:rPr>
                <a:t>d</a:t>
              </a:r>
              <a:endParaRPr lang="en-US" sz="900" dirty="0"/>
            </a:p>
          </p:txBody>
        </p:sp>
        <p:sp>
          <p:nvSpPr>
            <p:cNvPr id="187" name="delay-index-1.1"/>
            <p:cNvSpPr/>
            <p:nvPr/>
          </p:nvSpPr>
          <p:spPr>
            <a:xfrm>
              <a:off x="3256788" y="4686300"/>
              <a:ext cx="112395" cy="19431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26292B"/>
                  </a:solidFill>
                  <a:latin typeface="Liberation Serif" pitchFamily="34" charset="0"/>
                  <a:ea typeface="Liberation Serif" pitchFamily="34" charset="-122"/>
                  <a:cs typeface="Liberation Serif" pitchFamily="34" charset="-120"/>
                </a:rPr>
                <a:t>=</a:t>
              </a:r>
              <a:endParaRPr lang="en-US" sz="900" dirty="0"/>
            </a:p>
          </p:txBody>
        </p:sp>
        <p:sp>
          <p:nvSpPr>
            <p:cNvPr id="188" name="delay-index-1.2"/>
            <p:cNvSpPr/>
            <p:nvPr/>
          </p:nvSpPr>
          <p:spPr>
            <a:xfrm>
              <a:off x="3331083" y="4686300"/>
              <a:ext cx="98679" cy="19431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26292B"/>
                  </a:solidFill>
                  <a:latin typeface="Liberation Serif" pitchFamily="34" charset="0"/>
                  <a:ea typeface="Liberation Serif" pitchFamily="34" charset="-122"/>
                  <a:cs typeface="Liberation Serif" pitchFamily="34" charset="-120"/>
                </a:rPr>
                <a:t>1</a:t>
              </a:r>
              <a:endParaRPr lang="en-US" sz="900" dirty="0"/>
            </a:p>
          </p:txBody>
        </p:sp>
      </p:grpSp>
      <p:sp>
        <p:nvSpPr>
          <p:cNvPr id="189" name="delay-tap-2"/>
          <p:cNvSpPr/>
          <p:nvPr/>
        </p:nvSpPr>
        <p:spPr>
          <a:xfrm>
            <a:off x="3505200" y="4381500"/>
            <a:ext cx="247650" cy="1238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62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</a:t>
            </a:r>
            <a:endParaRPr lang="en-US" sz="750" dirty="0"/>
          </a:p>
        </p:txBody>
      </p:sp>
      <p:sp>
        <p:nvSpPr>
          <p:cNvPr id="190" name="delay-probability-bar-2"/>
          <p:cNvSpPr/>
          <p:nvPr/>
        </p:nvSpPr>
        <p:spPr>
          <a:xfrm>
            <a:off x="3600450" y="4596765"/>
            <a:ext cx="57150" cy="80010"/>
          </a:xfrm>
          <a:prstGeom prst="rect">
            <a:avLst/>
          </a:prstGeom>
          <a:solidFill>
            <a:srgbClr val="267F7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grpSp>
        <p:nvGrpSpPr>
          <p:cNvPr id="223" name="delay-index-2"/>
          <p:cNvGrpSpPr/>
          <p:nvPr/>
        </p:nvGrpSpPr>
        <p:grpSpPr>
          <a:xfrm>
            <a:off x="3533013" y="4686300"/>
            <a:ext cx="230124" cy="194310"/>
            <a:chOff x="3533013" y="4686300"/>
            <a:chExt cx="230124" cy="194310"/>
          </a:xfrm>
        </p:grpSpPr>
        <p:sp>
          <p:nvSpPr>
            <p:cNvPr id="191" name="delay-index-2.0"/>
            <p:cNvSpPr/>
            <p:nvPr/>
          </p:nvSpPr>
          <p:spPr>
            <a:xfrm>
              <a:off x="3533013" y="4686300"/>
              <a:ext cx="95250" cy="19431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900" i="1" dirty="0">
                  <a:solidFill>
                    <a:srgbClr val="26292B"/>
                  </a:solidFill>
                  <a:latin typeface="Liberation Serif" pitchFamily="34" charset="0"/>
                  <a:ea typeface="Liberation Serif" pitchFamily="34" charset="-122"/>
                  <a:cs typeface="Liberation Serif" pitchFamily="34" charset="-120"/>
                </a:rPr>
                <a:t>d</a:t>
              </a:r>
              <a:endParaRPr lang="en-US" sz="900" dirty="0"/>
            </a:p>
          </p:txBody>
        </p:sp>
        <p:sp>
          <p:nvSpPr>
            <p:cNvPr id="192" name="delay-index-2.1"/>
            <p:cNvSpPr/>
            <p:nvPr/>
          </p:nvSpPr>
          <p:spPr>
            <a:xfrm>
              <a:off x="3590163" y="4686300"/>
              <a:ext cx="112395" cy="19431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26292B"/>
                  </a:solidFill>
                  <a:latin typeface="Liberation Serif" pitchFamily="34" charset="0"/>
                  <a:ea typeface="Liberation Serif" pitchFamily="34" charset="-122"/>
                  <a:cs typeface="Liberation Serif" pitchFamily="34" charset="-120"/>
                </a:rPr>
                <a:t>=</a:t>
              </a:r>
              <a:endParaRPr lang="en-US" sz="900" dirty="0"/>
            </a:p>
          </p:txBody>
        </p:sp>
        <p:sp>
          <p:nvSpPr>
            <p:cNvPr id="193" name="delay-index-2.2"/>
            <p:cNvSpPr/>
            <p:nvPr/>
          </p:nvSpPr>
          <p:spPr>
            <a:xfrm>
              <a:off x="3664458" y="4686300"/>
              <a:ext cx="98679" cy="19431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26292B"/>
                  </a:solidFill>
                  <a:latin typeface="Liberation Serif" pitchFamily="34" charset="0"/>
                  <a:ea typeface="Liberation Serif" pitchFamily="34" charset="-122"/>
                  <a:cs typeface="Liberation Serif" pitchFamily="34" charset="-120"/>
                </a:rPr>
                <a:t>2</a:t>
              </a:r>
              <a:endParaRPr lang="en-US" sz="900" dirty="0"/>
            </a:p>
          </p:txBody>
        </p:sp>
      </p:grpSp>
      <p:sp>
        <p:nvSpPr>
          <p:cNvPr id="194" name="kernel-base"/>
          <p:cNvSpPr/>
          <p:nvPr/>
        </p:nvSpPr>
        <p:spPr>
          <a:xfrm>
            <a:off x="2847975" y="4676775"/>
            <a:ext cx="942975" cy="95"/>
          </a:xfrm>
          <a:custGeom>
            <a:avLst/>
            <a:gdLst/>
            <a:ahLst/>
            <a:cxnLst/>
            <a:rect l="0" t="0" r="r" b="b"/>
            <a:pathLst>
              <a:path w="990000" h="100" fill="none" stroke="1">
                <a:moveTo>
                  <a:pt x="0" y="0"/>
                </a:moveTo>
                <a:lnTo>
                  <a:pt x="990000" y="0"/>
                </a:lnTo>
              </a:path>
            </a:pathLst>
          </a:custGeom>
          <a:solidFill>
            <a:srgbClr val="FFFFFF">
              <a:alpha val="0"/>
            </a:srgbClr>
          </a:solidFill>
          <a:ln w="5715" cap="rnd">
            <a:solidFill>
              <a:srgbClr val="747B7F"/>
            </a:solidFill>
            <a:prstDash val="solid"/>
            <a:round/>
          </a:ln>
        </p:spPr>
      </p:sp>
      <p:sp>
        <p:nvSpPr>
          <p:cNvPr id="195" name="inset-arrow-2"/>
          <p:cNvSpPr/>
          <p:nvPr/>
        </p:nvSpPr>
        <p:spPr>
          <a:xfrm>
            <a:off x="3952875" y="4581525"/>
            <a:ext cx="238125" cy="95"/>
          </a:xfrm>
          <a:custGeom>
            <a:avLst/>
            <a:gdLst/>
            <a:ahLst/>
            <a:cxnLst/>
            <a:rect l="0" t="0" r="r" b="b"/>
            <a:pathLst>
              <a:path w="250000" h="100" fill="none" stroke="1">
                <a:moveTo>
                  <a:pt x="0" y="0"/>
                </a:moveTo>
                <a:lnTo>
                  <a:pt x="250000" y="0"/>
                </a:lnTo>
              </a:path>
            </a:pathLst>
          </a:custGeom>
          <a:solidFill>
            <a:srgbClr val="FFFFFF">
              <a:alpha val="0"/>
            </a:srgbClr>
          </a:solidFill>
          <a:ln w="14288" cap="rnd">
            <a:solidFill>
              <a:srgbClr val="394248"/>
            </a:solidFill>
            <a:prstDash val="solid"/>
            <a:round/>
          </a:ln>
        </p:spPr>
      </p:sp>
      <p:sp>
        <p:nvSpPr>
          <p:cNvPr id="196" name="inset-arrowhead-2"/>
          <p:cNvSpPr/>
          <p:nvPr/>
        </p:nvSpPr>
        <p:spPr>
          <a:xfrm>
            <a:off x="4133850" y="4552950"/>
            <a:ext cx="57150" cy="57150"/>
          </a:xfrm>
          <a:custGeom>
            <a:avLst/>
            <a:gdLst/>
            <a:ahLst/>
            <a:cxnLst/>
            <a:rect l="0" t="0" r="r" b="b"/>
            <a:pathLst>
              <a:path w="60000" h="60000" fill="norm" stroke="1">
                <a:moveTo>
                  <a:pt x="60000" y="30000"/>
                </a:moveTo>
                <a:lnTo>
                  <a:pt x="0" y="0"/>
                </a:lnTo>
                <a:lnTo>
                  <a:pt x="0" y="60000"/>
                </a:lnTo>
                <a:close/>
              </a:path>
            </a:pathLst>
          </a:custGeom>
          <a:solidFill>
            <a:srgbClr val="394248"/>
          </a:solidFill>
          <a:ln w="2857" cap="rnd">
            <a:solidFill>
              <a:srgbClr val="394248"/>
            </a:solidFill>
            <a:prstDash val="solid"/>
            <a:round/>
          </a:ln>
        </p:spPr>
      </p:sp>
      <p:sp>
        <p:nvSpPr>
          <p:cNvPr id="197" name="weighted-base"/>
          <p:cNvSpPr/>
          <p:nvPr/>
        </p:nvSpPr>
        <p:spPr>
          <a:xfrm>
            <a:off x="4400550" y="4676775"/>
            <a:ext cx="1238250" cy="95"/>
          </a:xfrm>
          <a:custGeom>
            <a:avLst/>
            <a:gdLst/>
            <a:ahLst/>
            <a:cxnLst/>
            <a:rect l="0" t="0" r="r" b="b"/>
            <a:pathLst>
              <a:path w="1300000" h="100" fill="none" stroke="1">
                <a:moveTo>
                  <a:pt x="0" y="0"/>
                </a:moveTo>
                <a:lnTo>
                  <a:pt x="1300000" y="0"/>
                </a:lnTo>
              </a:path>
            </a:pathLst>
          </a:custGeom>
          <a:solidFill>
            <a:srgbClr val="FFFFFF">
              <a:alpha val="0"/>
            </a:srgbClr>
          </a:solidFill>
          <a:ln w="5715" cap="rnd">
            <a:solidFill>
              <a:srgbClr val="747B7F"/>
            </a:solidFill>
            <a:prstDash val="solid"/>
            <a:round/>
          </a:ln>
        </p:spPr>
      </p:sp>
      <p:sp>
        <p:nvSpPr>
          <p:cNvPr id="198" name="weighted-event-0"/>
          <p:cNvSpPr/>
          <p:nvPr/>
        </p:nvSpPr>
        <p:spPr>
          <a:xfrm>
            <a:off x="4600575" y="4623435"/>
            <a:ext cx="95" cy="53340"/>
          </a:xfrm>
          <a:custGeom>
            <a:avLst/>
            <a:gdLst/>
            <a:ahLst/>
            <a:cxnLst/>
            <a:rect l="0" t="0" r="r" b="b"/>
            <a:pathLst>
              <a:path w="100" h="56000" fill="none" stroke="1">
                <a:moveTo>
                  <a:pt x="0" y="56000"/>
                </a:moveTo>
                <a:lnTo>
                  <a:pt x="0" y="0"/>
                </a:lnTo>
              </a:path>
            </a:pathLst>
          </a:custGeom>
          <a:solidFill>
            <a:srgbClr val="FFFFFF">
              <a:alpha val="0"/>
            </a:srgbClr>
          </a:solidFill>
          <a:ln w="16192" cap="rnd">
            <a:solidFill>
              <a:srgbClr val="267F7C"/>
            </a:solidFill>
            <a:prstDash val="solid"/>
            <a:round/>
          </a:ln>
        </p:spPr>
      </p:sp>
      <p:sp>
        <p:nvSpPr>
          <p:cNvPr id="199" name="weighted-time-0.0"/>
          <p:cNvSpPr/>
          <p:nvPr/>
        </p:nvSpPr>
        <p:spPr>
          <a:xfrm>
            <a:off x="4584002" y="4686300"/>
            <a:ext cx="91440" cy="194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26292B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t</a:t>
            </a:r>
            <a:endParaRPr lang="en-US" sz="900" dirty="0"/>
          </a:p>
        </p:txBody>
      </p:sp>
      <p:sp>
        <p:nvSpPr>
          <p:cNvPr id="200" name="weighted-event-1"/>
          <p:cNvSpPr/>
          <p:nvPr/>
        </p:nvSpPr>
        <p:spPr>
          <a:xfrm>
            <a:off x="4943475" y="4543425"/>
            <a:ext cx="95" cy="133350"/>
          </a:xfrm>
          <a:custGeom>
            <a:avLst/>
            <a:gdLst/>
            <a:ahLst/>
            <a:cxnLst/>
            <a:rect l="0" t="0" r="r" b="b"/>
            <a:pathLst>
              <a:path w="100" h="140000" fill="none" stroke="1">
                <a:moveTo>
                  <a:pt x="0" y="140000"/>
                </a:moveTo>
                <a:lnTo>
                  <a:pt x="0" y="0"/>
                </a:lnTo>
              </a:path>
            </a:pathLst>
          </a:custGeom>
          <a:solidFill>
            <a:srgbClr val="FFFFFF">
              <a:alpha val="0"/>
            </a:srgbClr>
          </a:solidFill>
          <a:ln w="16192" cap="rnd">
            <a:solidFill>
              <a:srgbClr val="267F7C"/>
            </a:solidFill>
            <a:prstDash val="solid"/>
            <a:round/>
          </a:ln>
        </p:spPr>
      </p:sp>
      <p:grpSp>
        <p:nvGrpSpPr>
          <p:cNvPr id="224" name="weighted-time-1"/>
          <p:cNvGrpSpPr/>
          <p:nvPr/>
        </p:nvGrpSpPr>
        <p:grpSpPr>
          <a:xfrm>
            <a:off x="4853750" y="4686300"/>
            <a:ext cx="217550" cy="194310"/>
            <a:chOff x="4853750" y="4686300"/>
            <a:chExt cx="217550" cy="194310"/>
          </a:xfrm>
        </p:grpSpPr>
        <p:sp>
          <p:nvSpPr>
            <p:cNvPr id="201" name="weighted-time-1.0"/>
            <p:cNvSpPr/>
            <p:nvPr/>
          </p:nvSpPr>
          <p:spPr>
            <a:xfrm>
              <a:off x="4853750" y="4686300"/>
              <a:ext cx="91440" cy="19431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900" i="1" dirty="0">
                  <a:solidFill>
                    <a:srgbClr val="26292B"/>
                  </a:solidFill>
                  <a:latin typeface="Liberation Serif" pitchFamily="34" charset="0"/>
                  <a:ea typeface="Liberation Serif" pitchFamily="34" charset="-122"/>
                  <a:cs typeface="Liberation Serif" pitchFamily="34" charset="-120"/>
                </a:rPr>
                <a:t>t</a:t>
              </a:r>
              <a:endParaRPr lang="en-US" sz="900" dirty="0"/>
            </a:p>
          </p:txBody>
        </p:sp>
        <p:sp>
          <p:nvSpPr>
            <p:cNvPr id="202" name="weighted-time-1.1"/>
            <p:cNvSpPr/>
            <p:nvPr/>
          </p:nvSpPr>
          <p:spPr>
            <a:xfrm>
              <a:off x="4886896" y="4686300"/>
              <a:ext cx="123825" cy="19431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26292B"/>
                  </a:solidFill>
                  <a:latin typeface="Liberation Serif" pitchFamily="34" charset="0"/>
                  <a:ea typeface="Liberation Serif" pitchFamily="34" charset="-122"/>
                  <a:cs typeface="Liberation Serif" pitchFamily="34" charset="-120"/>
                </a:rPr>
                <a:t>+</a:t>
              </a:r>
              <a:endParaRPr lang="en-US" sz="900" dirty="0"/>
            </a:p>
          </p:txBody>
        </p:sp>
        <p:sp>
          <p:nvSpPr>
            <p:cNvPr id="203" name="weighted-time-1.2"/>
            <p:cNvSpPr/>
            <p:nvPr/>
          </p:nvSpPr>
          <p:spPr>
            <a:xfrm>
              <a:off x="4972621" y="4686300"/>
              <a:ext cx="98679" cy="19431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26292B"/>
                  </a:solidFill>
                  <a:latin typeface="Liberation Serif" pitchFamily="34" charset="0"/>
                  <a:ea typeface="Liberation Serif" pitchFamily="34" charset="-122"/>
                  <a:cs typeface="Liberation Serif" pitchFamily="34" charset="-120"/>
                </a:rPr>
                <a:t>1</a:t>
              </a:r>
              <a:endParaRPr lang="en-US" sz="900" dirty="0"/>
            </a:p>
          </p:txBody>
        </p:sp>
      </p:grpSp>
      <p:sp>
        <p:nvSpPr>
          <p:cNvPr id="204" name="weighted-event-2"/>
          <p:cNvSpPr/>
          <p:nvPr/>
        </p:nvSpPr>
        <p:spPr>
          <a:xfrm>
            <a:off x="5286375" y="4596765"/>
            <a:ext cx="95" cy="80010"/>
          </a:xfrm>
          <a:custGeom>
            <a:avLst/>
            <a:gdLst/>
            <a:ahLst/>
            <a:cxnLst/>
            <a:rect l="0" t="0" r="r" b="b"/>
            <a:pathLst>
              <a:path w="100" h="84000" fill="none" stroke="1">
                <a:moveTo>
                  <a:pt x="0" y="84000"/>
                </a:moveTo>
                <a:lnTo>
                  <a:pt x="0" y="0"/>
                </a:lnTo>
              </a:path>
            </a:pathLst>
          </a:custGeom>
          <a:solidFill>
            <a:srgbClr val="FFFFFF">
              <a:alpha val="0"/>
            </a:srgbClr>
          </a:solidFill>
          <a:ln w="16192" cap="rnd">
            <a:solidFill>
              <a:srgbClr val="267F7C"/>
            </a:solidFill>
            <a:prstDash val="solid"/>
            <a:round/>
          </a:ln>
        </p:spPr>
      </p:sp>
      <p:grpSp>
        <p:nvGrpSpPr>
          <p:cNvPr id="225" name="weighted-time-2"/>
          <p:cNvGrpSpPr/>
          <p:nvPr/>
        </p:nvGrpSpPr>
        <p:grpSpPr>
          <a:xfrm>
            <a:off x="5196650" y="4686300"/>
            <a:ext cx="217551" cy="194310"/>
            <a:chOff x="5196650" y="4686300"/>
            <a:chExt cx="217551" cy="194310"/>
          </a:xfrm>
        </p:grpSpPr>
        <p:sp>
          <p:nvSpPr>
            <p:cNvPr id="205" name="weighted-time-2.0"/>
            <p:cNvSpPr/>
            <p:nvPr/>
          </p:nvSpPr>
          <p:spPr>
            <a:xfrm>
              <a:off x="5196650" y="4686300"/>
              <a:ext cx="91440" cy="19431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900" i="1" dirty="0">
                  <a:solidFill>
                    <a:srgbClr val="26292B"/>
                  </a:solidFill>
                  <a:latin typeface="Liberation Serif" pitchFamily="34" charset="0"/>
                  <a:ea typeface="Liberation Serif" pitchFamily="34" charset="-122"/>
                  <a:cs typeface="Liberation Serif" pitchFamily="34" charset="-120"/>
                </a:rPr>
                <a:t>t</a:t>
              </a:r>
              <a:endParaRPr lang="en-US" sz="900" dirty="0"/>
            </a:p>
          </p:txBody>
        </p:sp>
        <p:sp>
          <p:nvSpPr>
            <p:cNvPr id="206" name="weighted-time-2.1"/>
            <p:cNvSpPr/>
            <p:nvPr/>
          </p:nvSpPr>
          <p:spPr>
            <a:xfrm>
              <a:off x="5229797" y="4686300"/>
              <a:ext cx="123825" cy="19431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26292B"/>
                  </a:solidFill>
                  <a:latin typeface="Liberation Serif" pitchFamily="34" charset="0"/>
                  <a:ea typeface="Liberation Serif" pitchFamily="34" charset="-122"/>
                  <a:cs typeface="Liberation Serif" pitchFamily="34" charset="-120"/>
                </a:rPr>
                <a:t>+</a:t>
              </a:r>
              <a:endParaRPr lang="en-US" sz="900" dirty="0"/>
            </a:p>
          </p:txBody>
        </p:sp>
        <p:sp>
          <p:nvSpPr>
            <p:cNvPr id="207" name="weighted-time-2.2"/>
            <p:cNvSpPr/>
            <p:nvPr/>
          </p:nvSpPr>
          <p:spPr>
            <a:xfrm>
              <a:off x="5315522" y="4686300"/>
              <a:ext cx="98679" cy="19431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none" lIns="0" tIns="0" rIns="0" bIns="0" rtlCol="0" anchor="t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26292B"/>
                  </a:solidFill>
                  <a:latin typeface="Liberation Serif" pitchFamily="34" charset="0"/>
                  <a:ea typeface="Liberation Serif" pitchFamily="34" charset="-122"/>
                  <a:cs typeface="Liberation Serif" pitchFamily="34" charset="-120"/>
                </a:rPr>
                <a:t>2</a:t>
              </a:r>
              <a:endParaRPr lang="en-US" sz="900" dirty="0"/>
            </a:p>
          </p:txBody>
        </p:sp>
      </p:grpSp>
      <p:sp>
        <p:nvSpPr>
          <p:cNvPr id="208" name="kernel-example-label"/>
          <p:cNvSpPr/>
          <p:nvPr/>
        </p:nvSpPr>
        <p:spPr>
          <a:xfrm>
            <a:off x="5734050" y="4448175"/>
            <a:ext cx="523875" cy="2762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5" dirty="0">
                <a:solidFill>
                  <a:srgbClr val="5258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nonzero</a:t>
            </a:r>
            <a:endParaRPr lang="en-US" sz="675" dirty="0"/>
          </a:p>
          <a:p>
            <a:pPr algn="ctr" indent="0" marL="0">
              <a:buNone/>
            </a:pPr>
            <a:r>
              <a:rPr lang="en-US" sz="675" dirty="0">
                <a:solidFill>
                  <a:srgbClr val="5258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taps shown</a:t>
            </a:r>
            <a:endParaRPr lang="en-US" sz="675" dirty="0"/>
          </a:p>
        </p:txBody>
      </p:sp>
      <p:sp>
        <p:nvSpPr>
          <p:cNvPr id="209" name="footer"/>
          <p:cNvSpPr/>
          <p:nvPr/>
        </p:nvSpPr>
        <p:spPr>
          <a:xfrm>
            <a:off x="152400" y="4829175"/>
            <a:ext cx="6096000" cy="1143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" dirty="0">
                <a:solidFill>
                  <a:srgbClr val="5258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Schematic spikes and widths. Training input and target include 30 zero-tail bins.</a:t>
            </a:r>
            <a:endParaRPr lang="en-US" sz="69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BSAE: spike-to-spike compression with delay-tolerant training</dc:title>
  <dc:subject>Editable research figure</dc:subject>
  <dc:creator/>
  <cp:lastModifiedBy/>
  <cp:revision>1</cp:revision>
  <dcterms:created xsi:type="dcterms:W3CDTF">2026-10-01T07:22:24Z</dcterms:created>
  <dcterms:modified xsi:type="dcterms:W3CDTF">2026-10-01T07:22:24Z</dcterms:modified>
</cp:coreProperties>
</file>