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IndependentSecond"/>
    <p:sldId id="256" r:id="rId2"/>
  </p:sldIdLst>
  <p:notesMasterIdLst>
    <p:notesMasterId r:id="rId3"/>
  </p:notesMasterIdLst>
  <p:sldSz cx="6400800" cy="3095625"/>
  <p:notesSz cx="3095625" cy="6400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IndependentSecond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Two-encoder document retrieval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query-heading"/>
          <p:cNvSpPr/>
          <p:nvPr/>
        </p:nvSpPr>
        <p:spPr>
          <a:xfrm>
            <a:off x="114300" y="314325"/>
            <a:ext cx="76200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" tIns="0" rIns="0" bIns="1905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900" dirty="0"/>
          </a:p>
        </p:txBody>
      </p:sp>
      <p:sp>
        <p:nvSpPr>
          <p:cNvPr id="4" name="query"/>
          <p:cNvSpPr/>
          <p:nvPr/>
        </p:nvSpPr>
        <p:spPr>
          <a:xfrm>
            <a:off x="114300" y="590550"/>
            <a:ext cx="762000" cy="428625"/>
          </a:xfrm>
          <a:prstGeom prst="rect">
            <a:avLst/>
          </a:prstGeom>
          <a:solidFill>
            <a:srgbClr val="EBE0ED"/>
          </a:solidFill>
          <a:ln w="9525">
            <a:solidFill>
              <a:srgbClr val="8D6D91"/>
            </a:solidFill>
            <a:prstDash val="solid"/>
          </a:ln>
        </p:spPr>
      </p:sp>
      <p:sp>
        <p:nvSpPr>
          <p:cNvPr id="5" name="q.0"/>
          <p:cNvSpPr/>
          <p:nvPr/>
        </p:nvSpPr>
        <p:spPr>
          <a:xfrm>
            <a:off x="447675" y="714375"/>
            <a:ext cx="11430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" tIns="0" rIns="0" bIns="1905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050" dirty="0"/>
          </a:p>
        </p:txBody>
      </p:sp>
      <p:sp>
        <p:nvSpPr>
          <p:cNvPr id="6" name="D-heading"/>
          <p:cNvSpPr/>
          <p:nvPr/>
        </p:nvSpPr>
        <p:spPr>
          <a:xfrm>
            <a:off x="114300" y="1200150"/>
            <a:ext cx="83820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" tIns="0" rIns="0" bIns="1905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Candidates</a:t>
            </a:r>
            <a:endParaRPr lang="en-US" sz="900" dirty="0"/>
          </a:p>
        </p:txBody>
      </p:sp>
      <p:sp>
        <p:nvSpPr>
          <p:cNvPr id="7" name="documents"/>
          <p:cNvSpPr/>
          <p:nvPr/>
        </p:nvSpPr>
        <p:spPr>
          <a:xfrm>
            <a:off x="114300" y="1438275"/>
            <a:ext cx="762000" cy="904875"/>
          </a:xfrm>
          <a:prstGeom prst="rect">
            <a:avLst/>
          </a:prstGeom>
          <a:solidFill>
            <a:srgbClr val="F3EAD5"/>
          </a:solidFill>
          <a:ln w="9525">
            <a:solidFill>
              <a:srgbClr val="967F4B"/>
            </a:solidFill>
            <a:prstDash val="solid"/>
          </a:ln>
        </p:spPr>
      </p:sp>
      <p:grpSp>
        <p:nvGrpSpPr>
          <p:cNvPr id="63" name="D-set"/>
          <p:cNvGrpSpPr/>
          <p:nvPr/>
        </p:nvGrpSpPr>
        <p:grpSpPr>
          <a:xfrm>
            <a:off x="180975" y="1571625"/>
            <a:ext cx="476250" cy="257175"/>
            <a:chOff x="180975" y="1571625"/>
            <a:chExt cx="476250" cy="257175"/>
          </a:xfrm>
        </p:grpSpPr>
        <p:sp>
          <p:nvSpPr>
            <p:cNvPr id="8" name="D-set.0"/>
            <p:cNvSpPr/>
            <p:nvPr/>
          </p:nvSpPr>
          <p:spPr>
            <a:xfrm>
              <a:off x="180975" y="1571625"/>
              <a:ext cx="31432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 = {</a:t>
              </a:r>
              <a:endParaRPr lang="en-US" sz="1050" dirty="0"/>
            </a:p>
          </p:txBody>
        </p:sp>
        <p:sp>
          <p:nvSpPr>
            <p:cNvPr id="9" name="D-set.1"/>
            <p:cNvSpPr/>
            <p:nvPr/>
          </p:nvSpPr>
          <p:spPr>
            <a:xfrm>
              <a:off x="495300" y="1571625"/>
              <a:ext cx="7620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</a:t>
              </a:r>
              <a:endParaRPr lang="en-US" sz="1050" dirty="0"/>
            </a:p>
          </p:txBody>
        </p:sp>
        <p:sp>
          <p:nvSpPr>
            <p:cNvPr id="10" name="D-set.2"/>
            <p:cNvSpPr/>
            <p:nvPr/>
          </p:nvSpPr>
          <p:spPr>
            <a:xfrm>
              <a:off x="571500" y="1638300"/>
              <a:ext cx="4762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675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675" dirty="0"/>
            </a:p>
          </p:txBody>
        </p:sp>
        <p:sp>
          <p:nvSpPr>
            <p:cNvPr id="11" name="D-set.3"/>
            <p:cNvSpPr/>
            <p:nvPr/>
          </p:nvSpPr>
          <p:spPr>
            <a:xfrm>
              <a:off x="619125" y="1571625"/>
              <a:ext cx="3810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,</a:t>
              </a:r>
              <a:endParaRPr lang="en-US" sz="1050" dirty="0"/>
            </a:p>
          </p:txBody>
        </p:sp>
      </p:grpSp>
      <p:grpSp>
        <p:nvGrpSpPr>
          <p:cNvPr id="64" name="D-rest"/>
          <p:cNvGrpSpPr/>
          <p:nvPr/>
        </p:nvGrpSpPr>
        <p:grpSpPr>
          <a:xfrm>
            <a:off x="333375" y="1828800"/>
            <a:ext cx="381000" cy="257175"/>
            <a:chOff x="333375" y="1828800"/>
            <a:chExt cx="381000" cy="257175"/>
          </a:xfrm>
        </p:grpSpPr>
        <p:sp>
          <p:nvSpPr>
            <p:cNvPr id="12" name="D-rest.0"/>
            <p:cNvSpPr/>
            <p:nvPr/>
          </p:nvSpPr>
          <p:spPr>
            <a:xfrm>
              <a:off x="333375" y="1828800"/>
              <a:ext cx="17145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…</a:t>
              </a:r>
              <a:endParaRPr lang="en-US" sz="1050" dirty="0"/>
            </a:p>
          </p:txBody>
        </p:sp>
        <p:sp>
          <p:nvSpPr>
            <p:cNvPr id="13" name="D-rest.1"/>
            <p:cNvSpPr/>
            <p:nvPr/>
          </p:nvSpPr>
          <p:spPr>
            <a:xfrm>
              <a:off x="504825" y="1828800"/>
              <a:ext cx="7620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</a:t>
              </a:r>
              <a:endParaRPr lang="en-US" sz="1050" dirty="0"/>
            </a:p>
          </p:txBody>
        </p:sp>
        <p:sp>
          <p:nvSpPr>
            <p:cNvPr id="14" name="D-rest.2"/>
            <p:cNvSpPr/>
            <p:nvPr/>
          </p:nvSpPr>
          <p:spPr>
            <a:xfrm>
              <a:off x="581025" y="1895475"/>
              <a:ext cx="6667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675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</a:t>
              </a:r>
              <a:endParaRPr lang="en-US" sz="675" dirty="0"/>
            </a:p>
          </p:txBody>
        </p:sp>
        <p:sp>
          <p:nvSpPr>
            <p:cNvPr id="15" name="D-rest.3"/>
            <p:cNvSpPr/>
            <p:nvPr/>
          </p:nvSpPr>
          <p:spPr>
            <a:xfrm>
              <a:off x="647700" y="1828800"/>
              <a:ext cx="6667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}</a:t>
              </a:r>
              <a:endParaRPr lang="en-US" sz="1050" dirty="0"/>
            </a:p>
          </p:txBody>
        </p:sp>
      </p:grpSp>
      <p:sp>
        <p:nvSpPr>
          <p:cNvPr id="16" name="D-count"/>
          <p:cNvSpPr/>
          <p:nvPr/>
        </p:nvSpPr>
        <p:spPr>
          <a:xfrm>
            <a:off x="142875" y="2095500"/>
            <a:ext cx="70485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" tIns="0" rIns="0" bIns="1905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documents</a:t>
            </a:r>
            <a:endParaRPr lang="en-US" sz="750" dirty="0"/>
          </a:p>
        </p:txBody>
      </p:sp>
      <p:sp>
        <p:nvSpPr>
          <p:cNvPr id="17" name="query-encoder"/>
          <p:cNvSpPr/>
          <p:nvPr/>
        </p:nvSpPr>
        <p:spPr>
          <a:xfrm>
            <a:off x="1104900" y="571500"/>
            <a:ext cx="876300" cy="466725"/>
          </a:xfrm>
          <a:prstGeom prst="rect">
            <a:avLst/>
          </a:prstGeom>
          <a:solidFill>
            <a:srgbClr val="F3F0F2"/>
          </a:solidFill>
          <a:ln w="9525">
            <a:solidFill>
              <a:srgbClr val="7D737C"/>
            </a:solidFill>
          </a:ln>
        </p:spPr>
        <p:txBody>
          <a:bodyPr wrap="square" lIns="19050" tIns="28575" rIns="28575" bIns="1905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33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33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900" dirty="0"/>
          </a:p>
        </p:txBody>
      </p:sp>
      <p:sp>
        <p:nvSpPr>
          <p:cNvPr id="18" name="doc-encoder"/>
          <p:cNvSpPr/>
          <p:nvPr/>
        </p:nvSpPr>
        <p:spPr>
          <a:xfrm>
            <a:off x="1104900" y="1657350"/>
            <a:ext cx="876300" cy="466725"/>
          </a:xfrm>
          <a:prstGeom prst="rect">
            <a:avLst/>
          </a:prstGeom>
          <a:solidFill>
            <a:srgbClr val="F3F0F2"/>
          </a:solidFill>
          <a:ln w="9525">
            <a:solidFill>
              <a:srgbClr val="7D737C"/>
            </a:solidFill>
          </a:ln>
        </p:spPr>
        <p:txBody>
          <a:bodyPr wrap="square" lIns="19050" tIns="28575" rIns="28575" bIns="1905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33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33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900" dirty="0"/>
          </a:p>
        </p:txBody>
      </p:sp>
      <p:sp>
        <p:nvSpPr>
          <p:cNvPr id="19" name="query-embedding"/>
          <p:cNvSpPr/>
          <p:nvPr/>
        </p:nvSpPr>
        <p:spPr>
          <a:xfrm>
            <a:off x="2209800" y="590550"/>
            <a:ext cx="838200" cy="428625"/>
          </a:xfrm>
          <a:prstGeom prst="rect">
            <a:avLst/>
          </a:prstGeom>
          <a:solidFill>
            <a:srgbClr val="EBE0ED"/>
          </a:solidFill>
          <a:ln w="9525">
            <a:solidFill>
              <a:srgbClr val="8D6D91"/>
            </a:solidFill>
            <a:prstDash val="solid"/>
          </a:ln>
        </p:spPr>
      </p:sp>
      <p:grpSp>
        <p:nvGrpSpPr>
          <p:cNvPr id="65" name="zq"/>
          <p:cNvGrpSpPr/>
          <p:nvPr/>
        </p:nvGrpSpPr>
        <p:grpSpPr>
          <a:xfrm>
            <a:off x="2533650" y="714375"/>
            <a:ext cx="152400" cy="257175"/>
            <a:chOff x="2533650" y="714375"/>
            <a:chExt cx="152400" cy="257175"/>
          </a:xfrm>
        </p:grpSpPr>
        <p:sp>
          <p:nvSpPr>
            <p:cNvPr id="20" name="zq.0"/>
            <p:cNvSpPr/>
            <p:nvPr/>
          </p:nvSpPr>
          <p:spPr>
            <a:xfrm>
              <a:off x="2533650" y="714375"/>
              <a:ext cx="8572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</a:t>
              </a:r>
              <a:endParaRPr lang="en-US" sz="1050" dirty="0"/>
            </a:p>
          </p:txBody>
        </p:sp>
        <p:sp>
          <p:nvSpPr>
            <p:cNvPr id="21" name="zq.1"/>
            <p:cNvSpPr/>
            <p:nvPr/>
          </p:nvSpPr>
          <p:spPr>
            <a:xfrm>
              <a:off x="2619375" y="781050"/>
              <a:ext cx="6667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675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q</a:t>
              </a:r>
              <a:endParaRPr lang="en-US" sz="675" dirty="0"/>
            </a:p>
          </p:txBody>
        </p:sp>
      </p:grpSp>
      <p:sp>
        <p:nvSpPr>
          <p:cNvPr id="22" name="q-emb-title"/>
          <p:cNvSpPr/>
          <p:nvPr/>
        </p:nvSpPr>
        <p:spPr>
          <a:xfrm>
            <a:off x="2209800" y="314325"/>
            <a:ext cx="83820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" tIns="0" rIns="0" bIns="1905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900" dirty="0"/>
          </a:p>
        </p:txBody>
      </p:sp>
      <p:sp>
        <p:nvSpPr>
          <p:cNvPr id="23" name="document-embeddings"/>
          <p:cNvSpPr/>
          <p:nvPr/>
        </p:nvSpPr>
        <p:spPr>
          <a:xfrm>
            <a:off x="2209800" y="1438275"/>
            <a:ext cx="838200" cy="904875"/>
          </a:xfrm>
          <a:prstGeom prst="rect">
            <a:avLst/>
          </a:prstGeom>
          <a:solidFill>
            <a:srgbClr val="F3EAD5"/>
          </a:solidFill>
          <a:ln w="9525">
            <a:solidFill>
              <a:srgbClr val="967F4B"/>
            </a:solidFill>
            <a:prstDash val="solid"/>
          </a:ln>
        </p:spPr>
      </p:sp>
      <p:sp>
        <p:nvSpPr>
          <p:cNvPr id="24" name="E-heading"/>
          <p:cNvSpPr/>
          <p:nvPr/>
        </p:nvSpPr>
        <p:spPr>
          <a:xfrm>
            <a:off x="2209800" y="1200150"/>
            <a:ext cx="83820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" tIns="0" rIns="0" bIns="1905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</a:t>
            </a:r>
            <a:endParaRPr lang="en-US" sz="900" dirty="0"/>
          </a:p>
        </p:txBody>
      </p:sp>
      <p:grpSp>
        <p:nvGrpSpPr>
          <p:cNvPr id="66" name="E-set"/>
          <p:cNvGrpSpPr/>
          <p:nvPr/>
        </p:nvGrpSpPr>
        <p:grpSpPr>
          <a:xfrm>
            <a:off x="2257425" y="1571625"/>
            <a:ext cx="628650" cy="257175"/>
            <a:chOff x="2257425" y="1571625"/>
            <a:chExt cx="628650" cy="257175"/>
          </a:xfrm>
        </p:grpSpPr>
        <p:sp>
          <p:nvSpPr>
            <p:cNvPr id="25" name="E-set.0"/>
            <p:cNvSpPr/>
            <p:nvPr/>
          </p:nvSpPr>
          <p:spPr>
            <a:xfrm>
              <a:off x="2257425" y="1571625"/>
              <a:ext cx="9525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</a:t>
              </a:r>
              <a:endParaRPr lang="en-US" sz="1050" dirty="0"/>
            </a:p>
          </p:txBody>
        </p:sp>
        <p:sp>
          <p:nvSpPr>
            <p:cNvPr id="26" name="E-set.1"/>
            <p:cNvSpPr/>
            <p:nvPr/>
          </p:nvSpPr>
          <p:spPr>
            <a:xfrm>
              <a:off x="2352675" y="1638300"/>
              <a:ext cx="6667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675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</a:t>
              </a:r>
              <a:endParaRPr lang="en-US" sz="675" dirty="0"/>
            </a:p>
          </p:txBody>
        </p:sp>
        <p:sp>
          <p:nvSpPr>
            <p:cNvPr id="27" name="E-set.2"/>
            <p:cNvSpPr/>
            <p:nvPr/>
          </p:nvSpPr>
          <p:spPr>
            <a:xfrm>
              <a:off x="2419350" y="1571625"/>
              <a:ext cx="23812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= {</a:t>
              </a:r>
              <a:endParaRPr lang="en-US" sz="1050" dirty="0"/>
            </a:p>
          </p:txBody>
        </p:sp>
        <p:sp>
          <p:nvSpPr>
            <p:cNvPr id="28" name="E-set.3"/>
            <p:cNvSpPr/>
            <p:nvPr/>
          </p:nvSpPr>
          <p:spPr>
            <a:xfrm>
              <a:off x="2657475" y="1571625"/>
              <a:ext cx="7620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</a:t>
              </a:r>
              <a:endParaRPr lang="en-US" sz="1050" dirty="0"/>
            </a:p>
          </p:txBody>
        </p:sp>
        <p:sp>
          <p:nvSpPr>
            <p:cNvPr id="29" name="E-set.4"/>
            <p:cNvSpPr/>
            <p:nvPr/>
          </p:nvSpPr>
          <p:spPr>
            <a:xfrm>
              <a:off x="2733675" y="1638300"/>
              <a:ext cx="11430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675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d1</a:t>
              </a:r>
              <a:endParaRPr lang="en-US" sz="675" dirty="0"/>
            </a:p>
          </p:txBody>
        </p:sp>
        <p:sp>
          <p:nvSpPr>
            <p:cNvPr id="30" name="E-set.5"/>
            <p:cNvSpPr/>
            <p:nvPr/>
          </p:nvSpPr>
          <p:spPr>
            <a:xfrm>
              <a:off x="2847975" y="1571625"/>
              <a:ext cx="3810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,</a:t>
              </a:r>
              <a:endParaRPr lang="en-US" sz="1050" dirty="0"/>
            </a:p>
          </p:txBody>
        </p:sp>
      </p:grpSp>
      <p:grpSp>
        <p:nvGrpSpPr>
          <p:cNvPr id="67" name="E-rest"/>
          <p:cNvGrpSpPr/>
          <p:nvPr/>
        </p:nvGrpSpPr>
        <p:grpSpPr>
          <a:xfrm>
            <a:off x="2362200" y="1828800"/>
            <a:ext cx="428625" cy="257175"/>
            <a:chOff x="2362200" y="1828800"/>
            <a:chExt cx="428625" cy="257175"/>
          </a:xfrm>
        </p:grpSpPr>
        <p:sp>
          <p:nvSpPr>
            <p:cNvPr id="31" name="E-rest.0"/>
            <p:cNvSpPr/>
            <p:nvPr/>
          </p:nvSpPr>
          <p:spPr>
            <a:xfrm>
              <a:off x="2362200" y="1828800"/>
              <a:ext cx="17145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…</a:t>
              </a:r>
              <a:endParaRPr lang="en-US" sz="1050" dirty="0"/>
            </a:p>
          </p:txBody>
        </p:sp>
        <p:sp>
          <p:nvSpPr>
            <p:cNvPr id="32" name="E-rest.1"/>
            <p:cNvSpPr/>
            <p:nvPr/>
          </p:nvSpPr>
          <p:spPr>
            <a:xfrm>
              <a:off x="2533650" y="1828800"/>
              <a:ext cx="7620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</a:t>
              </a:r>
              <a:endParaRPr lang="en-US" sz="1050" dirty="0"/>
            </a:p>
          </p:txBody>
        </p:sp>
        <p:sp>
          <p:nvSpPr>
            <p:cNvPr id="33" name="E-rest.2"/>
            <p:cNvSpPr/>
            <p:nvPr/>
          </p:nvSpPr>
          <p:spPr>
            <a:xfrm>
              <a:off x="2609850" y="1895475"/>
              <a:ext cx="11430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675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dn</a:t>
              </a:r>
              <a:endParaRPr lang="en-US" sz="675" dirty="0"/>
            </a:p>
          </p:txBody>
        </p:sp>
        <p:sp>
          <p:nvSpPr>
            <p:cNvPr id="34" name="E-rest.3"/>
            <p:cNvSpPr/>
            <p:nvPr/>
          </p:nvSpPr>
          <p:spPr>
            <a:xfrm>
              <a:off x="2724150" y="1828800"/>
              <a:ext cx="6667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}</a:t>
              </a:r>
              <a:endParaRPr lang="en-US" sz="1050" dirty="0"/>
            </a:p>
          </p:txBody>
        </p:sp>
      </p:grpSp>
      <p:sp>
        <p:nvSpPr>
          <p:cNvPr id="35" name="E-count"/>
          <p:cNvSpPr/>
          <p:nvPr/>
        </p:nvSpPr>
        <p:spPr>
          <a:xfrm>
            <a:off x="2238375" y="2095500"/>
            <a:ext cx="78105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" tIns="0" rIns="0" bIns="1905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 document</a:t>
            </a:r>
            <a:endParaRPr lang="en-US" sz="750" dirty="0"/>
          </a:p>
        </p:txBody>
      </p:sp>
      <p:sp>
        <p:nvSpPr>
          <p:cNvPr id="36" name="similarity"/>
          <p:cNvSpPr/>
          <p:nvPr/>
        </p:nvSpPr>
        <p:spPr>
          <a:xfrm>
            <a:off x="3333750" y="1095375"/>
            <a:ext cx="876300" cy="647700"/>
          </a:xfrm>
          <a:prstGeom prst="rect">
            <a:avLst/>
          </a:prstGeom>
          <a:solidFill>
            <a:srgbClr val="F3F0F2"/>
          </a:solidFill>
          <a:ln w="9525">
            <a:solidFill>
              <a:srgbClr val="7D737C"/>
            </a:solidFill>
          </a:ln>
        </p:spPr>
        <p:txBody>
          <a:bodyPr wrap="square" lIns="19050" tIns="28575" rIns="28575" bIns="1905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33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Pairwise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33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900" dirty="0"/>
          </a:p>
        </p:txBody>
      </p:sp>
      <p:sp>
        <p:nvSpPr>
          <p:cNvPr id="37" name="pair-count"/>
          <p:cNvSpPr/>
          <p:nvPr/>
        </p:nvSpPr>
        <p:spPr>
          <a:xfrm>
            <a:off x="3276600" y="2009775"/>
            <a:ext cx="990600" cy="29527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" tIns="0" rIns="0" bIns="1905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query against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candidate</a:t>
            </a:r>
            <a:endParaRPr lang="en-US" sz="750" dirty="0"/>
          </a:p>
        </p:txBody>
      </p:sp>
      <p:sp>
        <p:nvSpPr>
          <p:cNvPr id="38" name="scores"/>
          <p:cNvSpPr/>
          <p:nvPr/>
        </p:nvSpPr>
        <p:spPr>
          <a:xfrm>
            <a:off x="4438650" y="1190625"/>
            <a:ext cx="666750" cy="457200"/>
          </a:xfrm>
          <a:prstGeom prst="rect">
            <a:avLst/>
          </a:prstGeom>
          <a:solidFill>
            <a:srgbClr val="F3F0F2"/>
          </a:solidFill>
          <a:ln w="9525">
            <a:solidFill>
              <a:srgbClr val="7D737C"/>
            </a:solidFill>
            <a:prstDash val="solid"/>
          </a:ln>
        </p:spPr>
      </p:sp>
      <p:sp>
        <p:nvSpPr>
          <p:cNvPr id="39" name="score-title"/>
          <p:cNvSpPr/>
          <p:nvPr/>
        </p:nvSpPr>
        <p:spPr>
          <a:xfrm>
            <a:off x="4438650" y="942975"/>
            <a:ext cx="666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" tIns="0" rIns="0" bIns="1905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</a:t>
            </a:r>
            <a:endParaRPr lang="en-US" sz="900" dirty="0"/>
          </a:p>
        </p:txBody>
      </p:sp>
      <p:grpSp>
        <p:nvGrpSpPr>
          <p:cNvPr id="68" name="scores-formula"/>
          <p:cNvGrpSpPr/>
          <p:nvPr/>
        </p:nvGrpSpPr>
        <p:grpSpPr>
          <a:xfrm>
            <a:off x="4514850" y="1314450"/>
            <a:ext cx="457200" cy="257175"/>
            <a:chOff x="4514850" y="1314450"/>
            <a:chExt cx="457200" cy="257175"/>
          </a:xfrm>
        </p:grpSpPr>
        <p:sp>
          <p:nvSpPr>
            <p:cNvPr id="40" name="scores-formula.0"/>
            <p:cNvSpPr/>
            <p:nvPr/>
          </p:nvSpPr>
          <p:spPr>
            <a:xfrm>
              <a:off x="4514850" y="1314450"/>
              <a:ext cx="6667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</a:t>
              </a:r>
              <a:endParaRPr lang="en-US" sz="1050" dirty="0"/>
            </a:p>
          </p:txBody>
        </p:sp>
        <p:sp>
          <p:nvSpPr>
            <p:cNvPr id="41" name="scores-formula.1"/>
            <p:cNvSpPr/>
            <p:nvPr/>
          </p:nvSpPr>
          <p:spPr>
            <a:xfrm>
              <a:off x="4581525" y="1381125"/>
              <a:ext cx="4762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675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675" dirty="0"/>
            </a:p>
          </p:txBody>
        </p:sp>
        <p:sp>
          <p:nvSpPr>
            <p:cNvPr id="42" name="scores-formula.2"/>
            <p:cNvSpPr/>
            <p:nvPr/>
          </p:nvSpPr>
          <p:spPr>
            <a:xfrm>
              <a:off x="4629150" y="1314450"/>
              <a:ext cx="3810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,</a:t>
              </a:r>
              <a:endParaRPr lang="en-US" sz="1050" dirty="0"/>
            </a:p>
          </p:txBody>
        </p:sp>
        <p:sp>
          <p:nvSpPr>
            <p:cNvPr id="43" name="scores-formula.3"/>
            <p:cNvSpPr/>
            <p:nvPr/>
          </p:nvSpPr>
          <p:spPr>
            <a:xfrm>
              <a:off x="4667250" y="1314450"/>
              <a:ext cx="15240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…</a:t>
              </a:r>
              <a:endParaRPr lang="en-US" sz="1050" dirty="0"/>
            </a:p>
          </p:txBody>
        </p:sp>
        <p:sp>
          <p:nvSpPr>
            <p:cNvPr id="44" name="scores-formula.4"/>
            <p:cNvSpPr/>
            <p:nvPr/>
          </p:nvSpPr>
          <p:spPr>
            <a:xfrm>
              <a:off x="4819650" y="1314450"/>
              <a:ext cx="3810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,</a:t>
              </a:r>
              <a:endParaRPr lang="en-US" sz="1050" dirty="0"/>
            </a:p>
          </p:txBody>
        </p:sp>
        <p:sp>
          <p:nvSpPr>
            <p:cNvPr id="45" name="scores-formula.5"/>
            <p:cNvSpPr/>
            <p:nvPr/>
          </p:nvSpPr>
          <p:spPr>
            <a:xfrm>
              <a:off x="4857750" y="1314450"/>
              <a:ext cx="6667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</a:t>
              </a:r>
              <a:endParaRPr lang="en-US" sz="1050" dirty="0"/>
            </a:p>
          </p:txBody>
        </p:sp>
        <p:sp>
          <p:nvSpPr>
            <p:cNvPr id="46" name="scores-formula.6"/>
            <p:cNvSpPr/>
            <p:nvPr/>
          </p:nvSpPr>
          <p:spPr>
            <a:xfrm>
              <a:off x="4924425" y="1381125"/>
              <a:ext cx="4762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675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</a:t>
              </a:r>
              <a:endParaRPr lang="en-US" sz="675" dirty="0"/>
            </a:p>
          </p:txBody>
        </p:sp>
      </p:grpSp>
      <p:sp>
        <p:nvSpPr>
          <p:cNvPr id="47" name="select"/>
          <p:cNvSpPr/>
          <p:nvPr/>
        </p:nvSpPr>
        <p:spPr>
          <a:xfrm>
            <a:off x="5314950" y="1133475"/>
            <a:ext cx="933450" cy="571500"/>
          </a:xfrm>
          <a:prstGeom prst="rect">
            <a:avLst/>
          </a:prstGeom>
          <a:solidFill>
            <a:srgbClr val="F3F0F2"/>
          </a:solidFill>
          <a:ln w="9525">
            <a:solidFill>
              <a:srgbClr val="7D737C"/>
            </a:solidFill>
          </a:ln>
        </p:spPr>
        <p:txBody>
          <a:bodyPr wrap="square" lIns="19050" tIns="28575" rIns="28575" bIns="1905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33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top-k</a:t>
            </a:r>
            <a:endParaRPr lang="en-US" sz="900" dirty="0"/>
          </a:p>
        </p:txBody>
      </p:sp>
      <p:sp>
        <p:nvSpPr>
          <p:cNvPr id="48" name="selected"/>
          <p:cNvSpPr/>
          <p:nvPr/>
        </p:nvSpPr>
        <p:spPr>
          <a:xfrm>
            <a:off x="5314950" y="2209800"/>
            <a:ext cx="933450" cy="533400"/>
          </a:xfrm>
          <a:prstGeom prst="rect">
            <a:avLst/>
          </a:prstGeom>
          <a:solidFill>
            <a:srgbClr val="F3EAD5"/>
          </a:solidFill>
          <a:ln w="9525">
            <a:solidFill>
              <a:srgbClr val="967F4B"/>
            </a:solidFill>
            <a:prstDash val="solid"/>
          </a:ln>
        </p:spPr>
      </p:sp>
      <p:grpSp>
        <p:nvGrpSpPr>
          <p:cNvPr id="69" name="Dk"/>
          <p:cNvGrpSpPr/>
          <p:nvPr/>
        </p:nvGrpSpPr>
        <p:grpSpPr>
          <a:xfrm>
            <a:off x="5534025" y="2352675"/>
            <a:ext cx="485775" cy="257175"/>
            <a:chOff x="5534025" y="2352675"/>
            <a:chExt cx="485775" cy="257175"/>
          </a:xfrm>
        </p:grpSpPr>
        <p:sp>
          <p:nvSpPr>
            <p:cNvPr id="49" name="Dk.0"/>
            <p:cNvSpPr/>
            <p:nvPr/>
          </p:nvSpPr>
          <p:spPr>
            <a:xfrm>
              <a:off x="5534025" y="2352675"/>
              <a:ext cx="9525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</a:t>
              </a:r>
              <a:endParaRPr lang="en-US" sz="1050" dirty="0"/>
            </a:p>
          </p:txBody>
        </p:sp>
        <p:sp>
          <p:nvSpPr>
            <p:cNvPr id="50" name="Dk.1"/>
            <p:cNvSpPr/>
            <p:nvPr/>
          </p:nvSpPr>
          <p:spPr>
            <a:xfrm>
              <a:off x="5629275" y="2419350"/>
              <a:ext cx="6667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675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</a:t>
              </a:r>
              <a:endParaRPr lang="en-US" sz="675" dirty="0"/>
            </a:p>
          </p:txBody>
        </p:sp>
        <p:sp>
          <p:nvSpPr>
            <p:cNvPr id="51" name="Dk.2"/>
            <p:cNvSpPr/>
            <p:nvPr/>
          </p:nvSpPr>
          <p:spPr>
            <a:xfrm>
              <a:off x="5695950" y="2352675"/>
              <a:ext cx="32385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⊆ D</a:t>
              </a:r>
              <a:endParaRPr lang="en-US" sz="1050" dirty="0"/>
            </a:p>
          </p:txBody>
        </p:sp>
      </p:grpSp>
      <p:sp>
        <p:nvSpPr>
          <p:cNvPr id="52" name="selected-count"/>
          <p:cNvSpPr/>
          <p:nvPr/>
        </p:nvSpPr>
        <p:spPr>
          <a:xfrm>
            <a:off x="5314950" y="2781300"/>
            <a:ext cx="93345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" tIns="0" rIns="0" bIns="1905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documents</a:t>
            </a:r>
            <a:endParaRPr lang="en-US" sz="825" dirty="0"/>
          </a:p>
        </p:txBody>
      </p:sp>
      <p:cxnSp>
        <p:nvCxnSpPr>
          <p:cNvPr id="53" name="flow-0"/>
          <p:cNvCxnSpPr>
            <a:stCxn id="4" idx="3"/>
            <a:endCxn id="17" idx="1"/>
          </p:cNvCxnSpPr>
          <p:nvPr/>
        </p:nvCxnSpPr>
        <p:spPr>
          <a:xfrm>
            <a:off x="876300" y="804862"/>
            <a:ext cx="2286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w="17145" cap="rnd">
            <a:solidFill>
              <a:srgbClr val="464048"/>
            </a:solidFill>
            <a:prstDash val="solid"/>
            <a:round/>
            <a:tailEnd type="triangle" w="med" len="med"/>
          </a:ln>
        </p:spPr>
      </p:cxnSp>
      <p:cxnSp>
        <p:nvCxnSpPr>
          <p:cNvPr id="54" name="flow-1"/>
          <p:cNvCxnSpPr>
            <a:stCxn id="7" idx="3"/>
            <a:endCxn id="18" idx="1"/>
          </p:cNvCxnSpPr>
          <p:nvPr/>
        </p:nvCxnSpPr>
        <p:spPr>
          <a:xfrm>
            <a:off x="876300" y="1890712"/>
            <a:ext cx="2286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w="17145" cap="rnd">
            <a:solidFill>
              <a:srgbClr val="464048"/>
            </a:solidFill>
            <a:prstDash val="solid"/>
            <a:round/>
            <a:tailEnd type="triangle" w="med" len="med"/>
          </a:ln>
        </p:spPr>
      </p:cxnSp>
      <p:cxnSp>
        <p:nvCxnSpPr>
          <p:cNvPr id="55" name="flow-2"/>
          <p:cNvCxnSpPr>
            <a:stCxn id="17" idx="3"/>
            <a:endCxn id="19" idx="1"/>
          </p:cNvCxnSpPr>
          <p:nvPr/>
        </p:nvCxnSpPr>
        <p:spPr>
          <a:xfrm>
            <a:off x="1981200" y="804862"/>
            <a:ext cx="2286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w="17145" cap="rnd">
            <a:solidFill>
              <a:srgbClr val="464048"/>
            </a:solidFill>
            <a:prstDash val="solid"/>
            <a:round/>
            <a:tailEnd type="triangle" w="med" len="med"/>
          </a:ln>
        </p:spPr>
      </p:cxnSp>
      <p:cxnSp>
        <p:nvCxnSpPr>
          <p:cNvPr id="56" name="flow-3"/>
          <p:cNvCxnSpPr>
            <a:stCxn id="18" idx="3"/>
            <a:endCxn id="23" idx="1"/>
          </p:cNvCxnSpPr>
          <p:nvPr/>
        </p:nvCxnSpPr>
        <p:spPr>
          <a:xfrm>
            <a:off x="1981200" y="1890712"/>
            <a:ext cx="2286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w="17145" cap="rnd">
            <a:solidFill>
              <a:srgbClr val="464048"/>
            </a:solidFill>
            <a:prstDash val="solid"/>
            <a:round/>
            <a:tailEnd type="triangle" w="med" len="med"/>
          </a:ln>
        </p:spPr>
      </p:cxnSp>
      <p:cxnSp>
        <p:nvCxnSpPr>
          <p:cNvPr id="57" name="flow-4"/>
          <p:cNvCxnSpPr>
            <a:stCxn id="19" idx="3"/>
            <a:endCxn id="36" idx="0"/>
          </p:cNvCxnSpPr>
          <p:nvPr/>
        </p:nvCxnSpPr>
        <p:spPr>
          <a:xfrm>
            <a:off x="3048000" y="804863"/>
            <a:ext cx="723900" cy="290513"/>
          </a:xfrm>
          <a:custGeom>
            <a:avLst/>
            <a:gdLst/>
            <a:ahLst/>
            <a:cxnLst/>
            <a:rect l="0" t="0" r="r" b="b"/>
            <a:pathLst>
              <a:path w="760000" h="305000" fill="none" stroke="1">
                <a:moveTo>
                  <a:pt x="0" y="0"/>
                </a:moveTo>
                <a:lnTo>
                  <a:pt x="760000" y="0"/>
                </a:lnTo>
                <a:lnTo>
                  <a:pt x="760000" y="305000"/>
                </a:lnTo>
              </a:path>
            </a:pathLst>
          </a:custGeom>
          <a:solidFill>
            <a:srgbClr val="FFFFFF">
              <a:alpha val="0"/>
            </a:srgbClr>
          </a:solidFill>
          <a:ln w="17145" cap="rnd">
            <a:solidFill>
              <a:srgbClr val="464048"/>
            </a:solidFill>
            <a:prstDash val="solid"/>
            <a:round/>
            <a:tailEnd type="triangle" w="med" len="med"/>
          </a:ln>
        </p:spPr>
      </p:cxnSp>
      <p:cxnSp>
        <p:nvCxnSpPr>
          <p:cNvPr id="58" name="flow-5"/>
          <p:cNvCxnSpPr>
            <a:stCxn id="23" idx="3"/>
            <a:endCxn id="36" idx="2"/>
          </p:cNvCxnSpPr>
          <p:nvPr/>
        </p:nvCxnSpPr>
        <p:spPr>
          <a:xfrm>
            <a:off x="3048000" y="1743075"/>
            <a:ext cx="723900" cy="147638"/>
          </a:xfrm>
          <a:custGeom>
            <a:avLst/>
            <a:gdLst/>
            <a:ahLst/>
            <a:cxnLst/>
            <a:rect l="0" t="0" r="r" b="b"/>
            <a:pathLst>
              <a:path w="760000" h="155000" fill="none" stroke="1">
                <a:moveTo>
                  <a:pt x="0" y="155000"/>
                </a:moveTo>
                <a:lnTo>
                  <a:pt x="760000" y="155000"/>
                </a:lnTo>
                <a:lnTo>
                  <a:pt x="760000" y="0"/>
                </a:lnTo>
              </a:path>
            </a:pathLst>
          </a:custGeom>
          <a:solidFill>
            <a:srgbClr val="FFFFFF">
              <a:alpha val="0"/>
            </a:srgbClr>
          </a:solidFill>
          <a:ln w="17145" cap="rnd">
            <a:solidFill>
              <a:srgbClr val="464048"/>
            </a:solidFill>
            <a:prstDash val="solid"/>
            <a:round/>
            <a:tailEnd type="triangle" w="med" len="med"/>
          </a:ln>
        </p:spPr>
      </p:cxnSp>
      <p:cxnSp>
        <p:nvCxnSpPr>
          <p:cNvPr id="59" name="flow-6"/>
          <p:cNvCxnSpPr>
            <a:stCxn id="36" idx="3"/>
            <a:endCxn id="38" idx="1"/>
          </p:cNvCxnSpPr>
          <p:nvPr/>
        </p:nvCxnSpPr>
        <p:spPr>
          <a:xfrm>
            <a:off x="4210050" y="1419225"/>
            <a:ext cx="2286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w="17145" cap="rnd">
            <a:solidFill>
              <a:srgbClr val="464048"/>
            </a:solidFill>
            <a:prstDash val="solid"/>
            <a:round/>
            <a:tailEnd type="triangle" w="med" len="med"/>
          </a:ln>
        </p:spPr>
      </p:cxnSp>
      <p:cxnSp>
        <p:nvCxnSpPr>
          <p:cNvPr id="60" name="flow-7"/>
          <p:cNvCxnSpPr>
            <a:stCxn id="38" idx="3"/>
            <a:endCxn id="47" idx="1"/>
          </p:cNvCxnSpPr>
          <p:nvPr/>
        </p:nvCxnSpPr>
        <p:spPr>
          <a:xfrm>
            <a:off x="5105400" y="1419225"/>
            <a:ext cx="20955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w="17145" cap="rnd">
            <a:solidFill>
              <a:srgbClr val="464048"/>
            </a:solidFill>
            <a:prstDash val="solid"/>
            <a:round/>
            <a:tailEnd type="triangle" w="med" len="med"/>
          </a:ln>
        </p:spPr>
      </p:cxnSp>
      <p:cxnSp>
        <p:nvCxnSpPr>
          <p:cNvPr id="61" name="flow-8"/>
          <p:cNvCxnSpPr>
            <a:stCxn id="47" idx="2"/>
            <a:endCxn id="48" idx="0"/>
          </p:cNvCxnSpPr>
          <p:nvPr/>
        </p:nvCxnSpPr>
        <p:spPr>
          <a:xfrm>
            <a:off x="5781675" y="1704975"/>
            <a:ext cx="0" cy="504825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w="17145" cap="rnd">
            <a:solidFill>
              <a:srgbClr val="464048"/>
            </a:solidFill>
            <a:prstDash val="solid"/>
            <a:round/>
            <a:tailEnd type="triangle" w="med" len="med"/>
          </a:ln>
        </p:spPr>
      </p:cxnSp>
      <p:sp>
        <p:nvSpPr>
          <p:cNvPr id="62" name="scope"/>
          <p:cNvSpPr/>
          <p:nvPr/>
        </p:nvSpPr>
        <p:spPr>
          <a:xfrm>
            <a:off x="114300" y="2619375"/>
            <a:ext cx="495300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" tIns="0" rIns="0" bIns="1905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 = 1, …, n; each score ranks the same candidate document.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query-heading"/>
          <p:cNvSpPr/>
          <p:nvPr/>
        </p:nvSpPr>
        <p:spPr>
          <a:xfrm>
            <a:off x="114300" y="314325"/>
            <a:ext cx="76200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" tIns="0" rIns="0" bIns="1905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900" dirty="0"/>
          </a:p>
        </p:txBody>
      </p:sp>
      <p:sp>
        <p:nvSpPr>
          <p:cNvPr id="4" name="query"/>
          <p:cNvSpPr/>
          <p:nvPr/>
        </p:nvSpPr>
        <p:spPr>
          <a:xfrm>
            <a:off x="114300" y="590550"/>
            <a:ext cx="762000" cy="428625"/>
          </a:xfrm>
          <a:prstGeom prst="rect">
            <a:avLst/>
          </a:prstGeom>
          <a:solidFill>
            <a:srgbClr val="EBE0ED"/>
          </a:solidFill>
          <a:ln w="9525">
            <a:solidFill>
              <a:srgbClr val="8D6D91"/>
            </a:solidFill>
            <a:prstDash val="solid"/>
          </a:ln>
        </p:spPr>
      </p:sp>
      <p:sp>
        <p:nvSpPr>
          <p:cNvPr id="5" name="q.0"/>
          <p:cNvSpPr/>
          <p:nvPr/>
        </p:nvSpPr>
        <p:spPr>
          <a:xfrm>
            <a:off x="447675" y="714375"/>
            <a:ext cx="11430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" tIns="0" rIns="0" bIns="1905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050" dirty="0"/>
          </a:p>
        </p:txBody>
      </p:sp>
      <p:sp>
        <p:nvSpPr>
          <p:cNvPr id="6" name="D-heading"/>
          <p:cNvSpPr/>
          <p:nvPr/>
        </p:nvSpPr>
        <p:spPr>
          <a:xfrm>
            <a:off x="114300" y="1200150"/>
            <a:ext cx="83820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" tIns="0" rIns="0" bIns="1905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Candidates</a:t>
            </a:r>
            <a:endParaRPr lang="en-US" sz="900" dirty="0"/>
          </a:p>
        </p:txBody>
      </p:sp>
      <p:sp>
        <p:nvSpPr>
          <p:cNvPr id="7" name="documents"/>
          <p:cNvSpPr/>
          <p:nvPr/>
        </p:nvSpPr>
        <p:spPr>
          <a:xfrm>
            <a:off x="114300" y="1438275"/>
            <a:ext cx="762000" cy="904875"/>
          </a:xfrm>
          <a:prstGeom prst="rect">
            <a:avLst/>
          </a:prstGeom>
          <a:solidFill>
            <a:srgbClr val="F3EAD5"/>
          </a:solidFill>
          <a:ln w="9525">
            <a:solidFill>
              <a:srgbClr val="967F4B"/>
            </a:solidFill>
            <a:prstDash val="solid"/>
          </a:ln>
        </p:spPr>
      </p:sp>
      <p:grpSp>
        <p:nvGrpSpPr>
          <p:cNvPr id="63" name="D-set"/>
          <p:cNvGrpSpPr/>
          <p:nvPr/>
        </p:nvGrpSpPr>
        <p:grpSpPr>
          <a:xfrm>
            <a:off x="180975" y="1571625"/>
            <a:ext cx="476250" cy="257175"/>
            <a:chOff x="180975" y="1571625"/>
            <a:chExt cx="476250" cy="257175"/>
          </a:xfrm>
        </p:grpSpPr>
        <p:sp>
          <p:nvSpPr>
            <p:cNvPr id="8" name="D-set.0"/>
            <p:cNvSpPr/>
            <p:nvPr/>
          </p:nvSpPr>
          <p:spPr>
            <a:xfrm>
              <a:off x="180975" y="1571625"/>
              <a:ext cx="31432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 = {</a:t>
              </a:r>
              <a:endParaRPr lang="en-US" sz="1050" dirty="0"/>
            </a:p>
          </p:txBody>
        </p:sp>
        <p:sp>
          <p:nvSpPr>
            <p:cNvPr id="9" name="D-set.1"/>
            <p:cNvSpPr/>
            <p:nvPr/>
          </p:nvSpPr>
          <p:spPr>
            <a:xfrm>
              <a:off x="495300" y="1571625"/>
              <a:ext cx="7620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</a:t>
              </a:r>
              <a:endParaRPr lang="en-US" sz="1050" dirty="0"/>
            </a:p>
          </p:txBody>
        </p:sp>
        <p:sp>
          <p:nvSpPr>
            <p:cNvPr id="10" name="D-set.2"/>
            <p:cNvSpPr/>
            <p:nvPr/>
          </p:nvSpPr>
          <p:spPr>
            <a:xfrm>
              <a:off x="571500" y="1638300"/>
              <a:ext cx="4762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675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675" dirty="0"/>
            </a:p>
          </p:txBody>
        </p:sp>
        <p:sp>
          <p:nvSpPr>
            <p:cNvPr id="11" name="D-set.3"/>
            <p:cNvSpPr/>
            <p:nvPr/>
          </p:nvSpPr>
          <p:spPr>
            <a:xfrm>
              <a:off x="619125" y="1571625"/>
              <a:ext cx="3810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,</a:t>
              </a:r>
              <a:endParaRPr lang="en-US" sz="1050" dirty="0"/>
            </a:p>
          </p:txBody>
        </p:sp>
      </p:grpSp>
      <p:grpSp>
        <p:nvGrpSpPr>
          <p:cNvPr id="64" name="D-rest"/>
          <p:cNvGrpSpPr/>
          <p:nvPr/>
        </p:nvGrpSpPr>
        <p:grpSpPr>
          <a:xfrm>
            <a:off x="333375" y="1828800"/>
            <a:ext cx="381000" cy="257175"/>
            <a:chOff x="333375" y="1828800"/>
            <a:chExt cx="381000" cy="257175"/>
          </a:xfrm>
        </p:grpSpPr>
        <p:sp>
          <p:nvSpPr>
            <p:cNvPr id="12" name="D-rest.0"/>
            <p:cNvSpPr/>
            <p:nvPr/>
          </p:nvSpPr>
          <p:spPr>
            <a:xfrm>
              <a:off x="333375" y="1828800"/>
              <a:ext cx="17145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…</a:t>
              </a:r>
              <a:endParaRPr lang="en-US" sz="1050" dirty="0"/>
            </a:p>
          </p:txBody>
        </p:sp>
        <p:sp>
          <p:nvSpPr>
            <p:cNvPr id="13" name="D-rest.1"/>
            <p:cNvSpPr/>
            <p:nvPr/>
          </p:nvSpPr>
          <p:spPr>
            <a:xfrm>
              <a:off x="504825" y="1828800"/>
              <a:ext cx="7620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</a:t>
              </a:r>
              <a:endParaRPr lang="en-US" sz="1050" dirty="0"/>
            </a:p>
          </p:txBody>
        </p:sp>
        <p:sp>
          <p:nvSpPr>
            <p:cNvPr id="14" name="D-rest.2"/>
            <p:cNvSpPr/>
            <p:nvPr/>
          </p:nvSpPr>
          <p:spPr>
            <a:xfrm>
              <a:off x="581025" y="1895475"/>
              <a:ext cx="6667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675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</a:t>
              </a:r>
              <a:endParaRPr lang="en-US" sz="675" dirty="0"/>
            </a:p>
          </p:txBody>
        </p:sp>
        <p:sp>
          <p:nvSpPr>
            <p:cNvPr id="15" name="D-rest.3"/>
            <p:cNvSpPr/>
            <p:nvPr/>
          </p:nvSpPr>
          <p:spPr>
            <a:xfrm>
              <a:off x="647700" y="1828800"/>
              <a:ext cx="6667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}</a:t>
              </a:r>
              <a:endParaRPr lang="en-US" sz="1050" dirty="0"/>
            </a:p>
          </p:txBody>
        </p:sp>
      </p:grpSp>
      <p:sp>
        <p:nvSpPr>
          <p:cNvPr id="16" name="D-count"/>
          <p:cNvSpPr/>
          <p:nvPr/>
        </p:nvSpPr>
        <p:spPr>
          <a:xfrm>
            <a:off x="142875" y="2095500"/>
            <a:ext cx="70485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" tIns="0" rIns="0" bIns="1905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documents</a:t>
            </a:r>
            <a:endParaRPr lang="en-US" sz="750" dirty="0"/>
          </a:p>
        </p:txBody>
      </p:sp>
      <p:sp>
        <p:nvSpPr>
          <p:cNvPr id="17" name="query-encoder"/>
          <p:cNvSpPr/>
          <p:nvPr/>
        </p:nvSpPr>
        <p:spPr>
          <a:xfrm>
            <a:off x="1104900" y="571500"/>
            <a:ext cx="876300" cy="466725"/>
          </a:xfrm>
          <a:prstGeom prst="rect">
            <a:avLst/>
          </a:prstGeom>
          <a:solidFill>
            <a:srgbClr val="F3F0F2"/>
          </a:solidFill>
          <a:ln w="9525">
            <a:solidFill>
              <a:srgbClr val="7D737C"/>
            </a:solidFill>
          </a:ln>
        </p:spPr>
        <p:txBody>
          <a:bodyPr wrap="square" lIns="19050" tIns="28575" rIns="28575" bIns="1905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33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FIRST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33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900" dirty="0"/>
          </a:p>
        </p:txBody>
      </p:sp>
      <p:sp>
        <p:nvSpPr>
          <p:cNvPr id="18" name="doc-encoder"/>
          <p:cNvSpPr/>
          <p:nvPr/>
        </p:nvSpPr>
        <p:spPr>
          <a:xfrm>
            <a:off x="1104900" y="1657350"/>
            <a:ext cx="876300" cy="466725"/>
          </a:xfrm>
          <a:prstGeom prst="rect">
            <a:avLst/>
          </a:prstGeom>
          <a:solidFill>
            <a:srgbClr val="F3F0F2"/>
          </a:solidFill>
          <a:ln w="9525">
            <a:solidFill>
              <a:srgbClr val="7D737C"/>
            </a:solidFill>
          </a:ln>
        </p:spPr>
        <p:txBody>
          <a:bodyPr wrap="square" lIns="19050" tIns="28575" rIns="28575" bIns="1905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33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33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900" dirty="0"/>
          </a:p>
        </p:txBody>
      </p:sp>
      <p:sp>
        <p:nvSpPr>
          <p:cNvPr id="19" name="query-embedding"/>
          <p:cNvSpPr/>
          <p:nvPr/>
        </p:nvSpPr>
        <p:spPr>
          <a:xfrm>
            <a:off x="2209800" y="590550"/>
            <a:ext cx="838200" cy="428625"/>
          </a:xfrm>
          <a:prstGeom prst="rect">
            <a:avLst/>
          </a:prstGeom>
          <a:solidFill>
            <a:srgbClr val="EBE0ED"/>
          </a:solidFill>
          <a:ln w="9525">
            <a:solidFill>
              <a:srgbClr val="8D6D91"/>
            </a:solidFill>
            <a:prstDash val="solid"/>
          </a:ln>
        </p:spPr>
      </p:sp>
      <p:grpSp>
        <p:nvGrpSpPr>
          <p:cNvPr id="65" name="zq"/>
          <p:cNvGrpSpPr/>
          <p:nvPr/>
        </p:nvGrpSpPr>
        <p:grpSpPr>
          <a:xfrm>
            <a:off x="2533650" y="714375"/>
            <a:ext cx="152400" cy="257175"/>
            <a:chOff x="2533650" y="714375"/>
            <a:chExt cx="152400" cy="257175"/>
          </a:xfrm>
        </p:grpSpPr>
        <p:sp>
          <p:nvSpPr>
            <p:cNvPr id="20" name="zq.0"/>
            <p:cNvSpPr/>
            <p:nvPr/>
          </p:nvSpPr>
          <p:spPr>
            <a:xfrm>
              <a:off x="2533650" y="714375"/>
              <a:ext cx="8572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</a:t>
              </a:r>
              <a:endParaRPr lang="en-US" sz="1050" dirty="0"/>
            </a:p>
          </p:txBody>
        </p:sp>
        <p:sp>
          <p:nvSpPr>
            <p:cNvPr id="21" name="zq.1"/>
            <p:cNvSpPr/>
            <p:nvPr/>
          </p:nvSpPr>
          <p:spPr>
            <a:xfrm>
              <a:off x="2619375" y="781050"/>
              <a:ext cx="6667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675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q</a:t>
              </a:r>
              <a:endParaRPr lang="en-US" sz="675" dirty="0"/>
            </a:p>
          </p:txBody>
        </p:sp>
      </p:grpSp>
      <p:sp>
        <p:nvSpPr>
          <p:cNvPr id="22" name="q-emb-title"/>
          <p:cNvSpPr/>
          <p:nvPr/>
        </p:nvSpPr>
        <p:spPr>
          <a:xfrm>
            <a:off x="2209800" y="314325"/>
            <a:ext cx="83820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" tIns="0" rIns="0" bIns="1905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900" dirty="0"/>
          </a:p>
        </p:txBody>
      </p:sp>
      <p:sp>
        <p:nvSpPr>
          <p:cNvPr id="23" name="document-embeddings"/>
          <p:cNvSpPr/>
          <p:nvPr/>
        </p:nvSpPr>
        <p:spPr>
          <a:xfrm>
            <a:off x="2209800" y="1438275"/>
            <a:ext cx="838200" cy="904875"/>
          </a:xfrm>
          <a:prstGeom prst="rect">
            <a:avLst/>
          </a:prstGeom>
          <a:solidFill>
            <a:srgbClr val="F3EAD5"/>
          </a:solidFill>
          <a:ln w="9525">
            <a:solidFill>
              <a:srgbClr val="967F4B"/>
            </a:solidFill>
            <a:prstDash val="solid"/>
          </a:ln>
        </p:spPr>
      </p:sp>
      <p:sp>
        <p:nvSpPr>
          <p:cNvPr id="24" name="E-heading"/>
          <p:cNvSpPr/>
          <p:nvPr/>
        </p:nvSpPr>
        <p:spPr>
          <a:xfrm>
            <a:off x="2209800" y="1200150"/>
            <a:ext cx="83820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" tIns="0" rIns="0" bIns="1905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</a:t>
            </a:r>
            <a:endParaRPr lang="en-US" sz="900" dirty="0"/>
          </a:p>
        </p:txBody>
      </p:sp>
      <p:grpSp>
        <p:nvGrpSpPr>
          <p:cNvPr id="66" name="E-set"/>
          <p:cNvGrpSpPr/>
          <p:nvPr/>
        </p:nvGrpSpPr>
        <p:grpSpPr>
          <a:xfrm>
            <a:off x="2257425" y="1571625"/>
            <a:ext cx="628650" cy="257175"/>
            <a:chOff x="2257425" y="1571625"/>
            <a:chExt cx="628650" cy="257175"/>
          </a:xfrm>
        </p:grpSpPr>
        <p:sp>
          <p:nvSpPr>
            <p:cNvPr id="25" name="E-set.0"/>
            <p:cNvSpPr/>
            <p:nvPr/>
          </p:nvSpPr>
          <p:spPr>
            <a:xfrm>
              <a:off x="2257425" y="1571625"/>
              <a:ext cx="9525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</a:t>
              </a:r>
              <a:endParaRPr lang="en-US" sz="1050" dirty="0"/>
            </a:p>
          </p:txBody>
        </p:sp>
        <p:sp>
          <p:nvSpPr>
            <p:cNvPr id="26" name="E-set.1"/>
            <p:cNvSpPr/>
            <p:nvPr/>
          </p:nvSpPr>
          <p:spPr>
            <a:xfrm>
              <a:off x="2352675" y="1638300"/>
              <a:ext cx="6667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675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</a:t>
              </a:r>
              <a:endParaRPr lang="en-US" sz="675" dirty="0"/>
            </a:p>
          </p:txBody>
        </p:sp>
        <p:sp>
          <p:nvSpPr>
            <p:cNvPr id="27" name="E-set.2"/>
            <p:cNvSpPr/>
            <p:nvPr/>
          </p:nvSpPr>
          <p:spPr>
            <a:xfrm>
              <a:off x="2419350" y="1571625"/>
              <a:ext cx="23812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= {</a:t>
              </a:r>
              <a:endParaRPr lang="en-US" sz="1050" dirty="0"/>
            </a:p>
          </p:txBody>
        </p:sp>
        <p:sp>
          <p:nvSpPr>
            <p:cNvPr id="28" name="E-set.3"/>
            <p:cNvSpPr/>
            <p:nvPr/>
          </p:nvSpPr>
          <p:spPr>
            <a:xfrm>
              <a:off x="2657475" y="1571625"/>
              <a:ext cx="7620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</a:t>
              </a:r>
              <a:endParaRPr lang="en-US" sz="1050" dirty="0"/>
            </a:p>
          </p:txBody>
        </p:sp>
        <p:sp>
          <p:nvSpPr>
            <p:cNvPr id="29" name="E-set.4"/>
            <p:cNvSpPr/>
            <p:nvPr/>
          </p:nvSpPr>
          <p:spPr>
            <a:xfrm>
              <a:off x="2733675" y="1638300"/>
              <a:ext cx="11430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675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d1</a:t>
              </a:r>
              <a:endParaRPr lang="en-US" sz="675" dirty="0"/>
            </a:p>
          </p:txBody>
        </p:sp>
        <p:sp>
          <p:nvSpPr>
            <p:cNvPr id="30" name="E-set.5"/>
            <p:cNvSpPr/>
            <p:nvPr/>
          </p:nvSpPr>
          <p:spPr>
            <a:xfrm>
              <a:off x="2847975" y="1571625"/>
              <a:ext cx="3810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,</a:t>
              </a:r>
              <a:endParaRPr lang="en-US" sz="1050" dirty="0"/>
            </a:p>
          </p:txBody>
        </p:sp>
      </p:grpSp>
      <p:grpSp>
        <p:nvGrpSpPr>
          <p:cNvPr id="67" name="E-rest"/>
          <p:cNvGrpSpPr/>
          <p:nvPr/>
        </p:nvGrpSpPr>
        <p:grpSpPr>
          <a:xfrm>
            <a:off x="2362200" y="1828800"/>
            <a:ext cx="428625" cy="257175"/>
            <a:chOff x="2362200" y="1828800"/>
            <a:chExt cx="428625" cy="257175"/>
          </a:xfrm>
        </p:grpSpPr>
        <p:sp>
          <p:nvSpPr>
            <p:cNvPr id="31" name="E-rest.0"/>
            <p:cNvSpPr/>
            <p:nvPr/>
          </p:nvSpPr>
          <p:spPr>
            <a:xfrm>
              <a:off x="2362200" y="1828800"/>
              <a:ext cx="17145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…</a:t>
              </a:r>
              <a:endParaRPr lang="en-US" sz="1050" dirty="0"/>
            </a:p>
          </p:txBody>
        </p:sp>
        <p:sp>
          <p:nvSpPr>
            <p:cNvPr id="32" name="E-rest.1"/>
            <p:cNvSpPr/>
            <p:nvPr/>
          </p:nvSpPr>
          <p:spPr>
            <a:xfrm>
              <a:off x="2533650" y="1828800"/>
              <a:ext cx="7620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</a:t>
              </a:r>
              <a:endParaRPr lang="en-US" sz="1050" dirty="0"/>
            </a:p>
          </p:txBody>
        </p:sp>
        <p:sp>
          <p:nvSpPr>
            <p:cNvPr id="33" name="E-rest.2"/>
            <p:cNvSpPr/>
            <p:nvPr/>
          </p:nvSpPr>
          <p:spPr>
            <a:xfrm>
              <a:off x="2609850" y="1895475"/>
              <a:ext cx="11430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675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dn</a:t>
              </a:r>
              <a:endParaRPr lang="en-US" sz="675" dirty="0"/>
            </a:p>
          </p:txBody>
        </p:sp>
        <p:sp>
          <p:nvSpPr>
            <p:cNvPr id="34" name="E-rest.3"/>
            <p:cNvSpPr/>
            <p:nvPr/>
          </p:nvSpPr>
          <p:spPr>
            <a:xfrm>
              <a:off x="2724150" y="1828800"/>
              <a:ext cx="6667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}</a:t>
              </a:r>
              <a:endParaRPr lang="en-US" sz="1050" dirty="0"/>
            </a:p>
          </p:txBody>
        </p:sp>
      </p:grpSp>
      <p:sp>
        <p:nvSpPr>
          <p:cNvPr id="35" name="E-count"/>
          <p:cNvSpPr/>
          <p:nvPr/>
        </p:nvSpPr>
        <p:spPr>
          <a:xfrm>
            <a:off x="2238375" y="2095500"/>
            <a:ext cx="78105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" tIns="0" rIns="0" bIns="1905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 document</a:t>
            </a:r>
            <a:endParaRPr lang="en-US" sz="750" dirty="0"/>
          </a:p>
        </p:txBody>
      </p:sp>
      <p:sp>
        <p:nvSpPr>
          <p:cNvPr id="36" name="similarity"/>
          <p:cNvSpPr/>
          <p:nvPr/>
        </p:nvSpPr>
        <p:spPr>
          <a:xfrm>
            <a:off x="3333750" y="1095375"/>
            <a:ext cx="876300" cy="647700"/>
          </a:xfrm>
          <a:prstGeom prst="rect">
            <a:avLst/>
          </a:prstGeom>
          <a:solidFill>
            <a:srgbClr val="F3F0F2"/>
          </a:solidFill>
          <a:ln w="9525">
            <a:solidFill>
              <a:srgbClr val="7D737C"/>
            </a:solidFill>
          </a:ln>
        </p:spPr>
        <p:txBody>
          <a:bodyPr wrap="square" lIns="19050" tIns="28575" rIns="28575" bIns="1905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33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Pairwise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33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900" dirty="0"/>
          </a:p>
        </p:txBody>
      </p:sp>
      <p:sp>
        <p:nvSpPr>
          <p:cNvPr id="37" name="pair-count"/>
          <p:cNvSpPr/>
          <p:nvPr/>
        </p:nvSpPr>
        <p:spPr>
          <a:xfrm>
            <a:off x="3276600" y="2009775"/>
            <a:ext cx="990600" cy="29527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" tIns="0" rIns="0" bIns="1905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query against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candidate</a:t>
            </a:r>
            <a:endParaRPr lang="en-US" sz="750" dirty="0"/>
          </a:p>
        </p:txBody>
      </p:sp>
      <p:sp>
        <p:nvSpPr>
          <p:cNvPr id="38" name="scores"/>
          <p:cNvSpPr/>
          <p:nvPr/>
        </p:nvSpPr>
        <p:spPr>
          <a:xfrm>
            <a:off x="4438650" y="1190625"/>
            <a:ext cx="666750" cy="457200"/>
          </a:xfrm>
          <a:prstGeom prst="rect">
            <a:avLst/>
          </a:prstGeom>
          <a:solidFill>
            <a:srgbClr val="F3F0F2"/>
          </a:solidFill>
          <a:ln w="9525">
            <a:solidFill>
              <a:srgbClr val="7D737C"/>
            </a:solidFill>
            <a:prstDash val="solid"/>
          </a:ln>
        </p:spPr>
      </p:sp>
      <p:sp>
        <p:nvSpPr>
          <p:cNvPr id="39" name="score-title"/>
          <p:cNvSpPr/>
          <p:nvPr/>
        </p:nvSpPr>
        <p:spPr>
          <a:xfrm>
            <a:off x="4438650" y="942975"/>
            <a:ext cx="666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" tIns="0" rIns="0" bIns="1905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</a:t>
            </a:r>
            <a:endParaRPr lang="en-US" sz="900" dirty="0"/>
          </a:p>
        </p:txBody>
      </p:sp>
      <p:grpSp>
        <p:nvGrpSpPr>
          <p:cNvPr id="68" name="scores-formula"/>
          <p:cNvGrpSpPr/>
          <p:nvPr/>
        </p:nvGrpSpPr>
        <p:grpSpPr>
          <a:xfrm>
            <a:off x="4514850" y="1314450"/>
            <a:ext cx="457200" cy="257175"/>
            <a:chOff x="4514850" y="1314450"/>
            <a:chExt cx="457200" cy="257175"/>
          </a:xfrm>
        </p:grpSpPr>
        <p:sp>
          <p:nvSpPr>
            <p:cNvPr id="40" name="scores-formula.0"/>
            <p:cNvSpPr/>
            <p:nvPr/>
          </p:nvSpPr>
          <p:spPr>
            <a:xfrm>
              <a:off x="4514850" y="1314450"/>
              <a:ext cx="6667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</a:t>
              </a:r>
              <a:endParaRPr lang="en-US" sz="1050" dirty="0"/>
            </a:p>
          </p:txBody>
        </p:sp>
        <p:sp>
          <p:nvSpPr>
            <p:cNvPr id="41" name="scores-formula.1"/>
            <p:cNvSpPr/>
            <p:nvPr/>
          </p:nvSpPr>
          <p:spPr>
            <a:xfrm>
              <a:off x="4581525" y="1381125"/>
              <a:ext cx="4762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675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675" dirty="0"/>
            </a:p>
          </p:txBody>
        </p:sp>
        <p:sp>
          <p:nvSpPr>
            <p:cNvPr id="42" name="scores-formula.2"/>
            <p:cNvSpPr/>
            <p:nvPr/>
          </p:nvSpPr>
          <p:spPr>
            <a:xfrm>
              <a:off x="4629150" y="1314450"/>
              <a:ext cx="3810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,</a:t>
              </a:r>
              <a:endParaRPr lang="en-US" sz="1050" dirty="0"/>
            </a:p>
          </p:txBody>
        </p:sp>
        <p:sp>
          <p:nvSpPr>
            <p:cNvPr id="43" name="scores-formula.3"/>
            <p:cNvSpPr/>
            <p:nvPr/>
          </p:nvSpPr>
          <p:spPr>
            <a:xfrm>
              <a:off x="4667250" y="1314450"/>
              <a:ext cx="15240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…</a:t>
              </a:r>
              <a:endParaRPr lang="en-US" sz="1050" dirty="0"/>
            </a:p>
          </p:txBody>
        </p:sp>
        <p:sp>
          <p:nvSpPr>
            <p:cNvPr id="44" name="scores-formula.4"/>
            <p:cNvSpPr/>
            <p:nvPr/>
          </p:nvSpPr>
          <p:spPr>
            <a:xfrm>
              <a:off x="4819650" y="1314450"/>
              <a:ext cx="3810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,</a:t>
              </a:r>
              <a:endParaRPr lang="en-US" sz="1050" dirty="0"/>
            </a:p>
          </p:txBody>
        </p:sp>
        <p:sp>
          <p:nvSpPr>
            <p:cNvPr id="45" name="scores-formula.5"/>
            <p:cNvSpPr/>
            <p:nvPr/>
          </p:nvSpPr>
          <p:spPr>
            <a:xfrm>
              <a:off x="4857750" y="1314450"/>
              <a:ext cx="6667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</a:t>
              </a:r>
              <a:endParaRPr lang="en-US" sz="1050" dirty="0"/>
            </a:p>
          </p:txBody>
        </p:sp>
        <p:sp>
          <p:nvSpPr>
            <p:cNvPr id="46" name="scores-formula.6"/>
            <p:cNvSpPr/>
            <p:nvPr/>
          </p:nvSpPr>
          <p:spPr>
            <a:xfrm>
              <a:off x="4924425" y="1381125"/>
              <a:ext cx="4762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675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</a:t>
              </a:r>
              <a:endParaRPr lang="en-US" sz="675" dirty="0"/>
            </a:p>
          </p:txBody>
        </p:sp>
      </p:grpSp>
      <p:sp>
        <p:nvSpPr>
          <p:cNvPr id="47" name="select"/>
          <p:cNvSpPr/>
          <p:nvPr/>
        </p:nvSpPr>
        <p:spPr>
          <a:xfrm>
            <a:off x="5314950" y="1133475"/>
            <a:ext cx="933450" cy="571500"/>
          </a:xfrm>
          <a:prstGeom prst="rect">
            <a:avLst/>
          </a:prstGeom>
          <a:solidFill>
            <a:srgbClr val="F3F0F2"/>
          </a:solidFill>
          <a:ln w="9525">
            <a:solidFill>
              <a:srgbClr val="7D737C"/>
            </a:solidFill>
          </a:ln>
        </p:spPr>
        <p:txBody>
          <a:bodyPr wrap="square" lIns="19050" tIns="28575" rIns="28575" bIns="1905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33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top-k</a:t>
            </a:r>
            <a:endParaRPr lang="en-US" sz="900" dirty="0"/>
          </a:p>
        </p:txBody>
      </p:sp>
      <p:sp>
        <p:nvSpPr>
          <p:cNvPr id="48" name="selected"/>
          <p:cNvSpPr/>
          <p:nvPr/>
        </p:nvSpPr>
        <p:spPr>
          <a:xfrm>
            <a:off x="5314950" y="2209800"/>
            <a:ext cx="933450" cy="533400"/>
          </a:xfrm>
          <a:prstGeom prst="rect">
            <a:avLst/>
          </a:prstGeom>
          <a:solidFill>
            <a:srgbClr val="F3EAD5"/>
          </a:solidFill>
          <a:ln w="9525">
            <a:solidFill>
              <a:srgbClr val="967F4B"/>
            </a:solidFill>
            <a:prstDash val="solid"/>
          </a:ln>
        </p:spPr>
      </p:sp>
      <p:grpSp>
        <p:nvGrpSpPr>
          <p:cNvPr id="69" name="Dk"/>
          <p:cNvGrpSpPr/>
          <p:nvPr/>
        </p:nvGrpSpPr>
        <p:grpSpPr>
          <a:xfrm>
            <a:off x="5534025" y="2352675"/>
            <a:ext cx="485775" cy="257175"/>
            <a:chOff x="5534025" y="2352675"/>
            <a:chExt cx="485775" cy="257175"/>
          </a:xfrm>
        </p:grpSpPr>
        <p:sp>
          <p:nvSpPr>
            <p:cNvPr id="49" name="Dk.0"/>
            <p:cNvSpPr/>
            <p:nvPr/>
          </p:nvSpPr>
          <p:spPr>
            <a:xfrm>
              <a:off x="5534025" y="2352675"/>
              <a:ext cx="9525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</a:t>
              </a:r>
              <a:endParaRPr lang="en-US" sz="1050" dirty="0"/>
            </a:p>
          </p:txBody>
        </p:sp>
        <p:sp>
          <p:nvSpPr>
            <p:cNvPr id="50" name="Dk.1"/>
            <p:cNvSpPr/>
            <p:nvPr/>
          </p:nvSpPr>
          <p:spPr>
            <a:xfrm>
              <a:off x="5629275" y="2419350"/>
              <a:ext cx="6667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675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</a:t>
              </a:r>
              <a:endParaRPr lang="en-US" sz="675" dirty="0"/>
            </a:p>
          </p:txBody>
        </p:sp>
        <p:sp>
          <p:nvSpPr>
            <p:cNvPr id="51" name="Dk.2"/>
            <p:cNvSpPr/>
            <p:nvPr/>
          </p:nvSpPr>
          <p:spPr>
            <a:xfrm>
              <a:off x="5695950" y="2352675"/>
              <a:ext cx="32385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⊆ D</a:t>
              </a:r>
              <a:endParaRPr lang="en-US" sz="1050" dirty="0"/>
            </a:p>
          </p:txBody>
        </p:sp>
      </p:grpSp>
      <p:sp>
        <p:nvSpPr>
          <p:cNvPr id="52" name="selected-count"/>
          <p:cNvSpPr/>
          <p:nvPr/>
        </p:nvSpPr>
        <p:spPr>
          <a:xfrm>
            <a:off x="5314950" y="2781300"/>
            <a:ext cx="93345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" tIns="0" rIns="0" bIns="1905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documents</a:t>
            </a:r>
            <a:endParaRPr lang="en-US" sz="825" dirty="0"/>
          </a:p>
        </p:txBody>
      </p:sp>
      <p:cxnSp>
        <p:nvCxnSpPr>
          <p:cNvPr id="53" name="flow-0"/>
          <p:cNvCxnSpPr>
            <a:stCxn id="4" idx="3"/>
            <a:endCxn id="17" idx="1"/>
          </p:cNvCxnSpPr>
          <p:nvPr/>
        </p:nvCxnSpPr>
        <p:spPr>
          <a:xfrm>
            <a:off x="876300" y="804862"/>
            <a:ext cx="2286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w="17145" cap="rnd">
            <a:solidFill>
              <a:srgbClr val="464048"/>
            </a:solidFill>
            <a:prstDash val="solid"/>
            <a:round/>
            <a:tailEnd type="triangle" w="med" len="med"/>
          </a:ln>
        </p:spPr>
      </p:cxnSp>
      <p:cxnSp>
        <p:nvCxnSpPr>
          <p:cNvPr id="54" name="flow-1"/>
          <p:cNvCxnSpPr>
            <a:stCxn id="7" idx="3"/>
            <a:endCxn id="18" idx="1"/>
          </p:cNvCxnSpPr>
          <p:nvPr/>
        </p:nvCxnSpPr>
        <p:spPr>
          <a:xfrm>
            <a:off x="876300" y="1890712"/>
            <a:ext cx="2286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w="17145" cap="rnd">
            <a:solidFill>
              <a:srgbClr val="464048"/>
            </a:solidFill>
            <a:prstDash val="solid"/>
            <a:round/>
            <a:tailEnd type="triangle" w="med" len="med"/>
          </a:ln>
        </p:spPr>
      </p:cxnSp>
      <p:cxnSp>
        <p:nvCxnSpPr>
          <p:cNvPr id="55" name="flow-2"/>
          <p:cNvCxnSpPr>
            <a:stCxn id="17" idx="3"/>
            <a:endCxn id="19" idx="1"/>
          </p:cNvCxnSpPr>
          <p:nvPr/>
        </p:nvCxnSpPr>
        <p:spPr>
          <a:xfrm>
            <a:off x="1981200" y="804862"/>
            <a:ext cx="2286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w="17145" cap="rnd">
            <a:solidFill>
              <a:srgbClr val="464048"/>
            </a:solidFill>
            <a:prstDash val="solid"/>
            <a:round/>
            <a:tailEnd type="triangle" w="med" len="med"/>
          </a:ln>
        </p:spPr>
      </p:cxnSp>
      <p:cxnSp>
        <p:nvCxnSpPr>
          <p:cNvPr id="56" name="flow-3"/>
          <p:cNvCxnSpPr>
            <a:stCxn id="18" idx="3"/>
            <a:endCxn id="23" idx="1"/>
          </p:cNvCxnSpPr>
          <p:nvPr/>
        </p:nvCxnSpPr>
        <p:spPr>
          <a:xfrm>
            <a:off x="1981200" y="1890712"/>
            <a:ext cx="2286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w="17145" cap="rnd">
            <a:solidFill>
              <a:srgbClr val="464048"/>
            </a:solidFill>
            <a:prstDash val="solid"/>
            <a:round/>
            <a:tailEnd type="triangle" w="med" len="med"/>
          </a:ln>
        </p:spPr>
      </p:cxnSp>
      <p:cxnSp>
        <p:nvCxnSpPr>
          <p:cNvPr id="57" name="flow-4"/>
          <p:cNvCxnSpPr>
            <a:stCxn id="19" idx="3"/>
            <a:endCxn id="36" idx="0"/>
          </p:cNvCxnSpPr>
          <p:nvPr/>
        </p:nvCxnSpPr>
        <p:spPr>
          <a:xfrm>
            <a:off x="3048000" y="804863"/>
            <a:ext cx="723900" cy="290513"/>
          </a:xfrm>
          <a:custGeom>
            <a:avLst/>
            <a:gdLst/>
            <a:ahLst/>
            <a:cxnLst/>
            <a:rect l="0" t="0" r="r" b="b"/>
            <a:pathLst>
              <a:path w="760000" h="305000" fill="none" stroke="1">
                <a:moveTo>
                  <a:pt x="0" y="0"/>
                </a:moveTo>
                <a:lnTo>
                  <a:pt x="760000" y="0"/>
                </a:lnTo>
                <a:lnTo>
                  <a:pt x="760000" y="305000"/>
                </a:lnTo>
              </a:path>
            </a:pathLst>
          </a:custGeom>
          <a:solidFill>
            <a:srgbClr val="FFFFFF">
              <a:alpha val="0"/>
            </a:srgbClr>
          </a:solidFill>
          <a:ln w="17145" cap="rnd">
            <a:solidFill>
              <a:srgbClr val="464048"/>
            </a:solidFill>
            <a:prstDash val="solid"/>
            <a:round/>
            <a:tailEnd type="triangle" w="med" len="med"/>
          </a:ln>
        </p:spPr>
      </p:cxnSp>
      <p:cxnSp>
        <p:nvCxnSpPr>
          <p:cNvPr id="58" name="flow-5"/>
          <p:cNvCxnSpPr>
            <a:stCxn id="23" idx="3"/>
            <a:endCxn id="36" idx="2"/>
          </p:cNvCxnSpPr>
          <p:nvPr/>
        </p:nvCxnSpPr>
        <p:spPr>
          <a:xfrm>
            <a:off x="3048000" y="1743075"/>
            <a:ext cx="723900" cy="147638"/>
          </a:xfrm>
          <a:custGeom>
            <a:avLst/>
            <a:gdLst/>
            <a:ahLst/>
            <a:cxnLst/>
            <a:rect l="0" t="0" r="r" b="b"/>
            <a:pathLst>
              <a:path w="760000" h="155000" fill="none" stroke="1">
                <a:moveTo>
                  <a:pt x="0" y="155000"/>
                </a:moveTo>
                <a:lnTo>
                  <a:pt x="760000" y="155000"/>
                </a:lnTo>
                <a:lnTo>
                  <a:pt x="760000" y="0"/>
                </a:lnTo>
              </a:path>
            </a:pathLst>
          </a:custGeom>
          <a:solidFill>
            <a:srgbClr val="FFFFFF">
              <a:alpha val="0"/>
            </a:srgbClr>
          </a:solidFill>
          <a:ln w="17145" cap="rnd">
            <a:solidFill>
              <a:srgbClr val="464048"/>
            </a:solidFill>
            <a:prstDash val="solid"/>
            <a:round/>
            <a:tailEnd type="triangle" w="med" len="med"/>
          </a:ln>
        </p:spPr>
      </p:cxnSp>
      <p:cxnSp>
        <p:nvCxnSpPr>
          <p:cNvPr id="59" name="flow-6"/>
          <p:cNvCxnSpPr>
            <a:stCxn id="36" idx="3"/>
            <a:endCxn id="38" idx="1"/>
          </p:cNvCxnSpPr>
          <p:nvPr/>
        </p:nvCxnSpPr>
        <p:spPr>
          <a:xfrm>
            <a:off x="4210050" y="1419225"/>
            <a:ext cx="2286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w="17145" cap="rnd">
            <a:solidFill>
              <a:srgbClr val="464048"/>
            </a:solidFill>
            <a:prstDash val="solid"/>
            <a:round/>
            <a:tailEnd type="triangle" w="med" len="med"/>
          </a:ln>
        </p:spPr>
      </p:cxnSp>
      <p:cxnSp>
        <p:nvCxnSpPr>
          <p:cNvPr id="60" name="flow-7"/>
          <p:cNvCxnSpPr>
            <a:stCxn id="38" idx="3"/>
            <a:endCxn id="47" idx="1"/>
          </p:cNvCxnSpPr>
          <p:nvPr/>
        </p:nvCxnSpPr>
        <p:spPr>
          <a:xfrm>
            <a:off x="5105400" y="1419225"/>
            <a:ext cx="20955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w="17145" cap="rnd">
            <a:solidFill>
              <a:srgbClr val="464048"/>
            </a:solidFill>
            <a:prstDash val="solid"/>
            <a:round/>
            <a:tailEnd type="triangle" w="med" len="med"/>
          </a:ln>
        </p:spPr>
      </p:cxnSp>
      <p:cxnSp>
        <p:nvCxnSpPr>
          <p:cNvPr id="61" name="flow-8"/>
          <p:cNvCxnSpPr>
            <a:stCxn id="47" idx="2"/>
            <a:endCxn id="48" idx="0"/>
          </p:cNvCxnSpPr>
          <p:nvPr/>
        </p:nvCxnSpPr>
        <p:spPr>
          <a:xfrm>
            <a:off x="5781675" y="1704975"/>
            <a:ext cx="0" cy="504825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w="17145" cap="rnd">
            <a:solidFill>
              <a:srgbClr val="464048"/>
            </a:solidFill>
            <a:prstDash val="solid"/>
            <a:round/>
            <a:tailEnd type="triangle" w="med" len="med"/>
          </a:ln>
        </p:spPr>
      </p:cxnSp>
      <p:sp>
        <p:nvSpPr>
          <p:cNvPr id="62" name="scope"/>
          <p:cNvSpPr/>
          <p:nvPr/>
        </p:nvSpPr>
        <p:spPr>
          <a:xfrm>
            <a:off x="114300" y="2619375"/>
            <a:ext cx="495300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" tIns="0" rIns="0" bIns="1905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 = 1, …, n; each score ranks the same candidate document.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Two-encoder document retrieval</dc:title>
  <dc:subject>Editable research figure</dc:subject>
  <dc:creator/>
  <cp:lastModifiedBy/>
  <cp:revision>1</cp:revision>
  <dcterms:created xsi:type="dcterms:W3CDTF">2026-10-01T06:48:35Z</dcterms:created>
  <dcterms:modified xsi:type="dcterms:W3CDTF">2026-10-01T06:48:35Z</dcterms:modified>
</cp:coreProperties>
</file>