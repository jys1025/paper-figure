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c60b026f2d4581" /><Relationship Type="http://schemas.openxmlformats.org/officeDocument/2006/relationships/extended-properties" Target="/docProps/app.xml" Id="Rf398cc37b99d45c7" /><Relationship Type="http://schemas.openxmlformats.org/officeDocument/2006/relationships/officeDocument" Target="/ppt/presentation.xml" Id="Refa9fd2c26534fbb" /></Relationships>
</file>

<file path=ppt/presentation.xml><?xml version="1.0" encoding="utf-8"?>
<p:presentation xmlns:p="http://schemas.openxmlformats.org/presentationml/2006/main">
  <p:sldMasterIdLst>
    <p:sldMasterId xmlns:r="http://schemas.openxmlformats.org/officeDocument/2006/relationships" id="2147483648" r:id="R3e0a374e84a94461"/>
  </p:sldMasterIdLst>
  <p:notesMasterIdLst>
    <p:notesMasterId xmlns:r="http://schemas.openxmlformats.org/officeDocument/2006/relationships" r:id="R6c61e4d19082413b"/>
  </p:notesMasterIdLst>
  <p:sldIdLst>
    <p:sldId xmlns:r="http://schemas.openxmlformats.org/officeDocument/2006/relationships" id="256" r:id="R99941d364b5e4ef3"/>
  </p:sldIdLst>
  <p:sldSz cx="6400800" cy="3714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74d7d036ce47c5" /><Relationship Type="http://schemas.openxmlformats.org/officeDocument/2006/relationships/slideMaster" Target="/ppt/slideMasters/slideMaster1.xml" Id="R3e0a374e84a94461" /><Relationship Type="http://schemas.openxmlformats.org/officeDocument/2006/relationships/notesMaster" Target="/ppt/notesMasters/notesMaster1.xml" Id="R6c61e4d19082413b" /><Relationship Type="http://schemas.openxmlformats.org/officeDocument/2006/relationships/presProps" Target="/ppt/presProps.xml" Id="Rbc65973020b7442e" /><Relationship Type="http://schemas.openxmlformats.org/officeDocument/2006/relationships/tableStyles" Target="/ppt/tableStyles.xml" Id="R1f5e48b780ff4614" /><Relationship Type="http://schemas.openxmlformats.org/officeDocument/2006/relationships/slide" Target="/ppt/slides/slide1.xml" Id="R99941d364b5e4e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7c62c9c4fb46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84b4c6415b4843" /><Relationship Type="http://schemas.openxmlformats.org/officeDocument/2006/relationships/notesMaster" Target="/ppt/notesMasters/notesMaster1.xml" Id="R9ada0dbb0bd54d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Fluorescence-activated microfluidic droplet screening</a:t>
            </a:r>
          </a:p>
          <a:p xmlns:a="http://schemas.openxmlformats.org/drawingml/2006/main">
            <a:r>
              <a:t>Hypothetical methodology supplied in brief.json. Droplet numbers and intensity glyphs are schematic, not experimental evidence. Channel dimensions, flow rates, incubation duration, signal values, biology, electrode implementation, trigger timing and sorting performance are unspecified. Original native diagram; no reproduced source assets. Visual design study: https://lmbweb.informatik.uni-freiburg.de/people/ronneber/u-net/u-net-architecture.png (separate connection lanes and endpoint placement). Context sources: https://doi.org/10.1039/B902504A and https://pmc.ncbi.nlm.nih.gov/articles/PMC6942126/ (no device parameters or empirical performance imported).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8392acb0bb46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b4ef0b750a4f60" /><Relationship Type="http://schemas.openxmlformats.org/officeDocument/2006/relationships/slideLayout" Target="/ppt/slideLayouts/slideLayout1.xml" Id="R62093793ecf445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093793ecf445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c74ac7a4df4e92" /><Relationship Type="http://schemas.openxmlformats.org/officeDocument/2006/relationships/notesSlide" Target="/ppt/notesSlides/notesSlide1.xml" Id="R254c6bc3582244c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heading">
            <a:extLst xmlns:a="http://schemas.openxmlformats.org/drawingml/2006/main">
              <a:ext uri="{FF2B5EF4-FFF2-40B4-BE49-F238E27FC236}">
                <a16:creationId xmlns:a16="http://schemas.microsoft.com/office/drawing/2014/main" id="{C4575F7E-595A-4804-9CF0-49D0F1DFA44E}"/>
              </a:ext>
            </a:extLst>
          </p:cNvPr>
          <p:cNvSpPr>
            <a:spLocks xmlns:a="http://schemas.openxmlformats.org/drawingml/2006/main"/>
          </p:cNvSpPr>
          <p:nvPr/>
        </p:nvSpPr>
        <p:spPr>
          <a:xfrm xmlns:a="http://schemas.openxmlformats.org/drawingml/2006/main">
            <a:off x="190500" y="123825"/>
            <a:ext cx="601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1125" b="1">
                <a:solidFill>
                  <a:srgbClr val="22343E"/>
                </a:solidFill>
                <a:latin typeface="Liberation Sans"/>
                <a:ea typeface="Liberation Sans"/>
                <a:cs typeface="Liberation Sans"/>
              </a:defRPr>
            </a:pPr>
            <a:r>
              <a:rPr sz="1125" b="1">
                <a:solidFill>
                  <a:srgbClr val="22343E"/>
                </a:solidFill>
                <a:latin typeface="Liberation Sans"/>
                <a:ea typeface="Liberation Sans"/>
                <a:cs typeface="Liberation Sans"/>
              </a:rPr>
              <a:t>Fluorescence-activated microfluidic droplet screening</a:t>
            </a:r>
          </a:p>
        </p:txBody>
      </p:sp>
      <p:grpSp>
        <p:nvGrpSpPr>
          <p:cNvPr id="180" name="fluidic-channel"/>
          <p:cNvGrpSpPr/>
          <p:nvPr/>
        </p:nvGrpSpPr>
        <p:grpSpPr>
          <ns1:xfrm xmlns:ns1="http://schemas.openxmlformats.org/drawingml/2006/main">
            <ns1:off x="228600" y="1562100"/>
            <ns1:ext cx="5867400" cy="1409700"/>
            <ns1:chOff x="228600" y="1562100"/>
            <ns1:chExt cx="5867400" cy="1409700"/>
          </ns1:xfrm>
        </p:grpSpPr>
        <p:sp>
          <p:nvSpPr>
            <p:cNvPr id="2" name="aqueous-channel.wall">
              <a:extLst xmlns:a="http://schemas.openxmlformats.org/drawingml/2006/main">
                <a:ext uri="{FF2B5EF4-FFF2-40B4-BE49-F238E27FC236}">
                  <a16:creationId xmlns:a16="http://schemas.microsoft.com/office/drawing/2014/main" id="{DF5BA2B3-2C80-4CB2-BBC0-F730480DBC52}"/>
                </a:ext>
              </a:extLst>
            </p:cNvPr>
            <p:cNvSpPr>
              <a:spLocks xmlns:a="http://schemas.openxmlformats.org/drawingml/2006/main"/>
            </p:cNvSpPr>
            <p:nvPr/>
          </p:nvSpPr>
          <p:spPr>
            <a:xfrm xmlns:a="http://schemas.openxmlformats.org/drawingml/2006/main">
              <a:off x="228600" y="2247900"/>
              <a:ext cx="1076325" cy="95"/>
            </a:xfrm>
            <a:custGeom xmlns:a="http://schemas.openxmlformats.org/drawingml/2006/main">
              <a:pathLst>
                <a:path w="1076325" h="95">
                  <a:moveTo>
                    <a:pt x="0" y="0"/>
                  </a:moveTo>
                  <a:lnTo>
                    <a:pt x="1076325" y="0"/>
                  </a:lnTo>
                </a:path>
              </a:pathLst>
            </a:custGeom>
            <a:noFill xmlns:a="http://schemas.openxmlformats.org/drawingml/2006/main"/>
            <a:ln xmlns:a="http://schemas.openxmlformats.org/drawingml/2006/main" w="180975">
              <a:solidFill>
                <a:srgbClr val="7E929C"/>
              </a:solidFill>
              <a:prstDash val="solid"/>
            </a:ln>
          </p:spPr>
        </p:sp>
        <p:sp>
          <p:nvSpPr>
            <p:cNvPr id="3" name="oil-upper-channel.wall">
              <a:extLst xmlns:a="http://schemas.openxmlformats.org/drawingml/2006/main">
                <a:ext uri="{FF2B5EF4-FFF2-40B4-BE49-F238E27FC236}">
                  <a16:creationId xmlns:a16="http://schemas.microsoft.com/office/drawing/2014/main" id="{84DA5CB4-2B36-462C-8FE0-9D0C99330E00}"/>
                </a:ext>
              </a:extLst>
            </p:cNvPr>
            <p:cNvSpPr>
              <a:spLocks xmlns:a="http://schemas.openxmlformats.org/drawingml/2006/main"/>
            </p:cNvSpPr>
            <p:nvPr/>
          </p:nvSpPr>
          <p:spPr>
            <a:xfrm xmlns:a="http://schemas.openxmlformats.org/drawingml/2006/main">
              <a:off x="1304925" y="1562100"/>
              <a:ext cx="95" cy="685800"/>
            </a:xfrm>
            <a:custGeom xmlns:a="http://schemas.openxmlformats.org/drawingml/2006/main">
              <a:pathLst>
                <a:path w="95" h="685800">
                  <a:moveTo>
                    <a:pt x="0" y="0"/>
                  </a:moveTo>
                  <a:lnTo>
                    <a:pt x="0" y="685800"/>
                  </a:lnTo>
                </a:path>
              </a:pathLst>
            </a:custGeom>
            <a:noFill xmlns:a="http://schemas.openxmlformats.org/drawingml/2006/main"/>
            <a:ln xmlns:a="http://schemas.openxmlformats.org/drawingml/2006/main" w="180975">
              <a:solidFill>
                <a:srgbClr val="7E929C"/>
              </a:solidFill>
              <a:prstDash val="solid"/>
            </a:ln>
          </p:spPr>
        </p:sp>
        <p:sp>
          <p:nvSpPr>
            <p:cNvPr id="4" name="oil-lower-channel.wall">
              <a:extLst xmlns:a="http://schemas.openxmlformats.org/drawingml/2006/main">
                <a:ext uri="{FF2B5EF4-FFF2-40B4-BE49-F238E27FC236}">
                  <a16:creationId xmlns:a16="http://schemas.microsoft.com/office/drawing/2014/main" id="{3022833B-E5FF-491F-BB31-02CBF58E393F}"/>
                </a:ext>
              </a:extLst>
            </p:cNvPr>
            <p:cNvSpPr>
              <a:spLocks xmlns:a="http://schemas.openxmlformats.org/drawingml/2006/main"/>
            </p:cNvSpPr>
            <p:nvPr/>
          </p:nvSpPr>
          <p:spPr>
            <a:xfrm xmlns:a="http://schemas.openxmlformats.org/drawingml/2006/main">
              <a:off x="1304925" y="2247900"/>
              <a:ext cx="95" cy="723900"/>
            </a:xfrm>
            <a:custGeom xmlns:a="http://schemas.openxmlformats.org/drawingml/2006/main">
              <a:pathLst>
                <a:path w="95" h="723900">
                  <a:moveTo>
                    <a:pt x="0" y="723900"/>
                  </a:moveTo>
                  <a:lnTo>
                    <a:pt x="0" y="0"/>
                  </a:lnTo>
                </a:path>
              </a:pathLst>
            </a:custGeom>
            <a:noFill xmlns:a="http://schemas.openxmlformats.org/drawingml/2006/main"/>
            <a:ln xmlns:a="http://schemas.openxmlformats.org/drawingml/2006/main" w="180975">
              <a:solidFill>
                <a:srgbClr val="7E929C"/>
              </a:solidFill>
              <a:prstDash val="solid"/>
            </a:ln>
          </p:spPr>
        </p:sp>
        <p:sp>
          <p:nvSpPr>
            <p:cNvPr id="5" name="incubation-channel.wall">
              <a:extLst xmlns:a="http://schemas.openxmlformats.org/drawingml/2006/main">
                <a:ext uri="{FF2B5EF4-FFF2-40B4-BE49-F238E27FC236}">
                  <a16:creationId xmlns:a16="http://schemas.microsoft.com/office/drawing/2014/main" id="{E0410F9C-CDAD-4F5A-AC7F-905E39D39689}"/>
                </a:ext>
              </a:extLst>
            </p:cNvPr>
            <p:cNvSpPr>
              <a:spLocks xmlns:a="http://schemas.openxmlformats.org/drawingml/2006/main"/>
            </p:cNvSpPr>
            <p:nvPr/>
          </p:nvSpPr>
          <p:spPr>
            <a:xfrm xmlns:a="http://schemas.openxmlformats.org/drawingml/2006/main">
              <a:off x="1304925" y="1933575"/>
              <a:ext cx="3476625" cy="742950"/>
            </a:xfrm>
            <a:custGeom xmlns:a="http://schemas.openxmlformats.org/drawingml/2006/main">
              <a:pathLst>
                <a:path w="3476625" h="742950">
                  <a:moveTo>
                    <a:pt x="0" y="314325"/>
                  </a:moveTo>
                  <a:lnTo>
                    <a:pt x="742950" y="314325"/>
                  </a:lnTo>
                  <a:lnTo>
                    <a:pt x="742950" y="0"/>
                  </a:lnTo>
                  <a:lnTo>
                    <a:pt x="1019175" y="0"/>
                  </a:lnTo>
                  <a:lnTo>
                    <a:pt x="1019175" y="742950"/>
                  </a:lnTo>
                  <a:lnTo>
                    <a:pt x="1323975" y="742950"/>
                  </a:lnTo>
                  <a:lnTo>
                    <a:pt x="1323975" y="0"/>
                  </a:lnTo>
                  <a:lnTo>
                    <a:pt x="1628775" y="0"/>
                  </a:lnTo>
                  <a:lnTo>
                    <a:pt x="1628775" y="742950"/>
                  </a:lnTo>
                  <a:lnTo>
                    <a:pt x="1933575" y="742950"/>
                  </a:lnTo>
                  <a:lnTo>
                    <a:pt x="1933575" y="314325"/>
                  </a:lnTo>
                  <a:lnTo>
                    <a:pt x="3476625" y="314325"/>
                  </a:lnTo>
                </a:path>
              </a:pathLst>
            </a:custGeom>
            <a:noFill xmlns:a="http://schemas.openxmlformats.org/drawingml/2006/main"/>
            <a:ln xmlns:a="http://schemas.openxmlformats.org/drawingml/2006/main" w="180975">
              <a:solidFill>
                <a:srgbClr val="7E929C"/>
              </a:solidFill>
              <a:prstDash val="solid"/>
            </a:ln>
          </p:spPr>
        </p:sp>
        <p:sp>
          <p:nvSpPr>
            <p:cNvPr id="6" name="hit-channel.wall">
              <a:extLst xmlns:a="http://schemas.openxmlformats.org/drawingml/2006/main">
                <a:ext uri="{FF2B5EF4-FFF2-40B4-BE49-F238E27FC236}">
                  <a16:creationId xmlns:a16="http://schemas.microsoft.com/office/drawing/2014/main" id="{A7FA8CAE-33D7-42CD-AE36-03F515B4CF24}"/>
                </a:ext>
              </a:extLst>
            </p:cNvPr>
            <p:cNvSpPr>
              <a:spLocks xmlns:a="http://schemas.openxmlformats.org/drawingml/2006/main"/>
            </p:cNvSpPr>
            <p:nvPr/>
          </p:nvSpPr>
          <p:spPr>
            <a:xfrm xmlns:a="http://schemas.openxmlformats.org/drawingml/2006/main">
              <a:off x="4781550" y="1847850"/>
              <a:ext cx="1314450" cy="400050"/>
            </a:xfrm>
            <a:custGeom xmlns:a="http://schemas.openxmlformats.org/drawingml/2006/main">
              <a:pathLst>
                <a:path w="1314450" h="400050">
                  <a:moveTo>
                    <a:pt x="0" y="400050"/>
                  </a:moveTo>
                  <a:lnTo>
                    <a:pt x="438150" y="0"/>
                  </a:lnTo>
                  <a:lnTo>
                    <a:pt x="1314450" y="0"/>
                  </a:lnTo>
                </a:path>
              </a:pathLst>
            </a:custGeom>
            <a:noFill xmlns:a="http://schemas.openxmlformats.org/drawingml/2006/main"/>
            <a:ln xmlns:a="http://schemas.openxmlformats.org/drawingml/2006/main" w="180975">
              <a:solidFill>
                <a:srgbClr val="7E929C"/>
              </a:solidFill>
              <a:prstDash val="solid"/>
            </a:ln>
          </p:spPr>
        </p:sp>
        <p:sp>
          <p:nvSpPr>
            <p:cNvPr id="7" name="waste-channel.wall">
              <a:extLst xmlns:a="http://schemas.openxmlformats.org/drawingml/2006/main">
                <a:ext uri="{FF2B5EF4-FFF2-40B4-BE49-F238E27FC236}">
                  <a16:creationId xmlns:a16="http://schemas.microsoft.com/office/drawing/2014/main" id="{4658B961-D579-471B-B3C4-2943165EC8B9}"/>
                </a:ext>
              </a:extLst>
            </p:cNvPr>
            <p:cNvSpPr>
              <a:spLocks xmlns:a="http://schemas.openxmlformats.org/drawingml/2006/main"/>
            </p:cNvSpPr>
            <p:nvPr/>
          </p:nvSpPr>
          <p:spPr>
            <a:xfrm xmlns:a="http://schemas.openxmlformats.org/drawingml/2006/main">
              <a:off x="4781550" y="2247900"/>
              <a:ext cx="1314450" cy="514350"/>
            </a:xfrm>
            <a:custGeom xmlns:a="http://schemas.openxmlformats.org/drawingml/2006/main">
              <a:pathLst>
                <a:path w="1314450" h="514350">
                  <a:moveTo>
                    <a:pt x="0" y="0"/>
                  </a:moveTo>
                  <a:lnTo>
                    <a:pt x="438150" y="514350"/>
                  </a:lnTo>
                  <a:lnTo>
                    <a:pt x="1314450" y="514350"/>
                  </a:lnTo>
                </a:path>
              </a:pathLst>
            </a:custGeom>
            <a:noFill xmlns:a="http://schemas.openxmlformats.org/drawingml/2006/main"/>
            <a:ln xmlns:a="http://schemas.openxmlformats.org/drawingml/2006/main" w="180975">
              <a:solidFill>
                <a:srgbClr val="7E929C"/>
              </a:solidFill>
              <a:prstDash val="solid"/>
            </a:ln>
          </p:spPr>
        </p:sp>
        <p:sp>
          <p:nvSpPr>
            <p:cNvPr id="8" name="aqueous-channel">
              <a:extLst xmlns:a="http://schemas.openxmlformats.org/drawingml/2006/main">
                <a:ext uri="{FF2B5EF4-FFF2-40B4-BE49-F238E27FC236}">
                  <a16:creationId xmlns:a16="http://schemas.microsoft.com/office/drawing/2014/main" id="{AC820342-EEFB-4492-97FE-03529C92FD39}"/>
                </a:ext>
              </a:extLst>
            </p:cNvPr>
            <p:cNvSpPr>
              <a:spLocks xmlns:a="http://schemas.openxmlformats.org/drawingml/2006/main"/>
            </p:cNvSpPr>
            <p:nvPr/>
          </p:nvSpPr>
          <p:spPr>
            <a:xfrm xmlns:a="http://schemas.openxmlformats.org/drawingml/2006/main">
              <a:off x="228600" y="2247900"/>
              <a:ext cx="1076325" cy="95"/>
            </a:xfrm>
            <a:custGeom xmlns:a="http://schemas.openxmlformats.org/drawingml/2006/main">
              <a:pathLst>
                <a:path w="1076325" h="95">
                  <a:moveTo>
                    <a:pt x="0" y="0"/>
                  </a:moveTo>
                  <a:lnTo>
                    <a:pt x="1076325" y="0"/>
                  </a:lnTo>
                </a:path>
              </a:pathLst>
            </a:custGeom>
            <a:noFill xmlns:a="http://schemas.openxmlformats.org/drawingml/2006/main"/>
            <a:ln xmlns:a="http://schemas.openxmlformats.org/drawingml/2006/main" w="152400">
              <a:solidFill>
                <a:srgbClr val="EFF5F7"/>
              </a:solidFill>
              <a:prstDash val="solid"/>
            </a:ln>
          </p:spPr>
        </p:sp>
        <p:sp>
          <p:nvSpPr>
            <p:cNvPr id="9" name="oil-upper-channel">
              <a:extLst xmlns:a="http://schemas.openxmlformats.org/drawingml/2006/main">
                <a:ext uri="{FF2B5EF4-FFF2-40B4-BE49-F238E27FC236}">
                  <a16:creationId xmlns:a16="http://schemas.microsoft.com/office/drawing/2014/main" id="{CCED4FD6-DD8C-48C0-B2C8-0DE6DDF8FA11}"/>
                </a:ext>
              </a:extLst>
            </p:cNvPr>
            <p:cNvSpPr>
              <a:spLocks xmlns:a="http://schemas.openxmlformats.org/drawingml/2006/main"/>
            </p:cNvSpPr>
            <p:nvPr/>
          </p:nvSpPr>
          <p:spPr>
            <a:xfrm xmlns:a="http://schemas.openxmlformats.org/drawingml/2006/main">
              <a:off x="1304925" y="1562100"/>
              <a:ext cx="95" cy="685800"/>
            </a:xfrm>
            <a:custGeom xmlns:a="http://schemas.openxmlformats.org/drawingml/2006/main">
              <a:pathLst>
                <a:path w="95" h="685800">
                  <a:moveTo>
                    <a:pt x="0" y="0"/>
                  </a:moveTo>
                  <a:lnTo>
                    <a:pt x="0" y="685800"/>
                  </a:lnTo>
                </a:path>
              </a:pathLst>
            </a:custGeom>
            <a:noFill xmlns:a="http://schemas.openxmlformats.org/drawingml/2006/main"/>
            <a:ln xmlns:a="http://schemas.openxmlformats.org/drawingml/2006/main" w="152400">
              <a:solidFill>
                <a:srgbClr val="EFF5F7"/>
              </a:solidFill>
              <a:prstDash val="solid"/>
            </a:ln>
          </p:spPr>
        </p:sp>
        <p:sp>
          <p:nvSpPr>
            <p:cNvPr id="10" name="oil-lower-channel">
              <a:extLst xmlns:a="http://schemas.openxmlformats.org/drawingml/2006/main">
                <a:ext uri="{FF2B5EF4-FFF2-40B4-BE49-F238E27FC236}">
                  <a16:creationId xmlns:a16="http://schemas.microsoft.com/office/drawing/2014/main" id="{688F94C9-BD8D-4FAB-96B7-D321130152FC}"/>
                </a:ext>
              </a:extLst>
            </p:cNvPr>
            <p:cNvSpPr>
              <a:spLocks xmlns:a="http://schemas.openxmlformats.org/drawingml/2006/main"/>
            </p:cNvSpPr>
            <p:nvPr/>
          </p:nvSpPr>
          <p:spPr>
            <a:xfrm xmlns:a="http://schemas.openxmlformats.org/drawingml/2006/main">
              <a:off x="1304925" y="2247900"/>
              <a:ext cx="95" cy="723900"/>
            </a:xfrm>
            <a:custGeom xmlns:a="http://schemas.openxmlformats.org/drawingml/2006/main">
              <a:pathLst>
                <a:path w="95" h="723900">
                  <a:moveTo>
                    <a:pt x="0" y="723900"/>
                  </a:moveTo>
                  <a:lnTo>
                    <a:pt x="0" y="0"/>
                  </a:lnTo>
                </a:path>
              </a:pathLst>
            </a:custGeom>
            <a:noFill xmlns:a="http://schemas.openxmlformats.org/drawingml/2006/main"/>
            <a:ln xmlns:a="http://schemas.openxmlformats.org/drawingml/2006/main" w="152400">
              <a:solidFill>
                <a:srgbClr val="EFF5F7"/>
              </a:solidFill>
              <a:prstDash val="solid"/>
            </a:ln>
          </p:spPr>
        </p:sp>
        <p:sp>
          <p:nvSpPr>
            <p:cNvPr id="11" name="incubation-channel">
              <a:extLst xmlns:a="http://schemas.openxmlformats.org/drawingml/2006/main">
                <a:ext uri="{FF2B5EF4-FFF2-40B4-BE49-F238E27FC236}">
                  <a16:creationId xmlns:a16="http://schemas.microsoft.com/office/drawing/2014/main" id="{9A09520C-52C1-4A45-AF4D-8053DF4BE67C}"/>
                </a:ext>
              </a:extLst>
            </p:cNvPr>
            <p:cNvSpPr>
              <a:spLocks xmlns:a="http://schemas.openxmlformats.org/drawingml/2006/main"/>
            </p:cNvSpPr>
            <p:nvPr/>
          </p:nvSpPr>
          <p:spPr>
            <a:xfrm xmlns:a="http://schemas.openxmlformats.org/drawingml/2006/main">
              <a:off x="1304925" y="1933575"/>
              <a:ext cx="3476625" cy="742950"/>
            </a:xfrm>
            <a:custGeom xmlns:a="http://schemas.openxmlformats.org/drawingml/2006/main">
              <a:pathLst>
                <a:path w="3476625" h="742950">
                  <a:moveTo>
                    <a:pt x="0" y="314325"/>
                  </a:moveTo>
                  <a:lnTo>
                    <a:pt x="742950" y="314325"/>
                  </a:lnTo>
                  <a:lnTo>
                    <a:pt x="742950" y="0"/>
                  </a:lnTo>
                  <a:lnTo>
                    <a:pt x="1019175" y="0"/>
                  </a:lnTo>
                  <a:lnTo>
                    <a:pt x="1019175" y="742950"/>
                  </a:lnTo>
                  <a:lnTo>
                    <a:pt x="1323975" y="742950"/>
                  </a:lnTo>
                  <a:lnTo>
                    <a:pt x="1323975" y="0"/>
                  </a:lnTo>
                  <a:lnTo>
                    <a:pt x="1628775" y="0"/>
                  </a:lnTo>
                  <a:lnTo>
                    <a:pt x="1628775" y="742950"/>
                  </a:lnTo>
                  <a:lnTo>
                    <a:pt x="1933575" y="742950"/>
                  </a:lnTo>
                  <a:lnTo>
                    <a:pt x="1933575" y="314325"/>
                  </a:lnTo>
                  <a:lnTo>
                    <a:pt x="3476625" y="314325"/>
                  </a:lnTo>
                </a:path>
              </a:pathLst>
            </a:custGeom>
            <a:noFill xmlns:a="http://schemas.openxmlformats.org/drawingml/2006/main"/>
            <a:ln xmlns:a="http://schemas.openxmlformats.org/drawingml/2006/main" w="152400">
              <a:solidFill>
                <a:srgbClr val="EFF5F7"/>
              </a:solidFill>
              <a:prstDash val="solid"/>
            </a:ln>
          </p:spPr>
        </p:sp>
        <p:sp>
          <p:nvSpPr>
            <p:cNvPr id="12" name="hit-channel">
              <a:extLst xmlns:a="http://schemas.openxmlformats.org/drawingml/2006/main">
                <a:ext uri="{FF2B5EF4-FFF2-40B4-BE49-F238E27FC236}">
                  <a16:creationId xmlns:a16="http://schemas.microsoft.com/office/drawing/2014/main" id="{CAF168CD-DBC1-498E-B9C4-5349EA10AD67}"/>
                </a:ext>
              </a:extLst>
            </p:cNvPr>
            <p:cNvSpPr>
              <a:spLocks xmlns:a="http://schemas.openxmlformats.org/drawingml/2006/main"/>
            </p:cNvSpPr>
            <p:nvPr/>
          </p:nvSpPr>
          <p:spPr>
            <a:xfrm xmlns:a="http://schemas.openxmlformats.org/drawingml/2006/main">
              <a:off x="4781550" y="1847850"/>
              <a:ext cx="1314450" cy="400050"/>
            </a:xfrm>
            <a:custGeom xmlns:a="http://schemas.openxmlformats.org/drawingml/2006/main">
              <a:pathLst>
                <a:path w="1314450" h="400050">
                  <a:moveTo>
                    <a:pt x="0" y="400050"/>
                  </a:moveTo>
                  <a:lnTo>
                    <a:pt x="438150" y="0"/>
                  </a:lnTo>
                  <a:lnTo>
                    <a:pt x="1314450" y="0"/>
                  </a:lnTo>
                </a:path>
              </a:pathLst>
            </a:custGeom>
            <a:noFill xmlns:a="http://schemas.openxmlformats.org/drawingml/2006/main"/>
            <a:ln xmlns:a="http://schemas.openxmlformats.org/drawingml/2006/main" w="152400">
              <a:solidFill>
                <a:srgbClr val="EFF5F7"/>
              </a:solidFill>
              <a:prstDash val="solid"/>
            </a:ln>
          </p:spPr>
        </p:sp>
        <p:sp>
          <p:nvSpPr>
            <p:cNvPr id="13" name="waste-channel">
              <a:extLst xmlns:a="http://schemas.openxmlformats.org/drawingml/2006/main">
                <a:ext uri="{FF2B5EF4-FFF2-40B4-BE49-F238E27FC236}">
                  <a16:creationId xmlns:a16="http://schemas.microsoft.com/office/drawing/2014/main" id="{1F7F2A0E-8DCF-4C6D-A1A8-3331B9758038}"/>
                </a:ext>
              </a:extLst>
            </p:cNvPr>
            <p:cNvSpPr>
              <a:spLocks xmlns:a="http://schemas.openxmlformats.org/drawingml/2006/main"/>
            </p:cNvSpPr>
            <p:nvPr/>
          </p:nvSpPr>
          <p:spPr>
            <a:xfrm xmlns:a="http://schemas.openxmlformats.org/drawingml/2006/main">
              <a:off x="4781550" y="2247900"/>
              <a:ext cx="1314450" cy="514350"/>
            </a:xfrm>
            <a:custGeom xmlns:a="http://schemas.openxmlformats.org/drawingml/2006/main">
              <a:pathLst>
                <a:path w="1314450" h="514350">
                  <a:moveTo>
                    <a:pt x="0" y="0"/>
                  </a:moveTo>
                  <a:lnTo>
                    <a:pt x="438150" y="514350"/>
                  </a:lnTo>
                  <a:lnTo>
                    <a:pt x="1314450" y="514350"/>
                  </a:lnTo>
                </a:path>
              </a:pathLst>
            </a:custGeom>
            <a:noFill xmlns:a="http://schemas.openxmlformats.org/drawingml/2006/main"/>
            <a:ln xmlns:a="http://schemas.openxmlformats.org/drawingml/2006/main" w="152400">
              <a:solidFill>
                <a:srgbClr val="EFF5F7"/>
              </a:solidFill>
              <a:prstDash val="solid"/>
            </a:ln>
          </p:spPr>
        </p:sp>
      </p:grpSp>
      <p:sp>
        <p:nvSpPr>
          <p:cNvPr id="14" name="aqueous-thread">
            <a:extLst xmlns:a="http://schemas.openxmlformats.org/drawingml/2006/main">
              <a:ext uri="{FF2B5EF4-FFF2-40B4-BE49-F238E27FC236}">
                <a16:creationId xmlns:a16="http://schemas.microsoft.com/office/drawing/2014/main" id="{B8CF193E-EC4A-4BE1-9FC8-7768A4C03705}"/>
              </a:ext>
            </a:extLst>
          </p:cNvPr>
          <p:cNvSpPr>
            <a:spLocks xmlns:a="http://schemas.openxmlformats.org/drawingml/2006/main"/>
          </p:cNvSpPr>
          <p:nvPr/>
        </p:nvSpPr>
        <p:spPr>
          <a:xfrm xmlns:a="http://schemas.openxmlformats.org/drawingml/2006/main">
            <a:off x="228600" y="2206943"/>
            <a:ext cx="1200150" cy="81915"/>
          </a:xfrm>
          <a:custGeom xmlns:a="http://schemas.openxmlformats.org/drawingml/2006/main">
            <a:pathLst>
              <a:path w="1200150" h="81915">
                <a:moveTo>
                  <a:pt x="0" y="0"/>
                </a:moveTo>
                <a:lnTo>
                  <a:pt x="923925" y="0"/>
                </a:lnTo>
                <a:lnTo>
                  <a:pt x="1123950" y="23813"/>
                </a:lnTo>
                <a:lnTo>
                  <a:pt x="1200150" y="40958"/>
                </a:lnTo>
                <a:lnTo>
                  <a:pt x="1123950" y="58103"/>
                </a:lnTo>
                <a:lnTo>
                  <a:pt x="923925" y="81915"/>
                </a:lnTo>
                <a:lnTo>
                  <a:pt x="0" y="81915"/>
                </a:lnTo>
                <a:close/>
              </a:path>
            </a:pathLst>
          </a:custGeom>
          <a:solidFill xmlns:a="http://schemas.openxmlformats.org/drawingml/2006/main">
            <a:srgbClr val="BBDDE9"/>
          </a:solidFill>
          <a:ln xmlns:a="http://schemas.openxmlformats.org/drawingml/2006/main" w="6668">
            <a:solidFill>
              <a:srgbClr val="376D86"/>
            </a:solidFill>
            <a:prstDash val="solid"/>
          </a:ln>
        </p:spPr>
      </p:sp>
      <p:sp>
        <p:nvSpPr>
          <p:cNvPr id="15" name="aqueous-label">
            <a:extLst xmlns:a="http://schemas.openxmlformats.org/drawingml/2006/main">
              <a:ext uri="{FF2B5EF4-FFF2-40B4-BE49-F238E27FC236}">
                <a16:creationId xmlns:a16="http://schemas.microsoft.com/office/drawing/2014/main" id="{0F9B35F2-6308-41AD-9B0D-782572E440D5}"/>
              </a:ext>
            </a:extLst>
          </p:cNvPr>
          <p:cNvSpPr>
            <a:spLocks xmlns:a="http://schemas.openxmlformats.org/drawingml/2006/main"/>
          </p:cNvSpPr>
          <p:nvPr/>
        </p:nvSpPr>
        <p:spPr>
          <a:xfrm xmlns:a="http://schemas.openxmlformats.org/drawingml/2006/main">
            <a:off x="190500" y="18097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Aqueous assay</a:t>
            </a:r>
          </a:p>
          <a:p xmlns:a="http://schemas.openxmlformats.org/drawingml/2006/main">
            <a:pPr algn="l">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mixture</a:t>
            </a:r>
          </a:p>
        </p:txBody>
      </p:sp>
      <p:sp>
        <p:nvSpPr>
          <p:cNvPr id="16" name="oil-upper-label">
            <a:extLst xmlns:a="http://schemas.openxmlformats.org/drawingml/2006/main">
              <a:ext uri="{FF2B5EF4-FFF2-40B4-BE49-F238E27FC236}">
                <a16:creationId xmlns:a16="http://schemas.microsoft.com/office/drawing/2014/main" id="{F6BECA5B-C144-40D3-8405-43A0B6D00A82}"/>
              </a:ext>
            </a:extLst>
          </p:cNvPr>
          <p:cNvSpPr>
            <a:spLocks xmlns:a="http://schemas.openxmlformats.org/drawingml/2006/main"/>
          </p:cNvSpPr>
          <p:nvPr/>
        </p:nvSpPr>
        <p:spPr>
          <a:xfrm xmlns:a="http://schemas.openxmlformats.org/drawingml/2006/main">
            <a:off x="895350" y="1304925"/>
            <a:ext cx="828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Carrier oil</a:t>
            </a:r>
          </a:p>
        </p:txBody>
      </p:sp>
      <p:sp>
        <p:nvSpPr>
          <p:cNvPr id="17" name="oil-lower-label">
            <a:extLst xmlns:a="http://schemas.openxmlformats.org/drawingml/2006/main">
              <a:ext uri="{FF2B5EF4-FFF2-40B4-BE49-F238E27FC236}">
                <a16:creationId xmlns:a16="http://schemas.microsoft.com/office/drawing/2014/main" id="{11621995-877B-422C-B846-AEA3195C25EB}"/>
              </a:ext>
            </a:extLst>
          </p:cNvPr>
          <p:cNvSpPr>
            <a:spLocks xmlns:a="http://schemas.openxmlformats.org/drawingml/2006/main"/>
          </p:cNvSpPr>
          <p:nvPr/>
        </p:nvSpPr>
        <p:spPr>
          <a:xfrm xmlns:a="http://schemas.openxmlformats.org/drawingml/2006/main">
            <a:off x="895350" y="3048000"/>
            <a:ext cx="828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Carrier oil</a:t>
            </a:r>
          </a:p>
        </p:txBody>
      </p:sp>
      <p:sp>
        <p:nvSpPr>
          <p:cNvPr id="18" name="generation-label">
            <a:extLst xmlns:a="http://schemas.openxmlformats.org/drawingml/2006/main">
              <a:ext uri="{FF2B5EF4-FFF2-40B4-BE49-F238E27FC236}">
                <a16:creationId xmlns:a16="http://schemas.microsoft.com/office/drawing/2014/main" id="{06D9109E-992D-4573-835B-D1C73863137B}"/>
              </a:ext>
            </a:extLst>
          </p:cNvPr>
          <p:cNvSpPr>
            <a:spLocks xmlns:a="http://schemas.openxmlformats.org/drawingml/2006/main"/>
          </p:cNvSpPr>
          <p:nvPr/>
        </p:nvSpPr>
        <p:spPr>
          <a:xfrm xmlns:a="http://schemas.openxmlformats.org/drawingml/2006/main">
            <a:off x="171450" y="2562225"/>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Flow-focusing</a:t>
            </a:r>
          </a:p>
          <a:p xmlns:a="http://schemas.openxmlformats.org/drawingml/2006/main">
            <a:pPr algn="l">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junction</a:t>
            </a:r>
          </a:p>
        </p:txBody>
      </p:sp>
      <p:sp>
        <p:nvSpPr>
          <p:cNvPr id="19" name="generation-leader">
            <a:extLst xmlns:a="http://schemas.openxmlformats.org/drawingml/2006/main">
              <a:ext uri="{FF2B5EF4-FFF2-40B4-BE49-F238E27FC236}">
                <a16:creationId xmlns:a16="http://schemas.microsoft.com/office/drawing/2014/main" id="{13EB56DB-FED0-47BE-8241-31F0815B78CE}"/>
              </a:ext>
            </a:extLst>
          </p:cNvPr>
          <p:cNvSpPr>
            <a:spLocks xmlns:a="http://schemas.openxmlformats.org/drawingml/2006/main"/>
          </p:cNvSpPr>
          <p:nvPr/>
        </p:nvSpPr>
        <p:spPr>
          <a:xfrm xmlns:a="http://schemas.openxmlformats.org/drawingml/2006/main">
            <a:off x="962025" y="2362200"/>
            <a:ext cx="209550" cy="228600"/>
          </a:xfrm>
          <a:custGeom xmlns:a="http://schemas.openxmlformats.org/drawingml/2006/main">
            <a:pathLst>
              <a:path w="209550" h="228600">
                <a:moveTo>
                  <a:pt x="0" y="228600"/>
                </a:moveTo>
                <a:lnTo>
                  <a:pt x="209550" y="0"/>
                </a:lnTo>
              </a:path>
            </a:pathLst>
          </a:custGeom>
          <a:noFill xmlns:a="http://schemas.openxmlformats.org/drawingml/2006/main"/>
          <a:ln xmlns:a="http://schemas.openxmlformats.org/drawingml/2006/main" w="6668">
            <a:solidFill>
              <a:srgbClr val="526570"/>
            </a:solidFill>
            <a:prstDash val="solid"/>
          </a:ln>
        </p:spPr>
      </p:sp>
      <p:sp>
        <p:nvSpPr>
          <p:cNvPr id="20" name="incubation-label">
            <a:extLst xmlns:a="http://schemas.openxmlformats.org/drawingml/2006/main">
              <a:ext uri="{FF2B5EF4-FFF2-40B4-BE49-F238E27FC236}">
                <a16:creationId xmlns:a16="http://schemas.microsoft.com/office/drawing/2014/main" id="{C1CC19F9-B387-4417-A198-4D5940566D12}"/>
              </a:ext>
            </a:extLst>
          </p:cNvPr>
          <p:cNvSpPr>
            <a:spLocks xmlns:a="http://schemas.openxmlformats.org/drawingml/2006/main"/>
          </p:cNvSpPr>
          <p:nvPr/>
        </p:nvSpPr>
        <p:spPr>
          <a:xfrm xmlns:a="http://schemas.openxmlformats.org/drawingml/2006/main">
            <a:off x="1943100" y="15240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1">
                <a:solidFill>
                  <a:srgbClr val="22343E"/>
                </a:solidFill>
                <a:latin typeface="Liberation Sans"/>
                <a:ea typeface="Liberation Sans"/>
                <a:cs typeface="Liberation Sans"/>
              </a:defRPr>
            </a:pPr>
            <a:r>
              <a:rPr sz="900" b="1">
                <a:solidFill>
                  <a:srgbClr val="22343E"/>
                </a:solidFill>
                <a:latin typeface="Liberation Sans"/>
                <a:ea typeface="Liberation Sans"/>
                <a:cs typeface="Liberation Sans"/>
              </a:rPr>
              <a:t>On-chip incubation / delay</a:t>
            </a:r>
          </a:p>
        </p:txBody>
      </p:sp>
      <p:grpSp>
        <p:nvGrpSpPr>
          <p:cNvPr id="181" name="pre-detection-droplets"/>
          <p:cNvGrpSpPr/>
          <p:nvPr/>
        </p:nvGrpSpPr>
        <p:grpSpPr>
          <ns1:xfrm xmlns:ns1="http://schemas.openxmlformats.org/drawingml/2006/main">
            <ns1:off x="1558290" y="1958340"/>
            <ns1:ext cx="1731645" cy="769620"/>
            <ns1:chOff x="1558290" y="1958340"/>
            <ns1:chExt cx="1731645" cy="769620"/>
          </ns1:xfrm>
        </p:grpSpPr>
        <p:sp>
          <p:nvSpPr>
            <p:cNvPr id="21" name="pre-droplet-0">
              <a:extLst xmlns:a="http://schemas.openxmlformats.org/drawingml/2006/main">
                <a:ext uri="{FF2B5EF4-FFF2-40B4-BE49-F238E27FC236}">
                  <a16:creationId xmlns:a16="http://schemas.microsoft.com/office/drawing/2014/main" id="{CE115CFD-95F5-4ABA-A430-3B394E19A74F}"/>
                </a:ext>
              </a:extLst>
            </p:cNvPr>
            <p:cNvSpPr>
              <a:spLocks xmlns:a="http://schemas.openxmlformats.org/drawingml/2006/main"/>
            </p:cNvSpPr>
            <p:nvPr/>
          </p:nvSpPr>
          <p:spPr>
            <a:xfrm xmlns:a="http://schemas.openxmlformats.org/drawingml/2006/main">
              <a:off x="1558290" y="2196465"/>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22" name="pre-droplet-1">
              <a:extLst xmlns:a="http://schemas.openxmlformats.org/drawingml/2006/main">
                <a:ext uri="{FF2B5EF4-FFF2-40B4-BE49-F238E27FC236}">
                  <a16:creationId xmlns:a16="http://schemas.microsoft.com/office/drawing/2014/main" id="{49FE1906-7F57-4794-BE13-8A9880118B85}"/>
                </a:ext>
              </a:extLst>
            </p:cNvPr>
            <p:cNvSpPr>
              <a:spLocks xmlns:a="http://schemas.openxmlformats.org/drawingml/2006/main"/>
            </p:cNvSpPr>
            <p:nvPr/>
          </p:nvSpPr>
          <p:spPr>
            <a:xfrm xmlns:a="http://schemas.openxmlformats.org/drawingml/2006/main">
              <a:off x="1815465" y="2196465"/>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23" name="pre-droplet-2">
              <a:extLst xmlns:a="http://schemas.openxmlformats.org/drawingml/2006/main">
                <a:ext uri="{FF2B5EF4-FFF2-40B4-BE49-F238E27FC236}">
                  <a16:creationId xmlns:a16="http://schemas.microsoft.com/office/drawing/2014/main" id="{D342A8BC-1F0D-4D37-8D83-F59DAC5DB4CD}"/>
                </a:ext>
              </a:extLst>
            </p:cNvPr>
            <p:cNvSpPr>
              <a:spLocks xmlns:a="http://schemas.openxmlformats.org/drawingml/2006/main"/>
            </p:cNvSpPr>
            <p:nvPr/>
          </p:nvSpPr>
          <p:spPr>
            <a:xfrm xmlns:a="http://schemas.openxmlformats.org/drawingml/2006/main">
              <a:off x="1996440" y="1958340"/>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24" name="pre-droplet-3">
              <a:extLst xmlns:a="http://schemas.openxmlformats.org/drawingml/2006/main">
                <a:ext uri="{FF2B5EF4-FFF2-40B4-BE49-F238E27FC236}">
                  <a16:creationId xmlns:a16="http://schemas.microsoft.com/office/drawing/2014/main" id="{50189084-7293-47DA-BC97-6DAD34890E02}"/>
                </a:ext>
              </a:extLst>
            </p:cNvPr>
            <p:cNvSpPr>
              <a:spLocks xmlns:a="http://schemas.openxmlformats.org/drawingml/2006/main"/>
            </p:cNvSpPr>
            <p:nvPr/>
          </p:nvSpPr>
          <p:spPr>
            <a:xfrm xmlns:a="http://schemas.openxmlformats.org/drawingml/2006/main">
              <a:off x="2272665" y="2091690"/>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25" name="pre-droplet-4">
              <a:extLst xmlns:a="http://schemas.openxmlformats.org/drawingml/2006/main">
                <a:ext uri="{FF2B5EF4-FFF2-40B4-BE49-F238E27FC236}">
                  <a16:creationId xmlns:a16="http://schemas.microsoft.com/office/drawing/2014/main" id="{86769767-4FC6-419F-8D93-8818473B7C89}"/>
                </a:ext>
              </a:extLst>
            </p:cNvPr>
            <p:cNvSpPr>
              <a:spLocks xmlns:a="http://schemas.openxmlformats.org/drawingml/2006/main"/>
            </p:cNvSpPr>
            <p:nvPr/>
          </p:nvSpPr>
          <p:spPr>
            <a:xfrm xmlns:a="http://schemas.openxmlformats.org/drawingml/2006/main">
              <a:off x="2272665" y="2415540"/>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26" name="pre-droplet-5">
              <a:extLst xmlns:a="http://schemas.openxmlformats.org/drawingml/2006/main">
                <a:ext uri="{FF2B5EF4-FFF2-40B4-BE49-F238E27FC236}">
                  <a16:creationId xmlns:a16="http://schemas.microsoft.com/office/drawing/2014/main" id="{3B8106B5-4909-4579-82C8-99EC97B3F65E}"/>
                </a:ext>
              </a:extLst>
            </p:cNvPr>
            <p:cNvSpPr>
              <a:spLocks xmlns:a="http://schemas.openxmlformats.org/drawingml/2006/main"/>
            </p:cNvSpPr>
            <p:nvPr/>
          </p:nvSpPr>
          <p:spPr>
            <a:xfrm xmlns:a="http://schemas.openxmlformats.org/drawingml/2006/main">
              <a:off x="2472690" y="2625090"/>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27" name="pre-droplet-6">
              <a:extLst xmlns:a="http://schemas.openxmlformats.org/drawingml/2006/main">
                <a:ext uri="{FF2B5EF4-FFF2-40B4-BE49-F238E27FC236}">
                  <a16:creationId xmlns:a16="http://schemas.microsoft.com/office/drawing/2014/main" id="{CEC1FAF1-B058-4F07-A8F1-730F9548FC19}"/>
                </a:ext>
              </a:extLst>
            </p:cNvPr>
            <p:cNvSpPr>
              <a:spLocks xmlns:a="http://schemas.openxmlformats.org/drawingml/2006/main"/>
            </p:cNvSpPr>
            <p:nvPr/>
          </p:nvSpPr>
          <p:spPr>
            <a:xfrm xmlns:a="http://schemas.openxmlformats.org/drawingml/2006/main">
              <a:off x="2577465" y="2282190"/>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28" name="pre-droplet-7">
              <a:extLst xmlns:a="http://schemas.openxmlformats.org/drawingml/2006/main">
                <a:ext uri="{FF2B5EF4-FFF2-40B4-BE49-F238E27FC236}">
                  <a16:creationId xmlns:a16="http://schemas.microsoft.com/office/drawing/2014/main" id="{B1EDDB23-BE6B-4EA4-8494-CE39F09D3C11}"/>
                </a:ext>
              </a:extLst>
            </p:cNvPr>
            <p:cNvSpPr>
              <a:spLocks xmlns:a="http://schemas.openxmlformats.org/drawingml/2006/main"/>
            </p:cNvSpPr>
            <p:nvPr/>
          </p:nvSpPr>
          <p:spPr>
            <a:xfrm xmlns:a="http://schemas.openxmlformats.org/drawingml/2006/main">
              <a:off x="2577465" y="1977390"/>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29" name="pre-droplet-8">
              <a:extLst xmlns:a="http://schemas.openxmlformats.org/drawingml/2006/main">
                <a:ext uri="{FF2B5EF4-FFF2-40B4-BE49-F238E27FC236}">
                  <a16:creationId xmlns:a16="http://schemas.microsoft.com/office/drawing/2014/main" id="{CF284BE4-BA9D-45CF-83DA-E0B0CCEBEE0B}"/>
                </a:ext>
              </a:extLst>
            </p:cNvPr>
            <p:cNvSpPr>
              <a:spLocks xmlns:a="http://schemas.openxmlformats.org/drawingml/2006/main"/>
            </p:cNvSpPr>
            <p:nvPr/>
          </p:nvSpPr>
          <p:spPr>
            <a:xfrm xmlns:a="http://schemas.openxmlformats.org/drawingml/2006/main">
              <a:off x="2882265" y="2148840"/>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30" name="pre-droplet-9">
              <a:extLst xmlns:a="http://schemas.openxmlformats.org/drawingml/2006/main">
                <a:ext uri="{FF2B5EF4-FFF2-40B4-BE49-F238E27FC236}">
                  <a16:creationId xmlns:a16="http://schemas.microsoft.com/office/drawing/2014/main" id="{0AA8FAC1-FB09-4D5B-84DD-722B84BC21C0}"/>
                </a:ext>
              </a:extLst>
            </p:cNvPr>
            <p:cNvSpPr>
              <a:spLocks xmlns:a="http://schemas.openxmlformats.org/drawingml/2006/main"/>
            </p:cNvSpPr>
            <p:nvPr/>
          </p:nvSpPr>
          <p:spPr>
            <a:xfrm xmlns:a="http://schemas.openxmlformats.org/drawingml/2006/main">
              <a:off x="2882265" y="2491740"/>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sp>
          <p:nvSpPr>
            <p:cNvPr id="31" name="pre-droplet-10">
              <a:extLst xmlns:a="http://schemas.openxmlformats.org/drawingml/2006/main">
                <a:ext uri="{FF2B5EF4-FFF2-40B4-BE49-F238E27FC236}">
                  <a16:creationId xmlns:a16="http://schemas.microsoft.com/office/drawing/2014/main" id="{44B96287-6861-4B4B-B1FB-4EF4172F9D27}"/>
                </a:ext>
              </a:extLst>
            </p:cNvPr>
            <p:cNvSpPr>
              <a:spLocks xmlns:a="http://schemas.openxmlformats.org/drawingml/2006/main"/>
            </p:cNvSpPr>
            <p:nvPr/>
          </p:nvSpPr>
          <p:spPr>
            <a:xfrm xmlns:a="http://schemas.openxmlformats.org/drawingml/2006/main">
              <a:off x="3187065" y="2463165"/>
              <a:ext cx="102870" cy="102870"/>
            </a:xfrm>
            <a:prstGeom xmlns:a="http://schemas.openxmlformats.org/drawingml/2006/main" prst="ellipse">
              <a:avLst/>
            </a:prstGeom>
            <a:solidFill xmlns:a="http://schemas.openxmlformats.org/drawingml/2006/main">
              <a:srgbClr val="BBDDE9"/>
            </a:solidFill>
            <a:ln xmlns:a="http://schemas.openxmlformats.org/drawingml/2006/main" w="9525">
              <a:solidFill>
                <a:srgbClr val="376D86"/>
              </a:solidFill>
              <a:prstDash val="solid"/>
            </a:ln>
          </p:spPr>
        </p:sp>
      </p:grpSp>
      <p:grpSp>
        <p:nvGrpSpPr>
          <p:cNvPr id="182" name="post-incubation-droplets"/>
          <p:cNvGrpSpPr/>
          <p:nvPr/>
        </p:nvGrpSpPr>
        <p:grpSpPr>
          <ns1:xfrm xmlns:ns1="http://schemas.openxmlformats.org/drawingml/2006/main">
            <ns1:off x="3425190" y="2196465"/>
            <ns1:ext cx="1179195" cy="102870"/>
            <ns1:chOff x="3425190" y="2196465"/>
            <ns1:chExt cx="1179195" cy="102870"/>
          </ns1:xfrm>
        </p:grpSpPr>
        <p:sp>
          <p:nvSpPr>
            <p:cNvPr id="32" name="post-droplet-0">
              <a:extLst xmlns:a="http://schemas.openxmlformats.org/drawingml/2006/main">
                <a:ext uri="{FF2B5EF4-FFF2-40B4-BE49-F238E27FC236}">
                  <a16:creationId xmlns:a16="http://schemas.microsoft.com/office/drawing/2014/main" id="{0B28A23A-55C3-4540-AB2D-6B6C3DE880C8}"/>
                </a:ext>
              </a:extLst>
            </p:cNvPr>
            <p:cNvSpPr>
              <a:spLocks xmlns:a="http://schemas.openxmlformats.org/drawingml/2006/main"/>
            </p:cNvSpPr>
            <p:nvPr/>
          </p:nvSpPr>
          <p:spPr>
            <a:xfrm xmlns:a="http://schemas.openxmlformats.org/drawingml/2006/main">
              <a:off x="3425190" y="219646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33" name="post-droplet-0.core">
              <a:extLst xmlns:a="http://schemas.openxmlformats.org/drawingml/2006/main">
                <a:ext uri="{FF2B5EF4-FFF2-40B4-BE49-F238E27FC236}">
                  <a16:creationId xmlns:a16="http://schemas.microsoft.com/office/drawing/2014/main" id="{9C78380C-5E19-4AF5-B9D8-272F9D82225E}"/>
                </a:ext>
              </a:extLst>
            </p:cNvPr>
            <p:cNvSpPr>
              <a:spLocks xmlns:a="http://schemas.openxmlformats.org/drawingml/2006/main"/>
            </p:cNvSpPr>
            <p:nvPr/>
          </p:nvSpPr>
          <p:spPr>
            <a:xfrm xmlns:a="http://schemas.openxmlformats.org/drawingml/2006/main">
              <a:off x="3451860" y="2223135"/>
              <a:ext cx="49530" cy="49530"/>
            </a:xfrm>
            <a:prstGeom xmlns:a="http://schemas.openxmlformats.org/drawingml/2006/main" prst="ellipse">
              <a:avLst/>
            </a:prstGeom>
            <a:solidFill xmlns:a="http://schemas.openxmlformats.org/drawingml/2006/main">
              <a:srgbClr val="23745C"/>
            </a:solidFill>
            <a:ln xmlns:a="http://schemas.openxmlformats.org/drawingml/2006/main" w="0">
              <a:noFill/>
              <a:prstDash val="solid"/>
            </a:ln>
          </p:spPr>
        </p:sp>
        <p:sp>
          <p:nvSpPr>
            <p:cNvPr id="34" name="post-droplet-1">
              <a:extLst xmlns:a="http://schemas.openxmlformats.org/drawingml/2006/main">
                <a:ext uri="{FF2B5EF4-FFF2-40B4-BE49-F238E27FC236}">
                  <a16:creationId xmlns:a16="http://schemas.microsoft.com/office/drawing/2014/main" id="{C5AB5A6F-FFC3-4190-A6BA-373D1F57BA23}"/>
                </a:ext>
              </a:extLst>
            </p:cNvPr>
            <p:cNvSpPr>
              <a:spLocks xmlns:a="http://schemas.openxmlformats.org/drawingml/2006/main"/>
            </p:cNvSpPr>
            <p:nvPr/>
          </p:nvSpPr>
          <p:spPr>
            <a:xfrm xmlns:a="http://schemas.openxmlformats.org/drawingml/2006/main">
              <a:off x="3691890" y="219646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35" name="post-droplet-2">
              <a:extLst xmlns:a="http://schemas.openxmlformats.org/drawingml/2006/main">
                <a:ext uri="{FF2B5EF4-FFF2-40B4-BE49-F238E27FC236}">
                  <a16:creationId xmlns:a16="http://schemas.microsoft.com/office/drawing/2014/main" id="{21BFAFD6-6D23-48F8-8BE9-D356B9E2645E}"/>
                </a:ext>
              </a:extLst>
            </p:cNvPr>
            <p:cNvSpPr>
              <a:spLocks xmlns:a="http://schemas.openxmlformats.org/drawingml/2006/main"/>
            </p:cNvSpPr>
            <p:nvPr/>
          </p:nvSpPr>
          <p:spPr>
            <a:xfrm xmlns:a="http://schemas.openxmlformats.org/drawingml/2006/main">
              <a:off x="3920490" y="219646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36" name="post-droplet-2.core">
              <a:extLst xmlns:a="http://schemas.openxmlformats.org/drawingml/2006/main">
                <a:ext uri="{FF2B5EF4-FFF2-40B4-BE49-F238E27FC236}">
                  <a16:creationId xmlns:a16="http://schemas.microsoft.com/office/drawing/2014/main" id="{6F951A6C-9ECD-421C-9E77-F0FAAB3D7409}"/>
                </a:ext>
              </a:extLst>
            </p:cNvPr>
            <p:cNvSpPr>
              <a:spLocks xmlns:a="http://schemas.openxmlformats.org/drawingml/2006/main"/>
            </p:cNvSpPr>
            <p:nvPr/>
          </p:nvSpPr>
          <p:spPr>
            <a:xfrm xmlns:a="http://schemas.openxmlformats.org/drawingml/2006/main">
              <a:off x="3947160" y="2223135"/>
              <a:ext cx="49530" cy="49530"/>
            </a:xfrm>
            <a:prstGeom xmlns:a="http://schemas.openxmlformats.org/drawingml/2006/main" prst="ellipse">
              <a:avLst/>
            </a:prstGeom>
            <a:solidFill xmlns:a="http://schemas.openxmlformats.org/drawingml/2006/main">
              <a:srgbClr val="23745C"/>
            </a:solidFill>
            <a:ln xmlns:a="http://schemas.openxmlformats.org/drawingml/2006/main" w="0">
              <a:noFill/>
              <a:prstDash val="solid"/>
            </a:ln>
          </p:spPr>
        </p:sp>
        <p:sp>
          <p:nvSpPr>
            <p:cNvPr id="37" name="post-droplet-3">
              <a:extLst xmlns:a="http://schemas.openxmlformats.org/drawingml/2006/main">
                <a:ext uri="{FF2B5EF4-FFF2-40B4-BE49-F238E27FC236}">
                  <a16:creationId xmlns:a16="http://schemas.microsoft.com/office/drawing/2014/main" id="{5581F316-3F48-451B-A81F-2690BE30A936}"/>
                </a:ext>
              </a:extLst>
            </p:cNvPr>
            <p:cNvSpPr>
              <a:spLocks xmlns:a="http://schemas.openxmlformats.org/drawingml/2006/main"/>
            </p:cNvSpPr>
            <p:nvPr/>
          </p:nvSpPr>
          <p:spPr>
            <a:xfrm xmlns:a="http://schemas.openxmlformats.org/drawingml/2006/main">
              <a:off x="4225290" y="219646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38" name="post-droplet-4">
              <a:extLst xmlns:a="http://schemas.openxmlformats.org/drawingml/2006/main">
                <a:ext uri="{FF2B5EF4-FFF2-40B4-BE49-F238E27FC236}">
                  <a16:creationId xmlns:a16="http://schemas.microsoft.com/office/drawing/2014/main" id="{C391075F-C23E-4BB6-A2A1-446B7C305DEF}"/>
                </a:ext>
              </a:extLst>
            </p:cNvPr>
            <p:cNvSpPr>
              <a:spLocks xmlns:a="http://schemas.openxmlformats.org/drawingml/2006/main"/>
            </p:cNvSpPr>
            <p:nvPr/>
          </p:nvSpPr>
          <p:spPr>
            <a:xfrm xmlns:a="http://schemas.openxmlformats.org/drawingml/2006/main">
              <a:off x="4501515" y="219646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39" name="post-droplet-4.core">
              <a:extLst xmlns:a="http://schemas.openxmlformats.org/drawingml/2006/main">
                <a:ext uri="{FF2B5EF4-FFF2-40B4-BE49-F238E27FC236}">
                  <a16:creationId xmlns:a16="http://schemas.microsoft.com/office/drawing/2014/main" id="{9D5290C9-1A99-4BF2-8E75-ADD85859EDA7}"/>
                </a:ext>
              </a:extLst>
            </p:cNvPr>
            <p:cNvSpPr>
              <a:spLocks xmlns:a="http://schemas.openxmlformats.org/drawingml/2006/main"/>
            </p:cNvSpPr>
            <p:nvPr/>
          </p:nvSpPr>
          <p:spPr>
            <a:xfrm xmlns:a="http://schemas.openxmlformats.org/drawingml/2006/main">
              <a:off x="4528185" y="2223135"/>
              <a:ext cx="49530" cy="49530"/>
            </a:xfrm>
            <a:prstGeom xmlns:a="http://schemas.openxmlformats.org/drawingml/2006/main" prst="ellipse">
              <a:avLst/>
            </a:prstGeom>
            <a:solidFill xmlns:a="http://schemas.openxmlformats.org/drawingml/2006/main">
              <a:srgbClr val="23745C"/>
            </a:solidFill>
            <a:ln xmlns:a="http://schemas.openxmlformats.org/drawingml/2006/main" w="0">
              <a:noFill/>
              <a:prstDash val="solid"/>
            </a:ln>
          </p:spPr>
        </p:sp>
      </p:grpSp>
      <p:grpSp>
        <p:nvGrpSpPr>
          <p:cNvPr id="183" name="collected-hit-droplets"/>
          <p:cNvGrpSpPr/>
          <p:nvPr/>
        </p:nvGrpSpPr>
        <p:grpSpPr>
          <ns1:xfrm xmlns:ns1="http://schemas.openxmlformats.org/drawingml/2006/main">
            <ns1:off x="4987290" y="1796415"/>
            <ns1:ext cx="779145" cy="264795"/>
            <ns1:chOff x="4987290" y="1796415"/>
            <ns1:chExt cx="779145" cy="264795"/>
          </ns1:xfrm>
        </p:grpSpPr>
        <p:sp>
          <p:nvSpPr>
            <p:cNvPr id="40" name="hit-droplet-0">
              <a:extLst xmlns:a="http://schemas.openxmlformats.org/drawingml/2006/main">
                <a:ext uri="{FF2B5EF4-FFF2-40B4-BE49-F238E27FC236}">
                  <a16:creationId xmlns:a16="http://schemas.microsoft.com/office/drawing/2014/main" id="{50AE2504-22F0-4D2F-9B50-E303B3EA3270}"/>
                </a:ext>
              </a:extLst>
            </p:cNvPr>
            <p:cNvSpPr>
              <a:spLocks xmlns:a="http://schemas.openxmlformats.org/drawingml/2006/main"/>
            </p:cNvSpPr>
            <p:nvPr/>
          </p:nvSpPr>
          <p:spPr>
            <a:xfrm xmlns:a="http://schemas.openxmlformats.org/drawingml/2006/main">
              <a:off x="4987290" y="1958340"/>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41" name="hit-droplet-0.core">
              <a:extLst xmlns:a="http://schemas.openxmlformats.org/drawingml/2006/main">
                <a:ext uri="{FF2B5EF4-FFF2-40B4-BE49-F238E27FC236}">
                  <a16:creationId xmlns:a16="http://schemas.microsoft.com/office/drawing/2014/main" id="{46BB4BFA-1A7C-459F-9A78-0920547DA987}"/>
                </a:ext>
              </a:extLst>
            </p:cNvPr>
            <p:cNvSpPr>
              <a:spLocks xmlns:a="http://schemas.openxmlformats.org/drawingml/2006/main"/>
            </p:cNvSpPr>
            <p:nvPr/>
          </p:nvSpPr>
          <p:spPr>
            <a:xfrm xmlns:a="http://schemas.openxmlformats.org/drawingml/2006/main">
              <a:off x="5013960" y="1985010"/>
              <a:ext cx="49530" cy="49530"/>
            </a:xfrm>
            <a:prstGeom xmlns:a="http://schemas.openxmlformats.org/drawingml/2006/main" prst="ellipse">
              <a:avLst/>
            </a:prstGeom>
            <a:solidFill xmlns:a="http://schemas.openxmlformats.org/drawingml/2006/main">
              <a:srgbClr val="23745C"/>
            </a:solidFill>
            <a:ln xmlns:a="http://schemas.openxmlformats.org/drawingml/2006/main" w="0">
              <a:noFill/>
              <a:prstDash val="solid"/>
            </a:ln>
          </p:spPr>
        </p:sp>
        <p:sp>
          <p:nvSpPr>
            <p:cNvPr id="42" name="hit-droplet-1">
              <a:extLst xmlns:a="http://schemas.openxmlformats.org/drawingml/2006/main">
                <a:ext uri="{FF2B5EF4-FFF2-40B4-BE49-F238E27FC236}">
                  <a16:creationId xmlns:a16="http://schemas.microsoft.com/office/drawing/2014/main" id="{D4C33970-2BD9-4BE4-B9FD-1A38A8247930}"/>
                </a:ext>
              </a:extLst>
            </p:cNvPr>
            <p:cNvSpPr>
              <a:spLocks xmlns:a="http://schemas.openxmlformats.org/drawingml/2006/main"/>
            </p:cNvSpPr>
            <p:nvPr/>
          </p:nvSpPr>
          <p:spPr>
            <a:xfrm xmlns:a="http://schemas.openxmlformats.org/drawingml/2006/main">
              <a:off x="5377815" y="179641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43" name="hit-droplet-1.core">
              <a:extLst xmlns:a="http://schemas.openxmlformats.org/drawingml/2006/main">
                <a:ext uri="{FF2B5EF4-FFF2-40B4-BE49-F238E27FC236}">
                  <a16:creationId xmlns:a16="http://schemas.microsoft.com/office/drawing/2014/main" id="{313ED83D-C4A4-4C91-8DF3-0AC343561D4E}"/>
                </a:ext>
              </a:extLst>
            </p:cNvPr>
            <p:cNvSpPr>
              <a:spLocks xmlns:a="http://schemas.openxmlformats.org/drawingml/2006/main"/>
            </p:cNvSpPr>
            <p:nvPr/>
          </p:nvSpPr>
          <p:spPr>
            <a:xfrm xmlns:a="http://schemas.openxmlformats.org/drawingml/2006/main">
              <a:off x="5404485" y="1823085"/>
              <a:ext cx="49530" cy="49530"/>
            </a:xfrm>
            <a:prstGeom xmlns:a="http://schemas.openxmlformats.org/drawingml/2006/main" prst="ellipse">
              <a:avLst/>
            </a:prstGeom>
            <a:solidFill xmlns:a="http://schemas.openxmlformats.org/drawingml/2006/main">
              <a:srgbClr val="23745C"/>
            </a:solidFill>
            <a:ln xmlns:a="http://schemas.openxmlformats.org/drawingml/2006/main" w="0">
              <a:noFill/>
              <a:prstDash val="solid"/>
            </a:ln>
          </p:spPr>
        </p:sp>
        <p:sp>
          <p:nvSpPr>
            <p:cNvPr id="44" name="hit-droplet-2">
              <a:extLst xmlns:a="http://schemas.openxmlformats.org/drawingml/2006/main">
                <a:ext uri="{FF2B5EF4-FFF2-40B4-BE49-F238E27FC236}">
                  <a16:creationId xmlns:a16="http://schemas.microsoft.com/office/drawing/2014/main" id="{E7ED55B5-226A-48B8-B3D3-C6F391448818}"/>
                </a:ext>
              </a:extLst>
            </p:cNvPr>
            <p:cNvSpPr>
              <a:spLocks xmlns:a="http://schemas.openxmlformats.org/drawingml/2006/main"/>
            </p:cNvSpPr>
            <p:nvPr/>
          </p:nvSpPr>
          <p:spPr>
            <a:xfrm xmlns:a="http://schemas.openxmlformats.org/drawingml/2006/main">
              <a:off x="5663565" y="179641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45" name="hit-droplet-2.core">
              <a:extLst xmlns:a="http://schemas.openxmlformats.org/drawingml/2006/main">
                <a:ext uri="{FF2B5EF4-FFF2-40B4-BE49-F238E27FC236}">
                  <a16:creationId xmlns:a16="http://schemas.microsoft.com/office/drawing/2014/main" id="{26E1C994-6C52-4EBD-A0BA-6D3BE69A706E}"/>
                </a:ext>
              </a:extLst>
            </p:cNvPr>
            <p:cNvSpPr>
              <a:spLocks xmlns:a="http://schemas.openxmlformats.org/drawingml/2006/main"/>
            </p:cNvSpPr>
            <p:nvPr/>
          </p:nvSpPr>
          <p:spPr>
            <a:xfrm xmlns:a="http://schemas.openxmlformats.org/drawingml/2006/main">
              <a:off x="5690235" y="1823085"/>
              <a:ext cx="49530" cy="49530"/>
            </a:xfrm>
            <a:prstGeom xmlns:a="http://schemas.openxmlformats.org/drawingml/2006/main" prst="ellipse">
              <a:avLst/>
            </a:prstGeom>
            <a:solidFill xmlns:a="http://schemas.openxmlformats.org/drawingml/2006/main">
              <a:srgbClr val="23745C"/>
            </a:solidFill>
            <a:ln xmlns:a="http://schemas.openxmlformats.org/drawingml/2006/main" w="0">
              <a:noFill/>
              <a:prstDash val="solid"/>
            </a:ln>
          </p:spPr>
        </p:sp>
      </p:grpSp>
      <p:grpSp>
        <p:nvGrpSpPr>
          <p:cNvPr id="184" name="waste-droplets"/>
          <p:cNvGrpSpPr/>
          <p:nvPr/>
        </p:nvGrpSpPr>
        <p:grpSpPr>
          <ns1:xfrm xmlns:ns1="http://schemas.openxmlformats.org/drawingml/2006/main">
            <ns1:off x="4987290" y="2501265"/>
            <ns1:ext cx="779145" cy="312420"/>
            <ns1:chOff x="4987290" y="2501265"/>
            <ns1:chExt cx="779145" cy="312420"/>
          </ns1:xfrm>
        </p:grpSpPr>
        <p:sp>
          <p:nvSpPr>
            <p:cNvPr id="46" name="waste-droplet-0">
              <a:extLst xmlns:a="http://schemas.openxmlformats.org/drawingml/2006/main">
                <a:ext uri="{FF2B5EF4-FFF2-40B4-BE49-F238E27FC236}">
                  <a16:creationId xmlns:a16="http://schemas.microsoft.com/office/drawing/2014/main" id="{0521B5DD-27E2-4F43-8C30-3EDA96A757A9}"/>
                </a:ext>
              </a:extLst>
            </p:cNvPr>
            <p:cNvSpPr>
              <a:spLocks xmlns:a="http://schemas.openxmlformats.org/drawingml/2006/main"/>
            </p:cNvSpPr>
            <p:nvPr/>
          </p:nvSpPr>
          <p:spPr>
            <a:xfrm xmlns:a="http://schemas.openxmlformats.org/drawingml/2006/main">
              <a:off x="4987290" y="250126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47" name="waste-droplet-1">
              <a:extLst xmlns:a="http://schemas.openxmlformats.org/drawingml/2006/main">
                <a:ext uri="{FF2B5EF4-FFF2-40B4-BE49-F238E27FC236}">
                  <a16:creationId xmlns:a16="http://schemas.microsoft.com/office/drawing/2014/main" id="{EF1B951F-5393-41C9-89A2-1296F5479098}"/>
                </a:ext>
              </a:extLst>
            </p:cNvPr>
            <p:cNvSpPr>
              <a:spLocks xmlns:a="http://schemas.openxmlformats.org/drawingml/2006/main"/>
            </p:cNvSpPr>
            <p:nvPr/>
          </p:nvSpPr>
          <p:spPr>
            <a:xfrm xmlns:a="http://schemas.openxmlformats.org/drawingml/2006/main">
              <a:off x="5377815" y="271081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48" name="waste-droplet-2">
              <a:extLst xmlns:a="http://schemas.openxmlformats.org/drawingml/2006/main">
                <a:ext uri="{FF2B5EF4-FFF2-40B4-BE49-F238E27FC236}">
                  <a16:creationId xmlns:a16="http://schemas.microsoft.com/office/drawing/2014/main" id="{00F09327-893F-4A14-BD98-E6C96308D94E}"/>
                </a:ext>
              </a:extLst>
            </p:cNvPr>
            <p:cNvSpPr>
              <a:spLocks xmlns:a="http://schemas.openxmlformats.org/drawingml/2006/main"/>
            </p:cNvSpPr>
            <p:nvPr/>
          </p:nvSpPr>
          <p:spPr>
            <a:xfrm xmlns:a="http://schemas.openxmlformats.org/drawingml/2006/main">
              <a:off x="5663565" y="271081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grpSp>
      <p:grpSp>
        <p:nvGrpSpPr>
          <p:cNvPr id="185" name="material-directions"/>
          <p:cNvGrpSpPr/>
          <p:nvPr/>
        </p:nvGrpSpPr>
        <p:grpSpPr>
          <ns1:xfrm xmlns:ns1="http://schemas.openxmlformats.org/drawingml/2006/main">
            <ns1:off x="571500" y="1647825"/>
            <ns1:ext cx="5457825" cy="1238250"/>
            <ns1:chOff x="571500" y="1647825"/>
            <ns1:chExt cx="5457825" cy="1238250"/>
          </ns1:xfrm>
        </p:grpSpPr>
        <p:sp>
          <p:nvSpPr>
            <p:cNvPr id="49" name="material-direction-0.shaft">
              <a:extLst xmlns:a="http://schemas.openxmlformats.org/drawingml/2006/main">
                <a:ext uri="{FF2B5EF4-FFF2-40B4-BE49-F238E27FC236}">
                  <a16:creationId xmlns:a16="http://schemas.microsoft.com/office/drawing/2014/main" id="{EECF8FF2-59DE-4328-8B93-FB214F609675}"/>
                </a:ext>
              </a:extLst>
            </p:cNvPr>
            <p:cNvSpPr>
              <a:spLocks xmlns:a="http://schemas.openxmlformats.org/drawingml/2006/main"/>
            </p:cNvSpPr>
            <p:nvPr/>
          </p:nvSpPr>
          <p:spPr>
            <a:xfrm xmlns:a="http://schemas.openxmlformats.org/drawingml/2006/main">
              <a:off x="571500" y="2247900"/>
              <a:ext cx="152400" cy="95"/>
            </a:xfrm>
            <a:custGeom xmlns:a="http://schemas.openxmlformats.org/drawingml/2006/main">
              <a:pathLst>
                <a:path w="152400" h="95">
                  <a:moveTo>
                    <a:pt x="0" y="0"/>
                  </a:moveTo>
                  <a:lnTo>
                    <a:pt x="152400" y="0"/>
                  </a:lnTo>
                </a:path>
              </a:pathLst>
            </a:custGeom>
            <a:noFill xmlns:a="http://schemas.openxmlformats.org/drawingml/2006/main"/>
            <a:ln xmlns:a="http://schemas.openxmlformats.org/drawingml/2006/main" w="11906">
              <a:solidFill>
                <a:srgbClr val="22343E"/>
              </a:solidFill>
              <a:prstDash val="solid"/>
            </a:ln>
          </p:spPr>
        </p:sp>
        <p:sp>
          <p:nvSpPr>
            <p:cNvPr id="50" name="material-direction-0.head">
              <a:extLst xmlns:a="http://schemas.openxmlformats.org/drawingml/2006/main">
                <a:ext uri="{FF2B5EF4-FFF2-40B4-BE49-F238E27FC236}">
                  <a16:creationId xmlns:a16="http://schemas.microsoft.com/office/drawing/2014/main" id="{FA7ACA1F-1A45-4BEC-B205-AB35E31BD80A}"/>
                </a:ext>
              </a:extLst>
            </p:cNvPr>
            <p:cNvSpPr>
              <a:spLocks xmlns:a="http://schemas.openxmlformats.org/drawingml/2006/main"/>
            </p:cNvSpPr>
            <p:nvPr/>
          </p:nvSpPr>
          <p:spPr>
            <a:xfrm xmlns:a="http://schemas.openxmlformats.org/drawingml/2006/main">
              <a:off x="676275" y="2221230"/>
              <a:ext cx="47625" cy="53340"/>
            </a:xfrm>
            <a:custGeom xmlns:a="http://schemas.openxmlformats.org/drawingml/2006/main">
              <a:pathLst>
                <a:path w="47625" h="53340">
                  <a:moveTo>
                    <a:pt x="47625" y="26670"/>
                  </a:moveTo>
                  <a:lnTo>
                    <a:pt x="0" y="53340"/>
                  </a:lnTo>
                  <a:lnTo>
                    <a:pt x="0" y="0"/>
                  </a:lnTo>
                  <a:close/>
                </a:path>
              </a:pathLst>
            </a:custGeom>
            <a:solidFill xmlns:a="http://schemas.openxmlformats.org/drawingml/2006/main">
              <a:srgbClr val="22343E"/>
            </a:solidFill>
            <a:ln xmlns:a="http://schemas.openxmlformats.org/drawingml/2006/main" w="0">
              <a:noFill/>
              <a:prstDash val="solid"/>
            </a:ln>
          </p:spPr>
        </p:sp>
        <p:sp>
          <p:nvSpPr>
            <p:cNvPr id="51" name="material-direction-1.shaft">
              <a:extLst xmlns:a="http://schemas.openxmlformats.org/drawingml/2006/main">
                <a:ext uri="{FF2B5EF4-FFF2-40B4-BE49-F238E27FC236}">
                  <a16:creationId xmlns:a16="http://schemas.microsoft.com/office/drawing/2014/main" id="{C27C0610-E8AC-4999-BE21-FED373CDC3FD}"/>
                </a:ext>
              </a:extLst>
            </p:cNvPr>
            <p:cNvSpPr>
              <a:spLocks xmlns:a="http://schemas.openxmlformats.org/drawingml/2006/main"/>
            </p:cNvSpPr>
            <p:nvPr/>
          </p:nvSpPr>
          <p:spPr>
            <a:xfrm xmlns:a="http://schemas.openxmlformats.org/drawingml/2006/main">
              <a:off x="1304925" y="1647825"/>
              <a:ext cx="95" cy="152400"/>
            </a:xfrm>
            <a:custGeom xmlns:a="http://schemas.openxmlformats.org/drawingml/2006/main">
              <a:pathLst>
                <a:path w="95" h="152400">
                  <a:moveTo>
                    <a:pt x="0" y="0"/>
                  </a:moveTo>
                  <a:lnTo>
                    <a:pt x="0" y="152400"/>
                  </a:lnTo>
                </a:path>
              </a:pathLst>
            </a:custGeom>
            <a:noFill xmlns:a="http://schemas.openxmlformats.org/drawingml/2006/main"/>
            <a:ln xmlns:a="http://schemas.openxmlformats.org/drawingml/2006/main" w="11906">
              <a:solidFill>
                <a:srgbClr val="22343E"/>
              </a:solidFill>
              <a:prstDash val="solid"/>
            </a:ln>
          </p:spPr>
        </p:sp>
        <p:sp>
          <p:nvSpPr>
            <p:cNvPr id="52" name="material-direction-1.head">
              <a:extLst xmlns:a="http://schemas.openxmlformats.org/drawingml/2006/main">
                <a:ext uri="{FF2B5EF4-FFF2-40B4-BE49-F238E27FC236}">
                  <a16:creationId xmlns:a16="http://schemas.microsoft.com/office/drawing/2014/main" id="{F7CC9890-DB73-4F54-A0C2-BB7A065167AD}"/>
                </a:ext>
              </a:extLst>
            </p:cNvPr>
            <p:cNvSpPr>
              <a:spLocks xmlns:a="http://schemas.openxmlformats.org/drawingml/2006/main"/>
            </p:cNvSpPr>
            <p:nvPr/>
          </p:nvSpPr>
          <p:spPr>
            <a:xfrm xmlns:a="http://schemas.openxmlformats.org/drawingml/2006/main">
              <a:off x="1278255" y="1752600"/>
              <a:ext cx="53340" cy="47625"/>
            </a:xfrm>
            <a:custGeom xmlns:a="http://schemas.openxmlformats.org/drawingml/2006/main">
              <a:pathLst>
                <a:path w="53340" h="47625">
                  <a:moveTo>
                    <a:pt x="26670" y="47625"/>
                  </a:moveTo>
                  <a:lnTo>
                    <a:pt x="0" y="0"/>
                  </a:lnTo>
                  <a:lnTo>
                    <a:pt x="53340" y="0"/>
                  </a:lnTo>
                  <a:close/>
                </a:path>
              </a:pathLst>
            </a:custGeom>
            <a:solidFill xmlns:a="http://schemas.openxmlformats.org/drawingml/2006/main">
              <a:srgbClr val="22343E"/>
            </a:solidFill>
            <a:ln xmlns:a="http://schemas.openxmlformats.org/drawingml/2006/main" w="0">
              <a:noFill/>
              <a:prstDash val="solid"/>
            </a:ln>
          </p:spPr>
        </p:sp>
        <p:sp>
          <p:nvSpPr>
            <p:cNvPr id="53" name="material-direction-2.shaft">
              <a:extLst xmlns:a="http://schemas.openxmlformats.org/drawingml/2006/main">
                <a:ext uri="{FF2B5EF4-FFF2-40B4-BE49-F238E27FC236}">
                  <a16:creationId xmlns:a16="http://schemas.microsoft.com/office/drawing/2014/main" id="{E897353A-35B4-410B-9C5C-AEB873BD58DC}"/>
                </a:ext>
              </a:extLst>
            </p:cNvPr>
            <p:cNvSpPr>
              <a:spLocks xmlns:a="http://schemas.openxmlformats.org/drawingml/2006/main"/>
            </p:cNvSpPr>
            <p:nvPr/>
          </p:nvSpPr>
          <p:spPr>
            <a:xfrm xmlns:a="http://schemas.openxmlformats.org/drawingml/2006/main">
              <a:off x="1304925" y="2733675"/>
              <a:ext cx="95" cy="152400"/>
            </a:xfrm>
            <a:custGeom xmlns:a="http://schemas.openxmlformats.org/drawingml/2006/main">
              <a:pathLst>
                <a:path w="95" h="152400">
                  <a:moveTo>
                    <a:pt x="0" y="152400"/>
                  </a:moveTo>
                  <a:lnTo>
                    <a:pt x="0" y="0"/>
                  </a:lnTo>
                </a:path>
              </a:pathLst>
            </a:custGeom>
            <a:noFill xmlns:a="http://schemas.openxmlformats.org/drawingml/2006/main"/>
            <a:ln xmlns:a="http://schemas.openxmlformats.org/drawingml/2006/main" w="11906">
              <a:solidFill>
                <a:srgbClr val="22343E"/>
              </a:solidFill>
              <a:prstDash val="solid"/>
            </a:ln>
          </p:spPr>
        </p:sp>
        <p:sp>
          <p:nvSpPr>
            <p:cNvPr id="54" name="material-direction-2.head">
              <a:extLst xmlns:a="http://schemas.openxmlformats.org/drawingml/2006/main">
                <a:ext uri="{FF2B5EF4-FFF2-40B4-BE49-F238E27FC236}">
                  <a16:creationId xmlns:a16="http://schemas.microsoft.com/office/drawing/2014/main" id="{00225352-AB6C-4B43-B669-599BD60569AF}"/>
                </a:ext>
              </a:extLst>
            </p:cNvPr>
            <p:cNvSpPr>
              <a:spLocks xmlns:a="http://schemas.openxmlformats.org/drawingml/2006/main"/>
            </p:cNvSpPr>
            <p:nvPr/>
          </p:nvSpPr>
          <p:spPr>
            <a:xfrm xmlns:a="http://schemas.openxmlformats.org/drawingml/2006/main">
              <a:off x="1278255" y="2733675"/>
              <a:ext cx="53340" cy="47625"/>
            </a:xfrm>
            <a:custGeom xmlns:a="http://schemas.openxmlformats.org/drawingml/2006/main">
              <a:pathLst>
                <a:path w="53340" h="47625">
                  <a:moveTo>
                    <a:pt x="26670" y="0"/>
                  </a:moveTo>
                  <a:lnTo>
                    <a:pt x="53340" y="47625"/>
                  </a:lnTo>
                  <a:lnTo>
                    <a:pt x="0" y="47625"/>
                  </a:lnTo>
                  <a:close/>
                </a:path>
              </a:pathLst>
            </a:custGeom>
            <a:solidFill xmlns:a="http://schemas.openxmlformats.org/drawingml/2006/main">
              <a:srgbClr val="22343E"/>
            </a:solidFill>
            <a:ln xmlns:a="http://schemas.openxmlformats.org/drawingml/2006/main" w="0">
              <a:noFill/>
              <a:prstDash val="solid"/>
            </a:ln>
          </p:spPr>
        </p:sp>
        <p:sp>
          <p:nvSpPr>
            <p:cNvPr id="55" name="material-direction-3.shaft">
              <a:extLst xmlns:a="http://schemas.openxmlformats.org/drawingml/2006/main">
                <a:ext uri="{FF2B5EF4-FFF2-40B4-BE49-F238E27FC236}">
                  <a16:creationId xmlns:a16="http://schemas.microsoft.com/office/drawing/2014/main" id="{E3068B27-9170-4729-922C-FD7A7D66F9AD}"/>
                </a:ext>
              </a:extLst>
            </p:cNvPr>
            <p:cNvSpPr>
              <a:spLocks xmlns:a="http://schemas.openxmlformats.org/drawingml/2006/main"/>
            </p:cNvSpPr>
            <p:nvPr/>
          </p:nvSpPr>
          <p:spPr>
            <a:xfrm xmlns:a="http://schemas.openxmlformats.org/drawingml/2006/main">
              <a:off x="1681163" y="2247900"/>
              <a:ext cx="123825" cy="95"/>
            </a:xfrm>
            <a:custGeom xmlns:a="http://schemas.openxmlformats.org/drawingml/2006/main">
              <a:pathLst>
                <a:path w="123825" h="95">
                  <a:moveTo>
                    <a:pt x="0" y="0"/>
                  </a:moveTo>
                  <a:lnTo>
                    <a:pt x="123825" y="0"/>
                  </a:lnTo>
                </a:path>
              </a:pathLst>
            </a:custGeom>
            <a:noFill xmlns:a="http://schemas.openxmlformats.org/drawingml/2006/main"/>
            <a:ln xmlns:a="http://schemas.openxmlformats.org/drawingml/2006/main" w="11906">
              <a:solidFill>
                <a:srgbClr val="22343E"/>
              </a:solidFill>
              <a:prstDash val="solid"/>
            </a:ln>
          </p:spPr>
        </p:sp>
        <p:sp>
          <p:nvSpPr>
            <p:cNvPr id="56" name="material-direction-3.head">
              <a:extLst xmlns:a="http://schemas.openxmlformats.org/drawingml/2006/main">
                <a:ext uri="{FF2B5EF4-FFF2-40B4-BE49-F238E27FC236}">
                  <a16:creationId xmlns:a16="http://schemas.microsoft.com/office/drawing/2014/main" id="{5C3B13A7-DC56-458E-9557-8E7403452826}"/>
                </a:ext>
              </a:extLst>
            </p:cNvPr>
            <p:cNvSpPr>
              <a:spLocks xmlns:a="http://schemas.openxmlformats.org/drawingml/2006/main"/>
            </p:cNvSpPr>
            <p:nvPr/>
          </p:nvSpPr>
          <p:spPr>
            <a:xfrm xmlns:a="http://schemas.openxmlformats.org/drawingml/2006/main">
              <a:off x="1757363" y="2221230"/>
              <a:ext cx="47625" cy="53340"/>
            </a:xfrm>
            <a:custGeom xmlns:a="http://schemas.openxmlformats.org/drawingml/2006/main">
              <a:pathLst>
                <a:path w="47625" h="53340">
                  <a:moveTo>
                    <a:pt x="47625" y="26670"/>
                  </a:moveTo>
                  <a:lnTo>
                    <a:pt x="0" y="53340"/>
                  </a:lnTo>
                  <a:lnTo>
                    <a:pt x="0" y="0"/>
                  </a:lnTo>
                  <a:close/>
                </a:path>
              </a:pathLst>
            </a:custGeom>
            <a:solidFill xmlns:a="http://schemas.openxmlformats.org/drawingml/2006/main">
              <a:srgbClr val="22343E"/>
            </a:solidFill>
            <a:ln xmlns:a="http://schemas.openxmlformats.org/drawingml/2006/main" w="0">
              <a:noFill/>
              <a:prstDash val="solid"/>
            </a:ln>
          </p:spPr>
        </p:sp>
        <p:sp>
          <p:nvSpPr>
            <p:cNvPr id="57" name="material-direction-4.shaft">
              <a:extLst xmlns:a="http://schemas.openxmlformats.org/drawingml/2006/main">
                <a:ext uri="{FF2B5EF4-FFF2-40B4-BE49-F238E27FC236}">
                  <a16:creationId xmlns:a16="http://schemas.microsoft.com/office/drawing/2014/main" id="{F9600770-0B54-4F84-AE79-3AF0190292D9}"/>
                </a:ext>
              </a:extLst>
            </p:cNvPr>
            <p:cNvSpPr>
              <a:spLocks xmlns:a="http://schemas.openxmlformats.org/drawingml/2006/main"/>
            </p:cNvSpPr>
            <p:nvPr/>
          </p:nvSpPr>
          <p:spPr>
            <a:xfrm xmlns:a="http://schemas.openxmlformats.org/drawingml/2006/main">
              <a:off x="2324100" y="2257425"/>
              <a:ext cx="95" cy="152400"/>
            </a:xfrm>
            <a:custGeom xmlns:a="http://schemas.openxmlformats.org/drawingml/2006/main">
              <a:pathLst>
                <a:path w="95" h="152400">
                  <a:moveTo>
                    <a:pt x="0" y="0"/>
                  </a:moveTo>
                  <a:lnTo>
                    <a:pt x="0" y="152400"/>
                  </a:lnTo>
                </a:path>
              </a:pathLst>
            </a:custGeom>
            <a:noFill xmlns:a="http://schemas.openxmlformats.org/drawingml/2006/main"/>
            <a:ln xmlns:a="http://schemas.openxmlformats.org/drawingml/2006/main" w="11906">
              <a:solidFill>
                <a:srgbClr val="22343E"/>
              </a:solidFill>
              <a:prstDash val="solid"/>
            </a:ln>
          </p:spPr>
        </p:sp>
        <p:sp>
          <p:nvSpPr>
            <p:cNvPr id="58" name="material-direction-4.head">
              <a:extLst xmlns:a="http://schemas.openxmlformats.org/drawingml/2006/main">
                <a:ext uri="{FF2B5EF4-FFF2-40B4-BE49-F238E27FC236}">
                  <a16:creationId xmlns:a16="http://schemas.microsoft.com/office/drawing/2014/main" id="{5331A5B1-B425-4927-88D7-9B38F765F869}"/>
                </a:ext>
              </a:extLst>
            </p:cNvPr>
            <p:cNvSpPr>
              <a:spLocks xmlns:a="http://schemas.openxmlformats.org/drawingml/2006/main"/>
            </p:cNvSpPr>
            <p:nvPr/>
          </p:nvSpPr>
          <p:spPr>
            <a:xfrm xmlns:a="http://schemas.openxmlformats.org/drawingml/2006/main">
              <a:off x="2297430" y="2362200"/>
              <a:ext cx="53340" cy="47625"/>
            </a:xfrm>
            <a:custGeom xmlns:a="http://schemas.openxmlformats.org/drawingml/2006/main">
              <a:pathLst>
                <a:path w="53340" h="47625">
                  <a:moveTo>
                    <a:pt x="26670" y="47625"/>
                  </a:moveTo>
                  <a:lnTo>
                    <a:pt x="0" y="0"/>
                  </a:lnTo>
                  <a:lnTo>
                    <a:pt x="53340" y="0"/>
                  </a:lnTo>
                  <a:close/>
                </a:path>
              </a:pathLst>
            </a:custGeom>
            <a:solidFill xmlns:a="http://schemas.openxmlformats.org/drawingml/2006/main">
              <a:srgbClr val="22343E"/>
            </a:solidFill>
            <a:ln xmlns:a="http://schemas.openxmlformats.org/drawingml/2006/main" w="0">
              <a:noFill/>
              <a:prstDash val="solid"/>
            </a:ln>
          </p:spPr>
        </p:sp>
        <p:sp>
          <p:nvSpPr>
            <p:cNvPr id="59" name="material-direction-5.shaft">
              <a:extLst xmlns:a="http://schemas.openxmlformats.org/drawingml/2006/main">
                <a:ext uri="{FF2B5EF4-FFF2-40B4-BE49-F238E27FC236}">
                  <a16:creationId xmlns:a16="http://schemas.microsoft.com/office/drawing/2014/main" id="{D13F40E3-31C2-4E50-86D7-E92886088466}"/>
                </a:ext>
              </a:extLst>
            </p:cNvPr>
            <p:cNvSpPr>
              <a:spLocks xmlns:a="http://schemas.openxmlformats.org/drawingml/2006/main"/>
            </p:cNvSpPr>
            <p:nvPr/>
          </p:nvSpPr>
          <p:spPr>
            <a:xfrm xmlns:a="http://schemas.openxmlformats.org/drawingml/2006/main">
              <a:off x="2628900" y="2428875"/>
              <a:ext cx="95" cy="152400"/>
            </a:xfrm>
            <a:custGeom xmlns:a="http://schemas.openxmlformats.org/drawingml/2006/main">
              <a:pathLst>
                <a:path w="95" h="152400">
                  <a:moveTo>
                    <a:pt x="0" y="152400"/>
                  </a:moveTo>
                  <a:lnTo>
                    <a:pt x="0" y="0"/>
                  </a:lnTo>
                </a:path>
              </a:pathLst>
            </a:custGeom>
            <a:noFill xmlns:a="http://schemas.openxmlformats.org/drawingml/2006/main"/>
            <a:ln xmlns:a="http://schemas.openxmlformats.org/drawingml/2006/main" w="11906">
              <a:solidFill>
                <a:srgbClr val="22343E"/>
              </a:solidFill>
              <a:prstDash val="solid"/>
            </a:ln>
          </p:spPr>
        </p:sp>
        <p:sp>
          <p:nvSpPr>
            <p:cNvPr id="60" name="material-direction-5.head">
              <a:extLst xmlns:a="http://schemas.openxmlformats.org/drawingml/2006/main">
                <a:ext uri="{FF2B5EF4-FFF2-40B4-BE49-F238E27FC236}">
                  <a16:creationId xmlns:a16="http://schemas.microsoft.com/office/drawing/2014/main" id="{0C37F7C5-B542-4402-B048-7827E5FF9383}"/>
                </a:ext>
              </a:extLst>
            </p:cNvPr>
            <p:cNvSpPr>
              <a:spLocks xmlns:a="http://schemas.openxmlformats.org/drawingml/2006/main"/>
            </p:cNvSpPr>
            <p:nvPr/>
          </p:nvSpPr>
          <p:spPr>
            <a:xfrm xmlns:a="http://schemas.openxmlformats.org/drawingml/2006/main">
              <a:off x="2602230" y="2428875"/>
              <a:ext cx="53340" cy="47625"/>
            </a:xfrm>
            <a:custGeom xmlns:a="http://schemas.openxmlformats.org/drawingml/2006/main">
              <a:pathLst>
                <a:path w="53340" h="47625">
                  <a:moveTo>
                    <a:pt x="26670" y="0"/>
                  </a:moveTo>
                  <a:lnTo>
                    <a:pt x="53340" y="47625"/>
                  </a:lnTo>
                  <a:lnTo>
                    <a:pt x="0" y="47625"/>
                  </a:lnTo>
                  <a:close/>
                </a:path>
              </a:pathLst>
            </a:custGeom>
            <a:solidFill xmlns:a="http://schemas.openxmlformats.org/drawingml/2006/main">
              <a:srgbClr val="22343E"/>
            </a:solidFill>
            <a:ln xmlns:a="http://schemas.openxmlformats.org/drawingml/2006/main" w="0">
              <a:noFill/>
              <a:prstDash val="solid"/>
            </a:ln>
          </p:spPr>
        </p:sp>
        <p:sp>
          <p:nvSpPr>
            <p:cNvPr id="61" name="material-direction-6.shaft">
              <a:extLst xmlns:a="http://schemas.openxmlformats.org/drawingml/2006/main">
                <a:ext uri="{FF2B5EF4-FFF2-40B4-BE49-F238E27FC236}">
                  <a16:creationId xmlns:a16="http://schemas.microsoft.com/office/drawing/2014/main" id="{6FEFCDBD-3B95-455D-AC88-743D5EB09C78}"/>
                </a:ext>
              </a:extLst>
            </p:cNvPr>
            <p:cNvSpPr>
              <a:spLocks xmlns:a="http://schemas.openxmlformats.org/drawingml/2006/main"/>
            </p:cNvSpPr>
            <p:nvPr/>
          </p:nvSpPr>
          <p:spPr>
            <a:xfrm xmlns:a="http://schemas.openxmlformats.org/drawingml/2006/main">
              <a:off x="2990850" y="2676525"/>
              <a:ext cx="152400" cy="95"/>
            </a:xfrm>
            <a:custGeom xmlns:a="http://schemas.openxmlformats.org/drawingml/2006/main">
              <a:pathLst>
                <a:path w="152400" h="95">
                  <a:moveTo>
                    <a:pt x="0" y="0"/>
                  </a:moveTo>
                  <a:lnTo>
                    <a:pt x="152400" y="0"/>
                  </a:lnTo>
                </a:path>
              </a:pathLst>
            </a:custGeom>
            <a:noFill xmlns:a="http://schemas.openxmlformats.org/drawingml/2006/main"/>
            <a:ln xmlns:a="http://schemas.openxmlformats.org/drawingml/2006/main" w="11906">
              <a:solidFill>
                <a:srgbClr val="22343E"/>
              </a:solidFill>
              <a:prstDash val="solid"/>
            </a:ln>
          </p:spPr>
        </p:sp>
        <p:sp>
          <p:nvSpPr>
            <p:cNvPr id="62" name="material-direction-6.head">
              <a:extLst xmlns:a="http://schemas.openxmlformats.org/drawingml/2006/main">
                <a:ext uri="{FF2B5EF4-FFF2-40B4-BE49-F238E27FC236}">
                  <a16:creationId xmlns:a16="http://schemas.microsoft.com/office/drawing/2014/main" id="{C54AB595-25B5-4AE7-8FC5-6B840654D6E6}"/>
                </a:ext>
              </a:extLst>
            </p:cNvPr>
            <p:cNvSpPr>
              <a:spLocks xmlns:a="http://schemas.openxmlformats.org/drawingml/2006/main"/>
            </p:cNvSpPr>
            <p:nvPr/>
          </p:nvSpPr>
          <p:spPr>
            <a:xfrm xmlns:a="http://schemas.openxmlformats.org/drawingml/2006/main">
              <a:off x="3095625" y="2649855"/>
              <a:ext cx="47625" cy="53340"/>
            </a:xfrm>
            <a:custGeom xmlns:a="http://schemas.openxmlformats.org/drawingml/2006/main">
              <a:pathLst>
                <a:path w="47625" h="53340">
                  <a:moveTo>
                    <a:pt x="47625" y="26670"/>
                  </a:moveTo>
                  <a:lnTo>
                    <a:pt x="0" y="53340"/>
                  </a:lnTo>
                  <a:lnTo>
                    <a:pt x="0" y="0"/>
                  </a:lnTo>
                  <a:close/>
                </a:path>
              </a:pathLst>
            </a:custGeom>
            <a:solidFill xmlns:a="http://schemas.openxmlformats.org/drawingml/2006/main">
              <a:srgbClr val="22343E"/>
            </a:solidFill>
            <a:ln xmlns:a="http://schemas.openxmlformats.org/drawingml/2006/main" w="0">
              <a:noFill/>
              <a:prstDash val="solid"/>
            </a:ln>
          </p:spPr>
        </p:sp>
        <p:sp>
          <p:nvSpPr>
            <p:cNvPr id="63" name="material-direction-7.shaft">
              <a:extLst xmlns:a="http://schemas.openxmlformats.org/drawingml/2006/main">
                <a:ext uri="{FF2B5EF4-FFF2-40B4-BE49-F238E27FC236}">
                  <a16:creationId xmlns:a16="http://schemas.microsoft.com/office/drawing/2014/main" id="{8AA40D62-F459-4F6D-ABDA-9139535963C7}"/>
                </a:ext>
              </a:extLst>
            </p:cNvPr>
            <p:cNvSpPr>
              <a:spLocks xmlns:a="http://schemas.openxmlformats.org/drawingml/2006/main"/>
            </p:cNvSpPr>
            <p:nvPr/>
          </p:nvSpPr>
          <p:spPr>
            <a:xfrm xmlns:a="http://schemas.openxmlformats.org/drawingml/2006/main">
              <a:off x="3238500" y="2276475"/>
              <a:ext cx="95" cy="152400"/>
            </a:xfrm>
            <a:custGeom xmlns:a="http://schemas.openxmlformats.org/drawingml/2006/main">
              <a:pathLst>
                <a:path w="95" h="152400">
                  <a:moveTo>
                    <a:pt x="0" y="152400"/>
                  </a:moveTo>
                  <a:lnTo>
                    <a:pt x="0" y="0"/>
                  </a:lnTo>
                </a:path>
              </a:pathLst>
            </a:custGeom>
            <a:noFill xmlns:a="http://schemas.openxmlformats.org/drawingml/2006/main"/>
            <a:ln xmlns:a="http://schemas.openxmlformats.org/drawingml/2006/main" w="11906">
              <a:solidFill>
                <a:srgbClr val="22343E"/>
              </a:solidFill>
              <a:prstDash val="solid"/>
            </a:ln>
          </p:spPr>
        </p:sp>
        <p:sp>
          <p:nvSpPr>
            <p:cNvPr id="64" name="material-direction-7.head">
              <a:extLst xmlns:a="http://schemas.openxmlformats.org/drawingml/2006/main">
                <a:ext uri="{FF2B5EF4-FFF2-40B4-BE49-F238E27FC236}">
                  <a16:creationId xmlns:a16="http://schemas.microsoft.com/office/drawing/2014/main" id="{EDCB1EBB-F635-43A3-BF6B-5DE912083665}"/>
                </a:ext>
              </a:extLst>
            </p:cNvPr>
            <p:cNvSpPr>
              <a:spLocks xmlns:a="http://schemas.openxmlformats.org/drawingml/2006/main"/>
            </p:cNvSpPr>
            <p:nvPr/>
          </p:nvSpPr>
          <p:spPr>
            <a:xfrm xmlns:a="http://schemas.openxmlformats.org/drawingml/2006/main">
              <a:off x="3211830" y="2276475"/>
              <a:ext cx="53340" cy="47625"/>
            </a:xfrm>
            <a:custGeom xmlns:a="http://schemas.openxmlformats.org/drawingml/2006/main">
              <a:pathLst>
                <a:path w="53340" h="47625">
                  <a:moveTo>
                    <a:pt x="26670" y="0"/>
                  </a:moveTo>
                  <a:lnTo>
                    <a:pt x="53340" y="47625"/>
                  </a:lnTo>
                  <a:lnTo>
                    <a:pt x="0" y="47625"/>
                  </a:lnTo>
                  <a:close/>
                </a:path>
              </a:pathLst>
            </a:custGeom>
            <a:solidFill xmlns:a="http://schemas.openxmlformats.org/drawingml/2006/main">
              <a:srgbClr val="22343E"/>
            </a:solidFill>
            <a:ln xmlns:a="http://schemas.openxmlformats.org/drawingml/2006/main" w="0">
              <a:noFill/>
              <a:prstDash val="solid"/>
            </a:ln>
          </p:spPr>
        </p:sp>
        <p:sp>
          <p:nvSpPr>
            <p:cNvPr id="65" name="material-direction-8.shaft">
              <a:extLst xmlns:a="http://schemas.openxmlformats.org/drawingml/2006/main">
                <a:ext uri="{FF2B5EF4-FFF2-40B4-BE49-F238E27FC236}">
                  <a16:creationId xmlns:a16="http://schemas.microsoft.com/office/drawing/2014/main" id="{8D09C002-1043-43B6-A935-1F200879E363}"/>
                </a:ext>
              </a:extLst>
            </p:cNvPr>
            <p:cNvSpPr>
              <a:spLocks xmlns:a="http://schemas.openxmlformats.org/drawingml/2006/main"/>
            </p:cNvSpPr>
            <p:nvPr/>
          </p:nvSpPr>
          <p:spPr>
            <a:xfrm xmlns:a="http://schemas.openxmlformats.org/drawingml/2006/main">
              <a:off x="3524250" y="2247900"/>
              <a:ext cx="152400" cy="95"/>
            </a:xfrm>
            <a:custGeom xmlns:a="http://schemas.openxmlformats.org/drawingml/2006/main">
              <a:pathLst>
                <a:path w="152400" h="95">
                  <a:moveTo>
                    <a:pt x="0" y="0"/>
                  </a:moveTo>
                  <a:lnTo>
                    <a:pt x="152400" y="0"/>
                  </a:lnTo>
                </a:path>
              </a:pathLst>
            </a:custGeom>
            <a:noFill xmlns:a="http://schemas.openxmlformats.org/drawingml/2006/main"/>
            <a:ln xmlns:a="http://schemas.openxmlformats.org/drawingml/2006/main" w="11906">
              <a:solidFill>
                <a:srgbClr val="22343E"/>
              </a:solidFill>
              <a:prstDash val="solid"/>
            </a:ln>
          </p:spPr>
        </p:sp>
        <p:sp>
          <p:nvSpPr>
            <p:cNvPr id="66" name="material-direction-8.head">
              <a:extLst xmlns:a="http://schemas.openxmlformats.org/drawingml/2006/main">
                <a:ext uri="{FF2B5EF4-FFF2-40B4-BE49-F238E27FC236}">
                  <a16:creationId xmlns:a16="http://schemas.microsoft.com/office/drawing/2014/main" id="{D7C84260-8FCF-41F7-A77D-88503DF8ED43}"/>
                </a:ext>
              </a:extLst>
            </p:cNvPr>
            <p:cNvSpPr>
              <a:spLocks xmlns:a="http://schemas.openxmlformats.org/drawingml/2006/main"/>
            </p:cNvSpPr>
            <p:nvPr/>
          </p:nvSpPr>
          <p:spPr>
            <a:xfrm xmlns:a="http://schemas.openxmlformats.org/drawingml/2006/main">
              <a:off x="3629025" y="2221230"/>
              <a:ext cx="47625" cy="53340"/>
            </a:xfrm>
            <a:custGeom xmlns:a="http://schemas.openxmlformats.org/drawingml/2006/main">
              <a:pathLst>
                <a:path w="47625" h="53340">
                  <a:moveTo>
                    <a:pt x="47625" y="26670"/>
                  </a:moveTo>
                  <a:lnTo>
                    <a:pt x="0" y="53340"/>
                  </a:lnTo>
                  <a:lnTo>
                    <a:pt x="0" y="0"/>
                  </a:lnTo>
                  <a:close/>
                </a:path>
              </a:pathLst>
            </a:custGeom>
            <a:solidFill xmlns:a="http://schemas.openxmlformats.org/drawingml/2006/main">
              <a:srgbClr val="22343E"/>
            </a:solidFill>
            <a:ln xmlns:a="http://schemas.openxmlformats.org/drawingml/2006/main" w="0">
              <a:noFill/>
              <a:prstDash val="solid"/>
            </a:ln>
          </p:spPr>
        </p:sp>
        <p:sp>
          <p:nvSpPr>
            <p:cNvPr id="67" name="material-direction-9.shaft">
              <a:extLst xmlns:a="http://schemas.openxmlformats.org/drawingml/2006/main">
                <a:ext uri="{FF2B5EF4-FFF2-40B4-BE49-F238E27FC236}">
                  <a16:creationId xmlns:a16="http://schemas.microsoft.com/office/drawing/2014/main" id="{087D5F66-E62B-4547-A8DA-F98D3F546A04}"/>
                </a:ext>
              </a:extLst>
            </p:cNvPr>
            <p:cNvSpPr>
              <a:spLocks xmlns:a="http://schemas.openxmlformats.org/drawingml/2006/main"/>
            </p:cNvSpPr>
            <p:nvPr/>
          </p:nvSpPr>
          <p:spPr>
            <a:xfrm xmlns:a="http://schemas.openxmlformats.org/drawingml/2006/main">
              <a:off x="4324350" y="2247900"/>
              <a:ext cx="152400" cy="95"/>
            </a:xfrm>
            <a:custGeom xmlns:a="http://schemas.openxmlformats.org/drawingml/2006/main">
              <a:pathLst>
                <a:path w="152400" h="95">
                  <a:moveTo>
                    <a:pt x="0" y="0"/>
                  </a:moveTo>
                  <a:lnTo>
                    <a:pt x="152400" y="0"/>
                  </a:lnTo>
                </a:path>
              </a:pathLst>
            </a:custGeom>
            <a:noFill xmlns:a="http://schemas.openxmlformats.org/drawingml/2006/main"/>
            <a:ln xmlns:a="http://schemas.openxmlformats.org/drawingml/2006/main" w="11906">
              <a:solidFill>
                <a:srgbClr val="22343E"/>
              </a:solidFill>
              <a:prstDash val="solid"/>
            </a:ln>
          </p:spPr>
        </p:sp>
        <p:sp>
          <p:nvSpPr>
            <p:cNvPr id="68" name="material-direction-9.head">
              <a:extLst xmlns:a="http://schemas.openxmlformats.org/drawingml/2006/main">
                <a:ext uri="{FF2B5EF4-FFF2-40B4-BE49-F238E27FC236}">
                  <a16:creationId xmlns:a16="http://schemas.microsoft.com/office/drawing/2014/main" id="{D7BC21F8-4790-4517-B69C-8F63B814076A}"/>
                </a:ext>
              </a:extLst>
            </p:cNvPr>
            <p:cNvSpPr>
              <a:spLocks xmlns:a="http://schemas.openxmlformats.org/drawingml/2006/main"/>
            </p:cNvSpPr>
            <p:nvPr/>
          </p:nvSpPr>
          <p:spPr>
            <a:xfrm xmlns:a="http://schemas.openxmlformats.org/drawingml/2006/main">
              <a:off x="4429125" y="2221230"/>
              <a:ext cx="47625" cy="53340"/>
            </a:xfrm>
            <a:custGeom xmlns:a="http://schemas.openxmlformats.org/drawingml/2006/main">
              <a:pathLst>
                <a:path w="47625" h="53340">
                  <a:moveTo>
                    <a:pt x="47625" y="26670"/>
                  </a:moveTo>
                  <a:lnTo>
                    <a:pt x="0" y="53340"/>
                  </a:lnTo>
                  <a:lnTo>
                    <a:pt x="0" y="0"/>
                  </a:lnTo>
                  <a:close/>
                </a:path>
              </a:pathLst>
            </a:custGeom>
            <a:solidFill xmlns:a="http://schemas.openxmlformats.org/drawingml/2006/main">
              <a:srgbClr val="22343E"/>
            </a:solidFill>
            <a:ln xmlns:a="http://schemas.openxmlformats.org/drawingml/2006/main" w="0">
              <a:noFill/>
              <a:prstDash val="solid"/>
            </a:ln>
          </p:spPr>
        </p:sp>
        <p:sp>
          <p:nvSpPr>
            <p:cNvPr id="69" name="material-direction-10.shaft">
              <a:extLst xmlns:a="http://schemas.openxmlformats.org/drawingml/2006/main">
                <a:ext uri="{FF2B5EF4-FFF2-40B4-BE49-F238E27FC236}">
                  <a16:creationId xmlns:a16="http://schemas.microsoft.com/office/drawing/2014/main" id="{91ECE511-60E6-4B90-AC11-950A04570F56}"/>
                </a:ext>
              </a:extLst>
            </p:cNvPr>
            <p:cNvSpPr>
              <a:spLocks xmlns:a="http://schemas.openxmlformats.org/drawingml/2006/main"/>
            </p:cNvSpPr>
            <p:nvPr/>
          </p:nvSpPr>
          <p:spPr>
            <a:xfrm xmlns:a="http://schemas.openxmlformats.org/drawingml/2006/main">
              <a:off x="5876925" y="1847850"/>
              <a:ext cx="152400" cy="95"/>
            </a:xfrm>
            <a:custGeom xmlns:a="http://schemas.openxmlformats.org/drawingml/2006/main">
              <a:pathLst>
                <a:path w="152400" h="95">
                  <a:moveTo>
                    <a:pt x="0" y="0"/>
                  </a:moveTo>
                  <a:lnTo>
                    <a:pt x="152400" y="0"/>
                  </a:lnTo>
                </a:path>
              </a:pathLst>
            </a:custGeom>
            <a:noFill xmlns:a="http://schemas.openxmlformats.org/drawingml/2006/main"/>
            <a:ln xmlns:a="http://schemas.openxmlformats.org/drawingml/2006/main" w="11906">
              <a:solidFill>
                <a:srgbClr val="22343E"/>
              </a:solidFill>
              <a:prstDash val="solid"/>
            </a:ln>
          </p:spPr>
        </p:sp>
        <p:sp>
          <p:nvSpPr>
            <p:cNvPr id="70" name="material-direction-10.head">
              <a:extLst xmlns:a="http://schemas.openxmlformats.org/drawingml/2006/main">
                <a:ext uri="{FF2B5EF4-FFF2-40B4-BE49-F238E27FC236}">
                  <a16:creationId xmlns:a16="http://schemas.microsoft.com/office/drawing/2014/main" id="{3DDACB0B-5E97-4930-9125-B69E008D7B77}"/>
                </a:ext>
              </a:extLst>
            </p:cNvPr>
            <p:cNvSpPr>
              <a:spLocks xmlns:a="http://schemas.openxmlformats.org/drawingml/2006/main"/>
            </p:cNvSpPr>
            <p:nvPr/>
          </p:nvSpPr>
          <p:spPr>
            <a:xfrm xmlns:a="http://schemas.openxmlformats.org/drawingml/2006/main">
              <a:off x="5981700" y="1821180"/>
              <a:ext cx="47625" cy="53340"/>
            </a:xfrm>
            <a:custGeom xmlns:a="http://schemas.openxmlformats.org/drawingml/2006/main">
              <a:pathLst>
                <a:path w="47625" h="53340">
                  <a:moveTo>
                    <a:pt x="47625" y="26670"/>
                  </a:moveTo>
                  <a:lnTo>
                    <a:pt x="0" y="53340"/>
                  </a:lnTo>
                  <a:lnTo>
                    <a:pt x="0" y="0"/>
                  </a:lnTo>
                  <a:close/>
                </a:path>
              </a:pathLst>
            </a:custGeom>
            <a:solidFill xmlns:a="http://schemas.openxmlformats.org/drawingml/2006/main">
              <a:srgbClr val="22343E"/>
            </a:solidFill>
            <a:ln xmlns:a="http://schemas.openxmlformats.org/drawingml/2006/main" w="0">
              <a:noFill/>
              <a:prstDash val="solid"/>
            </a:ln>
          </p:spPr>
        </p:sp>
        <p:sp>
          <p:nvSpPr>
            <p:cNvPr id="71" name="material-direction-11.shaft">
              <a:extLst xmlns:a="http://schemas.openxmlformats.org/drawingml/2006/main">
                <a:ext uri="{FF2B5EF4-FFF2-40B4-BE49-F238E27FC236}">
                  <a16:creationId xmlns:a16="http://schemas.microsoft.com/office/drawing/2014/main" id="{113E1AA9-A5E9-4361-920B-5C89FC5A7300}"/>
                </a:ext>
              </a:extLst>
            </p:cNvPr>
            <p:cNvSpPr>
              <a:spLocks xmlns:a="http://schemas.openxmlformats.org/drawingml/2006/main"/>
            </p:cNvSpPr>
            <p:nvPr/>
          </p:nvSpPr>
          <p:spPr>
            <a:xfrm xmlns:a="http://schemas.openxmlformats.org/drawingml/2006/main">
              <a:off x="5876925" y="2762250"/>
              <a:ext cx="152400" cy="95"/>
            </a:xfrm>
            <a:custGeom xmlns:a="http://schemas.openxmlformats.org/drawingml/2006/main">
              <a:pathLst>
                <a:path w="152400" h="95">
                  <a:moveTo>
                    <a:pt x="0" y="0"/>
                  </a:moveTo>
                  <a:lnTo>
                    <a:pt x="152400" y="0"/>
                  </a:lnTo>
                </a:path>
              </a:pathLst>
            </a:custGeom>
            <a:noFill xmlns:a="http://schemas.openxmlformats.org/drawingml/2006/main"/>
            <a:ln xmlns:a="http://schemas.openxmlformats.org/drawingml/2006/main" w="11906">
              <a:solidFill>
                <a:srgbClr val="22343E"/>
              </a:solidFill>
              <a:prstDash val="solid"/>
            </a:ln>
          </p:spPr>
        </p:sp>
        <p:sp>
          <p:nvSpPr>
            <p:cNvPr id="72" name="material-direction-11.head">
              <a:extLst xmlns:a="http://schemas.openxmlformats.org/drawingml/2006/main">
                <a:ext uri="{FF2B5EF4-FFF2-40B4-BE49-F238E27FC236}">
                  <a16:creationId xmlns:a16="http://schemas.microsoft.com/office/drawing/2014/main" id="{7B9D331E-2C2B-453F-A7C6-7F2F05A3BF2D}"/>
                </a:ext>
              </a:extLst>
            </p:cNvPr>
            <p:cNvSpPr>
              <a:spLocks xmlns:a="http://schemas.openxmlformats.org/drawingml/2006/main"/>
            </p:cNvSpPr>
            <p:nvPr/>
          </p:nvSpPr>
          <p:spPr>
            <a:xfrm xmlns:a="http://schemas.openxmlformats.org/drawingml/2006/main">
              <a:off x="5981700" y="2735580"/>
              <a:ext cx="47625" cy="53340"/>
            </a:xfrm>
            <a:custGeom xmlns:a="http://schemas.openxmlformats.org/drawingml/2006/main">
              <a:pathLst>
                <a:path w="47625" h="53340">
                  <a:moveTo>
                    <a:pt x="47625" y="26670"/>
                  </a:moveTo>
                  <a:lnTo>
                    <a:pt x="0" y="53340"/>
                  </a:lnTo>
                  <a:lnTo>
                    <a:pt x="0" y="0"/>
                  </a:lnTo>
                  <a:close/>
                </a:path>
              </a:pathLst>
            </a:custGeom>
            <a:solidFill xmlns:a="http://schemas.openxmlformats.org/drawingml/2006/main">
              <a:srgbClr val="22343E"/>
            </a:solidFill>
            <a:ln xmlns:a="http://schemas.openxmlformats.org/drawingml/2006/main" w="0">
              <a:noFill/>
              <a:prstDash val="solid"/>
            </a:ln>
          </p:spPr>
        </p:sp>
      </p:grpSp>
      <p:sp>
        <p:nvSpPr>
          <p:cNvPr id="73" name="detection-window">
            <a:extLst xmlns:a="http://schemas.openxmlformats.org/drawingml/2006/main">
              <a:ext uri="{FF2B5EF4-FFF2-40B4-BE49-F238E27FC236}">
                <a16:creationId xmlns:a16="http://schemas.microsoft.com/office/drawing/2014/main" id="{2F7E98E1-CE8F-45D8-8E0B-5C145557470F}"/>
              </a:ext>
            </a:extLst>
          </p:cNvPr>
          <p:cNvSpPr>
            <a:spLocks xmlns:a="http://schemas.openxmlformats.org/drawingml/2006/main"/>
          </p:cNvSpPr>
          <p:nvPr/>
        </p:nvSpPr>
        <p:spPr>
          <a:xfrm xmlns:a="http://schemas.openxmlformats.org/drawingml/2006/main">
            <a:off x="3867150" y="2133600"/>
            <a:ext cx="209550" cy="228600"/>
          </a:xfrm>
          <a:prstGeom xmlns:a="http://schemas.openxmlformats.org/drawingml/2006/main" prst="rect">
            <a:avLst/>
          </a:prstGeom>
          <a:noFill xmlns:a="http://schemas.openxmlformats.org/drawingml/2006/main"/>
          <a:ln xmlns:a="http://schemas.openxmlformats.org/drawingml/2006/main" w="12859">
            <a:solidFill>
              <a:srgbClr val="71558A"/>
            </a:solidFill>
            <a:prstDash val="solid"/>
          </a:ln>
        </p:spPr>
      </p:sp>
      <p:sp>
        <p:nvSpPr>
          <p:cNvPr id="74" name="fluorescence-detector">
            <a:extLst xmlns:a="http://schemas.openxmlformats.org/drawingml/2006/main">
              <a:ext uri="{FF2B5EF4-FFF2-40B4-BE49-F238E27FC236}">
                <a16:creationId xmlns:a16="http://schemas.microsoft.com/office/drawing/2014/main" id="{1D40AE06-BFC4-448F-922E-6E5FEC47FC6C}"/>
              </a:ext>
            </a:extLst>
          </p:cNvPr>
          <p:cNvSpPr>
            <a:spLocks xmlns:a="http://schemas.openxmlformats.org/drawingml/2006/main"/>
          </p:cNvSpPr>
          <p:nvPr/>
        </p:nvSpPr>
        <p:spPr>
          <a:xfrm xmlns:a="http://schemas.openxmlformats.org/drawingml/2006/main">
            <a:off x="3467100" y="571500"/>
            <a:ext cx="1009650" cy="400050"/>
          </a:xfrm>
          <a:prstGeom xmlns:a="http://schemas.openxmlformats.org/drawingml/2006/main" prst="rect">
            <a:avLst/>
          </a:prstGeom>
          <a:solidFill xmlns:a="http://schemas.openxmlformats.org/drawingml/2006/main">
            <a:srgbClr val="F4F0F8"/>
          </a:solidFill>
          <a:ln xmlns:a="http://schemas.openxmlformats.org/drawingml/2006/main" w="9525">
            <a:solidFill>
              <a:srgbClr val="71558A"/>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Fluorescence</a:t>
            </a:r>
          </a:p>
          <a:p xmlns:a="http://schemas.openxmlformats.org/drawingml/2006/main">
            <a:pPr algn="ctr">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detector</a:t>
            </a:r>
          </a:p>
        </p:txBody>
      </p:sp>
      <p:sp>
        <p:nvSpPr>
          <p:cNvPr id="75" name="controller">
            <a:extLst xmlns:a="http://schemas.openxmlformats.org/drawingml/2006/main">
              <a:ext uri="{FF2B5EF4-FFF2-40B4-BE49-F238E27FC236}">
                <a16:creationId xmlns:a16="http://schemas.microsoft.com/office/drawing/2014/main" id="{D925A8D9-5B0D-4DA5-B42E-4494E3BE3832}"/>
              </a:ext>
            </a:extLst>
          </p:cNvPr>
          <p:cNvSpPr>
            <a:spLocks xmlns:a="http://schemas.openxmlformats.org/drawingml/2006/main"/>
          </p:cNvSpPr>
          <p:nvPr/>
        </p:nvSpPr>
        <p:spPr>
          <a:xfrm xmlns:a="http://schemas.openxmlformats.org/drawingml/2006/main">
            <a:off x="5057775" y="571500"/>
            <a:ext cx="1143000" cy="400050"/>
          </a:xfrm>
          <a:prstGeom xmlns:a="http://schemas.openxmlformats.org/drawingml/2006/main" prst="rect">
            <a:avLst/>
          </a:prstGeom>
          <a:solidFill xmlns:a="http://schemas.openxmlformats.org/drawingml/2006/main">
            <a:srgbClr val="F4F0F8"/>
          </a:solidFill>
          <a:ln xmlns:a="http://schemas.openxmlformats.org/drawingml/2006/main" w="9525">
            <a:solidFill>
              <a:srgbClr val="71558A"/>
            </a:solid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Controller</a:t>
            </a:r>
          </a:p>
          <a:p xmlns:a="http://schemas.openxmlformats.org/drawingml/2006/main">
            <a:pPr algn="ctr">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compare F with θ</a:t>
            </a:r>
          </a:p>
        </p:txBody>
      </p:sp>
      <p:sp>
        <p:nvSpPr>
          <p:cNvPr id="76" name="sorting-electrode">
            <a:extLst xmlns:a="http://schemas.openxmlformats.org/drawingml/2006/main">
              <a:ext uri="{FF2B5EF4-FFF2-40B4-BE49-F238E27FC236}">
                <a16:creationId xmlns:a16="http://schemas.microsoft.com/office/drawing/2014/main" id="{9CCEE20A-AFEE-413C-A190-5D91A173125C}"/>
              </a:ext>
            </a:extLst>
          </p:cNvPr>
          <p:cNvSpPr>
            <a:spLocks xmlns:a="http://schemas.openxmlformats.org/drawingml/2006/main"/>
          </p:cNvSpPr>
          <p:nvPr/>
        </p:nvSpPr>
        <p:spPr>
          <a:xfrm xmlns:a="http://schemas.openxmlformats.org/drawingml/2006/main">
            <a:off x="4733925" y="1733550"/>
            <a:ext cx="95250" cy="295275"/>
          </a:xfrm>
          <a:prstGeom xmlns:a="http://schemas.openxmlformats.org/drawingml/2006/main" prst="rect">
            <a:avLst/>
          </a:prstGeom>
          <a:solidFill xmlns:a="http://schemas.openxmlformats.org/drawingml/2006/main">
            <a:srgbClr val="71558A"/>
          </a:solidFill>
          <a:ln xmlns:a="http://schemas.openxmlformats.org/drawingml/2006/main" w="7620">
            <a:solidFill>
              <a:srgbClr val="71558A"/>
            </a:solidFill>
            <a:prstDash val="solid"/>
          </a:ln>
        </p:spPr>
      </p:sp>
      <p:cxnSp>
        <p:nvCxnSpPr>
          <p:cNvPr id="177" name="optical-readout"/>
          <p:cNvCxnSpPr>
            <a:stCxn xmlns:a="http://schemas.openxmlformats.org/drawingml/2006/main" id="73" idx="0"/>
            <a:endCxn xmlns:a="http://schemas.openxmlformats.org/drawingml/2006/main" id="74" idx="2"/>
          </p:cNvCxnSpPr>
          <p:nvPr/>
        </p:nvCxnSpPr>
        <p:spPr>
          <a:xfrm xmlns:a="http://schemas.openxmlformats.org/drawingml/2006/main" flipV="1">
            <a:off x="3971925" y="971550"/>
            <a:ext cx="0" cy="1162050"/>
          </a:xfrm>
          <a:prstGeom xmlns:a="http://schemas.openxmlformats.org/drawingml/2006/main" prst="straightConnector1">
            <a:avLst/>
          </a:prstGeom>
          <a:ln xmlns:a="http://schemas.openxmlformats.org/drawingml/2006/main" w="12383" cap="rnd">
            <a:solidFill>
              <a:srgbClr val="71558A"/>
            </a:solidFill>
            <a:prstDash val="solid"/>
            <a:round/>
            <a:tailEnd type="triangle" w="sm" len="sm"/>
          </a:ln>
        </p:spPr>
      </p:cxnSp>
      <p:cxnSp>
        <p:nvCxnSpPr>
          <p:cNvPr id="178" name="signal-F"/>
          <p:cNvCxnSpPr>
            <a:stCxn xmlns:a="http://schemas.openxmlformats.org/drawingml/2006/main" id="74" idx="3"/>
            <a:endCxn xmlns:a="http://schemas.openxmlformats.org/drawingml/2006/main" id="75" idx="1"/>
          </p:cNvCxnSpPr>
          <p:nvPr/>
        </p:nvCxnSpPr>
        <p:spPr>
          <a:xfrm xmlns:a="http://schemas.openxmlformats.org/drawingml/2006/main">
            <a:off x="4476750" y="771525"/>
            <a:ext cx="581025" cy="0"/>
          </a:xfrm>
          <a:prstGeom xmlns:a="http://schemas.openxmlformats.org/drawingml/2006/main" prst="straightConnector1">
            <a:avLst/>
          </a:prstGeom>
          <a:ln xmlns:a="http://schemas.openxmlformats.org/drawingml/2006/main" w="15240" cap="rnd">
            <a:solidFill>
              <a:srgbClr val="71558A"/>
            </a:solidFill>
            <a:prstDash val="dash"/>
            <a:round/>
            <a:tailEnd type="triangle" w="sm" len="sm"/>
          </a:ln>
        </p:spPr>
      </p:cxnSp>
      <p:cxnSp>
        <p:nvCxnSpPr>
          <p:cNvPr id="179" name="threshold-trigger"/>
          <p:cNvCxnSpPr>
            <a:stCxn xmlns:a="http://schemas.openxmlformats.org/drawingml/2006/main" id="75" idx="2"/>
            <a:endCxn xmlns:a="http://schemas.openxmlformats.org/drawingml/2006/main" id="76" idx="0"/>
          </p:cNvCxnSpPr>
          <p:nvPr/>
        </p:nvCxnSpPr>
        <p:spPr>
          <a:xfrm xmlns:a="http://schemas.openxmlformats.org/drawingml/2006/main" flipH="1">
            <a:off x="4781550" y="971550"/>
            <a:ext cx="847725" cy="762000"/>
          </a:xfrm>
          <a:prstGeom xmlns:a="http://schemas.openxmlformats.org/drawingml/2006/main" prst="straightConnector1">
            <a:avLst/>
          </a:prstGeom>
          <a:ln xmlns:a="http://schemas.openxmlformats.org/drawingml/2006/main" w="15240" cap="rnd">
            <a:solidFill>
              <a:srgbClr val="71558A"/>
            </a:solidFill>
            <a:prstDash val="dash"/>
            <a:round/>
            <a:tailEnd type="triangle" w="sm" len="sm"/>
          </a:ln>
        </p:spPr>
      </p:cxnSp>
      <p:sp>
        <p:nvSpPr>
          <p:cNvPr id="80" name="signal-label">
            <a:extLst xmlns:a="http://schemas.openxmlformats.org/drawingml/2006/main">
              <a:ext uri="{FF2B5EF4-FFF2-40B4-BE49-F238E27FC236}">
                <a16:creationId xmlns:a16="http://schemas.microsoft.com/office/drawing/2014/main" id="{56550F0C-CED8-4914-8617-8480970A7DBF}"/>
              </a:ext>
            </a:extLst>
          </p:cNvPr>
          <p:cNvSpPr>
            <a:spLocks xmlns:a="http://schemas.openxmlformats.org/drawingml/2006/main"/>
          </p:cNvSpPr>
          <p:nvPr/>
        </p:nvSpPr>
        <p:spPr>
          <a:xfrm xmlns:a="http://schemas.openxmlformats.org/drawingml/2006/main">
            <a:off x="4600575" y="5715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75" b="0">
                <a:solidFill>
                  <a:srgbClr val="71558A"/>
                </a:solidFill>
                <a:latin typeface="Liberation Sans"/>
                <a:ea typeface="Liberation Sans"/>
                <a:cs typeface="Liberation Sans"/>
              </a:defRPr>
            </a:pPr>
            <a:r>
              <a:rPr sz="975" b="0">
                <a:solidFill>
                  <a:srgbClr val="71558A"/>
                </a:solidFill>
                <a:latin typeface="Liberation Sans"/>
                <a:ea typeface="Liberation Sans"/>
                <a:cs typeface="Liberation Sans"/>
              </a:rPr>
              <a:t>F</a:t>
            </a:r>
          </a:p>
        </p:txBody>
      </p:sp>
      <p:sp>
        <p:nvSpPr>
          <p:cNvPr id="81" name="trigger-label">
            <a:extLst xmlns:a="http://schemas.openxmlformats.org/drawingml/2006/main">
              <a:ext uri="{FF2B5EF4-FFF2-40B4-BE49-F238E27FC236}">
                <a16:creationId xmlns:a16="http://schemas.microsoft.com/office/drawing/2014/main" id="{7AA04604-C6E9-4FD4-862C-C164ACBAE5E4}"/>
              </a:ext>
            </a:extLst>
          </p:cNvPr>
          <p:cNvSpPr>
            <a:spLocks xmlns:a="http://schemas.openxmlformats.org/drawingml/2006/main"/>
          </p:cNvSpPr>
          <p:nvPr/>
        </p:nvSpPr>
        <p:spPr>
          <a:xfrm xmlns:a="http://schemas.openxmlformats.org/drawingml/2006/main">
            <a:off x="5153025" y="1200150"/>
            <a:ext cx="1057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863" b="0">
                <a:solidFill>
                  <a:srgbClr val="71558A"/>
                </a:solidFill>
                <a:latin typeface="Liberation Sans"/>
                <a:ea typeface="Liberation Sans"/>
                <a:cs typeface="Liberation Sans"/>
              </a:defRPr>
            </a:pPr>
            <a:r>
              <a:rPr sz="863" b="0">
                <a:solidFill>
                  <a:srgbClr val="71558A"/>
                </a:solidFill>
                <a:latin typeface="Liberation Sans"/>
                <a:ea typeface="Liberation Sans"/>
                <a:cs typeface="Liberation Sans"/>
              </a:rPr>
              <a:t>trigger if F ≥ θ</a:t>
            </a:r>
          </a:p>
        </p:txBody>
      </p:sp>
      <p:sp>
        <p:nvSpPr>
          <p:cNvPr id="82" name="optical-label">
            <a:extLst xmlns:a="http://schemas.openxmlformats.org/drawingml/2006/main">
              <a:ext uri="{FF2B5EF4-FFF2-40B4-BE49-F238E27FC236}">
                <a16:creationId xmlns:a16="http://schemas.microsoft.com/office/drawing/2014/main" id="{13211498-F97D-4848-AE82-A0A8C725A9A9}"/>
              </a:ext>
            </a:extLst>
          </p:cNvPr>
          <p:cNvSpPr>
            <a:spLocks xmlns:a="http://schemas.openxmlformats.org/drawingml/2006/main"/>
          </p:cNvSpPr>
          <p:nvPr/>
        </p:nvSpPr>
        <p:spPr>
          <a:xfrm xmlns:a="http://schemas.openxmlformats.org/drawingml/2006/main">
            <a:off x="3514725" y="1371600"/>
            <a:ext cx="43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r">
              <a:defRPr sz="825" b="0">
                <a:solidFill>
                  <a:srgbClr val="71558A"/>
                </a:solidFill>
                <a:latin typeface="Liberation Sans"/>
                <a:ea typeface="Liberation Sans"/>
                <a:cs typeface="Liberation Sans"/>
              </a:defRPr>
            </a:pPr>
            <a:r>
              <a:rPr sz="825" b="0">
                <a:solidFill>
                  <a:srgbClr val="71558A"/>
                </a:solidFill>
                <a:latin typeface="Liberation Sans"/>
                <a:ea typeface="Liberation Sans"/>
                <a:cs typeface="Liberation Sans"/>
              </a:rPr>
              <a:t>optical</a:t>
            </a:r>
          </a:p>
          <a:p xmlns:a="http://schemas.openxmlformats.org/drawingml/2006/main">
            <a:pPr algn="r">
              <a:defRPr sz="825" b="0">
                <a:solidFill>
                  <a:srgbClr val="71558A"/>
                </a:solidFill>
                <a:latin typeface="Liberation Sans"/>
                <a:ea typeface="Liberation Sans"/>
                <a:cs typeface="Liberation Sans"/>
              </a:defRPr>
            </a:pPr>
            <a:r>
              <a:rPr sz="825" b="0">
                <a:solidFill>
                  <a:srgbClr val="71558A"/>
                </a:solidFill>
                <a:latin typeface="Liberation Sans"/>
                <a:ea typeface="Liberation Sans"/>
                <a:cs typeface="Liberation Sans"/>
              </a:rPr>
              <a:t>readout</a:t>
            </a:r>
          </a:p>
        </p:txBody>
      </p:sp>
      <p:sp>
        <p:nvSpPr>
          <p:cNvPr id="83" name="electrode-label">
            <a:extLst xmlns:a="http://schemas.openxmlformats.org/drawingml/2006/main">
              <a:ext uri="{FF2B5EF4-FFF2-40B4-BE49-F238E27FC236}">
                <a16:creationId xmlns:a16="http://schemas.microsoft.com/office/drawing/2014/main" id="{538B8FF2-34E2-4CCC-ADB0-27C356525A94}"/>
              </a:ext>
            </a:extLst>
          </p:cNvPr>
          <p:cNvSpPr>
            <a:spLocks xmlns:a="http://schemas.openxmlformats.org/drawingml/2006/main"/>
          </p:cNvSpPr>
          <p:nvPr/>
        </p:nvSpPr>
        <p:spPr>
          <a:xfrm xmlns:a="http://schemas.openxmlformats.org/drawingml/2006/main">
            <a:off x="4333875" y="1333500"/>
            <a:ext cx="714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863" b="0">
                <a:solidFill>
                  <a:srgbClr val="71558A"/>
                </a:solidFill>
                <a:latin typeface="Liberation Sans"/>
                <a:ea typeface="Liberation Sans"/>
                <a:cs typeface="Liberation Sans"/>
              </a:defRPr>
            </a:pPr>
            <a:r>
              <a:rPr sz="863" b="0">
                <a:solidFill>
                  <a:srgbClr val="71558A"/>
                </a:solidFill>
                <a:latin typeface="Liberation Sans"/>
                <a:ea typeface="Liberation Sans"/>
                <a:cs typeface="Liberation Sans"/>
              </a:rPr>
              <a:t>Sorting</a:t>
            </a:r>
          </a:p>
          <a:p xmlns:a="http://schemas.openxmlformats.org/drawingml/2006/main">
            <a:pPr algn="ctr">
              <a:defRPr sz="863" b="0">
                <a:solidFill>
                  <a:srgbClr val="71558A"/>
                </a:solidFill>
                <a:latin typeface="Liberation Sans"/>
                <a:ea typeface="Liberation Sans"/>
                <a:cs typeface="Liberation Sans"/>
              </a:defRPr>
            </a:pPr>
            <a:r>
              <a:rPr sz="863" b="0">
                <a:solidFill>
                  <a:srgbClr val="71558A"/>
                </a:solidFill>
                <a:latin typeface="Liberation Sans"/>
                <a:ea typeface="Liberation Sans"/>
                <a:cs typeface="Liberation Sans"/>
              </a:rPr>
              <a:t>electrode</a:t>
            </a:r>
          </a:p>
        </p:txBody>
      </p:sp>
      <p:sp>
        <p:nvSpPr>
          <p:cNvPr id="84" name="detection-label">
            <a:extLst xmlns:a="http://schemas.openxmlformats.org/drawingml/2006/main">
              <a:ext uri="{FF2B5EF4-FFF2-40B4-BE49-F238E27FC236}">
                <a16:creationId xmlns:a16="http://schemas.microsoft.com/office/drawing/2014/main" id="{398F8773-3B6B-450E-AC0D-796670F9D929}"/>
              </a:ext>
            </a:extLst>
          </p:cNvPr>
          <p:cNvSpPr>
            <a:spLocks xmlns:a="http://schemas.openxmlformats.org/drawingml/2006/main"/>
          </p:cNvSpPr>
          <p:nvPr/>
        </p:nvSpPr>
        <p:spPr>
          <a:xfrm xmlns:a="http://schemas.openxmlformats.org/drawingml/2006/main">
            <a:off x="3552825" y="2724150"/>
            <a:ext cx="838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1">
                <a:solidFill>
                  <a:srgbClr val="22343E"/>
                </a:solidFill>
                <a:latin typeface="Liberation Sans"/>
                <a:ea typeface="Liberation Sans"/>
                <a:cs typeface="Liberation Sans"/>
              </a:defRPr>
            </a:pPr>
            <a:r>
              <a:rPr sz="900" b="1">
                <a:solidFill>
                  <a:srgbClr val="22343E"/>
                </a:solidFill>
                <a:latin typeface="Liberation Sans"/>
                <a:ea typeface="Liberation Sans"/>
                <a:cs typeface="Liberation Sans"/>
              </a:rPr>
              <a:t>Detection</a:t>
            </a:r>
          </a:p>
        </p:txBody>
      </p:sp>
      <p:sp>
        <p:nvSpPr>
          <p:cNvPr id="85" name="droplet-readout-label">
            <a:extLst xmlns:a="http://schemas.openxmlformats.org/drawingml/2006/main">
              <a:ext uri="{FF2B5EF4-FFF2-40B4-BE49-F238E27FC236}">
                <a16:creationId xmlns:a16="http://schemas.microsoft.com/office/drawing/2014/main" id="{7FC04CEF-8D15-4FBB-9A80-215A53EA36E0}"/>
              </a:ext>
            </a:extLst>
          </p:cNvPr>
          <p:cNvSpPr>
            <a:spLocks xmlns:a="http://schemas.openxmlformats.org/drawingml/2006/main"/>
          </p:cNvSpPr>
          <p:nvPr/>
        </p:nvSpPr>
        <p:spPr>
          <a:xfrm xmlns:a="http://schemas.openxmlformats.org/drawingml/2006/main">
            <a:off x="3552825" y="291465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788" b="0">
                <a:solidFill>
                  <a:srgbClr val="526570"/>
                </a:solidFill>
                <a:latin typeface="Liberation Sans"/>
                <a:ea typeface="Liberation Sans"/>
                <a:cs typeface="Liberation Sans"/>
              </a:defRPr>
            </a:pPr>
            <a:r>
              <a:rPr sz="788" b="0">
                <a:solidFill>
                  <a:srgbClr val="526570"/>
                </a:solidFill>
                <a:latin typeface="Liberation Sans"/>
                <a:ea typeface="Liberation Sans"/>
                <a:cs typeface="Liberation Sans"/>
              </a:rPr>
              <a:t>Each droplet</a:t>
            </a:r>
          </a:p>
        </p:txBody>
      </p:sp>
      <p:sp>
        <p:nvSpPr>
          <p:cNvPr id="86" name="sorting-label">
            <a:extLst xmlns:a="http://schemas.openxmlformats.org/drawingml/2006/main">
              <a:ext uri="{FF2B5EF4-FFF2-40B4-BE49-F238E27FC236}">
                <a16:creationId xmlns:a16="http://schemas.microsoft.com/office/drawing/2014/main" id="{030DCD74-A309-467D-B3EC-C39BDF6DDE31}"/>
              </a:ext>
            </a:extLst>
          </p:cNvPr>
          <p:cNvSpPr>
            <a:spLocks xmlns:a="http://schemas.openxmlformats.org/drawingml/2006/main"/>
          </p:cNvSpPr>
          <p:nvPr/>
        </p:nvSpPr>
        <p:spPr>
          <a:xfrm xmlns:a="http://schemas.openxmlformats.org/drawingml/2006/main">
            <a:off x="4505325" y="3000375"/>
            <a:ext cx="685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ctr">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Sorting</a:t>
            </a:r>
          </a:p>
          <a:p xmlns:a="http://schemas.openxmlformats.org/drawingml/2006/main">
            <a:pPr algn="ctr">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junction</a:t>
            </a:r>
          </a:p>
        </p:txBody>
      </p:sp>
      <p:sp>
        <p:nvSpPr>
          <p:cNvPr id="87" name="sort-leader">
            <a:extLst xmlns:a="http://schemas.openxmlformats.org/drawingml/2006/main">
              <a:ext uri="{FF2B5EF4-FFF2-40B4-BE49-F238E27FC236}">
                <a16:creationId xmlns:a16="http://schemas.microsoft.com/office/drawing/2014/main" id="{0273C549-778E-4618-A5EA-0D45293C6B08}"/>
              </a:ext>
            </a:extLst>
          </p:cNvPr>
          <p:cNvSpPr>
            <a:spLocks xmlns:a="http://schemas.openxmlformats.org/drawingml/2006/main"/>
          </p:cNvSpPr>
          <p:nvPr/>
        </p:nvSpPr>
        <p:spPr>
          <a:xfrm xmlns:a="http://schemas.openxmlformats.org/drawingml/2006/main">
            <a:off x="4781550" y="2390775"/>
            <a:ext cx="95" cy="590550"/>
          </a:xfrm>
          <a:custGeom xmlns:a="http://schemas.openxmlformats.org/drawingml/2006/main">
            <a:pathLst>
              <a:path w="95" h="590550">
                <a:moveTo>
                  <a:pt x="0" y="590550"/>
                </a:moveTo>
                <a:lnTo>
                  <a:pt x="0" y="0"/>
                </a:lnTo>
              </a:path>
            </a:pathLst>
          </a:custGeom>
          <a:noFill xmlns:a="http://schemas.openxmlformats.org/drawingml/2006/main"/>
          <a:ln xmlns:a="http://schemas.openxmlformats.org/drawingml/2006/main" w="6668">
            <a:solidFill>
              <a:srgbClr val="526570"/>
            </a:solidFill>
            <a:prstDash val="solid"/>
          </a:ln>
        </p:spPr>
      </p:sp>
      <p:sp>
        <p:nvSpPr>
          <p:cNvPr id="88" name="hits-label">
            <a:extLst xmlns:a="http://schemas.openxmlformats.org/drawingml/2006/main">
              <a:ext uri="{FF2B5EF4-FFF2-40B4-BE49-F238E27FC236}">
                <a16:creationId xmlns:a16="http://schemas.microsoft.com/office/drawing/2014/main" id="{04DA08F0-60FC-42A3-994B-996BB7421627}"/>
              </a:ext>
            </a:extLst>
          </p:cNvPr>
          <p:cNvSpPr>
            <a:spLocks xmlns:a="http://schemas.openxmlformats.org/drawingml/2006/main"/>
          </p:cNvSpPr>
          <p:nvPr/>
        </p:nvSpPr>
        <p:spPr>
          <a:xfrm xmlns:a="http://schemas.openxmlformats.org/drawingml/2006/main">
            <a:off x="5248275" y="1390650"/>
            <a:ext cx="990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938" b="1">
                <a:solidFill>
                  <a:srgbClr val="22343E"/>
                </a:solidFill>
                <a:latin typeface="Liberation Sans"/>
                <a:ea typeface="Liberation Sans"/>
                <a:cs typeface="Liberation Sans"/>
              </a:defRPr>
            </a:pPr>
            <a:r>
              <a:rPr sz="938" b="1">
                <a:solidFill>
                  <a:srgbClr val="22343E"/>
                </a:solidFill>
                <a:latin typeface="Liberation Sans"/>
                <a:ea typeface="Liberation Sans"/>
                <a:cs typeface="Liberation Sans"/>
              </a:rPr>
              <a:t>Collected hits</a:t>
            </a:r>
          </a:p>
        </p:txBody>
      </p:sp>
      <p:sp>
        <p:nvSpPr>
          <p:cNvPr id="89" name="hits-rule">
            <a:extLst xmlns:a="http://schemas.openxmlformats.org/drawingml/2006/main">
              <a:ext uri="{FF2B5EF4-FFF2-40B4-BE49-F238E27FC236}">
                <a16:creationId xmlns:a16="http://schemas.microsoft.com/office/drawing/2014/main" id="{6038D67D-58CB-453E-996E-BFB2D726CD24}"/>
              </a:ext>
            </a:extLst>
          </p:cNvPr>
          <p:cNvSpPr>
            <a:spLocks xmlns:a="http://schemas.openxmlformats.org/drawingml/2006/main"/>
          </p:cNvSpPr>
          <p:nvPr/>
        </p:nvSpPr>
        <p:spPr>
          <a:xfrm xmlns:a="http://schemas.openxmlformats.org/drawingml/2006/main">
            <a:off x="5257800" y="1562100"/>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900" b="0">
                <a:solidFill>
                  <a:srgbClr val="23745C"/>
                </a:solidFill>
                <a:latin typeface="Liberation Sans"/>
                <a:ea typeface="Liberation Sans"/>
                <a:cs typeface="Liberation Sans"/>
              </a:defRPr>
            </a:pPr>
            <a:r>
              <a:rPr sz="900" b="0">
                <a:solidFill>
                  <a:srgbClr val="23745C"/>
                </a:solidFill>
                <a:latin typeface="Liberation Sans"/>
                <a:ea typeface="Liberation Sans"/>
                <a:cs typeface="Liberation Sans"/>
              </a:rPr>
              <a:t>F ≥ θ</a:t>
            </a:r>
          </a:p>
        </p:txBody>
      </p:sp>
      <p:sp>
        <p:nvSpPr>
          <p:cNvPr id="90" name="waste-label">
            <a:extLst xmlns:a="http://schemas.openxmlformats.org/drawingml/2006/main">
              <a:ext uri="{FF2B5EF4-FFF2-40B4-BE49-F238E27FC236}">
                <a16:creationId xmlns:a16="http://schemas.microsoft.com/office/drawing/2014/main" id="{C10676EC-00B1-4428-A600-31D909DF0CA7}"/>
              </a:ext>
            </a:extLst>
          </p:cNvPr>
          <p:cNvSpPr>
            <a:spLocks xmlns:a="http://schemas.openxmlformats.org/drawingml/2006/main"/>
          </p:cNvSpPr>
          <p:nvPr/>
        </p:nvSpPr>
        <p:spPr>
          <a:xfrm xmlns:a="http://schemas.openxmlformats.org/drawingml/2006/main">
            <a:off x="5257800" y="2895600"/>
            <a:ext cx="8667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938" b="1">
                <a:solidFill>
                  <a:srgbClr val="22343E"/>
                </a:solidFill>
                <a:latin typeface="Liberation Sans"/>
                <a:ea typeface="Liberation Sans"/>
                <a:cs typeface="Liberation Sans"/>
              </a:defRPr>
            </a:pPr>
            <a:r>
              <a:rPr sz="938" b="1">
                <a:solidFill>
                  <a:srgbClr val="22343E"/>
                </a:solidFill>
                <a:latin typeface="Liberation Sans"/>
                <a:ea typeface="Liberation Sans"/>
                <a:cs typeface="Liberation Sans"/>
              </a:rPr>
              <a:t>Waste</a:t>
            </a:r>
          </a:p>
        </p:txBody>
      </p:sp>
      <p:sp>
        <p:nvSpPr>
          <p:cNvPr id="91" name="waste-rule">
            <a:extLst xmlns:a="http://schemas.openxmlformats.org/drawingml/2006/main">
              <a:ext uri="{FF2B5EF4-FFF2-40B4-BE49-F238E27FC236}">
                <a16:creationId xmlns:a16="http://schemas.microsoft.com/office/drawing/2014/main" id="{6A74210E-1929-4F4A-80FD-E0B2B2EACC75}"/>
              </a:ext>
            </a:extLst>
          </p:cNvPr>
          <p:cNvSpPr>
            <a:spLocks xmlns:a="http://schemas.openxmlformats.org/drawingml/2006/main"/>
          </p:cNvSpPr>
          <p:nvPr/>
        </p:nvSpPr>
        <p:spPr>
          <a:xfrm xmlns:a="http://schemas.openxmlformats.org/drawingml/2006/main">
            <a:off x="5257800" y="3095625"/>
            <a:ext cx="76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900" b="0">
                <a:solidFill>
                  <a:srgbClr val="22343E"/>
                </a:solidFill>
                <a:latin typeface="Liberation Sans"/>
                <a:ea typeface="Liberation Sans"/>
                <a:cs typeface="Liberation Sans"/>
              </a:defRPr>
            </a:pPr>
            <a:r>
              <a:rPr sz="900" b="0">
                <a:solidFill>
                  <a:srgbClr val="22343E"/>
                </a:solidFill>
                <a:latin typeface="Liberation Sans"/>
                <a:ea typeface="Liberation Sans"/>
                <a:cs typeface="Liberation Sans"/>
              </a:rPr>
              <a:t>F &lt; θ</a:t>
            </a:r>
          </a:p>
        </p:txBody>
      </p:sp>
      <p:sp>
        <p:nvSpPr>
          <p:cNvPr id="92" name="control-key-line">
            <a:extLst xmlns:a="http://schemas.openxmlformats.org/drawingml/2006/main">
              <a:ext uri="{FF2B5EF4-FFF2-40B4-BE49-F238E27FC236}">
                <a16:creationId xmlns:a16="http://schemas.microsoft.com/office/drawing/2014/main" id="{A255E21A-B44A-404A-8F0B-4E0F73F442BC}"/>
              </a:ext>
            </a:extLst>
          </p:cNvPr>
          <p:cNvSpPr>
            <a:spLocks xmlns:a="http://schemas.openxmlformats.org/drawingml/2006/main"/>
          </p:cNvSpPr>
          <p:nvPr/>
        </p:nvSpPr>
        <p:spPr>
          <a:xfrm xmlns:a="http://schemas.openxmlformats.org/drawingml/2006/main">
            <a:off x="190500" y="742950"/>
            <a:ext cx="257175" cy="95"/>
          </a:xfrm>
          <a:custGeom xmlns:a="http://schemas.openxmlformats.org/drawingml/2006/main">
            <a:pathLst>
              <a:path w="257175" h="95">
                <a:moveTo>
                  <a:pt x="0" y="0"/>
                </a:moveTo>
                <a:lnTo>
                  <a:pt x="257175" y="0"/>
                </a:lnTo>
              </a:path>
            </a:pathLst>
          </a:custGeom>
          <a:noFill xmlns:a="http://schemas.openxmlformats.org/drawingml/2006/main"/>
          <a:ln xmlns:a="http://schemas.openxmlformats.org/drawingml/2006/main" w="15240">
            <a:solidFill>
              <a:srgbClr val="71558A"/>
            </a:solidFill>
            <a:prstDash val="dash"/>
          </a:ln>
        </p:spPr>
      </p:sp>
      <p:sp>
        <p:nvSpPr>
          <p:cNvPr id="93" name="control-key">
            <a:extLst xmlns:a="http://schemas.openxmlformats.org/drawingml/2006/main">
              <a:ext uri="{FF2B5EF4-FFF2-40B4-BE49-F238E27FC236}">
                <a16:creationId xmlns:a16="http://schemas.microsoft.com/office/drawing/2014/main" id="{E3207C28-5A94-47CF-B2BB-249CE463EC24}"/>
              </a:ext>
            </a:extLst>
          </p:cNvPr>
          <p:cNvSpPr>
            <a:spLocks xmlns:a="http://schemas.openxmlformats.org/drawingml/2006/main"/>
          </p:cNvSpPr>
          <p:nvPr/>
        </p:nvSpPr>
        <p:spPr>
          <a:xfrm xmlns:a="http://schemas.openxmlformats.org/drawingml/2006/main">
            <a:off x="514350" y="638175"/>
            <a:ext cx="10572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825" b="0">
                <a:solidFill>
                  <a:srgbClr val="71558A"/>
                </a:solidFill>
                <a:latin typeface="Liberation Sans"/>
                <a:ea typeface="Liberation Sans"/>
                <a:cs typeface="Liberation Sans"/>
              </a:defRPr>
            </a:pPr>
            <a:r>
              <a:rPr sz="825" b="0">
                <a:solidFill>
                  <a:srgbClr val="71558A"/>
                </a:solidFill>
                <a:latin typeface="Liberation Sans"/>
                <a:ea typeface="Liberation Sans"/>
                <a:cs typeface="Liberation Sans"/>
              </a:rPr>
              <a:t>Control signal</a:t>
            </a:r>
          </a:p>
        </p:txBody>
      </p:sp>
      <p:sp>
        <p:nvSpPr>
          <p:cNvPr id="94" name="key-hit">
            <a:extLst xmlns:a="http://schemas.openxmlformats.org/drawingml/2006/main">
              <a:ext uri="{FF2B5EF4-FFF2-40B4-BE49-F238E27FC236}">
                <a16:creationId xmlns:a16="http://schemas.microsoft.com/office/drawing/2014/main" id="{D6952DE6-D9D4-4605-B4C6-6BC57653C49B}"/>
              </a:ext>
            </a:extLst>
          </p:cNvPr>
          <p:cNvSpPr>
            <a:spLocks xmlns:a="http://schemas.openxmlformats.org/drawingml/2006/main"/>
          </p:cNvSpPr>
          <p:nvPr/>
        </p:nvSpPr>
        <p:spPr>
          <a:xfrm xmlns:a="http://schemas.openxmlformats.org/drawingml/2006/main">
            <a:off x="205740" y="97726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95" name="key-hit.core">
            <a:extLst xmlns:a="http://schemas.openxmlformats.org/drawingml/2006/main">
              <a:ext uri="{FF2B5EF4-FFF2-40B4-BE49-F238E27FC236}">
                <a16:creationId xmlns:a16="http://schemas.microsoft.com/office/drawing/2014/main" id="{8BC05039-8599-49DD-821F-81A569E4EDCE}"/>
              </a:ext>
            </a:extLst>
          </p:cNvPr>
          <p:cNvSpPr>
            <a:spLocks xmlns:a="http://schemas.openxmlformats.org/drawingml/2006/main"/>
          </p:cNvSpPr>
          <p:nvPr/>
        </p:nvSpPr>
        <p:spPr>
          <a:xfrm xmlns:a="http://schemas.openxmlformats.org/drawingml/2006/main">
            <a:off x="232410" y="1003935"/>
            <a:ext cx="49530" cy="49530"/>
          </a:xfrm>
          <a:prstGeom xmlns:a="http://schemas.openxmlformats.org/drawingml/2006/main" prst="ellipse">
            <a:avLst/>
          </a:prstGeom>
          <a:solidFill xmlns:a="http://schemas.openxmlformats.org/drawingml/2006/main">
            <a:srgbClr val="23745C"/>
          </a:solidFill>
          <a:ln xmlns:a="http://schemas.openxmlformats.org/drawingml/2006/main" w="0">
            <a:noFill/>
            <a:prstDash val="solid"/>
          </a:ln>
        </p:spPr>
      </p:sp>
      <p:sp>
        <p:nvSpPr>
          <p:cNvPr id="96" name="hit-key">
            <a:extLst xmlns:a="http://schemas.openxmlformats.org/drawingml/2006/main">
              <a:ext uri="{FF2B5EF4-FFF2-40B4-BE49-F238E27FC236}">
                <a16:creationId xmlns:a16="http://schemas.microsoft.com/office/drawing/2014/main" id="{E13BB926-D725-46BC-B85C-1AA3DB831B24}"/>
              </a:ext>
            </a:extLst>
          </p:cNvPr>
          <p:cNvSpPr>
            <a:spLocks xmlns:a="http://schemas.openxmlformats.org/drawingml/2006/main"/>
          </p:cNvSpPr>
          <p:nvPr/>
        </p:nvSpPr>
        <p:spPr>
          <a:xfrm xmlns:a="http://schemas.openxmlformats.org/drawingml/2006/main">
            <a:off x="381000" y="923925"/>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825" b="0">
                <a:solidFill>
                  <a:srgbClr val="22343E"/>
                </a:solidFill>
                <a:latin typeface="Liberation Sans"/>
                <a:ea typeface="Liberation Sans"/>
                <a:cs typeface="Liberation Sans"/>
              </a:defRPr>
            </a:pPr>
            <a:r>
              <a:rPr sz="825" b="0">
                <a:solidFill>
                  <a:srgbClr val="22343E"/>
                </a:solidFill>
                <a:latin typeface="Liberation Sans"/>
                <a:ea typeface="Liberation Sans"/>
                <a:cs typeface="Liberation Sans"/>
              </a:rPr>
              <a:t>F ≥ θ</a:t>
            </a:r>
          </a:p>
        </p:txBody>
      </p:sp>
      <p:sp>
        <p:nvSpPr>
          <p:cNvPr id="97" name="key-low">
            <a:extLst xmlns:a="http://schemas.openxmlformats.org/drawingml/2006/main">
              <a:ext uri="{FF2B5EF4-FFF2-40B4-BE49-F238E27FC236}">
                <a16:creationId xmlns:a16="http://schemas.microsoft.com/office/drawing/2014/main" id="{7BA2C185-F2D6-45F2-94A6-88C8BC9FAEC5}"/>
              </a:ext>
            </a:extLst>
          </p:cNvPr>
          <p:cNvSpPr>
            <a:spLocks xmlns:a="http://schemas.openxmlformats.org/drawingml/2006/main"/>
          </p:cNvSpPr>
          <p:nvPr/>
        </p:nvSpPr>
        <p:spPr>
          <a:xfrm xmlns:a="http://schemas.openxmlformats.org/drawingml/2006/main">
            <a:off x="996315" y="977265"/>
            <a:ext cx="102870" cy="102870"/>
          </a:xfrm>
          <a:prstGeom xmlns:a="http://schemas.openxmlformats.org/drawingml/2006/main" prst="ellipse">
            <a:avLst/>
          </a:prstGeom>
          <a:solidFill xmlns:a="http://schemas.openxmlformats.org/drawingml/2006/main">
            <a:srgbClr val="FFFFFF"/>
          </a:solidFill>
          <a:ln xmlns:a="http://schemas.openxmlformats.org/drawingml/2006/main" w="9525">
            <a:solidFill>
              <a:srgbClr val="376D86"/>
            </a:solidFill>
            <a:prstDash val="solid"/>
          </a:ln>
        </p:spPr>
      </p:sp>
      <p:sp>
        <p:nvSpPr>
          <p:cNvPr id="98" name="low-key">
            <a:extLst xmlns:a="http://schemas.openxmlformats.org/drawingml/2006/main">
              <a:ext uri="{FF2B5EF4-FFF2-40B4-BE49-F238E27FC236}">
                <a16:creationId xmlns:a16="http://schemas.microsoft.com/office/drawing/2014/main" id="{4269D26C-1EC6-408B-8126-AF27037749B9}"/>
              </a:ext>
            </a:extLst>
          </p:cNvPr>
          <p:cNvSpPr>
            <a:spLocks xmlns:a="http://schemas.openxmlformats.org/drawingml/2006/main"/>
          </p:cNvSpPr>
          <p:nvPr/>
        </p:nvSpPr>
        <p:spPr>
          <a:xfrm xmlns:a="http://schemas.openxmlformats.org/drawingml/2006/main">
            <a:off x="1171575" y="923925"/>
            <a:ext cx="5048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825" b="0">
                <a:solidFill>
                  <a:srgbClr val="22343E"/>
                </a:solidFill>
                <a:latin typeface="Liberation Sans"/>
                <a:ea typeface="Liberation Sans"/>
                <a:cs typeface="Liberation Sans"/>
              </a:defRPr>
            </a:pPr>
            <a:r>
              <a:rPr sz="825" b="0">
                <a:solidFill>
                  <a:srgbClr val="22343E"/>
                </a:solidFill>
                <a:latin typeface="Liberation Sans"/>
                <a:ea typeface="Liberation Sans"/>
                <a:cs typeface="Liberation Sans"/>
              </a:rPr>
              <a:t>F &lt; θ</a:t>
            </a:r>
          </a:p>
        </p:txBody>
      </p:sp>
      <p:sp>
        <p:nvSpPr>
          <p:cNvPr id="99" name="key-note">
            <a:extLst xmlns:a="http://schemas.openxmlformats.org/drawingml/2006/main">
              <a:ext uri="{FF2B5EF4-FFF2-40B4-BE49-F238E27FC236}">
                <a16:creationId xmlns:a16="http://schemas.microsoft.com/office/drawing/2014/main" id="{0DA73F8C-569D-434A-AB0F-9FA9A184EEAE}"/>
              </a:ext>
            </a:extLst>
          </p:cNvPr>
          <p:cNvSpPr>
            <a:spLocks xmlns:a="http://schemas.openxmlformats.org/drawingml/2006/main"/>
          </p:cNvSpPr>
          <p:nvPr/>
        </p:nvSpPr>
        <p:spPr>
          <a:xfrm xmlns:a="http://schemas.openxmlformats.org/drawingml/2006/main">
            <a:off x="1819275" y="923925"/>
            <a:ext cx="13620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825" b="0">
                <a:solidFill>
                  <a:srgbClr val="526570"/>
                </a:solidFill>
                <a:latin typeface="Liberation Sans"/>
                <a:ea typeface="Liberation Sans"/>
                <a:cs typeface="Liberation Sans"/>
              </a:defRPr>
            </a:pPr>
            <a:r>
              <a:rPr sz="825" b="0">
                <a:solidFill>
                  <a:srgbClr val="526570"/>
                </a:solidFill>
                <a:latin typeface="Liberation Sans"/>
                <a:ea typeface="Liberation Sans"/>
                <a:cs typeface="Liberation Sans"/>
              </a:rPr>
              <a:t>After incubation</a:t>
            </a:r>
          </a:p>
        </p:txBody>
      </p:sp>
      <p:sp>
        <p:nvSpPr>
          <p:cNvPr id="100" name="disclosure">
            <a:extLst xmlns:a="http://schemas.openxmlformats.org/drawingml/2006/main">
              <a:ext uri="{FF2B5EF4-FFF2-40B4-BE49-F238E27FC236}">
                <a16:creationId xmlns:a16="http://schemas.microsoft.com/office/drawing/2014/main" id="{FF949544-AB25-48FF-8A31-04C6A7D60170}"/>
              </a:ext>
            </a:extLst>
          </p:cNvPr>
          <p:cNvSpPr>
            <a:spLocks xmlns:a="http://schemas.openxmlformats.org/drawingml/2006/main"/>
          </p:cNvSpPr>
          <p:nvPr/>
        </p:nvSpPr>
        <p:spPr>
          <a:xfrm xmlns:a="http://schemas.openxmlformats.org/drawingml/2006/main">
            <a:off x="190500" y="3429000"/>
            <a:ext cx="601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19050" rIns="0" bIns="19050" anchor="ctr">
            <a:noAutofit/>
          </a:bodyPr>
          <a:lstStyle xmlns:a="http://schemas.openxmlformats.org/drawingml/2006/main"/>
          <a:p xmlns:a="http://schemas.openxmlformats.org/drawingml/2006/main">
            <a:pPr algn="l">
              <a:defRPr sz="788" b="0">
                <a:solidFill>
                  <a:srgbClr val="526570"/>
                </a:solidFill>
                <a:latin typeface="Liberation Sans"/>
                <a:ea typeface="Liberation Sans"/>
                <a:cs typeface="Liberation Sans"/>
              </a:defRPr>
            </a:pPr>
            <a:r>
              <a:rPr sz="788" b="0">
                <a:solidFill>
                  <a:srgbClr val="526570"/>
                </a:solidFill>
                <a:latin typeface="Liberation Sans"/>
                <a:ea typeface="Liberation Sans"/>
                <a:cs typeface="Liberation Sans"/>
              </a:rPr>
              <a:t>Hypothetical schematic. Geometry, droplet counts and fluorescence glyphs are illustrative.</a:t>
            </a:r>
          </a:p>
        </p:txBody>
      </p:sp>
    </p:spTree>
    <p:extLst>
      <p:ext uri="{BB962C8B-B14F-4D97-AF65-F5344CB8AC3E}">
        <p14:creationId xmlns:p14="http://schemas.microsoft.com/office/powerpoint/2010/main" val="951699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2026-09-30T02:01:22.4180000Z</dcterms:created>
  <dcterms:modified xsi:type="dcterms:W3CDTF">2026-09-30T02:01:22.4180000Z</dcterms:modified>
</coreProperties>
</file>