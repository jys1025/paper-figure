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ca0712857d4019" /><Relationship Type="http://schemas.openxmlformats.org/officeDocument/2006/relationships/extended-properties" Target="/docProps/app.xml" Id="R2d717ddec2814b0f" /><Relationship Type="http://schemas.openxmlformats.org/officeDocument/2006/relationships/officeDocument" Target="/ppt/presentation.xml" Id="Rc23765702b2d4791" /></Relationships>
</file>

<file path=ppt/presentation.xml><?xml version="1.0" encoding="utf-8"?>
<p:presentation xmlns:p="http://schemas.openxmlformats.org/presentationml/2006/main">
  <p:sldMasterIdLst>
    <p:sldMasterId xmlns:r="http://schemas.openxmlformats.org/officeDocument/2006/relationships" id="2147483648" r:id="R6cbde160178a4653"/>
  </p:sldMasterIdLst>
  <p:notesMasterIdLst>
    <p:notesMasterId xmlns:r="http://schemas.openxmlformats.org/officeDocument/2006/relationships" r:id="R0b3493005ee24e10"/>
  </p:notesMasterIdLst>
  <p:sldIdLst>
    <p:sldId xmlns:r="http://schemas.openxmlformats.org/officeDocument/2006/relationships" id="256" r:id="R1fa3e013c89449a9"/>
  </p:sldIdLst>
  <p:sldSz cx="6400800" cy="37338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ae8e6216134583" /><Relationship Type="http://schemas.openxmlformats.org/officeDocument/2006/relationships/slideMaster" Target="/ppt/slideMasters/slideMaster1.xml" Id="R6cbde160178a4653" /><Relationship Type="http://schemas.openxmlformats.org/officeDocument/2006/relationships/notesMaster" Target="/ppt/notesMasters/notesMaster1.xml" Id="R0b3493005ee24e10" /><Relationship Type="http://schemas.openxmlformats.org/officeDocument/2006/relationships/presProps" Target="/ppt/presProps.xml" Id="Reb4b224c33be46f3" /><Relationship Type="http://schemas.openxmlformats.org/officeDocument/2006/relationships/tableStyles" Target="/ppt/tableStyles.xml" Id="R2c1963d6a27343ab" /><Relationship Type="http://schemas.openxmlformats.org/officeDocument/2006/relationships/slide" Target="/ppt/slides/slide1.xml" Id="R1fa3e013c89449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bed78f507446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d837aa876f43e3" /><Relationship Type="http://schemas.openxmlformats.org/officeDocument/2006/relationships/notesMaster" Target="/ppt/notesMasters/notesMaster1.xml" Id="Rc9674e7046d44e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Fluorescence-activated microfluidic droplet screening</a:t>
            </a:r>
          </a:p>
          <a:p xmlns:a="http://schemas.openxmlformats.org/drawingml/2006/main">
            <a:r>
              <a:t>Hypothetical methodology, not experimental evidence. All channel dimensions, droplet counts, positions and threshold classes are schematic. No flow rates, incubation time, signal values, biology or performance are specified. Native shapes and text form the editable figure. Color allocation study: Mamba Figure 1, https://arxiv.org/html/2312.00752v2/selection.svg, visually inspected 2026-09-30. Representation study: MAE architecture, https://arxiv.org/html/2111.06377v3/arch.png, visually inspected 2026-09-30. Only transferable visual principles were used; no source image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a4dd749ad841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093f7bc51a45ce" /><Relationship Type="http://schemas.openxmlformats.org/officeDocument/2006/relationships/slideLayout" Target="/ppt/slideLayouts/slideLayout1.xml" Id="R48fb62e8467a48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8fb62e8467a48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db3d47f49c24760" /><Relationship Type="http://schemas.openxmlformats.org/officeDocument/2006/relationships/notesSlide" Target="/ppt/notesSlides/notesSlide1.xml" Id="Ra4e78ea1955a45c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 name="title">
            <a:extLst xmlns:a="http://schemas.openxmlformats.org/drawingml/2006/main">
              <a:ext uri="{FF2B5EF4-FFF2-40B4-BE49-F238E27FC236}">
                <a16:creationId xmlns:a16="http://schemas.microsoft.com/office/drawing/2014/main" id="{E5188C4D-3EFF-421E-8AD4-04F556FF3134}"/>
              </a:ext>
            </a:extLst>
          </p:cNvPr>
          <p:cNvSpPr>
            <a:spLocks xmlns:a="http://schemas.openxmlformats.org/drawingml/2006/main"/>
          </p:cNvSpPr>
          <p:nvPr/>
        </p:nvSpPr>
        <p:spPr>
          <a:xfrm xmlns:a="http://schemas.openxmlformats.org/drawingml/2006/main">
            <a:off x="171450" y="95250"/>
            <a:ext cx="6057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l">
              <a:defRPr sz="1200" b="1">
                <a:solidFill>
                  <a:srgbClr val="24272B"/>
                </a:solidFill>
                <a:latin typeface="Arial"/>
                <a:ea typeface="Arial"/>
                <a:cs typeface="Arial"/>
              </a:defRPr>
            </a:pPr>
            <a:r>
              <a:rPr sz="1200" b="1">
                <a:solidFill>
                  <a:srgbClr val="24272B"/>
                </a:solidFill>
                <a:latin typeface="Arial"/>
                <a:ea typeface="Arial"/>
                <a:cs typeface="Arial"/>
              </a:rPr>
              <a:t>Fluorescence-activated microfluidic droplet screening</a:t>
            </a:r>
          </a:p>
        </p:txBody>
      </p:sp>
      <p:sp>
        <p:nvSpPr>
          <p:cNvPr id="2" name="flow-focusing-channel">
            <a:extLst xmlns:a="http://schemas.openxmlformats.org/drawingml/2006/main">
              <a:ext uri="{FF2B5EF4-FFF2-40B4-BE49-F238E27FC236}">
                <a16:creationId xmlns:a16="http://schemas.microsoft.com/office/drawing/2014/main" id="{D604B8CC-995D-4857-89FF-9D9BE61FF8BD}"/>
              </a:ext>
            </a:extLst>
          </p:cNvPr>
          <p:cNvSpPr>
            <a:spLocks xmlns:a="http://schemas.openxmlformats.org/drawingml/2006/main"/>
          </p:cNvSpPr>
          <p:nvPr/>
        </p:nvSpPr>
        <p:spPr>
          <a:xfrm xmlns:a="http://schemas.openxmlformats.org/drawingml/2006/main">
            <a:off x="171450" y="1552575"/>
            <a:ext cx="1790700" cy="1352550"/>
          </a:xfrm>
          <a:custGeom xmlns:a="http://schemas.openxmlformats.org/drawingml/2006/main">
            <a:pathLst>
              <a:path w="1790700" h="1352550">
                <a:moveTo>
                  <a:pt x="0" y="561975"/>
                </a:moveTo>
                <a:lnTo>
                  <a:pt x="952500" y="561975"/>
                </a:lnTo>
                <a:lnTo>
                  <a:pt x="952500" y="0"/>
                </a:lnTo>
                <a:lnTo>
                  <a:pt x="1181100" y="0"/>
                </a:lnTo>
                <a:lnTo>
                  <a:pt x="1181100" y="561975"/>
                </a:lnTo>
                <a:lnTo>
                  <a:pt x="1790700" y="561975"/>
                </a:lnTo>
                <a:lnTo>
                  <a:pt x="1790700" y="790575"/>
                </a:lnTo>
                <a:lnTo>
                  <a:pt x="1181100" y="790575"/>
                </a:lnTo>
                <a:lnTo>
                  <a:pt x="1181100" y="1352550"/>
                </a:lnTo>
                <a:lnTo>
                  <a:pt x="952500" y="1352550"/>
                </a:lnTo>
                <a:lnTo>
                  <a:pt x="952500" y="790575"/>
                </a:lnTo>
                <a:lnTo>
                  <a:pt x="0" y="790575"/>
                </a:lnTo>
                <a:close/>
              </a:path>
            </a:pathLst>
          </a:custGeom>
          <a:solidFill xmlns:a="http://schemas.openxmlformats.org/drawingml/2006/main">
            <a:srgbClr val="F7E5D5"/>
          </a:solidFill>
          <a:ln xmlns:a="http://schemas.openxmlformats.org/drawingml/2006/main" w="10954">
            <a:solidFill>
              <a:srgbClr val="B1703D"/>
            </a:solidFill>
            <a:prstDash val="solid"/>
          </a:ln>
        </p:spPr>
      </p:sp>
      <p:sp>
        <p:nvSpPr>
          <p:cNvPr id="3" name="incubation-channel.wall">
            <a:extLst xmlns:a="http://schemas.openxmlformats.org/drawingml/2006/main">
              <a:ext uri="{FF2B5EF4-FFF2-40B4-BE49-F238E27FC236}">
                <a16:creationId xmlns:a16="http://schemas.microsoft.com/office/drawing/2014/main" id="{A2D5632A-6C3A-4158-97FC-B38E14ED4B12}"/>
              </a:ext>
            </a:extLst>
          </p:cNvPr>
          <p:cNvSpPr>
            <a:spLocks xmlns:a="http://schemas.openxmlformats.org/drawingml/2006/main"/>
          </p:cNvSpPr>
          <p:nvPr/>
        </p:nvSpPr>
        <p:spPr>
          <a:xfrm xmlns:a="http://schemas.openxmlformats.org/drawingml/2006/main">
            <a:off x="1885950" y="1714500"/>
            <a:ext cx="3181350" cy="990600"/>
          </a:xfrm>
          <a:custGeom xmlns:a="http://schemas.openxmlformats.org/drawingml/2006/main">
            <a:pathLst>
              <a:path w="3181350" h="990600">
                <a:moveTo>
                  <a:pt x="0" y="514350"/>
                </a:moveTo>
                <a:lnTo>
                  <a:pt x="66675" y="514350"/>
                </a:lnTo>
                <a:lnTo>
                  <a:pt x="82302" y="513308"/>
                </a:lnTo>
                <a:lnTo>
                  <a:pt x="95845" y="510183"/>
                </a:lnTo>
                <a:lnTo>
                  <a:pt x="107305" y="504974"/>
                </a:lnTo>
                <a:lnTo>
                  <a:pt x="116681" y="497681"/>
                </a:lnTo>
                <a:lnTo>
                  <a:pt x="123974" y="488305"/>
                </a:lnTo>
                <a:lnTo>
                  <a:pt x="129183" y="476845"/>
                </a:lnTo>
                <a:lnTo>
                  <a:pt x="132308" y="463302"/>
                </a:lnTo>
                <a:lnTo>
                  <a:pt x="133350" y="447675"/>
                </a:lnTo>
                <a:lnTo>
                  <a:pt x="133350" y="114300"/>
                </a:lnTo>
                <a:lnTo>
                  <a:pt x="135136" y="87511"/>
                </a:lnTo>
                <a:lnTo>
                  <a:pt x="140494" y="64294"/>
                </a:lnTo>
                <a:lnTo>
                  <a:pt x="149423" y="44648"/>
                </a:lnTo>
                <a:lnTo>
                  <a:pt x="161925" y="28575"/>
                </a:lnTo>
                <a:lnTo>
                  <a:pt x="177998" y="16073"/>
                </a:lnTo>
                <a:lnTo>
                  <a:pt x="197644" y="7144"/>
                </a:lnTo>
                <a:lnTo>
                  <a:pt x="220861" y="1786"/>
                </a:lnTo>
                <a:lnTo>
                  <a:pt x="247650" y="0"/>
                </a:lnTo>
                <a:lnTo>
                  <a:pt x="400050" y="0"/>
                </a:lnTo>
                <a:lnTo>
                  <a:pt x="426839" y="1786"/>
                </a:lnTo>
                <a:lnTo>
                  <a:pt x="450056" y="7144"/>
                </a:lnTo>
                <a:lnTo>
                  <a:pt x="469702" y="16073"/>
                </a:lnTo>
                <a:lnTo>
                  <a:pt x="485775" y="28575"/>
                </a:lnTo>
                <a:lnTo>
                  <a:pt x="498277" y="44648"/>
                </a:lnTo>
                <a:lnTo>
                  <a:pt x="507206" y="64294"/>
                </a:lnTo>
                <a:lnTo>
                  <a:pt x="512564" y="87511"/>
                </a:lnTo>
                <a:lnTo>
                  <a:pt x="514350" y="114300"/>
                </a:lnTo>
                <a:lnTo>
                  <a:pt x="514350" y="876300"/>
                </a:lnTo>
                <a:lnTo>
                  <a:pt x="516136" y="903089"/>
                </a:lnTo>
                <a:lnTo>
                  <a:pt x="521494" y="926306"/>
                </a:lnTo>
                <a:lnTo>
                  <a:pt x="530423" y="945952"/>
                </a:lnTo>
                <a:lnTo>
                  <a:pt x="542925" y="962025"/>
                </a:lnTo>
                <a:lnTo>
                  <a:pt x="558998" y="974527"/>
                </a:lnTo>
                <a:lnTo>
                  <a:pt x="578644" y="983456"/>
                </a:lnTo>
                <a:lnTo>
                  <a:pt x="601861" y="988814"/>
                </a:lnTo>
                <a:lnTo>
                  <a:pt x="628650" y="990600"/>
                </a:lnTo>
                <a:lnTo>
                  <a:pt x="781050" y="990600"/>
                </a:lnTo>
                <a:lnTo>
                  <a:pt x="807839" y="988814"/>
                </a:lnTo>
                <a:lnTo>
                  <a:pt x="831056" y="983456"/>
                </a:lnTo>
                <a:lnTo>
                  <a:pt x="850702" y="974527"/>
                </a:lnTo>
                <a:lnTo>
                  <a:pt x="866775" y="962025"/>
                </a:lnTo>
                <a:lnTo>
                  <a:pt x="879277" y="945952"/>
                </a:lnTo>
                <a:lnTo>
                  <a:pt x="888206" y="926306"/>
                </a:lnTo>
                <a:lnTo>
                  <a:pt x="893564" y="903089"/>
                </a:lnTo>
                <a:lnTo>
                  <a:pt x="895350" y="876300"/>
                </a:lnTo>
                <a:lnTo>
                  <a:pt x="895350" y="114300"/>
                </a:lnTo>
                <a:lnTo>
                  <a:pt x="897136" y="87511"/>
                </a:lnTo>
                <a:lnTo>
                  <a:pt x="902494" y="64294"/>
                </a:lnTo>
                <a:lnTo>
                  <a:pt x="911423" y="44648"/>
                </a:lnTo>
                <a:lnTo>
                  <a:pt x="923925" y="28575"/>
                </a:lnTo>
                <a:lnTo>
                  <a:pt x="939998" y="16073"/>
                </a:lnTo>
                <a:lnTo>
                  <a:pt x="959644" y="7144"/>
                </a:lnTo>
                <a:lnTo>
                  <a:pt x="982861" y="1786"/>
                </a:lnTo>
                <a:lnTo>
                  <a:pt x="1009650" y="0"/>
                </a:lnTo>
                <a:lnTo>
                  <a:pt x="1162050" y="0"/>
                </a:lnTo>
                <a:lnTo>
                  <a:pt x="1188839" y="1786"/>
                </a:lnTo>
                <a:lnTo>
                  <a:pt x="1212056" y="7144"/>
                </a:lnTo>
                <a:lnTo>
                  <a:pt x="1231702" y="16073"/>
                </a:lnTo>
                <a:lnTo>
                  <a:pt x="1247775" y="28575"/>
                </a:lnTo>
                <a:lnTo>
                  <a:pt x="1260277" y="44648"/>
                </a:lnTo>
                <a:lnTo>
                  <a:pt x="1269206" y="64294"/>
                </a:lnTo>
                <a:lnTo>
                  <a:pt x="1274564" y="87511"/>
                </a:lnTo>
                <a:lnTo>
                  <a:pt x="1276350" y="114300"/>
                </a:lnTo>
                <a:lnTo>
                  <a:pt x="1276350" y="400050"/>
                </a:lnTo>
                <a:lnTo>
                  <a:pt x="1278136" y="426839"/>
                </a:lnTo>
                <a:lnTo>
                  <a:pt x="1283494" y="450056"/>
                </a:lnTo>
                <a:lnTo>
                  <a:pt x="1292423" y="469702"/>
                </a:lnTo>
                <a:lnTo>
                  <a:pt x="1304925" y="485775"/>
                </a:lnTo>
                <a:lnTo>
                  <a:pt x="1320998" y="498277"/>
                </a:lnTo>
                <a:lnTo>
                  <a:pt x="1340644" y="507206"/>
                </a:lnTo>
                <a:lnTo>
                  <a:pt x="1363861" y="512564"/>
                </a:lnTo>
                <a:lnTo>
                  <a:pt x="1390650" y="514350"/>
                </a:lnTo>
                <a:lnTo>
                  <a:pt x="3181350" y="514350"/>
                </a:lnTo>
              </a:path>
            </a:pathLst>
          </a:custGeom>
          <a:noFill xmlns:a="http://schemas.openxmlformats.org/drawingml/2006/main"/>
          <a:ln xmlns:a="http://schemas.openxmlformats.org/drawingml/2006/main" w="228600">
            <a:solidFill>
              <a:srgbClr val="B1703D"/>
            </a:solidFill>
            <a:prstDash val="solid"/>
          </a:ln>
        </p:spPr>
      </p:sp>
      <p:sp>
        <p:nvSpPr>
          <p:cNvPr id="4" name="hit-channel.wall">
            <a:extLst xmlns:a="http://schemas.openxmlformats.org/drawingml/2006/main">
              <a:ext uri="{FF2B5EF4-FFF2-40B4-BE49-F238E27FC236}">
                <a16:creationId xmlns:a16="http://schemas.microsoft.com/office/drawing/2014/main" id="{7E15178B-B2B3-4ED9-ACD5-FBBA02F168A8}"/>
              </a:ext>
            </a:extLst>
          </p:cNvPr>
          <p:cNvSpPr>
            <a:spLocks xmlns:a="http://schemas.openxmlformats.org/drawingml/2006/main"/>
          </p:cNvSpPr>
          <p:nvPr/>
        </p:nvSpPr>
        <p:spPr>
          <a:xfrm xmlns:a="http://schemas.openxmlformats.org/drawingml/2006/main">
            <a:off x="5067300" y="1762125"/>
            <a:ext cx="1057275" cy="466725"/>
          </a:xfrm>
          <a:custGeom xmlns:a="http://schemas.openxmlformats.org/drawingml/2006/main">
            <a:pathLst>
              <a:path w="1057275" h="466725">
                <a:moveTo>
                  <a:pt x="0" y="466725"/>
                </a:moveTo>
                <a:lnTo>
                  <a:pt x="275226" y="92112"/>
                </a:lnTo>
                <a:lnTo>
                  <a:pt x="292873" y="70523"/>
                </a:lnTo>
                <a:lnTo>
                  <a:pt x="311977" y="51813"/>
                </a:lnTo>
                <a:lnTo>
                  <a:pt x="332538" y="35981"/>
                </a:lnTo>
                <a:lnTo>
                  <a:pt x="354556" y="23028"/>
                </a:lnTo>
                <a:lnTo>
                  <a:pt x="378032" y="12953"/>
                </a:lnTo>
                <a:lnTo>
                  <a:pt x="402964" y="5757"/>
                </a:lnTo>
                <a:lnTo>
                  <a:pt x="429354" y="1439"/>
                </a:lnTo>
                <a:lnTo>
                  <a:pt x="457200" y="0"/>
                </a:lnTo>
                <a:lnTo>
                  <a:pt x="1057275" y="0"/>
                </a:lnTo>
              </a:path>
            </a:pathLst>
          </a:custGeom>
          <a:noFill xmlns:a="http://schemas.openxmlformats.org/drawingml/2006/main"/>
          <a:ln xmlns:a="http://schemas.openxmlformats.org/drawingml/2006/main" w="228600">
            <a:solidFill>
              <a:srgbClr val="B1703D"/>
            </a:solidFill>
            <a:prstDash val="solid"/>
          </a:ln>
        </p:spPr>
      </p:sp>
      <p:sp>
        <p:nvSpPr>
          <p:cNvPr id="5" name="waste-channel.wall">
            <a:extLst xmlns:a="http://schemas.openxmlformats.org/drawingml/2006/main">
              <a:ext uri="{FF2B5EF4-FFF2-40B4-BE49-F238E27FC236}">
                <a16:creationId xmlns:a16="http://schemas.microsoft.com/office/drawing/2014/main" id="{D0661286-4D0B-4F35-A64F-C3FC79C1C794}"/>
              </a:ext>
            </a:extLst>
          </p:cNvPr>
          <p:cNvSpPr>
            <a:spLocks xmlns:a="http://schemas.openxmlformats.org/drawingml/2006/main"/>
          </p:cNvSpPr>
          <p:nvPr/>
        </p:nvSpPr>
        <p:spPr>
          <a:xfrm xmlns:a="http://schemas.openxmlformats.org/drawingml/2006/main">
            <a:off x="5067300" y="2228850"/>
            <a:ext cx="1057275" cy="466725"/>
          </a:xfrm>
          <a:custGeom xmlns:a="http://schemas.openxmlformats.org/drawingml/2006/main">
            <a:pathLst>
              <a:path w="1057275" h="466725">
                <a:moveTo>
                  <a:pt x="0" y="0"/>
                </a:moveTo>
                <a:lnTo>
                  <a:pt x="275226" y="374613"/>
                </a:lnTo>
                <a:lnTo>
                  <a:pt x="292873" y="396202"/>
                </a:lnTo>
                <a:lnTo>
                  <a:pt x="311977" y="414912"/>
                </a:lnTo>
                <a:lnTo>
                  <a:pt x="332538" y="430744"/>
                </a:lnTo>
                <a:lnTo>
                  <a:pt x="354556" y="443697"/>
                </a:lnTo>
                <a:lnTo>
                  <a:pt x="378032" y="453772"/>
                </a:lnTo>
                <a:lnTo>
                  <a:pt x="402964" y="460968"/>
                </a:lnTo>
                <a:lnTo>
                  <a:pt x="429354" y="465286"/>
                </a:lnTo>
                <a:lnTo>
                  <a:pt x="457200" y="466725"/>
                </a:lnTo>
                <a:lnTo>
                  <a:pt x="1057275" y="466725"/>
                </a:lnTo>
              </a:path>
            </a:pathLst>
          </a:custGeom>
          <a:noFill xmlns:a="http://schemas.openxmlformats.org/drawingml/2006/main"/>
          <a:ln xmlns:a="http://schemas.openxmlformats.org/drawingml/2006/main" w="228600">
            <a:solidFill>
              <a:srgbClr val="B1703D"/>
            </a:solidFill>
            <a:prstDash val="solid"/>
          </a:ln>
        </p:spPr>
      </p:sp>
      <p:sp>
        <p:nvSpPr>
          <p:cNvPr id="6" name="incubation-channel">
            <a:extLst xmlns:a="http://schemas.openxmlformats.org/drawingml/2006/main">
              <a:ext uri="{FF2B5EF4-FFF2-40B4-BE49-F238E27FC236}">
                <a16:creationId xmlns:a16="http://schemas.microsoft.com/office/drawing/2014/main" id="{8C177D3B-FAF8-4A72-BA4F-CA44CB19AD8A}"/>
              </a:ext>
            </a:extLst>
          </p:cNvPr>
          <p:cNvSpPr>
            <a:spLocks xmlns:a="http://schemas.openxmlformats.org/drawingml/2006/main"/>
          </p:cNvSpPr>
          <p:nvPr/>
        </p:nvSpPr>
        <p:spPr>
          <a:xfrm xmlns:a="http://schemas.openxmlformats.org/drawingml/2006/main">
            <a:off x="1885950" y="1714500"/>
            <a:ext cx="3181350" cy="990600"/>
          </a:xfrm>
          <a:custGeom xmlns:a="http://schemas.openxmlformats.org/drawingml/2006/main">
            <a:pathLst>
              <a:path w="3181350" h="990600">
                <a:moveTo>
                  <a:pt x="0" y="514350"/>
                </a:moveTo>
                <a:lnTo>
                  <a:pt x="66675" y="514350"/>
                </a:lnTo>
                <a:lnTo>
                  <a:pt x="82302" y="513308"/>
                </a:lnTo>
                <a:lnTo>
                  <a:pt x="95845" y="510183"/>
                </a:lnTo>
                <a:lnTo>
                  <a:pt x="107305" y="504974"/>
                </a:lnTo>
                <a:lnTo>
                  <a:pt x="116681" y="497681"/>
                </a:lnTo>
                <a:lnTo>
                  <a:pt x="123974" y="488305"/>
                </a:lnTo>
                <a:lnTo>
                  <a:pt x="129183" y="476845"/>
                </a:lnTo>
                <a:lnTo>
                  <a:pt x="132308" y="463302"/>
                </a:lnTo>
                <a:lnTo>
                  <a:pt x="133350" y="447675"/>
                </a:lnTo>
                <a:lnTo>
                  <a:pt x="133350" y="114300"/>
                </a:lnTo>
                <a:lnTo>
                  <a:pt x="135136" y="87511"/>
                </a:lnTo>
                <a:lnTo>
                  <a:pt x="140494" y="64294"/>
                </a:lnTo>
                <a:lnTo>
                  <a:pt x="149423" y="44648"/>
                </a:lnTo>
                <a:lnTo>
                  <a:pt x="161925" y="28575"/>
                </a:lnTo>
                <a:lnTo>
                  <a:pt x="177998" y="16073"/>
                </a:lnTo>
                <a:lnTo>
                  <a:pt x="197644" y="7144"/>
                </a:lnTo>
                <a:lnTo>
                  <a:pt x="220861" y="1786"/>
                </a:lnTo>
                <a:lnTo>
                  <a:pt x="247650" y="0"/>
                </a:lnTo>
                <a:lnTo>
                  <a:pt x="400050" y="0"/>
                </a:lnTo>
                <a:lnTo>
                  <a:pt x="426839" y="1786"/>
                </a:lnTo>
                <a:lnTo>
                  <a:pt x="450056" y="7144"/>
                </a:lnTo>
                <a:lnTo>
                  <a:pt x="469702" y="16073"/>
                </a:lnTo>
                <a:lnTo>
                  <a:pt x="485775" y="28575"/>
                </a:lnTo>
                <a:lnTo>
                  <a:pt x="498277" y="44648"/>
                </a:lnTo>
                <a:lnTo>
                  <a:pt x="507206" y="64294"/>
                </a:lnTo>
                <a:lnTo>
                  <a:pt x="512564" y="87511"/>
                </a:lnTo>
                <a:lnTo>
                  <a:pt x="514350" y="114300"/>
                </a:lnTo>
                <a:lnTo>
                  <a:pt x="514350" y="876300"/>
                </a:lnTo>
                <a:lnTo>
                  <a:pt x="516136" y="903089"/>
                </a:lnTo>
                <a:lnTo>
                  <a:pt x="521494" y="926306"/>
                </a:lnTo>
                <a:lnTo>
                  <a:pt x="530423" y="945952"/>
                </a:lnTo>
                <a:lnTo>
                  <a:pt x="542925" y="962025"/>
                </a:lnTo>
                <a:lnTo>
                  <a:pt x="558998" y="974527"/>
                </a:lnTo>
                <a:lnTo>
                  <a:pt x="578644" y="983456"/>
                </a:lnTo>
                <a:lnTo>
                  <a:pt x="601861" y="988814"/>
                </a:lnTo>
                <a:lnTo>
                  <a:pt x="628650" y="990600"/>
                </a:lnTo>
                <a:lnTo>
                  <a:pt x="781050" y="990600"/>
                </a:lnTo>
                <a:lnTo>
                  <a:pt x="807839" y="988814"/>
                </a:lnTo>
                <a:lnTo>
                  <a:pt x="831056" y="983456"/>
                </a:lnTo>
                <a:lnTo>
                  <a:pt x="850702" y="974527"/>
                </a:lnTo>
                <a:lnTo>
                  <a:pt x="866775" y="962025"/>
                </a:lnTo>
                <a:lnTo>
                  <a:pt x="879277" y="945952"/>
                </a:lnTo>
                <a:lnTo>
                  <a:pt x="888206" y="926306"/>
                </a:lnTo>
                <a:lnTo>
                  <a:pt x="893564" y="903089"/>
                </a:lnTo>
                <a:lnTo>
                  <a:pt x="895350" y="876300"/>
                </a:lnTo>
                <a:lnTo>
                  <a:pt x="895350" y="114300"/>
                </a:lnTo>
                <a:lnTo>
                  <a:pt x="897136" y="87511"/>
                </a:lnTo>
                <a:lnTo>
                  <a:pt x="902494" y="64294"/>
                </a:lnTo>
                <a:lnTo>
                  <a:pt x="911423" y="44648"/>
                </a:lnTo>
                <a:lnTo>
                  <a:pt x="923925" y="28575"/>
                </a:lnTo>
                <a:lnTo>
                  <a:pt x="939998" y="16073"/>
                </a:lnTo>
                <a:lnTo>
                  <a:pt x="959644" y="7144"/>
                </a:lnTo>
                <a:lnTo>
                  <a:pt x="982861" y="1786"/>
                </a:lnTo>
                <a:lnTo>
                  <a:pt x="1009650" y="0"/>
                </a:lnTo>
                <a:lnTo>
                  <a:pt x="1162050" y="0"/>
                </a:lnTo>
                <a:lnTo>
                  <a:pt x="1188839" y="1786"/>
                </a:lnTo>
                <a:lnTo>
                  <a:pt x="1212056" y="7144"/>
                </a:lnTo>
                <a:lnTo>
                  <a:pt x="1231702" y="16073"/>
                </a:lnTo>
                <a:lnTo>
                  <a:pt x="1247775" y="28575"/>
                </a:lnTo>
                <a:lnTo>
                  <a:pt x="1260277" y="44648"/>
                </a:lnTo>
                <a:lnTo>
                  <a:pt x="1269206" y="64294"/>
                </a:lnTo>
                <a:lnTo>
                  <a:pt x="1274564" y="87511"/>
                </a:lnTo>
                <a:lnTo>
                  <a:pt x="1276350" y="114300"/>
                </a:lnTo>
                <a:lnTo>
                  <a:pt x="1276350" y="400050"/>
                </a:lnTo>
                <a:lnTo>
                  <a:pt x="1278136" y="426839"/>
                </a:lnTo>
                <a:lnTo>
                  <a:pt x="1283494" y="450056"/>
                </a:lnTo>
                <a:lnTo>
                  <a:pt x="1292423" y="469702"/>
                </a:lnTo>
                <a:lnTo>
                  <a:pt x="1304925" y="485775"/>
                </a:lnTo>
                <a:lnTo>
                  <a:pt x="1320998" y="498277"/>
                </a:lnTo>
                <a:lnTo>
                  <a:pt x="1340644" y="507206"/>
                </a:lnTo>
                <a:lnTo>
                  <a:pt x="1363861" y="512564"/>
                </a:lnTo>
                <a:lnTo>
                  <a:pt x="1390650" y="514350"/>
                </a:lnTo>
                <a:lnTo>
                  <a:pt x="3181350" y="514350"/>
                </a:lnTo>
              </a:path>
            </a:pathLst>
          </a:custGeom>
          <a:noFill xmlns:a="http://schemas.openxmlformats.org/drawingml/2006/main"/>
          <a:ln xmlns:a="http://schemas.openxmlformats.org/drawingml/2006/main" w="205740">
            <a:solidFill>
              <a:srgbClr val="F7E5D5"/>
            </a:solidFill>
            <a:prstDash val="solid"/>
          </a:ln>
        </p:spPr>
      </p:sp>
      <p:sp>
        <p:nvSpPr>
          <p:cNvPr id="7" name="hit-channel">
            <a:extLst xmlns:a="http://schemas.openxmlformats.org/drawingml/2006/main">
              <a:ext uri="{FF2B5EF4-FFF2-40B4-BE49-F238E27FC236}">
                <a16:creationId xmlns:a16="http://schemas.microsoft.com/office/drawing/2014/main" id="{B53C96D6-60EA-4AF6-A7C5-DFB7613078F1}"/>
              </a:ext>
            </a:extLst>
          </p:cNvPr>
          <p:cNvSpPr>
            <a:spLocks xmlns:a="http://schemas.openxmlformats.org/drawingml/2006/main"/>
          </p:cNvSpPr>
          <p:nvPr/>
        </p:nvSpPr>
        <p:spPr>
          <a:xfrm xmlns:a="http://schemas.openxmlformats.org/drawingml/2006/main">
            <a:off x="5067300" y="1762125"/>
            <a:ext cx="1057275" cy="466725"/>
          </a:xfrm>
          <a:custGeom xmlns:a="http://schemas.openxmlformats.org/drawingml/2006/main">
            <a:pathLst>
              <a:path w="1057275" h="466725">
                <a:moveTo>
                  <a:pt x="0" y="466725"/>
                </a:moveTo>
                <a:lnTo>
                  <a:pt x="275226" y="92112"/>
                </a:lnTo>
                <a:lnTo>
                  <a:pt x="292873" y="70523"/>
                </a:lnTo>
                <a:lnTo>
                  <a:pt x="311977" y="51813"/>
                </a:lnTo>
                <a:lnTo>
                  <a:pt x="332538" y="35981"/>
                </a:lnTo>
                <a:lnTo>
                  <a:pt x="354556" y="23028"/>
                </a:lnTo>
                <a:lnTo>
                  <a:pt x="378032" y="12953"/>
                </a:lnTo>
                <a:lnTo>
                  <a:pt x="402964" y="5757"/>
                </a:lnTo>
                <a:lnTo>
                  <a:pt x="429354" y="1439"/>
                </a:lnTo>
                <a:lnTo>
                  <a:pt x="457200" y="0"/>
                </a:lnTo>
                <a:lnTo>
                  <a:pt x="1057275" y="0"/>
                </a:lnTo>
              </a:path>
            </a:pathLst>
          </a:custGeom>
          <a:noFill xmlns:a="http://schemas.openxmlformats.org/drawingml/2006/main"/>
          <a:ln xmlns:a="http://schemas.openxmlformats.org/drawingml/2006/main" w="205740">
            <a:solidFill>
              <a:srgbClr val="F7E5D5"/>
            </a:solidFill>
            <a:prstDash val="solid"/>
          </a:ln>
        </p:spPr>
      </p:sp>
      <p:sp>
        <p:nvSpPr>
          <p:cNvPr id="8" name="waste-channel">
            <a:extLst xmlns:a="http://schemas.openxmlformats.org/drawingml/2006/main">
              <a:ext uri="{FF2B5EF4-FFF2-40B4-BE49-F238E27FC236}">
                <a16:creationId xmlns:a16="http://schemas.microsoft.com/office/drawing/2014/main" id="{B807F0D4-7AFF-43B9-B1BC-9B38ABF87EBF}"/>
              </a:ext>
            </a:extLst>
          </p:cNvPr>
          <p:cNvSpPr>
            <a:spLocks xmlns:a="http://schemas.openxmlformats.org/drawingml/2006/main"/>
          </p:cNvSpPr>
          <p:nvPr/>
        </p:nvSpPr>
        <p:spPr>
          <a:xfrm xmlns:a="http://schemas.openxmlformats.org/drawingml/2006/main">
            <a:off x="5067300" y="2228850"/>
            <a:ext cx="1057275" cy="466725"/>
          </a:xfrm>
          <a:custGeom xmlns:a="http://schemas.openxmlformats.org/drawingml/2006/main">
            <a:pathLst>
              <a:path w="1057275" h="466725">
                <a:moveTo>
                  <a:pt x="0" y="0"/>
                </a:moveTo>
                <a:lnTo>
                  <a:pt x="275226" y="374613"/>
                </a:lnTo>
                <a:lnTo>
                  <a:pt x="292873" y="396202"/>
                </a:lnTo>
                <a:lnTo>
                  <a:pt x="311977" y="414912"/>
                </a:lnTo>
                <a:lnTo>
                  <a:pt x="332538" y="430744"/>
                </a:lnTo>
                <a:lnTo>
                  <a:pt x="354556" y="443697"/>
                </a:lnTo>
                <a:lnTo>
                  <a:pt x="378032" y="453772"/>
                </a:lnTo>
                <a:lnTo>
                  <a:pt x="402964" y="460968"/>
                </a:lnTo>
                <a:lnTo>
                  <a:pt x="429354" y="465286"/>
                </a:lnTo>
                <a:lnTo>
                  <a:pt x="457200" y="466725"/>
                </a:lnTo>
                <a:lnTo>
                  <a:pt x="1057275" y="466725"/>
                </a:lnTo>
              </a:path>
            </a:pathLst>
          </a:custGeom>
          <a:noFill xmlns:a="http://schemas.openxmlformats.org/drawingml/2006/main"/>
          <a:ln xmlns:a="http://schemas.openxmlformats.org/drawingml/2006/main" w="205740">
            <a:solidFill>
              <a:srgbClr val="F7E5D5"/>
            </a:solidFill>
            <a:prstDash val="solid"/>
          </a:ln>
        </p:spPr>
      </p:sp>
      <p:sp>
        <p:nvSpPr>
          <p:cNvPr id="9" name="aqueous-tongue">
            <a:extLst xmlns:a="http://schemas.openxmlformats.org/drawingml/2006/main">
              <a:ext uri="{FF2B5EF4-FFF2-40B4-BE49-F238E27FC236}">
                <a16:creationId xmlns:a16="http://schemas.microsoft.com/office/drawing/2014/main" id="{EEA37750-9EB8-4B3D-AD55-7E4BE0A33E5A}"/>
              </a:ext>
            </a:extLst>
          </p:cNvPr>
          <p:cNvSpPr>
            <a:spLocks xmlns:a="http://schemas.openxmlformats.org/drawingml/2006/main"/>
          </p:cNvSpPr>
          <p:nvPr/>
        </p:nvSpPr>
        <p:spPr>
          <a:xfrm xmlns:a="http://schemas.openxmlformats.org/drawingml/2006/main">
            <a:off x="171450" y="2152650"/>
            <a:ext cx="1143000" cy="152400"/>
          </a:xfrm>
          <a:custGeom xmlns:a="http://schemas.openxmlformats.org/drawingml/2006/main">
            <a:pathLst>
              <a:path w="1143000" h="152400">
                <a:moveTo>
                  <a:pt x="0" y="0"/>
                </a:moveTo>
                <a:lnTo>
                  <a:pt x="885825" y="0"/>
                </a:lnTo>
                <a:lnTo>
                  <a:pt x="1038225" y="28575"/>
                </a:lnTo>
                <a:lnTo>
                  <a:pt x="1143000" y="66675"/>
                </a:lnTo>
                <a:lnTo>
                  <a:pt x="1143000" y="85725"/>
                </a:lnTo>
                <a:lnTo>
                  <a:pt x="1038225" y="123825"/>
                </a:lnTo>
                <a:lnTo>
                  <a:pt x="885825" y="152400"/>
                </a:lnTo>
                <a:lnTo>
                  <a:pt x="0" y="152400"/>
                </a:lnTo>
                <a:close/>
              </a:path>
            </a:pathLst>
          </a:custGeom>
          <a:solidFill xmlns:a="http://schemas.openxmlformats.org/drawingml/2006/main">
            <a:srgbClr val="E7EED8"/>
          </a:solidFill>
          <a:ln xmlns:a="http://schemas.openxmlformats.org/drawingml/2006/main" w="10478">
            <a:solidFill>
              <a:srgbClr val="698044"/>
            </a:solidFill>
            <a:prstDash val="solid"/>
          </a:ln>
        </p:spPr>
      </p:sp>
      <p:sp>
        <p:nvSpPr>
          <p:cNvPr id="10" name="aqueous-droplet-0">
            <a:extLst xmlns:a="http://schemas.openxmlformats.org/drawingml/2006/main">
              <a:ext uri="{FF2B5EF4-FFF2-40B4-BE49-F238E27FC236}">
                <a16:creationId xmlns:a16="http://schemas.microsoft.com/office/drawing/2014/main" id="{1CA73099-28D9-4735-85F2-FFC273ABE9F6}"/>
              </a:ext>
            </a:extLst>
          </p:cNvPr>
          <p:cNvSpPr>
            <a:spLocks xmlns:a="http://schemas.openxmlformats.org/drawingml/2006/main"/>
          </p:cNvSpPr>
          <p:nvPr/>
        </p:nvSpPr>
        <p:spPr>
          <a:xfrm xmlns:a="http://schemas.openxmlformats.org/drawingml/2006/main">
            <a:off x="1466850" y="2171700"/>
            <a:ext cx="114300" cy="114300"/>
          </a:xfrm>
          <a:prstGeom xmlns:a="http://schemas.openxmlformats.org/drawingml/2006/main" prst="ellipse">
            <a:avLst/>
          </a:prstGeom>
          <a:solidFill xmlns:a="http://schemas.openxmlformats.org/drawingml/2006/main">
            <a:srgbClr val="E7EED8"/>
          </a:solidFill>
          <a:ln xmlns:a="http://schemas.openxmlformats.org/drawingml/2006/main" w="10954">
            <a:solidFill>
              <a:srgbClr val="698044"/>
            </a:solidFill>
            <a:prstDash val="solid"/>
          </a:ln>
        </p:spPr>
      </p:sp>
      <p:sp>
        <p:nvSpPr>
          <p:cNvPr id="11" name="aqueous-droplet-1">
            <a:extLst xmlns:a="http://schemas.openxmlformats.org/drawingml/2006/main">
              <a:ext uri="{FF2B5EF4-FFF2-40B4-BE49-F238E27FC236}">
                <a16:creationId xmlns:a16="http://schemas.microsoft.com/office/drawing/2014/main" id="{C980D48E-8B1B-4BE5-9E68-56B9BF329A3B}"/>
              </a:ext>
            </a:extLst>
          </p:cNvPr>
          <p:cNvSpPr>
            <a:spLocks xmlns:a="http://schemas.openxmlformats.org/drawingml/2006/main"/>
          </p:cNvSpPr>
          <p:nvPr/>
        </p:nvSpPr>
        <p:spPr>
          <a:xfrm xmlns:a="http://schemas.openxmlformats.org/drawingml/2006/main">
            <a:off x="1695450" y="2171700"/>
            <a:ext cx="114300" cy="114300"/>
          </a:xfrm>
          <a:prstGeom xmlns:a="http://schemas.openxmlformats.org/drawingml/2006/main" prst="ellipse">
            <a:avLst/>
          </a:prstGeom>
          <a:solidFill xmlns:a="http://schemas.openxmlformats.org/drawingml/2006/main">
            <a:srgbClr val="E7EED8"/>
          </a:solidFill>
          <a:ln xmlns:a="http://schemas.openxmlformats.org/drawingml/2006/main" w="10954">
            <a:solidFill>
              <a:srgbClr val="698044"/>
            </a:solidFill>
            <a:prstDash val="solid"/>
          </a:ln>
        </p:spPr>
      </p:sp>
      <p:sp>
        <p:nvSpPr>
          <p:cNvPr id="12" name="aqueous-droplet-2">
            <a:extLst xmlns:a="http://schemas.openxmlformats.org/drawingml/2006/main">
              <a:ext uri="{FF2B5EF4-FFF2-40B4-BE49-F238E27FC236}">
                <a16:creationId xmlns:a16="http://schemas.microsoft.com/office/drawing/2014/main" id="{193B8B95-C682-40D2-B68A-BD31BE186234}"/>
              </a:ext>
            </a:extLst>
          </p:cNvPr>
          <p:cNvSpPr>
            <a:spLocks xmlns:a="http://schemas.openxmlformats.org/drawingml/2006/main"/>
          </p:cNvSpPr>
          <p:nvPr/>
        </p:nvSpPr>
        <p:spPr>
          <a:xfrm xmlns:a="http://schemas.openxmlformats.org/drawingml/2006/main">
            <a:off x="1952625" y="1990725"/>
            <a:ext cx="114300" cy="114300"/>
          </a:xfrm>
          <a:prstGeom xmlns:a="http://schemas.openxmlformats.org/drawingml/2006/main" prst="ellipse">
            <a:avLst/>
          </a:prstGeom>
          <a:solidFill xmlns:a="http://schemas.openxmlformats.org/drawingml/2006/main">
            <a:srgbClr val="E7EED8"/>
          </a:solidFill>
          <a:ln xmlns:a="http://schemas.openxmlformats.org/drawingml/2006/main" w="10954">
            <a:solidFill>
              <a:srgbClr val="698044"/>
            </a:solidFill>
            <a:prstDash val="solid"/>
          </a:ln>
        </p:spPr>
      </p:sp>
      <p:sp>
        <p:nvSpPr>
          <p:cNvPr id="13" name="aqueous-droplet-3">
            <a:extLst xmlns:a="http://schemas.openxmlformats.org/drawingml/2006/main">
              <a:ext uri="{FF2B5EF4-FFF2-40B4-BE49-F238E27FC236}">
                <a16:creationId xmlns:a16="http://schemas.microsoft.com/office/drawing/2014/main" id="{0E965EDB-2964-4E85-8D91-34F656B12121}"/>
              </a:ext>
            </a:extLst>
          </p:cNvPr>
          <p:cNvSpPr>
            <a:spLocks xmlns:a="http://schemas.openxmlformats.org/drawingml/2006/main"/>
          </p:cNvSpPr>
          <p:nvPr/>
        </p:nvSpPr>
        <p:spPr>
          <a:xfrm xmlns:a="http://schemas.openxmlformats.org/drawingml/2006/main">
            <a:off x="1962150" y="1762125"/>
            <a:ext cx="114300" cy="114300"/>
          </a:xfrm>
          <a:prstGeom xmlns:a="http://schemas.openxmlformats.org/drawingml/2006/main" prst="ellipse">
            <a:avLst/>
          </a:prstGeom>
          <a:solidFill xmlns:a="http://schemas.openxmlformats.org/drawingml/2006/main">
            <a:srgbClr val="E7EED8"/>
          </a:solidFill>
          <a:ln xmlns:a="http://schemas.openxmlformats.org/drawingml/2006/main" w="10954">
            <a:solidFill>
              <a:srgbClr val="698044"/>
            </a:solidFill>
            <a:prstDash val="solid"/>
          </a:ln>
        </p:spPr>
      </p:sp>
      <p:sp>
        <p:nvSpPr>
          <p:cNvPr id="14" name="aqueous-droplet-4">
            <a:extLst xmlns:a="http://schemas.openxmlformats.org/drawingml/2006/main">
              <a:ext uri="{FF2B5EF4-FFF2-40B4-BE49-F238E27FC236}">
                <a16:creationId xmlns:a16="http://schemas.microsoft.com/office/drawing/2014/main" id="{7D259FD3-453D-4DEB-86C4-5CD13F0F21F6}"/>
              </a:ext>
            </a:extLst>
          </p:cNvPr>
          <p:cNvSpPr>
            <a:spLocks xmlns:a="http://schemas.openxmlformats.org/drawingml/2006/main"/>
          </p:cNvSpPr>
          <p:nvPr/>
        </p:nvSpPr>
        <p:spPr>
          <a:xfrm xmlns:a="http://schemas.openxmlformats.org/drawingml/2006/main">
            <a:off x="2162175" y="1657350"/>
            <a:ext cx="114300" cy="114300"/>
          </a:xfrm>
          <a:prstGeom xmlns:a="http://schemas.openxmlformats.org/drawingml/2006/main" prst="ellipse">
            <a:avLst/>
          </a:prstGeom>
          <a:solidFill xmlns:a="http://schemas.openxmlformats.org/drawingml/2006/main">
            <a:srgbClr val="E7EED8"/>
          </a:solidFill>
          <a:ln xmlns:a="http://schemas.openxmlformats.org/drawingml/2006/main" w="10954">
            <a:solidFill>
              <a:srgbClr val="698044"/>
            </a:solidFill>
            <a:prstDash val="solid"/>
          </a:ln>
        </p:spPr>
      </p:sp>
      <p:sp>
        <p:nvSpPr>
          <p:cNvPr id="15" name="aqueous-droplet-5">
            <a:extLst xmlns:a="http://schemas.openxmlformats.org/drawingml/2006/main">
              <a:ext uri="{FF2B5EF4-FFF2-40B4-BE49-F238E27FC236}">
                <a16:creationId xmlns:a16="http://schemas.microsoft.com/office/drawing/2014/main" id="{CB07DDFA-FBD4-4134-AD93-0605CF9B704E}"/>
              </a:ext>
            </a:extLst>
          </p:cNvPr>
          <p:cNvSpPr>
            <a:spLocks xmlns:a="http://schemas.openxmlformats.org/drawingml/2006/main"/>
          </p:cNvSpPr>
          <p:nvPr/>
        </p:nvSpPr>
        <p:spPr>
          <a:xfrm xmlns:a="http://schemas.openxmlformats.org/drawingml/2006/main">
            <a:off x="2343150" y="1895475"/>
            <a:ext cx="114300" cy="114300"/>
          </a:xfrm>
          <a:prstGeom xmlns:a="http://schemas.openxmlformats.org/drawingml/2006/main" prst="ellipse">
            <a:avLst/>
          </a:prstGeom>
          <a:solidFill xmlns:a="http://schemas.openxmlformats.org/drawingml/2006/main">
            <a:srgbClr val="E7EED8"/>
          </a:solidFill>
          <a:ln xmlns:a="http://schemas.openxmlformats.org/drawingml/2006/main" w="10954">
            <a:solidFill>
              <a:srgbClr val="698044"/>
            </a:solidFill>
            <a:prstDash val="solid"/>
          </a:ln>
        </p:spPr>
      </p:sp>
      <p:sp>
        <p:nvSpPr>
          <p:cNvPr id="16" name="aqueous-droplet-6">
            <a:extLst xmlns:a="http://schemas.openxmlformats.org/drawingml/2006/main">
              <a:ext uri="{FF2B5EF4-FFF2-40B4-BE49-F238E27FC236}">
                <a16:creationId xmlns:a16="http://schemas.microsoft.com/office/drawing/2014/main" id="{73CC6594-4A54-43B5-81AD-4292AE7AB86C}"/>
              </a:ext>
            </a:extLst>
          </p:cNvPr>
          <p:cNvSpPr>
            <a:spLocks xmlns:a="http://schemas.openxmlformats.org/drawingml/2006/main"/>
          </p:cNvSpPr>
          <p:nvPr/>
        </p:nvSpPr>
        <p:spPr>
          <a:xfrm xmlns:a="http://schemas.openxmlformats.org/drawingml/2006/main">
            <a:off x="2343150" y="2133600"/>
            <a:ext cx="114300" cy="114300"/>
          </a:xfrm>
          <a:prstGeom xmlns:a="http://schemas.openxmlformats.org/drawingml/2006/main" prst="ellipse">
            <a:avLst/>
          </a:prstGeom>
          <a:solidFill xmlns:a="http://schemas.openxmlformats.org/drawingml/2006/main">
            <a:srgbClr val="E7EED8"/>
          </a:solidFill>
          <a:ln xmlns:a="http://schemas.openxmlformats.org/drawingml/2006/main" w="10954">
            <a:solidFill>
              <a:srgbClr val="698044"/>
            </a:solidFill>
            <a:prstDash val="solid"/>
          </a:ln>
        </p:spPr>
      </p:sp>
      <p:sp>
        <p:nvSpPr>
          <p:cNvPr id="17" name="aqueous-droplet-7">
            <a:extLst xmlns:a="http://schemas.openxmlformats.org/drawingml/2006/main">
              <a:ext uri="{FF2B5EF4-FFF2-40B4-BE49-F238E27FC236}">
                <a16:creationId xmlns:a16="http://schemas.microsoft.com/office/drawing/2014/main" id="{5BAD1FB8-AE17-437B-999D-4E26584C035E}"/>
              </a:ext>
            </a:extLst>
          </p:cNvPr>
          <p:cNvSpPr>
            <a:spLocks xmlns:a="http://schemas.openxmlformats.org/drawingml/2006/main"/>
          </p:cNvSpPr>
          <p:nvPr/>
        </p:nvSpPr>
        <p:spPr>
          <a:xfrm xmlns:a="http://schemas.openxmlformats.org/drawingml/2006/main">
            <a:off x="2343150" y="2400300"/>
            <a:ext cx="114300" cy="114300"/>
          </a:xfrm>
          <a:prstGeom xmlns:a="http://schemas.openxmlformats.org/drawingml/2006/main" prst="ellipse">
            <a:avLst/>
          </a:prstGeom>
          <a:solidFill xmlns:a="http://schemas.openxmlformats.org/drawingml/2006/main">
            <a:srgbClr val="E7EED8"/>
          </a:solidFill>
          <a:ln xmlns:a="http://schemas.openxmlformats.org/drawingml/2006/main" w="10954">
            <a:solidFill>
              <a:srgbClr val="698044"/>
            </a:solidFill>
            <a:prstDash val="solid"/>
          </a:ln>
        </p:spPr>
      </p:sp>
      <p:sp>
        <p:nvSpPr>
          <p:cNvPr id="18" name="aqueous-droplet-8">
            <a:extLst xmlns:a="http://schemas.openxmlformats.org/drawingml/2006/main">
              <a:ext uri="{FF2B5EF4-FFF2-40B4-BE49-F238E27FC236}">
                <a16:creationId xmlns:a16="http://schemas.microsoft.com/office/drawing/2014/main" id="{6246A652-2CE3-4273-A1A0-375BABEE928B}"/>
              </a:ext>
            </a:extLst>
          </p:cNvPr>
          <p:cNvSpPr>
            <a:spLocks xmlns:a="http://schemas.openxmlformats.org/drawingml/2006/main"/>
          </p:cNvSpPr>
          <p:nvPr/>
        </p:nvSpPr>
        <p:spPr>
          <a:xfrm xmlns:a="http://schemas.openxmlformats.org/drawingml/2006/main">
            <a:off x="2505075" y="2647950"/>
            <a:ext cx="114300" cy="114300"/>
          </a:xfrm>
          <a:prstGeom xmlns:a="http://schemas.openxmlformats.org/drawingml/2006/main" prst="ellipse">
            <a:avLst/>
          </a:prstGeom>
          <a:solidFill xmlns:a="http://schemas.openxmlformats.org/drawingml/2006/main">
            <a:srgbClr val="E7EED8"/>
          </a:solidFill>
          <a:ln xmlns:a="http://schemas.openxmlformats.org/drawingml/2006/main" w="10954">
            <a:solidFill>
              <a:srgbClr val="698044"/>
            </a:solidFill>
            <a:prstDash val="solid"/>
          </a:ln>
        </p:spPr>
      </p:sp>
      <p:sp>
        <p:nvSpPr>
          <p:cNvPr id="19" name="aqueous-droplet-9">
            <a:extLst xmlns:a="http://schemas.openxmlformats.org/drawingml/2006/main">
              <a:ext uri="{FF2B5EF4-FFF2-40B4-BE49-F238E27FC236}">
                <a16:creationId xmlns:a16="http://schemas.microsoft.com/office/drawing/2014/main" id="{F9D629D6-4B49-4188-ABD0-8336B1097AA3}"/>
              </a:ext>
            </a:extLst>
          </p:cNvPr>
          <p:cNvSpPr>
            <a:spLocks xmlns:a="http://schemas.openxmlformats.org/drawingml/2006/main"/>
          </p:cNvSpPr>
          <p:nvPr/>
        </p:nvSpPr>
        <p:spPr>
          <a:xfrm xmlns:a="http://schemas.openxmlformats.org/drawingml/2006/main">
            <a:off x="2724150" y="2495550"/>
            <a:ext cx="114300" cy="114300"/>
          </a:xfrm>
          <a:prstGeom xmlns:a="http://schemas.openxmlformats.org/drawingml/2006/main" prst="ellipse">
            <a:avLst/>
          </a:prstGeom>
          <a:solidFill xmlns:a="http://schemas.openxmlformats.org/drawingml/2006/main">
            <a:srgbClr val="E7EED8"/>
          </a:solidFill>
          <a:ln xmlns:a="http://schemas.openxmlformats.org/drawingml/2006/main" w="10954">
            <a:solidFill>
              <a:srgbClr val="698044"/>
            </a:solidFill>
            <a:prstDash val="solid"/>
          </a:ln>
        </p:spPr>
      </p:sp>
      <p:sp>
        <p:nvSpPr>
          <p:cNvPr id="20" name="aqueous-droplet-10">
            <a:extLst xmlns:a="http://schemas.openxmlformats.org/drawingml/2006/main">
              <a:ext uri="{FF2B5EF4-FFF2-40B4-BE49-F238E27FC236}">
                <a16:creationId xmlns:a16="http://schemas.microsoft.com/office/drawing/2014/main" id="{663D0B00-6C10-4C2F-A536-7DAE591A582B}"/>
              </a:ext>
            </a:extLst>
          </p:cNvPr>
          <p:cNvSpPr>
            <a:spLocks xmlns:a="http://schemas.openxmlformats.org/drawingml/2006/main"/>
          </p:cNvSpPr>
          <p:nvPr/>
        </p:nvSpPr>
        <p:spPr>
          <a:xfrm xmlns:a="http://schemas.openxmlformats.org/drawingml/2006/main">
            <a:off x="2724150" y="2257425"/>
            <a:ext cx="114300" cy="114300"/>
          </a:xfrm>
          <a:prstGeom xmlns:a="http://schemas.openxmlformats.org/drawingml/2006/main" prst="ellipse">
            <a:avLst/>
          </a:prstGeom>
          <a:solidFill xmlns:a="http://schemas.openxmlformats.org/drawingml/2006/main">
            <a:srgbClr val="E7EED8"/>
          </a:solidFill>
          <a:ln xmlns:a="http://schemas.openxmlformats.org/drawingml/2006/main" w="10954">
            <a:solidFill>
              <a:srgbClr val="698044"/>
            </a:solidFill>
            <a:prstDash val="solid"/>
          </a:ln>
        </p:spPr>
      </p:sp>
      <p:sp>
        <p:nvSpPr>
          <p:cNvPr id="21" name="aqueous-droplet-11">
            <a:extLst xmlns:a="http://schemas.openxmlformats.org/drawingml/2006/main">
              <a:ext uri="{FF2B5EF4-FFF2-40B4-BE49-F238E27FC236}">
                <a16:creationId xmlns:a16="http://schemas.microsoft.com/office/drawing/2014/main" id="{4E14CD89-7844-48FF-BF44-FC4916268EA8}"/>
              </a:ext>
            </a:extLst>
          </p:cNvPr>
          <p:cNvSpPr>
            <a:spLocks xmlns:a="http://schemas.openxmlformats.org/drawingml/2006/main"/>
          </p:cNvSpPr>
          <p:nvPr/>
        </p:nvSpPr>
        <p:spPr>
          <a:xfrm xmlns:a="http://schemas.openxmlformats.org/drawingml/2006/main">
            <a:off x="2724150" y="2019300"/>
            <a:ext cx="114300" cy="114300"/>
          </a:xfrm>
          <a:prstGeom xmlns:a="http://schemas.openxmlformats.org/drawingml/2006/main" prst="ellipse">
            <a:avLst/>
          </a:prstGeom>
          <a:solidFill xmlns:a="http://schemas.openxmlformats.org/drawingml/2006/main">
            <a:srgbClr val="E7EED8"/>
          </a:solidFill>
          <a:ln xmlns:a="http://schemas.openxmlformats.org/drawingml/2006/main" w="10954">
            <a:solidFill>
              <a:srgbClr val="698044"/>
            </a:solidFill>
            <a:prstDash val="solid"/>
          </a:ln>
        </p:spPr>
      </p:sp>
      <p:sp>
        <p:nvSpPr>
          <p:cNvPr id="22" name="aqueous-droplet-12">
            <a:extLst xmlns:a="http://schemas.openxmlformats.org/drawingml/2006/main">
              <a:ext uri="{FF2B5EF4-FFF2-40B4-BE49-F238E27FC236}">
                <a16:creationId xmlns:a16="http://schemas.microsoft.com/office/drawing/2014/main" id="{2DA0D981-5FE0-4FE2-9E6D-FC616D195F3B}"/>
              </a:ext>
            </a:extLst>
          </p:cNvPr>
          <p:cNvSpPr>
            <a:spLocks xmlns:a="http://schemas.openxmlformats.org/drawingml/2006/main"/>
          </p:cNvSpPr>
          <p:nvPr/>
        </p:nvSpPr>
        <p:spPr>
          <a:xfrm xmlns:a="http://schemas.openxmlformats.org/drawingml/2006/main">
            <a:off x="2724150" y="1762125"/>
            <a:ext cx="114300" cy="114300"/>
          </a:xfrm>
          <a:prstGeom xmlns:a="http://schemas.openxmlformats.org/drawingml/2006/main" prst="ellipse">
            <a:avLst/>
          </a:prstGeom>
          <a:solidFill xmlns:a="http://schemas.openxmlformats.org/drawingml/2006/main">
            <a:srgbClr val="E7EED8"/>
          </a:solidFill>
          <a:ln xmlns:a="http://schemas.openxmlformats.org/drawingml/2006/main" w="10954">
            <a:solidFill>
              <a:srgbClr val="698044"/>
            </a:solidFill>
            <a:prstDash val="solid"/>
          </a:ln>
        </p:spPr>
      </p:sp>
      <p:sp>
        <p:nvSpPr>
          <p:cNvPr id="23" name="aqueous-droplet-13">
            <a:extLst xmlns:a="http://schemas.openxmlformats.org/drawingml/2006/main">
              <a:ext uri="{FF2B5EF4-FFF2-40B4-BE49-F238E27FC236}">
                <a16:creationId xmlns:a16="http://schemas.microsoft.com/office/drawing/2014/main" id="{09CF155D-A369-42AA-98AF-03FB40F462B4}"/>
              </a:ext>
            </a:extLst>
          </p:cNvPr>
          <p:cNvSpPr>
            <a:spLocks xmlns:a="http://schemas.openxmlformats.org/drawingml/2006/main"/>
          </p:cNvSpPr>
          <p:nvPr/>
        </p:nvSpPr>
        <p:spPr>
          <a:xfrm xmlns:a="http://schemas.openxmlformats.org/drawingml/2006/main">
            <a:off x="2952750" y="1657350"/>
            <a:ext cx="114300" cy="114300"/>
          </a:xfrm>
          <a:prstGeom xmlns:a="http://schemas.openxmlformats.org/drawingml/2006/main" prst="ellipse">
            <a:avLst/>
          </a:prstGeom>
          <a:solidFill xmlns:a="http://schemas.openxmlformats.org/drawingml/2006/main">
            <a:srgbClr val="E7EED8"/>
          </a:solidFill>
          <a:ln xmlns:a="http://schemas.openxmlformats.org/drawingml/2006/main" w="10954">
            <a:solidFill>
              <a:srgbClr val="698044"/>
            </a:solidFill>
            <a:prstDash val="solid"/>
          </a:ln>
        </p:spPr>
      </p:sp>
      <p:sp>
        <p:nvSpPr>
          <p:cNvPr id="24" name="aqueous-droplet-14">
            <a:extLst xmlns:a="http://schemas.openxmlformats.org/drawingml/2006/main">
              <a:ext uri="{FF2B5EF4-FFF2-40B4-BE49-F238E27FC236}">
                <a16:creationId xmlns:a16="http://schemas.microsoft.com/office/drawing/2014/main" id="{E5CAB61E-B6E5-4D7E-9379-C42FFA01A327}"/>
              </a:ext>
            </a:extLst>
          </p:cNvPr>
          <p:cNvSpPr>
            <a:spLocks xmlns:a="http://schemas.openxmlformats.org/drawingml/2006/main"/>
          </p:cNvSpPr>
          <p:nvPr/>
        </p:nvSpPr>
        <p:spPr>
          <a:xfrm xmlns:a="http://schemas.openxmlformats.org/drawingml/2006/main">
            <a:off x="3105150" y="1914525"/>
            <a:ext cx="114300" cy="114300"/>
          </a:xfrm>
          <a:prstGeom xmlns:a="http://schemas.openxmlformats.org/drawingml/2006/main" prst="ellipse">
            <a:avLst/>
          </a:prstGeom>
          <a:solidFill xmlns:a="http://schemas.openxmlformats.org/drawingml/2006/main">
            <a:srgbClr val="E7EED8"/>
          </a:solidFill>
          <a:ln xmlns:a="http://schemas.openxmlformats.org/drawingml/2006/main" w="10954">
            <a:solidFill>
              <a:srgbClr val="698044"/>
            </a:solidFill>
            <a:prstDash val="solid"/>
          </a:ln>
        </p:spPr>
      </p:sp>
      <p:sp>
        <p:nvSpPr>
          <p:cNvPr id="25" name="aqueous-droplet-15">
            <a:extLst xmlns:a="http://schemas.openxmlformats.org/drawingml/2006/main">
              <a:ext uri="{FF2B5EF4-FFF2-40B4-BE49-F238E27FC236}">
                <a16:creationId xmlns:a16="http://schemas.microsoft.com/office/drawing/2014/main" id="{E49AD818-29E1-459E-90D6-E58298F3C7AF}"/>
              </a:ext>
            </a:extLst>
          </p:cNvPr>
          <p:cNvSpPr>
            <a:spLocks xmlns:a="http://schemas.openxmlformats.org/drawingml/2006/main"/>
          </p:cNvSpPr>
          <p:nvPr/>
        </p:nvSpPr>
        <p:spPr>
          <a:xfrm xmlns:a="http://schemas.openxmlformats.org/drawingml/2006/main">
            <a:off x="3286125" y="2171700"/>
            <a:ext cx="114300" cy="114300"/>
          </a:xfrm>
          <a:prstGeom xmlns:a="http://schemas.openxmlformats.org/drawingml/2006/main" prst="ellipse">
            <a:avLst/>
          </a:prstGeom>
          <a:solidFill xmlns:a="http://schemas.openxmlformats.org/drawingml/2006/main">
            <a:srgbClr val="E7EED8"/>
          </a:solidFill>
          <a:ln xmlns:a="http://schemas.openxmlformats.org/drawingml/2006/main" w="10954">
            <a:solidFill>
              <a:srgbClr val="698044"/>
            </a:solidFill>
            <a:prstDash val="solid"/>
          </a:ln>
        </p:spPr>
      </p:sp>
      <p:sp>
        <p:nvSpPr>
          <p:cNvPr id="26" name="screened-droplet-0">
            <a:extLst xmlns:a="http://schemas.openxmlformats.org/drawingml/2006/main">
              <a:ext uri="{FF2B5EF4-FFF2-40B4-BE49-F238E27FC236}">
                <a16:creationId xmlns:a16="http://schemas.microsoft.com/office/drawing/2014/main" id="{ED7EF056-908D-4A04-8E7B-5B5085C6C497}"/>
              </a:ext>
            </a:extLst>
          </p:cNvPr>
          <p:cNvSpPr>
            <a:spLocks xmlns:a="http://schemas.openxmlformats.org/drawingml/2006/main"/>
          </p:cNvSpPr>
          <p:nvPr/>
        </p:nvSpPr>
        <p:spPr>
          <a:xfrm xmlns:a="http://schemas.openxmlformats.org/drawingml/2006/main">
            <a:off x="3533775" y="2171700"/>
            <a:ext cx="114300" cy="114300"/>
          </a:xfrm>
          <a:prstGeom xmlns:a="http://schemas.openxmlformats.org/drawingml/2006/main" prst="ellipse">
            <a:avLst/>
          </a:prstGeom>
          <a:solidFill xmlns:a="http://schemas.openxmlformats.org/drawingml/2006/main">
            <a:srgbClr val="FFFFFF"/>
          </a:solidFill>
          <a:ln xmlns:a="http://schemas.openxmlformats.org/drawingml/2006/main" w="10954">
            <a:solidFill>
              <a:srgbClr val="698044"/>
            </a:solidFill>
            <a:prstDash val="solid"/>
          </a:ln>
        </p:spPr>
      </p:sp>
      <p:sp>
        <p:nvSpPr>
          <p:cNvPr id="27" name="screened-droplet-1">
            <a:extLst xmlns:a="http://schemas.openxmlformats.org/drawingml/2006/main">
              <a:ext uri="{FF2B5EF4-FFF2-40B4-BE49-F238E27FC236}">
                <a16:creationId xmlns:a16="http://schemas.microsoft.com/office/drawing/2014/main" id="{9DA1125B-B5ED-453D-B89D-B29468DA14AF}"/>
              </a:ext>
            </a:extLst>
          </p:cNvPr>
          <p:cNvSpPr>
            <a:spLocks xmlns:a="http://schemas.openxmlformats.org/drawingml/2006/main"/>
          </p:cNvSpPr>
          <p:nvPr/>
        </p:nvSpPr>
        <p:spPr>
          <a:xfrm xmlns:a="http://schemas.openxmlformats.org/drawingml/2006/main">
            <a:off x="3914775" y="2171700"/>
            <a:ext cx="114300" cy="114300"/>
          </a:xfrm>
          <a:prstGeom xmlns:a="http://schemas.openxmlformats.org/drawingml/2006/main" prst="ellipse">
            <a:avLst/>
          </a:prstGeom>
          <a:solidFill xmlns:a="http://schemas.openxmlformats.org/drawingml/2006/main">
            <a:srgbClr val="577531"/>
          </a:solidFill>
          <a:ln xmlns:a="http://schemas.openxmlformats.org/drawingml/2006/main" w="10954">
            <a:solidFill>
              <a:srgbClr val="698044"/>
            </a:solidFill>
            <a:prstDash val="solid"/>
          </a:ln>
        </p:spPr>
      </p:sp>
      <p:sp>
        <p:nvSpPr>
          <p:cNvPr id="28" name="screened-droplet-2">
            <a:extLst xmlns:a="http://schemas.openxmlformats.org/drawingml/2006/main">
              <a:ext uri="{FF2B5EF4-FFF2-40B4-BE49-F238E27FC236}">
                <a16:creationId xmlns:a16="http://schemas.microsoft.com/office/drawing/2014/main" id="{5E629CFD-23E1-4E33-8197-CDC46D842176}"/>
              </a:ext>
            </a:extLst>
          </p:cNvPr>
          <p:cNvSpPr>
            <a:spLocks xmlns:a="http://schemas.openxmlformats.org/drawingml/2006/main"/>
          </p:cNvSpPr>
          <p:nvPr/>
        </p:nvSpPr>
        <p:spPr>
          <a:xfrm xmlns:a="http://schemas.openxmlformats.org/drawingml/2006/main">
            <a:off x="4352925" y="2171700"/>
            <a:ext cx="114300" cy="114300"/>
          </a:xfrm>
          <a:prstGeom xmlns:a="http://schemas.openxmlformats.org/drawingml/2006/main" prst="ellipse">
            <a:avLst/>
          </a:prstGeom>
          <a:solidFill xmlns:a="http://schemas.openxmlformats.org/drawingml/2006/main">
            <a:srgbClr val="FFFFFF"/>
          </a:solidFill>
          <a:ln xmlns:a="http://schemas.openxmlformats.org/drawingml/2006/main" w="10954">
            <a:solidFill>
              <a:srgbClr val="698044"/>
            </a:solidFill>
            <a:prstDash val="solid"/>
          </a:ln>
        </p:spPr>
      </p:sp>
      <p:sp>
        <p:nvSpPr>
          <p:cNvPr id="29" name="screened-droplet-3">
            <a:extLst xmlns:a="http://schemas.openxmlformats.org/drawingml/2006/main">
              <a:ext uri="{FF2B5EF4-FFF2-40B4-BE49-F238E27FC236}">
                <a16:creationId xmlns:a16="http://schemas.microsoft.com/office/drawing/2014/main" id="{F0554397-29D4-43B7-BBF7-13E93341E989}"/>
              </a:ext>
            </a:extLst>
          </p:cNvPr>
          <p:cNvSpPr>
            <a:spLocks xmlns:a="http://schemas.openxmlformats.org/drawingml/2006/main"/>
          </p:cNvSpPr>
          <p:nvPr/>
        </p:nvSpPr>
        <p:spPr>
          <a:xfrm xmlns:a="http://schemas.openxmlformats.org/drawingml/2006/main">
            <a:off x="4638675" y="2171700"/>
            <a:ext cx="114300" cy="114300"/>
          </a:xfrm>
          <a:prstGeom xmlns:a="http://schemas.openxmlformats.org/drawingml/2006/main" prst="ellipse">
            <a:avLst/>
          </a:prstGeom>
          <a:solidFill xmlns:a="http://schemas.openxmlformats.org/drawingml/2006/main">
            <a:srgbClr val="577531"/>
          </a:solidFill>
          <a:ln xmlns:a="http://schemas.openxmlformats.org/drawingml/2006/main" w="10954">
            <a:solidFill>
              <a:srgbClr val="698044"/>
            </a:solidFill>
            <a:prstDash val="solid"/>
          </a:ln>
        </p:spPr>
      </p:sp>
      <p:sp>
        <p:nvSpPr>
          <p:cNvPr id="30" name="hit-droplet-0">
            <a:extLst xmlns:a="http://schemas.openxmlformats.org/drawingml/2006/main">
              <a:ext uri="{FF2B5EF4-FFF2-40B4-BE49-F238E27FC236}">
                <a16:creationId xmlns:a16="http://schemas.microsoft.com/office/drawing/2014/main" id="{AC9B0D19-A865-4A74-9565-D7EEAA39336B}"/>
              </a:ext>
            </a:extLst>
          </p:cNvPr>
          <p:cNvSpPr>
            <a:spLocks xmlns:a="http://schemas.openxmlformats.org/drawingml/2006/main"/>
          </p:cNvSpPr>
          <p:nvPr/>
        </p:nvSpPr>
        <p:spPr>
          <a:xfrm xmlns:a="http://schemas.openxmlformats.org/drawingml/2006/main">
            <a:off x="5219700" y="1885950"/>
            <a:ext cx="114300" cy="114300"/>
          </a:xfrm>
          <a:prstGeom xmlns:a="http://schemas.openxmlformats.org/drawingml/2006/main" prst="ellipse">
            <a:avLst/>
          </a:prstGeom>
          <a:solidFill xmlns:a="http://schemas.openxmlformats.org/drawingml/2006/main">
            <a:srgbClr val="577531"/>
          </a:solidFill>
          <a:ln xmlns:a="http://schemas.openxmlformats.org/drawingml/2006/main" w="10954">
            <a:solidFill>
              <a:srgbClr val="698044"/>
            </a:solidFill>
            <a:prstDash val="solid"/>
          </a:ln>
        </p:spPr>
      </p:sp>
      <p:sp>
        <p:nvSpPr>
          <p:cNvPr id="31" name="hit-droplet-1">
            <a:extLst xmlns:a="http://schemas.openxmlformats.org/drawingml/2006/main">
              <a:ext uri="{FF2B5EF4-FFF2-40B4-BE49-F238E27FC236}">
                <a16:creationId xmlns:a16="http://schemas.microsoft.com/office/drawing/2014/main" id="{04F9829D-0550-4E35-BB1C-91FD146E180A}"/>
              </a:ext>
            </a:extLst>
          </p:cNvPr>
          <p:cNvSpPr>
            <a:spLocks xmlns:a="http://schemas.openxmlformats.org/drawingml/2006/main"/>
          </p:cNvSpPr>
          <p:nvPr/>
        </p:nvSpPr>
        <p:spPr>
          <a:xfrm xmlns:a="http://schemas.openxmlformats.org/drawingml/2006/main">
            <a:off x="5495925" y="1704975"/>
            <a:ext cx="114300" cy="114300"/>
          </a:xfrm>
          <a:prstGeom xmlns:a="http://schemas.openxmlformats.org/drawingml/2006/main" prst="ellipse">
            <a:avLst/>
          </a:prstGeom>
          <a:solidFill xmlns:a="http://schemas.openxmlformats.org/drawingml/2006/main">
            <a:srgbClr val="577531"/>
          </a:solidFill>
          <a:ln xmlns:a="http://schemas.openxmlformats.org/drawingml/2006/main" w="10954">
            <a:solidFill>
              <a:srgbClr val="698044"/>
            </a:solidFill>
            <a:prstDash val="solid"/>
          </a:ln>
        </p:spPr>
      </p:sp>
      <p:sp>
        <p:nvSpPr>
          <p:cNvPr id="32" name="hit-droplet-2">
            <a:extLst xmlns:a="http://schemas.openxmlformats.org/drawingml/2006/main">
              <a:ext uri="{FF2B5EF4-FFF2-40B4-BE49-F238E27FC236}">
                <a16:creationId xmlns:a16="http://schemas.microsoft.com/office/drawing/2014/main" id="{400620BD-D6AE-436E-B263-50FB377E9D98}"/>
              </a:ext>
            </a:extLst>
          </p:cNvPr>
          <p:cNvSpPr>
            <a:spLocks xmlns:a="http://schemas.openxmlformats.org/drawingml/2006/main"/>
          </p:cNvSpPr>
          <p:nvPr/>
        </p:nvSpPr>
        <p:spPr>
          <a:xfrm xmlns:a="http://schemas.openxmlformats.org/drawingml/2006/main">
            <a:off x="5772150" y="1704975"/>
            <a:ext cx="114300" cy="114300"/>
          </a:xfrm>
          <a:prstGeom xmlns:a="http://schemas.openxmlformats.org/drawingml/2006/main" prst="ellipse">
            <a:avLst/>
          </a:prstGeom>
          <a:solidFill xmlns:a="http://schemas.openxmlformats.org/drawingml/2006/main">
            <a:srgbClr val="577531"/>
          </a:solidFill>
          <a:ln xmlns:a="http://schemas.openxmlformats.org/drawingml/2006/main" w="10954">
            <a:solidFill>
              <a:srgbClr val="698044"/>
            </a:solidFill>
            <a:prstDash val="solid"/>
          </a:ln>
        </p:spPr>
      </p:sp>
      <p:sp>
        <p:nvSpPr>
          <p:cNvPr id="33" name="waste-droplet-0">
            <a:extLst xmlns:a="http://schemas.openxmlformats.org/drawingml/2006/main">
              <a:ext uri="{FF2B5EF4-FFF2-40B4-BE49-F238E27FC236}">
                <a16:creationId xmlns:a16="http://schemas.microsoft.com/office/drawing/2014/main" id="{9B3CB8F6-0D26-467C-9171-6C93CE921221}"/>
              </a:ext>
            </a:extLst>
          </p:cNvPr>
          <p:cNvSpPr>
            <a:spLocks xmlns:a="http://schemas.openxmlformats.org/drawingml/2006/main"/>
          </p:cNvSpPr>
          <p:nvPr/>
        </p:nvSpPr>
        <p:spPr>
          <a:xfrm xmlns:a="http://schemas.openxmlformats.org/drawingml/2006/main">
            <a:off x="5219700" y="2447925"/>
            <a:ext cx="114300" cy="114300"/>
          </a:xfrm>
          <a:prstGeom xmlns:a="http://schemas.openxmlformats.org/drawingml/2006/main" prst="ellipse">
            <a:avLst/>
          </a:prstGeom>
          <a:solidFill xmlns:a="http://schemas.openxmlformats.org/drawingml/2006/main">
            <a:srgbClr val="FFFFFF"/>
          </a:solidFill>
          <a:ln xmlns:a="http://schemas.openxmlformats.org/drawingml/2006/main" w="10954">
            <a:solidFill>
              <a:srgbClr val="698044"/>
            </a:solidFill>
            <a:prstDash val="solid"/>
          </a:ln>
        </p:spPr>
      </p:sp>
      <p:sp>
        <p:nvSpPr>
          <p:cNvPr id="34" name="waste-droplet-1">
            <a:extLst xmlns:a="http://schemas.openxmlformats.org/drawingml/2006/main">
              <a:ext uri="{FF2B5EF4-FFF2-40B4-BE49-F238E27FC236}">
                <a16:creationId xmlns:a16="http://schemas.microsoft.com/office/drawing/2014/main" id="{DCBAC67A-63EC-4046-8601-20B0EC1A82C4}"/>
              </a:ext>
            </a:extLst>
          </p:cNvPr>
          <p:cNvSpPr>
            <a:spLocks xmlns:a="http://schemas.openxmlformats.org/drawingml/2006/main"/>
          </p:cNvSpPr>
          <p:nvPr/>
        </p:nvSpPr>
        <p:spPr>
          <a:xfrm xmlns:a="http://schemas.openxmlformats.org/drawingml/2006/main">
            <a:off x="5495925" y="2638425"/>
            <a:ext cx="114300" cy="114300"/>
          </a:xfrm>
          <a:prstGeom xmlns:a="http://schemas.openxmlformats.org/drawingml/2006/main" prst="ellipse">
            <a:avLst/>
          </a:prstGeom>
          <a:solidFill xmlns:a="http://schemas.openxmlformats.org/drawingml/2006/main">
            <a:srgbClr val="FFFFFF"/>
          </a:solidFill>
          <a:ln xmlns:a="http://schemas.openxmlformats.org/drawingml/2006/main" w="10954">
            <a:solidFill>
              <a:srgbClr val="698044"/>
            </a:solidFill>
            <a:prstDash val="solid"/>
          </a:ln>
        </p:spPr>
      </p:sp>
      <p:sp>
        <p:nvSpPr>
          <p:cNvPr id="35" name="waste-droplet-2">
            <a:extLst xmlns:a="http://schemas.openxmlformats.org/drawingml/2006/main">
              <a:ext uri="{FF2B5EF4-FFF2-40B4-BE49-F238E27FC236}">
                <a16:creationId xmlns:a16="http://schemas.microsoft.com/office/drawing/2014/main" id="{D0F45946-16F4-479D-9024-35DE86AE6871}"/>
              </a:ext>
            </a:extLst>
          </p:cNvPr>
          <p:cNvSpPr>
            <a:spLocks xmlns:a="http://schemas.openxmlformats.org/drawingml/2006/main"/>
          </p:cNvSpPr>
          <p:nvPr/>
        </p:nvSpPr>
        <p:spPr>
          <a:xfrm xmlns:a="http://schemas.openxmlformats.org/drawingml/2006/main">
            <a:off x="5772150" y="2638425"/>
            <a:ext cx="114300" cy="114300"/>
          </a:xfrm>
          <a:prstGeom xmlns:a="http://schemas.openxmlformats.org/drawingml/2006/main" prst="ellipse">
            <a:avLst/>
          </a:prstGeom>
          <a:solidFill xmlns:a="http://schemas.openxmlformats.org/drawingml/2006/main">
            <a:srgbClr val="FFFFFF"/>
          </a:solidFill>
          <a:ln xmlns:a="http://schemas.openxmlformats.org/drawingml/2006/main" w="10954">
            <a:solidFill>
              <a:srgbClr val="698044"/>
            </a:solidFill>
            <a:prstDash val="solid"/>
          </a:ln>
        </p:spPr>
      </p:sp>
      <p:sp>
        <p:nvSpPr>
          <p:cNvPr id="36" name="assay-direction.shaft">
            <a:extLst xmlns:a="http://schemas.openxmlformats.org/drawingml/2006/main">
              <a:ext uri="{FF2B5EF4-FFF2-40B4-BE49-F238E27FC236}">
                <a16:creationId xmlns:a16="http://schemas.microsoft.com/office/drawing/2014/main" id="{6C3B3B56-44AE-4737-82F8-718E1DB0D9BE}"/>
              </a:ext>
            </a:extLst>
          </p:cNvPr>
          <p:cNvSpPr>
            <a:spLocks xmlns:a="http://schemas.openxmlformats.org/drawingml/2006/main"/>
          </p:cNvSpPr>
          <p:nvPr/>
        </p:nvSpPr>
        <p:spPr>
          <a:xfrm xmlns:a="http://schemas.openxmlformats.org/drawingml/2006/main">
            <a:off x="657225" y="2228850"/>
            <a:ext cx="133350" cy="95"/>
          </a:xfrm>
          <a:custGeom xmlns:a="http://schemas.openxmlformats.org/drawingml/2006/main">
            <a:pathLst>
              <a:path w="133350" h="95">
                <a:moveTo>
                  <a:pt x="0" y="0"/>
                </a:moveTo>
                <a:lnTo>
                  <a:pt x="133350" y="0"/>
                </a:lnTo>
              </a:path>
            </a:pathLst>
          </a:custGeom>
          <a:noFill xmlns:a="http://schemas.openxmlformats.org/drawingml/2006/main"/>
          <a:ln xmlns:a="http://schemas.openxmlformats.org/drawingml/2006/main" w="12859">
            <a:solidFill>
              <a:srgbClr val="577531"/>
            </a:solidFill>
            <a:prstDash val="solid"/>
          </a:ln>
        </p:spPr>
      </p:sp>
      <p:sp>
        <p:nvSpPr>
          <p:cNvPr id="37" name="assay-direction.head">
            <a:extLst xmlns:a="http://schemas.openxmlformats.org/drawingml/2006/main">
              <a:ext uri="{FF2B5EF4-FFF2-40B4-BE49-F238E27FC236}">
                <a16:creationId xmlns:a16="http://schemas.microsoft.com/office/drawing/2014/main" id="{ECC8DB9E-91CD-493D-A958-F7CB79106612}"/>
              </a:ext>
            </a:extLst>
          </p:cNvPr>
          <p:cNvSpPr>
            <a:spLocks xmlns:a="http://schemas.openxmlformats.org/drawingml/2006/main"/>
          </p:cNvSpPr>
          <p:nvPr/>
        </p:nvSpPr>
        <p:spPr>
          <a:xfrm xmlns:a="http://schemas.openxmlformats.org/drawingml/2006/main">
            <a:off x="752475" y="2203133"/>
            <a:ext cx="38100" cy="51435"/>
          </a:xfrm>
          <a:custGeom xmlns:a="http://schemas.openxmlformats.org/drawingml/2006/main">
            <a:pathLst>
              <a:path w="38100" h="51435">
                <a:moveTo>
                  <a:pt x="38100" y="25717"/>
                </a:moveTo>
                <a:lnTo>
                  <a:pt x="0" y="51435"/>
                </a:lnTo>
                <a:lnTo>
                  <a:pt x="0" y="0"/>
                </a:lnTo>
                <a:close/>
              </a:path>
            </a:pathLst>
          </a:custGeom>
          <a:solidFill xmlns:a="http://schemas.openxmlformats.org/drawingml/2006/main">
            <a:srgbClr val="577531"/>
          </a:solidFill>
          <a:ln xmlns:a="http://schemas.openxmlformats.org/drawingml/2006/main" w="9525">
            <a:noFill/>
            <a:prstDash val="solid"/>
          </a:ln>
        </p:spPr>
      </p:sp>
      <p:sp>
        <p:nvSpPr>
          <p:cNvPr id="38" name="oil-top-direction.shaft">
            <a:extLst xmlns:a="http://schemas.openxmlformats.org/drawingml/2006/main">
              <a:ext uri="{FF2B5EF4-FFF2-40B4-BE49-F238E27FC236}">
                <a16:creationId xmlns:a16="http://schemas.microsoft.com/office/drawing/2014/main" id="{1F565120-1564-4D41-A66B-A218E9F7952D}"/>
              </a:ext>
            </a:extLst>
          </p:cNvPr>
          <p:cNvSpPr>
            <a:spLocks xmlns:a="http://schemas.openxmlformats.org/drawingml/2006/main"/>
          </p:cNvSpPr>
          <p:nvPr/>
        </p:nvSpPr>
        <p:spPr>
          <a:xfrm xmlns:a="http://schemas.openxmlformats.org/drawingml/2006/main">
            <a:off x="1238250" y="1719263"/>
            <a:ext cx="95" cy="104775"/>
          </a:xfrm>
          <a:custGeom xmlns:a="http://schemas.openxmlformats.org/drawingml/2006/main">
            <a:pathLst>
              <a:path w="95" h="104775">
                <a:moveTo>
                  <a:pt x="0" y="0"/>
                </a:moveTo>
                <a:lnTo>
                  <a:pt x="0" y="104775"/>
                </a:lnTo>
              </a:path>
            </a:pathLst>
          </a:custGeom>
          <a:noFill xmlns:a="http://schemas.openxmlformats.org/drawingml/2006/main"/>
          <a:ln xmlns:a="http://schemas.openxmlformats.org/drawingml/2006/main" w="12859">
            <a:solidFill>
              <a:srgbClr val="AF6228"/>
            </a:solidFill>
            <a:prstDash val="solid"/>
          </a:ln>
        </p:spPr>
      </p:sp>
      <p:sp>
        <p:nvSpPr>
          <p:cNvPr id="39" name="oil-top-direction.head">
            <a:extLst xmlns:a="http://schemas.openxmlformats.org/drawingml/2006/main">
              <a:ext uri="{FF2B5EF4-FFF2-40B4-BE49-F238E27FC236}">
                <a16:creationId xmlns:a16="http://schemas.microsoft.com/office/drawing/2014/main" id="{42326030-9F18-4A7C-ACE6-77FAD1720A27}"/>
              </a:ext>
            </a:extLst>
          </p:cNvPr>
          <p:cNvSpPr>
            <a:spLocks xmlns:a="http://schemas.openxmlformats.org/drawingml/2006/main"/>
          </p:cNvSpPr>
          <p:nvPr/>
        </p:nvSpPr>
        <p:spPr>
          <a:xfrm xmlns:a="http://schemas.openxmlformats.org/drawingml/2006/main">
            <a:off x="1212533" y="1785938"/>
            <a:ext cx="51435" cy="38100"/>
          </a:xfrm>
          <a:custGeom xmlns:a="http://schemas.openxmlformats.org/drawingml/2006/main">
            <a:pathLst>
              <a:path w="51435" h="38100">
                <a:moveTo>
                  <a:pt x="25718" y="38100"/>
                </a:moveTo>
                <a:lnTo>
                  <a:pt x="0" y="0"/>
                </a:lnTo>
                <a:lnTo>
                  <a:pt x="51435" y="0"/>
                </a:lnTo>
                <a:close/>
              </a:path>
            </a:pathLst>
          </a:custGeom>
          <a:solidFill xmlns:a="http://schemas.openxmlformats.org/drawingml/2006/main">
            <a:srgbClr val="AF6228"/>
          </a:solidFill>
          <a:ln xmlns:a="http://schemas.openxmlformats.org/drawingml/2006/main" w="9525">
            <a:noFill/>
            <a:prstDash val="solid"/>
          </a:ln>
        </p:spPr>
      </p:sp>
      <p:sp>
        <p:nvSpPr>
          <p:cNvPr id="40" name="oil-bottom-direction.shaft">
            <a:extLst xmlns:a="http://schemas.openxmlformats.org/drawingml/2006/main">
              <a:ext uri="{FF2B5EF4-FFF2-40B4-BE49-F238E27FC236}">
                <a16:creationId xmlns:a16="http://schemas.microsoft.com/office/drawing/2014/main" id="{98A65834-FDC3-408B-B8E6-F5A70FE312AC}"/>
              </a:ext>
            </a:extLst>
          </p:cNvPr>
          <p:cNvSpPr>
            <a:spLocks xmlns:a="http://schemas.openxmlformats.org/drawingml/2006/main"/>
          </p:cNvSpPr>
          <p:nvPr/>
        </p:nvSpPr>
        <p:spPr>
          <a:xfrm xmlns:a="http://schemas.openxmlformats.org/drawingml/2006/main">
            <a:off x="1238250" y="2662238"/>
            <a:ext cx="95" cy="104775"/>
          </a:xfrm>
          <a:custGeom xmlns:a="http://schemas.openxmlformats.org/drawingml/2006/main">
            <a:pathLst>
              <a:path w="95" h="104775">
                <a:moveTo>
                  <a:pt x="0" y="104775"/>
                </a:moveTo>
                <a:lnTo>
                  <a:pt x="0" y="0"/>
                </a:lnTo>
              </a:path>
            </a:pathLst>
          </a:custGeom>
          <a:noFill xmlns:a="http://schemas.openxmlformats.org/drawingml/2006/main"/>
          <a:ln xmlns:a="http://schemas.openxmlformats.org/drawingml/2006/main" w="12859">
            <a:solidFill>
              <a:srgbClr val="AF6228"/>
            </a:solidFill>
            <a:prstDash val="solid"/>
          </a:ln>
        </p:spPr>
      </p:sp>
      <p:sp>
        <p:nvSpPr>
          <p:cNvPr id="41" name="oil-bottom-direction.head">
            <a:extLst xmlns:a="http://schemas.openxmlformats.org/drawingml/2006/main">
              <a:ext uri="{FF2B5EF4-FFF2-40B4-BE49-F238E27FC236}">
                <a16:creationId xmlns:a16="http://schemas.microsoft.com/office/drawing/2014/main" id="{EA0F74CF-4919-4FA9-9D04-279798A6E72A}"/>
              </a:ext>
            </a:extLst>
          </p:cNvPr>
          <p:cNvSpPr>
            <a:spLocks xmlns:a="http://schemas.openxmlformats.org/drawingml/2006/main"/>
          </p:cNvSpPr>
          <p:nvPr/>
        </p:nvSpPr>
        <p:spPr>
          <a:xfrm xmlns:a="http://schemas.openxmlformats.org/drawingml/2006/main">
            <a:off x="1212533" y="2662238"/>
            <a:ext cx="51435" cy="38100"/>
          </a:xfrm>
          <a:custGeom xmlns:a="http://schemas.openxmlformats.org/drawingml/2006/main">
            <a:pathLst>
              <a:path w="51435" h="38100">
                <a:moveTo>
                  <a:pt x="25718" y="0"/>
                </a:moveTo>
                <a:lnTo>
                  <a:pt x="51435" y="38100"/>
                </a:lnTo>
                <a:lnTo>
                  <a:pt x="0" y="38100"/>
                </a:lnTo>
                <a:close/>
              </a:path>
            </a:pathLst>
          </a:custGeom>
          <a:solidFill xmlns:a="http://schemas.openxmlformats.org/drawingml/2006/main">
            <a:srgbClr val="AF6228"/>
          </a:solidFill>
          <a:ln xmlns:a="http://schemas.openxmlformats.org/drawingml/2006/main" w="9525">
            <a:noFill/>
            <a:prstDash val="solid"/>
          </a:ln>
        </p:spPr>
      </p:sp>
      <p:sp>
        <p:nvSpPr>
          <p:cNvPr id="42" name="delay-direction.shaft">
            <a:extLst xmlns:a="http://schemas.openxmlformats.org/drawingml/2006/main">
              <a:ext uri="{FF2B5EF4-FFF2-40B4-BE49-F238E27FC236}">
                <a16:creationId xmlns:a16="http://schemas.microsoft.com/office/drawing/2014/main" id="{28F01055-5B0D-4ACA-B548-ECB7186AAA1D}"/>
              </a:ext>
            </a:extLst>
          </p:cNvPr>
          <p:cNvSpPr>
            <a:spLocks xmlns:a="http://schemas.openxmlformats.org/drawingml/2006/main"/>
          </p:cNvSpPr>
          <p:nvPr/>
        </p:nvSpPr>
        <p:spPr>
          <a:xfrm xmlns:a="http://schemas.openxmlformats.org/drawingml/2006/main">
            <a:off x="2400300" y="2281238"/>
            <a:ext cx="95" cy="104775"/>
          </a:xfrm>
          <a:custGeom xmlns:a="http://schemas.openxmlformats.org/drawingml/2006/main">
            <a:pathLst>
              <a:path w="95" h="104775">
                <a:moveTo>
                  <a:pt x="0" y="0"/>
                </a:moveTo>
                <a:lnTo>
                  <a:pt x="0" y="104775"/>
                </a:lnTo>
              </a:path>
            </a:pathLst>
          </a:custGeom>
          <a:noFill xmlns:a="http://schemas.openxmlformats.org/drawingml/2006/main"/>
          <a:ln xmlns:a="http://schemas.openxmlformats.org/drawingml/2006/main" w="12859">
            <a:solidFill>
              <a:srgbClr val="AF6228"/>
            </a:solidFill>
            <a:prstDash val="solid"/>
          </a:ln>
        </p:spPr>
      </p:sp>
      <p:sp>
        <p:nvSpPr>
          <p:cNvPr id="43" name="delay-direction.head">
            <a:extLst xmlns:a="http://schemas.openxmlformats.org/drawingml/2006/main">
              <a:ext uri="{FF2B5EF4-FFF2-40B4-BE49-F238E27FC236}">
                <a16:creationId xmlns:a16="http://schemas.microsoft.com/office/drawing/2014/main" id="{922599FC-A273-4EA6-AAC6-44E8946EAAFF}"/>
              </a:ext>
            </a:extLst>
          </p:cNvPr>
          <p:cNvSpPr>
            <a:spLocks xmlns:a="http://schemas.openxmlformats.org/drawingml/2006/main"/>
          </p:cNvSpPr>
          <p:nvPr/>
        </p:nvSpPr>
        <p:spPr>
          <a:xfrm xmlns:a="http://schemas.openxmlformats.org/drawingml/2006/main">
            <a:off x="2374583" y="2347913"/>
            <a:ext cx="51435" cy="38100"/>
          </a:xfrm>
          <a:custGeom xmlns:a="http://schemas.openxmlformats.org/drawingml/2006/main">
            <a:pathLst>
              <a:path w="51435" h="38100">
                <a:moveTo>
                  <a:pt x="25717" y="38100"/>
                </a:moveTo>
                <a:lnTo>
                  <a:pt x="0" y="0"/>
                </a:lnTo>
                <a:lnTo>
                  <a:pt x="51435" y="0"/>
                </a:lnTo>
                <a:close/>
              </a:path>
            </a:pathLst>
          </a:custGeom>
          <a:solidFill xmlns:a="http://schemas.openxmlformats.org/drawingml/2006/main">
            <a:srgbClr val="AF6228"/>
          </a:solidFill>
          <a:ln xmlns:a="http://schemas.openxmlformats.org/drawingml/2006/main" w="9525">
            <a:noFill/>
            <a:prstDash val="solid"/>
          </a:ln>
        </p:spPr>
      </p:sp>
      <p:sp>
        <p:nvSpPr>
          <p:cNvPr id="44" name="detection-direction.shaft">
            <a:extLst xmlns:a="http://schemas.openxmlformats.org/drawingml/2006/main">
              <a:ext uri="{FF2B5EF4-FFF2-40B4-BE49-F238E27FC236}">
                <a16:creationId xmlns:a16="http://schemas.microsoft.com/office/drawing/2014/main" id="{2710CE5D-EE65-4D2F-9D9F-4CB10CCF762C}"/>
              </a:ext>
            </a:extLst>
          </p:cNvPr>
          <p:cNvSpPr>
            <a:spLocks xmlns:a="http://schemas.openxmlformats.org/drawingml/2006/main"/>
          </p:cNvSpPr>
          <p:nvPr/>
        </p:nvSpPr>
        <p:spPr>
          <a:xfrm xmlns:a="http://schemas.openxmlformats.org/drawingml/2006/main">
            <a:off x="4224338" y="2228850"/>
            <a:ext cx="104775" cy="95"/>
          </a:xfrm>
          <a:custGeom xmlns:a="http://schemas.openxmlformats.org/drawingml/2006/main">
            <a:pathLst>
              <a:path w="104775" h="95">
                <a:moveTo>
                  <a:pt x="0" y="0"/>
                </a:moveTo>
                <a:lnTo>
                  <a:pt x="104775" y="0"/>
                </a:lnTo>
              </a:path>
            </a:pathLst>
          </a:custGeom>
          <a:noFill xmlns:a="http://schemas.openxmlformats.org/drawingml/2006/main"/>
          <a:ln xmlns:a="http://schemas.openxmlformats.org/drawingml/2006/main" w="12859">
            <a:solidFill>
              <a:srgbClr val="AF6228"/>
            </a:solidFill>
            <a:prstDash val="solid"/>
          </a:ln>
        </p:spPr>
      </p:sp>
      <p:sp>
        <p:nvSpPr>
          <p:cNvPr id="45" name="detection-direction.head">
            <a:extLst xmlns:a="http://schemas.openxmlformats.org/drawingml/2006/main">
              <a:ext uri="{FF2B5EF4-FFF2-40B4-BE49-F238E27FC236}">
                <a16:creationId xmlns:a16="http://schemas.microsoft.com/office/drawing/2014/main" id="{99EB4460-50A8-464C-9169-7663607D3C69}"/>
              </a:ext>
            </a:extLst>
          </p:cNvPr>
          <p:cNvSpPr>
            <a:spLocks xmlns:a="http://schemas.openxmlformats.org/drawingml/2006/main"/>
          </p:cNvSpPr>
          <p:nvPr/>
        </p:nvSpPr>
        <p:spPr>
          <a:xfrm xmlns:a="http://schemas.openxmlformats.org/drawingml/2006/main">
            <a:off x="4291013" y="2203133"/>
            <a:ext cx="38100" cy="51435"/>
          </a:xfrm>
          <a:custGeom xmlns:a="http://schemas.openxmlformats.org/drawingml/2006/main">
            <a:pathLst>
              <a:path w="38100" h="51435">
                <a:moveTo>
                  <a:pt x="38100" y="25717"/>
                </a:moveTo>
                <a:lnTo>
                  <a:pt x="0" y="51435"/>
                </a:lnTo>
                <a:lnTo>
                  <a:pt x="0" y="0"/>
                </a:lnTo>
                <a:close/>
              </a:path>
            </a:pathLst>
          </a:custGeom>
          <a:solidFill xmlns:a="http://schemas.openxmlformats.org/drawingml/2006/main">
            <a:srgbClr val="AF6228"/>
          </a:solidFill>
          <a:ln xmlns:a="http://schemas.openxmlformats.org/drawingml/2006/main" w="9525">
            <a:noFill/>
            <a:prstDash val="solid"/>
          </a:ln>
        </p:spPr>
      </p:sp>
      <p:sp>
        <p:nvSpPr>
          <p:cNvPr id="46" name="hit-direction.shaft">
            <a:extLst xmlns:a="http://schemas.openxmlformats.org/drawingml/2006/main">
              <a:ext uri="{FF2B5EF4-FFF2-40B4-BE49-F238E27FC236}">
                <a16:creationId xmlns:a16="http://schemas.microsoft.com/office/drawing/2014/main" id="{CACF6153-F8BC-4F39-BE04-AA8D9081CC53}"/>
              </a:ext>
            </a:extLst>
          </p:cNvPr>
          <p:cNvSpPr>
            <a:spLocks xmlns:a="http://schemas.openxmlformats.org/drawingml/2006/main"/>
          </p:cNvSpPr>
          <p:nvPr/>
        </p:nvSpPr>
        <p:spPr>
          <a:xfrm xmlns:a="http://schemas.openxmlformats.org/drawingml/2006/main">
            <a:off x="5976938" y="1762125"/>
            <a:ext cx="104775" cy="95"/>
          </a:xfrm>
          <a:custGeom xmlns:a="http://schemas.openxmlformats.org/drawingml/2006/main">
            <a:pathLst>
              <a:path w="104775" h="95">
                <a:moveTo>
                  <a:pt x="0" y="0"/>
                </a:moveTo>
                <a:lnTo>
                  <a:pt x="104775" y="0"/>
                </a:lnTo>
              </a:path>
            </a:pathLst>
          </a:custGeom>
          <a:noFill xmlns:a="http://schemas.openxmlformats.org/drawingml/2006/main"/>
          <a:ln xmlns:a="http://schemas.openxmlformats.org/drawingml/2006/main" w="12859">
            <a:solidFill>
              <a:srgbClr val="AF6228"/>
            </a:solidFill>
            <a:prstDash val="solid"/>
          </a:ln>
        </p:spPr>
      </p:sp>
      <p:sp>
        <p:nvSpPr>
          <p:cNvPr id="47" name="hit-direction.head">
            <a:extLst xmlns:a="http://schemas.openxmlformats.org/drawingml/2006/main">
              <a:ext uri="{FF2B5EF4-FFF2-40B4-BE49-F238E27FC236}">
                <a16:creationId xmlns:a16="http://schemas.microsoft.com/office/drawing/2014/main" id="{2EE86F09-A139-47B1-B329-3E1BCFD91182}"/>
              </a:ext>
            </a:extLst>
          </p:cNvPr>
          <p:cNvSpPr>
            <a:spLocks xmlns:a="http://schemas.openxmlformats.org/drawingml/2006/main"/>
          </p:cNvSpPr>
          <p:nvPr/>
        </p:nvSpPr>
        <p:spPr>
          <a:xfrm xmlns:a="http://schemas.openxmlformats.org/drawingml/2006/main">
            <a:off x="6043613" y="1736408"/>
            <a:ext cx="38100" cy="51435"/>
          </a:xfrm>
          <a:custGeom xmlns:a="http://schemas.openxmlformats.org/drawingml/2006/main">
            <a:pathLst>
              <a:path w="38100" h="51435">
                <a:moveTo>
                  <a:pt x="38100" y="25717"/>
                </a:moveTo>
                <a:lnTo>
                  <a:pt x="0" y="51435"/>
                </a:lnTo>
                <a:lnTo>
                  <a:pt x="0" y="0"/>
                </a:lnTo>
                <a:close/>
              </a:path>
            </a:pathLst>
          </a:custGeom>
          <a:solidFill xmlns:a="http://schemas.openxmlformats.org/drawingml/2006/main">
            <a:srgbClr val="AF6228"/>
          </a:solidFill>
          <a:ln xmlns:a="http://schemas.openxmlformats.org/drawingml/2006/main" w="9525">
            <a:noFill/>
            <a:prstDash val="solid"/>
          </a:ln>
        </p:spPr>
      </p:sp>
      <p:sp>
        <p:nvSpPr>
          <p:cNvPr id="48" name="waste-direction.shaft">
            <a:extLst xmlns:a="http://schemas.openxmlformats.org/drawingml/2006/main">
              <a:ext uri="{FF2B5EF4-FFF2-40B4-BE49-F238E27FC236}">
                <a16:creationId xmlns:a16="http://schemas.microsoft.com/office/drawing/2014/main" id="{9F544314-C9A6-4C65-ABFD-3D70659C4688}"/>
              </a:ext>
            </a:extLst>
          </p:cNvPr>
          <p:cNvSpPr>
            <a:spLocks xmlns:a="http://schemas.openxmlformats.org/drawingml/2006/main"/>
          </p:cNvSpPr>
          <p:nvPr/>
        </p:nvSpPr>
        <p:spPr>
          <a:xfrm xmlns:a="http://schemas.openxmlformats.org/drawingml/2006/main">
            <a:off x="5976938" y="2695575"/>
            <a:ext cx="104775" cy="95"/>
          </a:xfrm>
          <a:custGeom xmlns:a="http://schemas.openxmlformats.org/drawingml/2006/main">
            <a:pathLst>
              <a:path w="104775" h="95">
                <a:moveTo>
                  <a:pt x="0" y="0"/>
                </a:moveTo>
                <a:lnTo>
                  <a:pt x="104775" y="0"/>
                </a:lnTo>
              </a:path>
            </a:pathLst>
          </a:custGeom>
          <a:noFill xmlns:a="http://schemas.openxmlformats.org/drawingml/2006/main"/>
          <a:ln xmlns:a="http://schemas.openxmlformats.org/drawingml/2006/main" w="12859">
            <a:solidFill>
              <a:srgbClr val="AF6228"/>
            </a:solidFill>
            <a:prstDash val="solid"/>
          </a:ln>
        </p:spPr>
      </p:sp>
      <p:sp>
        <p:nvSpPr>
          <p:cNvPr id="49" name="waste-direction.head">
            <a:extLst xmlns:a="http://schemas.openxmlformats.org/drawingml/2006/main">
              <a:ext uri="{FF2B5EF4-FFF2-40B4-BE49-F238E27FC236}">
                <a16:creationId xmlns:a16="http://schemas.microsoft.com/office/drawing/2014/main" id="{38DCE8BC-470F-4D6A-A49F-F67866D31576}"/>
              </a:ext>
            </a:extLst>
          </p:cNvPr>
          <p:cNvSpPr>
            <a:spLocks xmlns:a="http://schemas.openxmlformats.org/drawingml/2006/main"/>
          </p:cNvSpPr>
          <p:nvPr/>
        </p:nvSpPr>
        <p:spPr>
          <a:xfrm xmlns:a="http://schemas.openxmlformats.org/drawingml/2006/main">
            <a:off x="6043613" y="2669858"/>
            <a:ext cx="38100" cy="51435"/>
          </a:xfrm>
          <a:custGeom xmlns:a="http://schemas.openxmlformats.org/drawingml/2006/main">
            <a:pathLst>
              <a:path w="38100" h="51435">
                <a:moveTo>
                  <a:pt x="38100" y="25717"/>
                </a:moveTo>
                <a:lnTo>
                  <a:pt x="0" y="51435"/>
                </a:lnTo>
                <a:lnTo>
                  <a:pt x="0" y="0"/>
                </a:lnTo>
                <a:close/>
              </a:path>
            </a:pathLst>
          </a:custGeom>
          <a:solidFill xmlns:a="http://schemas.openxmlformats.org/drawingml/2006/main">
            <a:srgbClr val="AF6228"/>
          </a:solidFill>
          <a:ln xmlns:a="http://schemas.openxmlformats.org/drawingml/2006/main" w="9525">
            <a:noFill/>
            <a:prstDash val="solid"/>
          </a:ln>
        </p:spPr>
      </p:sp>
      <p:sp>
        <p:nvSpPr>
          <p:cNvPr id="50" name="detection-window">
            <a:extLst xmlns:a="http://schemas.openxmlformats.org/drawingml/2006/main">
              <a:ext uri="{FF2B5EF4-FFF2-40B4-BE49-F238E27FC236}">
                <a16:creationId xmlns:a16="http://schemas.microsoft.com/office/drawing/2014/main" id="{00271ED6-9794-4586-8BE8-15CCE98B2646}"/>
              </a:ext>
            </a:extLst>
          </p:cNvPr>
          <p:cNvSpPr>
            <a:spLocks xmlns:a="http://schemas.openxmlformats.org/drawingml/2006/main"/>
          </p:cNvSpPr>
          <p:nvPr/>
        </p:nvSpPr>
        <p:spPr>
          <a:xfrm xmlns:a="http://schemas.openxmlformats.org/drawingml/2006/main">
            <a:off x="3867150" y="2066925"/>
            <a:ext cx="209550" cy="323850"/>
          </a:xfrm>
          <a:prstGeom xmlns:a="http://schemas.openxmlformats.org/drawingml/2006/main" prst="rect">
            <a:avLst/>
          </a:prstGeom>
          <a:noFill xmlns:a="http://schemas.openxmlformats.org/drawingml/2006/main"/>
          <a:ln xmlns:a="http://schemas.openxmlformats.org/drawingml/2006/main" w="10954">
            <a:solidFill>
              <a:srgbClr val="627FA8"/>
            </a:solidFill>
            <a:prstDash val="solid"/>
          </a:ln>
        </p:spPr>
      </p:sp>
      <p:sp>
        <p:nvSpPr>
          <p:cNvPr id="51" name="sorting-zone">
            <a:extLst xmlns:a="http://schemas.openxmlformats.org/drawingml/2006/main">
              <a:ext uri="{FF2B5EF4-FFF2-40B4-BE49-F238E27FC236}">
                <a16:creationId xmlns:a16="http://schemas.microsoft.com/office/drawing/2014/main" id="{F35B0C88-2FA4-4EE6-BFE4-758E4C6CABDA}"/>
              </a:ext>
            </a:extLst>
          </p:cNvPr>
          <p:cNvSpPr>
            <a:spLocks xmlns:a="http://schemas.openxmlformats.org/drawingml/2006/main"/>
          </p:cNvSpPr>
          <p:nvPr/>
        </p:nvSpPr>
        <p:spPr>
          <a:xfrm xmlns:a="http://schemas.openxmlformats.org/drawingml/2006/main">
            <a:off x="4933950" y="2066925"/>
            <a:ext cx="266700" cy="323850"/>
          </a:xfrm>
          <a:prstGeom xmlns:a="http://schemas.openxmlformats.org/drawingml/2006/main" prst="rect">
            <a:avLst/>
          </a:prstGeom>
          <a:noFill xmlns:a="http://schemas.openxmlformats.org/drawingml/2006/main"/>
          <a:ln xmlns:a="http://schemas.openxmlformats.org/drawingml/2006/main" w="10954">
            <a:solidFill>
              <a:srgbClr val="627FA8"/>
            </a:solidFill>
            <a:prstDash val="dash"/>
          </a:ln>
        </p:spPr>
      </p:sp>
      <p:sp>
        <p:nvSpPr>
          <p:cNvPr id="52" name="detector">
            <a:extLst xmlns:a="http://schemas.openxmlformats.org/drawingml/2006/main">
              <a:ext uri="{FF2B5EF4-FFF2-40B4-BE49-F238E27FC236}">
                <a16:creationId xmlns:a16="http://schemas.microsoft.com/office/drawing/2014/main" id="{CCC50C01-186B-4EFE-BF19-F29C1DF28C48}"/>
              </a:ext>
            </a:extLst>
          </p:cNvPr>
          <p:cNvSpPr>
            <a:spLocks xmlns:a="http://schemas.openxmlformats.org/drawingml/2006/main"/>
          </p:cNvSpPr>
          <p:nvPr/>
        </p:nvSpPr>
        <p:spPr>
          <a:xfrm xmlns:a="http://schemas.openxmlformats.org/drawingml/2006/main">
            <a:off x="3514725" y="581025"/>
            <a:ext cx="914400" cy="552450"/>
          </a:xfrm>
          <a:prstGeom xmlns:a="http://schemas.openxmlformats.org/drawingml/2006/main" prst="rect">
            <a:avLst/>
          </a:prstGeom>
          <a:solidFill xmlns:a="http://schemas.openxmlformats.org/drawingml/2006/main">
            <a:srgbClr val="DFE8F5"/>
          </a:solidFill>
          <a:ln xmlns:a="http://schemas.openxmlformats.org/drawingml/2006/main" w="9525">
            <a:solidFill>
              <a:srgbClr val="627FA8"/>
            </a:solid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930" b="0">
                <a:solidFill>
                  <a:srgbClr val="24272B"/>
                </a:solidFill>
                <a:latin typeface="Arial"/>
                <a:ea typeface="Arial"/>
                <a:cs typeface="Arial"/>
              </a:defRPr>
            </a:pPr>
            <a:r>
              <a:rPr sz="930" b="0">
                <a:solidFill>
                  <a:srgbClr val="24272B"/>
                </a:solidFill>
                <a:latin typeface="Arial"/>
                <a:ea typeface="Arial"/>
                <a:cs typeface="Arial"/>
              </a:rPr>
              <a:t>Fluorescence</a:t>
            </a:r>
          </a:p>
          <a:p xmlns:a="http://schemas.openxmlformats.org/drawingml/2006/main">
            <a:pPr algn="ctr">
              <a:defRPr sz="930" b="0">
                <a:solidFill>
                  <a:srgbClr val="24272B"/>
                </a:solidFill>
                <a:latin typeface="Arial"/>
                <a:ea typeface="Arial"/>
                <a:cs typeface="Arial"/>
              </a:defRPr>
            </a:pPr>
            <a:r>
              <a:rPr sz="930" b="0">
                <a:solidFill>
                  <a:srgbClr val="24272B"/>
                </a:solidFill>
                <a:latin typeface="Arial"/>
                <a:ea typeface="Arial"/>
                <a:cs typeface="Arial"/>
              </a:rPr>
              <a:t>detector</a:t>
            </a:r>
          </a:p>
        </p:txBody>
      </p:sp>
      <p:sp>
        <p:nvSpPr>
          <p:cNvPr id="53" name="controller">
            <a:extLst xmlns:a="http://schemas.openxmlformats.org/drawingml/2006/main">
              <a:ext uri="{FF2B5EF4-FFF2-40B4-BE49-F238E27FC236}">
                <a16:creationId xmlns:a16="http://schemas.microsoft.com/office/drawing/2014/main" id="{B5067EEB-97BB-4EC7-A7C8-9EB731102556}"/>
              </a:ext>
            </a:extLst>
          </p:cNvPr>
          <p:cNvSpPr>
            <a:spLocks xmlns:a="http://schemas.openxmlformats.org/drawingml/2006/main"/>
          </p:cNvSpPr>
          <p:nvPr/>
        </p:nvSpPr>
        <p:spPr>
          <a:xfrm xmlns:a="http://schemas.openxmlformats.org/drawingml/2006/main">
            <a:off x="4724400" y="581025"/>
            <a:ext cx="1457325" cy="552450"/>
          </a:xfrm>
          <a:prstGeom xmlns:a="http://schemas.openxmlformats.org/drawingml/2006/main" prst="rect">
            <a:avLst/>
          </a:prstGeom>
          <a:solidFill xmlns:a="http://schemas.openxmlformats.org/drawingml/2006/main">
            <a:srgbClr val="DFE8F5"/>
          </a:solidFill>
          <a:ln xmlns:a="http://schemas.openxmlformats.org/drawingml/2006/main" w="9525">
            <a:solidFill>
              <a:srgbClr val="627FA8"/>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defRPr sz="930" b="0">
                <a:solidFill>
                  <a:srgbClr val="24272B"/>
                </a:solidFill>
                <a:latin typeface="Arial"/>
                <a:ea typeface="Arial"/>
                <a:cs typeface="Arial"/>
              </a:defRPr>
            </a:pPr>
            <a:r>
              <a:rPr sz="930" b="0">
                <a:solidFill>
                  <a:srgbClr val="24272B"/>
                </a:solidFill>
                <a:latin typeface="Arial"/>
                <a:ea typeface="Arial"/>
                <a:cs typeface="Arial"/>
              </a:rPr>
              <a:t>Controller</a:t>
            </a:r>
          </a:p>
          <a:p xmlns:a="http://schemas.openxmlformats.org/drawingml/2006/main">
            <a:pPr algn="ctr">
              <a:defRPr sz="930" b="0">
                <a:solidFill>
                  <a:srgbClr val="24272B"/>
                </a:solidFill>
                <a:latin typeface="Arial"/>
                <a:ea typeface="Arial"/>
                <a:cs typeface="Arial"/>
              </a:defRPr>
            </a:pPr>
            <a:r>
              <a:rPr sz="930" b="0">
                <a:solidFill>
                  <a:srgbClr val="24272B"/>
                </a:solidFill>
                <a:latin typeface="Arial"/>
                <a:ea typeface="Arial"/>
                <a:cs typeface="Arial"/>
              </a:rPr>
              <a:t>Compare F with θ</a:t>
            </a:r>
          </a:p>
        </p:txBody>
      </p:sp>
      <p:sp>
        <p:nvSpPr>
          <p:cNvPr id="54" name="electrode">
            <a:extLst xmlns:a="http://schemas.openxmlformats.org/drawingml/2006/main">
              <a:ext uri="{FF2B5EF4-FFF2-40B4-BE49-F238E27FC236}">
                <a16:creationId xmlns:a16="http://schemas.microsoft.com/office/drawing/2014/main" id="{8FC2BA2A-EA9A-426C-820C-FF933F9A986D}"/>
              </a:ext>
            </a:extLst>
          </p:cNvPr>
          <p:cNvSpPr>
            <a:spLocks xmlns:a="http://schemas.openxmlformats.org/drawingml/2006/main"/>
          </p:cNvSpPr>
          <p:nvPr/>
        </p:nvSpPr>
        <p:spPr>
          <a:xfrm xmlns:a="http://schemas.openxmlformats.org/drawingml/2006/main">
            <a:off x="4914900" y="1866900"/>
            <a:ext cx="304800" cy="66675"/>
          </a:xfrm>
          <a:prstGeom xmlns:a="http://schemas.openxmlformats.org/drawingml/2006/main" prst="rect">
            <a:avLst/>
          </a:prstGeom>
          <a:solidFill xmlns:a="http://schemas.openxmlformats.org/drawingml/2006/main">
            <a:srgbClr val="426EAA"/>
          </a:solidFill>
          <a:ln xmlns:a="http://schemas.openxmlformats.org/drawingml/2006/main" w="7144">
            <a:solidFill>
              <a:srgbClr val="426EAA"/>
            </a:solidFill>
            <a:prstDash val="solid"/>
          </a:ln>
        </p:spPr>
      </p:sp>
      <p:cxnSp>
        <p:nvCxnSpPr>
          <p:cNvPr id="137" name="optical-measurement"/>
          <p:cNvCxnSpPr>
            <a:stCxn xmlns:a="http://schemas.openxmlformats.org/drawingml/2006/main" id="50" idx="0"/>
            <a:endCxn xmlns:a="http://schemas.openxmlformats.org/drawingml/2006/main" id="52" idx="2"/>
          </p:cNvCxnSpPr>
          <p:nvPr/>
        </p:nvCxnSpPr>
        <p:spPr>
          <a:xfrm xmlns:a="http://schemas.openxmlformats.org/drawingml/2006/main" flipV="1">
            <a:off x="3971925" y="1133475"/>
            <a:ext cx="0" cy="933450"/>
          </a:xfrm>
          <a:prstGeom xmlns:a="http://schemas.openxmlformats.org/drawingml/2006/main" prst="straightConnector1">
            <a:avLst/>
          </a:prstGeom>
          <a:ln xmlns:a="http://schemas.openxmlformats.org/drawingml/2006/main" w="15716" cap="rnd">
            <a:solidFill>
              <a:srgbClr val="426EAA"/>
            </a:solidFill>
            <a:prstDash val="dash"/>
            <a:round/>
            <a:tailEnd type="triangle" w="sm" len="sm"/>
          </a:ln>
        </p:spPr>
      </p:cxnSp>
      <p:cxnSp>
        <p:nvCxnSpPr>
          <p:cNvPr id="138" name="signal"/>
          <p:cNvCxnSpPr>
            <a:stCxn xmlns:a="http://schemas.openxmlformats.org/drawingml/2006/main" id="52" idx="3"/>
            <a:endCxn xmlns:a="http://schemas.openxmlformats.org/drawingml/2006/main" id="53" idx="1"/>
          </p:cNvCxnSpPr>
          <p:nvPr/>
        </p:nvCxnSpPr>
        <p:spPr>
          <a:xfrm xmlns:a="http://schemas.openxmlformats.org/drawingml/2006/main">
            <a:off x="4429125" y="857250"/>
            <a:ext cx="295275" cy="0"/>
          </a:xfrm>
          <a:prstGeom xmlns:a="http://schemas.openxmlformats.org/drawingml/2006/main" prst="straightConnector1">
            <a:avLst/>
          </a:prstGeom>
          <a:ln xmlns:a="http://schemas.openxmlformats.org/drawingml/2006/main" w="15716" cap="rnd">
            <a:solidFill>
              <a:srgbClr val="426EAA"/>
            </a:solidFill>
            <a:prstDash val="dash"/>
            <a:round/>
            <a:tailEnd type="triangle" w="sm" len="sm"/>
          </a:ln>
        </p:spPr>
      </p:cxnSp>
      <p:cxnSp>
        <p:nvCxnSpPr>
          <p:cNvPr id="139" name="trigger"/>
          <p:cNvCxnSpPr>
            <a:stCxn xmlns:a="http://schemas.openxmlformats.org/drawingml/2006/main" id="53" idx="2"/>
            <a:endCxn xmlns:a="http://schemas.openxmlformats.org/drawingml/2006/main" id="54" idx="0"/>
          </p:cNvCxnSpPr>
          <p:nvPr/>
        </p:nvCxnSpPr>
        <p:spPr>
          <a:xfrm xmlns:a="http://schemas.openxmlformats.org/drawingml/2006/main" flipH="1">
            <a:off x="5067300" y="1133475"/>
            <a:ext cx="385763" cy="733425"/>
          </a:xfrm>
          <a:prstGeom xmlns:a="http://schemas.openxmlformats.org/drawingml/2006/main" prst="bentConnector4">
            <a:avLst>
              <a:gd name="adj1" fmla="val 0"/>
              <a:gd name="adj2" fmla="val 50000"/>
            </a:avLst>
          </a:prstGeom>
          <a:ln xmlns:a="http://schemas.openxmlformats.org/drawingml/2006/main" w="15716" cap="rnd">
            <a:solidFill>
              <a:srgbClr val="426EAA"/>
            </a:solidFill>
            <a:prstDash val="dash"/>
            <a:round/>
            <a:tailEnd type="triangle" w="sm" len="sm"/>
          </a:ln>
        </p:spPr>
      </p:cxnSp>
      <p:cxnSp>
        <p:nvCxnSpPr>
          <p:cNvPr id="140" name="actuation"/>
          <p:cNvCxnSpPr>
            <a:stCxn xmlns:a="http://schemas.openxmlformats.org/drawingml/2006/main" id="54" idx="2"/>
            <a:endCxn xmlns:a="http://schemas.openxmlformats.org/drawingml/2006/main" id="51" idx="0"/>
          </p:cNvCxnSpPr>
          <p:nvPr/>
        </p:nvCxnSpPr>
        <p:spPr>
          <a:xfrm xmlns:a="http://schemas.openxmlformats.org/drawingml/2006/main">
            <a:off x="5067300" y="1933575"/>
            <a:ext cx="0" cy="133350"/>
          </a:xfrm>
          <a:prstGeom xmlns:a="http://schemas.openxmlformats.org/drawingml/2006/main" prst="straightConnector1">
            <a:avLst/>
          </a:prstGeom>
          <a:ln xmlns:a="http://schemas.openxmlformats.org/drawingml/2006/main" w="12383" cap="rnd">
            <a:solidFill>
              <a:srgbClr val="426EAA"/>
            </a:solidFill>
            <a:prstDash val="dash"/>
            <a:round/>
            <a:tailEnd type="triangle" w="sm" len="sm"/>
          </a:ln>
        </p:spPr>
      </p:cxnSp>
      <p:sp>
        <p:nvSpPr>
          <p:cNvPr id="59" name="signal-F">
            <a:extLst xmlns:a="http://schemas.openxmlformats.org/drawingml/2006/main">
              <a:ext uri="{FF2B5EF4-FFF2-40B4-BE49-F238E27FC236}">
                <a16:creationId xmlns:a16="http://schemas.microsoft.com/office/drawing/2014/main" id="{C211495C-436E-4BE4-BB08-1A9F9FD16BB0}"/>
              </a:ext>
            </a:extLst>
          </p:cNvPr>
          <p:cNvSpPr>
            <a:spLocks xmlns:a="http://schemas.openxmlformats.org/drawingml/2006/main"/>
          </p:cNvSpPr>
          <p:nvPr/>
        </p:nvSpPr>
        <p:spPr>
          <a:xfrm xmlns:a="http://schemas.openxmlformats.org/drawingml/2006/main">
            <a:off x="4476750" y="628650"/>
            <a:ext cx="219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ctr">
              <a:defRPr sz="900" b="0">
                <a:solidFill>
                  <a:srgbClr val="426EAA"/>
                </a:solidFill>
                <a:latin typeface="Arial"/>
                <a:ea typeface="Arial"/>
                <a:cs typeface="Arial"/>
              </a:defRPr>
            </a:pPr>
            <a:r>
              <a:rPr sz="900" b="0">
                <a:solidFill>
                  <a:srgbClr val="426EAA"/>
                </a:solidFill>
                <a:latin typeface="Arial"/>
                <a:ea typeface="Arial"/>
                <a:cs typeface="Arial"/>
              </a:rPr>
              <a:t>F</a:t>
            </a:r>
          </a:p>
        </p:txBody>
      </p:sp>
      <p:sp>
        <p:nvSpPr>
          <p:cNvPr id="60" name="each-droplet">
            <a:extLst xmlns:a="http://schemas.openxmlformats.org/drawingml/2006/main">
              <a:ext uri="{FF2B5EF4-FFF2-40B4-BE49-F238E27FC236}">
                <a16:creationId xmlns:a16="http://schemas.microsoft.com/office/drawing/2014/main" id="{31027031-1882-4D48-BC1A-5895DC4BD551}"/>
              </a:ext>
            </a:extLst>
          </p:cNvPr>
          <p:cNvSpPr>
            <a:spLocks xmlns:a="http://schemas.openxmlformats.org/drawingml/2006/main"/>
          </p:cNvSpPr>
          <p:nvPr/>
        </p:nvSpPr>
        <p:spPr>
          <a:xfrm xmlns:a="http://schemas.openxmlformats.org/drawingml/2006/main">
            <a:off x="3352800" y="1419225"/>
            <a:ext cx="53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ctr">
              <a:defRPr sz="788" b="0">
                <a:solidFill>
                  <a:srgbClr val="51565D"/>
                </a:solidFill>
                <a:latin typeface="Arial"/>
                <a:ea typeface="Arial"/>
                <a:cs typeface="Arial"/>
              </a:defRPr>
            </a:pPr>
            <a:r>
              <a:rPr sz="788" b="0">
                <a:solidFill>
                  <a:srgbClr val="51565D"/>
                </a:solidFill>
                <a:latin typeface="Arial"/>
                <a:ea typeface="Arial"/>
                <a:cs typeface="Arial"/>
              </a:rPr>
              <a:t>each</a:t>
            </a:r>
          </a:p>
          <a:p xmlns:a="http://schemas.openxmlformats.org/drawingml/2006/main">
            <a:pPr algn="ctr">
              <a:defRPr sz="788" b="0">
                <a:solidFill>
                  <a:srgbClr val="51565D"/>
                </a:solidFill>
                <a:latin typeface="Arial"/>
                <a:ea typeface="Arial"/>
                <a:cs typeface="Arial"/>
              </a:defRPr>
            </a:pPr>
            <a:r>
              <a:rPr sz="788" b="0">
                <a:solidFill>
                  <a:srgbClr val="51565D"/>
                </a:solidFill>
                <a:latin typeface="Arial"/>
                <a:ea typeface="Arial"/>
                <a:cs typeface="Arial"/>
              </a:rPr>
              <a:t>droplet</a:t>
            </a:r>
          </a:p>
        </p:txBody>
      </p:sp>
      <p:sp>
        <p:nvSpPr>
          <p:cNvPr id="61" name="trigger-label">
            <a:extLst xmlns:a="http://schemas.openxmlformats.org/drawingml/2006/main">
              <a:ext uri="{FF2B5EF4-FFF2-40B4-BE49-F238E27FC236}">
                <a16:creationId xmlns:a16="http://schemas.microsoft.com/office/drawing/2014/main" id="{FE071B7C-3E80-44CF-8B9A-5FCAD67FC82A}"/>
              </a:ext>
            </a:extLst>
          </p:cNvPr>
          <p:cNvSpPr>
            <a:spLocks xmlns:a="http://schemas.openxmlformats.org/drawingml/2006/main"/>
          </p:cNvSpPr>
          <p:nvPr/>
        </p:nvSpPr>
        <p:spPr>
          <a:xfrm xmlns:a="http://schemas.openxmlformats.org/drawingml/2006/main">
            <a:off x="5553075" y="1143000"/>
            <a:ext cx="5810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ctr">
              <a:defRPr sz="825" b="0">
                <a:solidFill>
                  <a:srgbClr val="426EAA"/>
                </a:solidFill>
                <a:latin typeface="Arial"/>
                <a:ea typeface="Arial"/>
                <a:cs typeface="Arial"/>
              </a:defRPr>
            </a:pPr>
            <a:r>
              <a:rPr sz="825" b="0">
                <a:solidFill>
                  <a:srgbClr val="426EAA"/>
                </a:solidFill>
                <a:latin typeface="Arial"/>
                <a:ea typeface="Arial"/>
                <a:cs typeface="Arial"/>
              </a:rPr>
              <a:t>trigger</a:t>
            </a:r>
          </a:p>
        </p:txBody>
      </p:sp>
      <p:sp>
        <p:nvSpPr>
          <p:cNvPr id="62" name="electrode-label">
            <a:extLst xmlns:a="http://schemas.openxmlformats.org/drawingml/2006/main">
              <a:ext uri="{FF2B5EF4-FFF2-40B4-BE49-F238E27FC236}">
                <a16:creationId xmlns:a16="http://schemas.microsoft.com/office/drawing/2014/main" id="{4F3ADFCB-29D4-4BF8-AF6E-2100AD87EA7C}"/>
              </a:ext>
            </a:extLst>
          </p:cNvPr>
          <p:cNvSpPr>
            <a:spLocks xmlns:a="http://schemas.openxmlformats.org/drawingml/2006/main"/>
          </p:cNvSpPr>
          <p:nvPr/>
        </p:nvSpPr>
        <p:spPr>
          <a:xfrm xmlns:a="http://schemas.openxmlformats.org/drawingml/2006/main">
            <a:off x="4333875" y="1619250"/>
            <a:ext cx="6000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ctr">
              <a:defRPr sz="825" b="0">
                <a:solidFill>
                  <a:srgbClr val="24272B"/>
                </a:solidFill>
                <a:latin typeface="Arial"/>
                <a:ea typeface="Arial"/>
                <a:cs typeface="Arial"/>
              </a:defRPr>
            </a:pPr>
            <a:r>
              <a:rPr sz="825" b="0">
                <a:solidFill>
                  <a:srgbClr val="24272B"/>
                </a:solidFill>
                <a:latin typeface="Arial"/>
                <a:ea typeface="Arial"/>
                <a:cs typeface="Arial"/>
              </a:rPr>
              <a:t>Sorting</a:t>
            </a:r>
          </a:p>
          <a:p xmlns:a="http://schemas.openxmlformats.org/drawingml/2006/main">
            <a:pPr algn="ctr">
              <a:defRPr sz="825" b="0">
                <a:solidFill>
                  <a:srgbClr val="24272B"/>
                </a:solidFill>
                <a:latin typeface="Arial"/>
                <a:ea typeface="Arial"/>
                <a:cs typeface="Arial"/>
              </a:defRPr>
            </a:pPr>
            <a:r>
              <a:rPr sz="825" b="0">
                <a:solidFill>
                  <a:srgbClr val="24272B"/>
                </a:solidFill>
                <a:latin typeface="Arial"/>
                <a:ea typeface="Arial"/>
                <a:cs typeface="Arial"/>
              </a:rPr>
              <a:t>electrode</a:t>
            </a:r>
          </a:p>
        </p:txBody>
      </p:sp>
      <p:sp>
        <p:nvSpPr>
          <p:cNvPr id="63" name="aqueous-label">
            <a:extLst xmlns:a="http://schemas.openxmlformats.org/drawingml/2006/main">
              <a:ext uri="{FF2B5EF4-FFF2-40B4-BE49-F238E27FC236}">
                <a16:creationId xmlns:a16="http://schemas.microsoft.com/office/drawing/2014/main" id="{BD706C15-0406-4DF1-BD6A-2839AA2708D3}"/>
              </a:ext>
            </a:extLst>
          </p:cNvPr>
          <p:cNvSpPr>
            <a:spLocks xmlns:a="http://schemas.openxmlformats.org/drawingml/2006/main"/>
          </p:cNvSpPr>
          <p:nvPr/>
        </p:nvSpPr>
        <p:spPr>
          <a:xfrm xmlns:a="http://schemas.openxmlformats.org/drawingml/2006/main">
            <a:off x="171450" y="1714500"/>
            <a:ext cx="8477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l">
              <a:defRPr sz="900" b="0">
                <a:solidFill>
                  <a:srgbClr val="24272B"/>
                </a:solidFill>
                <a:latin typeface="Arial"/>
                <a:ea typeface="Arial"/>
                <a:cs typeface="Arial"/>
              </a:defRPr>
            </a:pPr>
            <a:r>
              <a:rPr sz="900" b="0">
                <a:solidFill>
                  <a:srgbClr val="24272B"/>
                </a:solidFill>
                <a:latin typeface="Arial"/>
                <a:ea typeface="Arial"/>
                <a:cs typeface="Arial"/>
              </a:rPr>
              <a:t>Aqueous</a:t>
            </a:r>
          </a:p>
          <a:p xmlns:a="http://schemas.openxmlformats.org/drawingml/2006/main">
            <a:pPr algn="l">
              <a:defRPr sz="900" b="0">
                <a:solidFill>
                  <a:srgbClr val="24272B"/>
                </a:solidFill>
                <a:latin typeface="Arial"/>
                <a:ea typeface="Arial"/>
                <a:cs typeface="Arial"/>
              </a:defRPr>
            </a:pPr>
            <a:r>
              <a:rPr sz="900" b="0">
                <a:solidFill>
                  <a:srgbClr val="24272B"/>
                </a:solidFill>
                <a:latin typeface="Arial"/>
                <a:ea typeface="Arial"/>
                <a:cs typeface="Arial"/>
              </a:rPr>
              <a:t>assay mixture</a:t>
            </a:r>
          </a:p>
        </p:txBody>
      </p:sp>
      <p:sp>
        <p:nvSpPr>
          <p:cNvPr id="64" name="oil-top-label">
            <a:extLst xmlns:a="http://schemas.openxmlformats.org/drawingml/2006/main">
              <a:ext uri="{FF2B5EF4-FFF2-40B4-BE49-F238E27FC236}">
                <a16:creationId xmlns:a16="http://schemas.microsoft.com/office/drawing/2014/main" id="{E5166906-A01C-43AB-8E4E-916628448D09}"/>
              </a:ext>
            </a:extLst>
          </p:cNvPr>
          <p:cNvSpPr>
            <a:spLocks xmlns:a="http://schemas.openxmlformats.org/drawingml/2006/main"/>
          </p:cNvSpPr>
          <p:nvPr/>
        </p:nvSpPr>
        <p:spPr>
          <a:xfrm xmlns:a="http://schemas.openxmlformats.org/drawingml/2006/main">
            <a:off x="885825" y="1257300"/>
            <a:ext cx="704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ctr">
              <a:defRPr sz="900" b="0">
                <a:solidFill>
                  <a:srgbClr val="24272B"/>
                </a:solidFill>
                <a:latin typeface="Arial"/>
                <a:ea typeface="Arial"/>
                <a:cs typeface="Arial"/>
              </a:defRPr>
            </a:pPr>
            <a:r>
              <a:rPr sz="900" b="0">
                <a:solidFill>
                  <a:srgbClr val="24272B"/>
                </a:solidFill>
                <a:latin typeface="Arial"/>
                <a:ea typeface="Arial"/>
                <a:cs typeface="Arial"/>
              </a:rPr>
              <a:t>Carrier oil</a:t>
            </a:r>
          </a:p>
        </p:txBody>
      </p:sp>
      <p:sp>
        <p:nvSpPr>
          <p:cNvPr id="65" name="oil-bottom-label">
            <a:extLst xmlns:a="http://schemas.openxmlformats.org/drawingml/2006/main">
              <a:ext uri="{FF2B5EF4-FFF2-40B4-BE49-F238E27FC236}">
                <a16:creationId xmlns:a16="http://schemas.microsoft.com/office/drawing/2014/main" id="{1DD5CA4B-9AB7-457A-8E73-A7D047B6DE8D}"/>
              </a:ext>
            </a:extLst>
          </p:cNvPr>
          <p:cNvSpPr>
            <a:spLocks xmlns:a="http://schemas.openxmlformats.org/drawingml/2006/main"/>
          </p:cNvSpPr>
          <p:nvPr/>
        </p:nvSpPr>
        <p:spPr>
          <a:xfrm xmlns:a="http://schemas.openxmlformats.org/drawingml/2006/main">
            <a:off x="876300" y="2952750"/>
            <a:ext cx="723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ctr">
              <a:defRPr sz="900" b="0">
                <a:solidFill>
                  <a:srgbClr val="24272B"/>
                </a:solidFill>
                <a:latin typeface="Arial"/>
                <a:ea typeface="Arial"/>
                <a:cs typeface="Arial"/>
              </a:defRPr>
            </a:pPr>
            <a:r>
              <a:rPr sz="900" b="0">
                <a:solidFill>
                  <a:srgbClr val="24272B"/>
                </a:solidFill>
                <a:latin typeface="Arial"/>
                <a:ea typeface="Arial"/>
                <a:cs typeface="Arial"/>
              </a:rPr>
              <a:t>Carrier oil</a:t>
            </a:r>
          </a:p>
        </p:txBody>
      </p:sp>
      <p:sp>
        <p:nvSpPr>
          <p:cNvPr id="66" name="focus-label">
            <a:extLst xmlns:a="http://schemas.openxmlformats.org/drawingml/2006/main">
              <a:ext uri="{FF2B5EF4-FFF2-40B4-BE49-F238E27FC236}">
                <a16:creationId xmlns:a16="http://schemas.microsoft.com/office/drawing/2014/main" id="{3DD2E8FA-111F-4EC6-BC6B-0AF668CCD076}"/>
              </a:ext>
            </a:extLst>
          </p:cNvPr>
          <p:cNvSpPr>
            <a:spLocks xmlns:a="http://schemas.openxmlformats.org/drawingml/2006/main"/>
          </p:cNvSpPr>
          <p:nvPr/>
        </p:nvSpPr>
        <p:spPr>
          <a:xfrm xmlns:a="http://schemas.openxmlformats.org/drawingml/2006/main">
            <a:off x="1238250" y="3248025"/>
            <a:ext cx="1028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ctr">
              <a:defRPr sz="900" b="0">
                <a:solidFill>
                  <a:srgbClr val="24272B"/>
                </a:solidFill>
                <a:latin typeface="Arial"/>
                <a:ea typeface="Arial"/>
                <a:cs typeface="Arial"/>
              </a:defRPr>
            </a:pPr>
            <a:r>
              <a:rPr sz="900" b="0">
                <a:solidFill>
                  <a:srgbClr val="24272B"/>
                </a:solidFill>
                <a:latin typeface="Arial"/>
                <a:ea typeface="Arial"/>
                <a:cs typeface="Arial"/>
              </a:rPr>
              <a:t>Flow focusing</a:t>
            </a:r>
          </a:p>
        </p:txBody>
      </p:sp>
      <p:sp>
        <p:nvSpPr>
          <p:cNvPr id="67" name="focus-leader">
            <a:extLst xmlns:a="http://schemas.openxmlformats.org/drawingml/2006/main">
              <a:ext uri="{FF2B5EF4-FFF2-40B4-BE49-F238E27FC236}">
                <a16:creationId xmlns:a16="http://schemas.microsoft.com/office/drawing/2014/main" id="{CDC1FAF0-CAE5-4520-B523-836D3AE30ADC}"/>
              </a:ext>
            </a:extLst>
          </p:cNvPr>
          <p:cNvSpPr>
            <a:spLocks xmlns:a="http://schemas.openxmlformats.org/drawingml/2006/main"/>
          </p:cNvSpPr>
          <p:nvPr/>
        </p:nvSpPr>
        <p:spPr>
          <a:xfrm xmlns:a="http://schemas.openxmlformats.org/drawingml/2006/main">
            <a:off x="1371600" y="2419350"/>
            <a:ext cx="333375" cy="800100"/>
          </a:xfrm>
          <a:custGeom xmlns:a="http://schemas.openxmlformats.org/drawingml/2006/main">
            <a:pathLst>
              <a:path w="333375" h="800100">
                <a:moveTo>
                  <a:pt x="333375" y="800100"/>
                </a:moveTo>
                <a:lnTo>
                  <a:pt x="333375" y="257175"/>
                </a:lnTo>
                <a:lnTo>
                  <a:pt x="0" y="0"/>
                </a:lnTo>
              </a:path>
            </a:pathLst>
          </a:custGeom>
          <a:noFill xmlns:a="http://schemas.openxmlformats.org/drawingml/2006/main"/>
          <a:ln xmlns:a="http://schemas.openxmlformats.org/drawingml/2006/main" w="7144">
            <a:solidFill>
              <a:srgbClr val="51565D"/>
            </a:solidFill>
            <a:prstDash val="solid"/>
          </a:ln>
        </p:spPr>
      </p:sp>
      <p:sp>
        <p:nvSpPr>
          <p:cNvPr id="68" name="incubation-label">
            <a:extLst xmlns:a="http://schemas.openxmlformats.org/drawingml/2006/main">
              <a:ext uri="{FF2B5EF4-FFF2-40B4-BE49-F238E27FC236}">
                <a16:creationId xmlns:a16="http://schemas.microsoft.com/office/drawing/2014/main" id="{AB865132-DED8-4F57-A966-B96C89DD9DBD}"/>
              </a:ext>
            </a:extLst>
          </p:cNvPr>
          <p:cNvSpPr>
            <a:spLocks xmlns:a="http://schemas.openxmlformats.org/drawingml/2006/main"/>
          </p:cNvSpPr>
          <p:nvPr/>
        </p:nvSpPr>
        <p:spPr>
          <a:xfrm xmlns:a="http://schemas.openxmlformats.org/drawingml/2006/main">
            <a:off x="2076450" y="1219200"/>
            <a:ext cx="1133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ctr">
              <a:defRPr sz="900" b="0">
                <a:solidFill>
                  <a:srgbClr val="24272B"/>
                </a:solidFill>
                <a:latin typeface="Arial"/>
                <a:ea typeface="Arial"/>
                <a:cs typeface="Arial"/>
              </a:defRPr>
            </a:pPr>
            <a:r>
              <a:rPr sz="900" b="0">
                <a:solidFill>
                  <a:srgbClr val="24272B"/>
                </a:solidFill>
                <a:latin typeface="Arial"/>
                <a:ea typeface="Arial"/>
                <a:cs typeface="Arial"/>
              </a:rPr>
              <a:t>On-chip</a:t>
            </a:r>
          </a:p>
          <a:p xmlns:a="http://schemas.openxmlformats.org/drawingml/2006/main">
            <a:pPr algn="ctr">
              <a:defRPr sz="900" b="0">
                <a:solidFill>
                  <a:srgbClr val="24272B"/>
                </a:solidFill>
                <a:latin typeface="Arial"/>
                <a:ea typeface="Arial"/>
                <a:cs typeface="Arial"/>
              </a:defRPr>
            </a:pPr>
            <a:r>
              <a:rPr sz="900" b="0">
                <a:solidFill>
                  <a:srgbClr val="24272B"/>
                </a:solidFill>
                <a:latin typeface="Arial"/>
                <a:ea typeface="Arial"/>
                <a:cs typeface="Arial"/>
              </a:rPr>
              <a:t>incubation / delay</a:t>
            </a:r>
          </a:p>
        </p:txBody>
      </p:sp>
      <p:sp>
        <p:nvSpPr>
          <p:cNvPr id="69" name="detection-label">
            <a:extLst xmlns:a="http://schemas.openxmlformats.org/drawingml/2006/main">
              <a:ext uri="{FF2B5EF4-FFF2-40B4-BE49-F238E27FC236}">
                <a16:creationId xmlns:a16="http://schemas.microsoft.com/office/drawing/2014/main" id="{2FEA8A98-8BBF-4293-81CF-8224EBB61726}"/>
              </a:ext>
            </a:extLst>
          </p:cNvPr>
          <p:cNvSpPr>
            <a:spLocks xmlns:a="http://schemas.openxmlformats.org/drawingml/2006/main"/>
          </p:cNvSpPr>
          <p:nvPr/>
        </p:nvSpPr>
        <p:spPr>
          <a:xfrm xmlns:a="http://schemas.openxmlformats.org/drawingml/2006/main">
            <a:off x="3571875" y="2533650"/>
            <a:ext cx="790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ctr">
              <a:defRPr sz="900" b="0">
                <a:solidFill>
                  <a:srgbClr val="24272B"/>
                </a:solidFill>
                <a:latin typeface="Arial"/>
                <a:ea typeface="Arial"/>
                <a:cs typeface="Arial"/>
              </a:defRPr>
            </a:pPr>
            <a:r>
              <a:rPr sz="900" b="0">
                <a:solidFill>
                  <a:srgbClr val="24272B"/>
                </a:solidFill>
                <a:latin typeface="Arial"/>
                <a:ea typeface="Arial"/>
                <a:cs typeface="Arial"/>
              </a:rPr>
              <a:t>Detection</a:t>
            </a:r>
          </a:p>
        </p:txBody>
      </p:sp>
      <p:sp>
        <p:nvSpPr>
          <p:cNvPr id="70" name="sorting-label">
            <a:extLst xmlns:a="http://schemas.openxmlformats.org/drawingml/2006/main">
              <a:ext uri="{FF2B5EF4-FFF2-40B4-BE49-F238E27FC236}">
                <a16:creationId xmlns:a16="http://schemas.microsoft.com/office/drawing/2014/main" id="{D238F6FA-B136-4F5A-917C-AAA339C7CEA2}"/>
              </a:ext>
            </a:extLst>
          </p:cNvPr>
          <p:cNvSpPr>
            <a:spLocks xmlns:a="http://schemas.openxmlformats.org/drawingml/2006/main"/>
          </p:cNvSpPr>
          <p:nvPr/>
        </p:nvSpPr>
        <p:spPr>
          <a:xfrm xmlns:a="http://schemas.openxmlformats.org/drawingml/2006/main">
            <a:off x="4695825" y="2533650"/>
            <a:ext cx="66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ctr">
              <a:defRPr sz="900" b="0">
                <a:solidFill>
                  <a:srgbClr val="24272B"/>
                </a:solidFill>
                <a:latin typeface="Arial"/>
                <a:ea typeface="Arial"/>
                <a:cs typeface="Arial"/>
              </a:defRPr>
            </a:pPr>
            <a:r>
              <a:rPr sz="900" b="0">
                <a:solidFill>
                  <a:srgbClr val="24272B"/>
                </a:solidFill>
                <a:latin typeface="Arial"/>
                <a:ea typeface="Arial"/>
                <a:cs typeface="Arial"/>
              </a:rPr>
              <a:t>Sorting</a:t>
            </a:r>
          </a:p>
          <a:p xmlns:a="http://schemas.openxmlformats.org/drawingml/2006/main">
            <a:pPr algn="ctr">
              <a:defRPr sz="900" b="0">
                <a:solidFill>
                  <a:srgbClr val="24272B"/>
                </a:solidFill>
                <a:latin typeface="Arial"/>
                <a:ea typeface="Arial"/>
                <a:cs typeface="Arial"/>
              </a:defRPr>
            </a:pPr>
            <a:r>
              <a:rPr sz="900" b="0">
                <a:solidFill>
                  <a:srgbClr val="24272B"/>
                </a:solidFill>
                <a:latin typeface="Arial"/>
                <a:ea typeface="Arial"/>
                <a:cs typeface="Arial"/>
              </a:rPr>
              <a:t>junction</a:t>
            </a:r>
          </a:p>
        </p:txBody>
      </p:sp>
      <p:sp>
        <p:nvSpPr>
          <p:cNvPr id="71" name="hit-label">
            <a:extLst xmlns:a="http://schemas.openxmlformats.org/drawingml/2006/main">
              <a:ext uri="{FF2B5EF4-FFF2-40B4-BE49-F238E27FC236}">
                <a16:creationId xmlns:a16="http://schemas.microsoft.com/office/drawing/2014/main" id="{409019FD-9352-4307-B64F-F137E5F855D5}"/>
              </a:ext>
            </a:extLst>
          </p:cNvPr>
          <p:cNvSpPr>
            <a:spLocks xmlns:a="http://schemas.openxmlformats.org/drawingml/2006/main"/>
          </p:cNvSpPr>
          <p:nvPr/>
        </p:nvSpPr>
        <p:spPr>
          <a:xfrm xmlns:a="http://schemas.openxmlformats.org/drawingml/2006/main">
            <a:off x="5457825" y="1295400"/>
            <a:ext cx="8667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ctr">
              <a:defRPr sz="900" b="1">
                <a:solidFill>
                  <a:srgbClr val="24272B"/>
                </a:solidFill>
                <a:latin typeface="Arial"/>
                <a:ea typeface="Arial"/>
                <a:cs typeface="Arial"/>
              </a:defRPr>
            </a:pPr>
            <a:r>
              <a:rPr sz="900" b="1">
                <a:solidFill>
                  <a:srgbClr val="24272B"/>
                </a:solidFill>
                <a:latin typeface="Arial"/>
                <a:ea typeface="Arial"/>
                <a:cs typeface="Arial"/>
              </a:rPr>
              <a:t>Collected hits</a:t>
            </a:r>
          </a:p>
        </p:txBody>
      </p:sp>
      <p:sp>
        <p:nvSpPr>
          <p:cNvPr id="72" name="hit-rule">
            <a:extLst xmlns:a="http://schemas.openxmlformats.org/drawingml/2006/main">
              <a:ext uri="{FF2B5EF4-FFF2-40B4-BE49-F238E27FC236}">
                <a16:creationId xmlns:a16="http://schemas.microsoft.com/office/drawing/2014/main" id="{B5AA517E-A675-4EC6-A791-AFEAF7457060}"/>
              </a:ext>
            </a:extLst>
          </p:cNvPr>
          <p:cNvSpPr>
            <a:spLocks xmlns:a="http://schemas.openxmlformats.org/drawingml/2006/main"/>
          </p:cNvSpPr>
          <p:nvPr/>
        </p:nvSpPr>
        <p:spPr>
          <a:xfrm xmlns:a="http://schemas.openxmlformats.org/drawingml/2006/main">
            <a:off x="5476875" y="14954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ctr">
              <a:defRPr sz="900" b="0">
                <a:solidFill>
                  <a:srgbClr val="24272B"/>
                </a:solidFill>
                <a:latin typeface="Arial"/>
                <a:ea typeface="Arial"/>
                <a:cs typeface="Arial"/>
              </a:defRPr>
            </a:pPr>
            <a:r>
              <a:rPr sz="900" b="0">
                <a:solidFill>
                  <a:srgbClr val="24272B"/>
                </a:solidFill>
                <a:latin typeface="Arial"/>
                <a:ea typeface="Arial"/>
                <a:cs typeface="Arial"/>
              </a:rPr>
              <a:t>F ≥ θ</a:t>
            </a:r>
          </a:p>
        </p:txBody>
      </p:sp>
      <p:sp>
        <p:nvSpPr>
          <p:cNvPr id="73" name="waste-label">
            <a:extLst xmlns:a="http://schemas.openxmlformats.org/drawingml/2006/main">
              <a:ext uri="{FF2B5EF4-FFF2-40B4-BE49-F238E27FC236}">
                <a16:creationId xmlns:a16="http://schemas.microsoft.com/office/drawing/2014/main" id="{6862E15D-3858-40F3-AD56-7875132D8773}"/>
              </a:ext>
            </a:extLst>
          </p:cNvPr>
          <p:cNvSpPr>
            <a:spLocks xmlns:a="http://schemas.openxmlformats.org/drawingml/2006/main"/>
          </p:cNvSpPr>
          <p:nvPr/>
        </p:nvSpPr>
        <p:spPr>
          <a:xfrm xmlns:a="http://schemas.openxmlformats.org/drawingml/2006/main">
            <a:off x="5467350" y="2895600"/>
            <a:ext cx="7524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ctr">
              <a:defRPr sz="900" b="1">
                <a:solidFill>
                  <a:srgbClr val="24272B"/>
                </a:solidFill>
                <a:latin typeface="Arial"/>
                <a:ea typeface="Arial"/>
                <a:cs typeface="Arial"/>
              </a:defRPr>
            </a:pPr>
            <a:r>
              <a:rPr sz="900" b="1">
                <a:solidFill>
                  <a:srgbClr val="24272B"/>
                </a:solidFill>
                <a:latin typeface="Arial"/>
                <a:ea typeface="Arial"/>
                <a:cs typeface="Arial"/>
              </a:rPr>
              <a:t>Waste</a:t>
            </a:r>
          </a:p>
        </p:txBody>
      </p:sp>
      <p:sp>
        <p:nvSpPr>
          <p:cNvPr id="74" name="waste-rule">
            <a:extLst xmlns:a="http://schemas.openxmlformats.org/drawingml/2006/main">
              <a:ext uri="{FF2B5EF4-FFF2-40B4-BE49-F238E27FC236}">
                <a16:creationId xmlns:a16="http://schemas.microsoft.com/office/drawing/2014/main" id="{D250CDC1-0B1F-4D4B-A470-1BFA030F06A6}"/>
              </a:ext>
            </a:extLst>
          </p:cNvPr>
          <p:cNvSpPr>
            <a:spLocks xmlns:a="http://schemas.openxmlformats.org/drawingml/2006/main"/>
          </p:cNvSpPr>
          <p:nvPr/>
        </p:nvSpPr>
        <p:spPr>
          <a:xfrm xmlns:a="http://schemas.openxmlformats.org/drawingml/2006/main">
            <a:off x="5467350" y="3105150"/>
            <a:ext cx="7524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ctr">
              <a:defRPr sz="900" b="0">
                <a:solidFill>
                  <a:srgbClr val="24272B"/>
                </a:solidFill>
                <a:latin typeface="Arial"/>
                <a:ea typeface="Arial"/>
                <a:cs typeface="Arial"/>
              </a:defRPr>
            </a:pPr>
            <a:r>
              <a:rPr sz="900" b="0">
                <a:solidFill>
                  <a:srgbClr val="24272B"/>
                </a:solidFill>
                <a:latin typeface="Arial"/>
                <a:ea typeface="Arial"/>
                <a:cs typeface="Arial"/>
              </a:rPr>
              <a:t>F &lt; θ</a:t>
            </a:r>
          </a:p>
        </p:txBody>
      </p:sp>
      <p:grpSp>
        <p:nvGrpSpPr>
          <p:cNvPr id="141" name="droplet-legend"/>
          <p:cNvGrpSpPr/>
          <p:nvPr/>
        </p:nvGrpSpPr>
        <p:grpSpPr>
          <ns1:xfrm xmlns:ns1="http://schemas.openxmlformats.org/drawingml/2006/main">
            <ns1:off x="2309813" y="3209925"/>
            <ns1:ext cx="1328737" cy="209550"/>
            <ns1:chOff x="2309813" y="3209925"/>
            <ns1:chExt cx="1328737" cy="209550"/>
          </ns1:xfrm>
        </p:grpSpPr>
        <p:sp>
          <p:nvSpPr>
            <p:cNvPr id="75" name="legend-hit">
              <a:extLst xmlns:a="http://schemas.openxmlformats.org/drawingml/2006/main">
                <a:ext uri="{FF2B5EF4-FFF2-40B4-BE49-F238E27FC236}">
                  <a16:creationId xmlns:a16="http://schemas.microsoft.com/office/drawing/2014/main" id="{DEEB022D-851E-48D3-8678-3E1493EBFBC6}"/>
                </a:ext>
              </a:extLst>
            </p:cNvPr>
            <p:cNvSpPr>
              <a:spLocks xmlns:a="http://schemas.openxmlformats.org/drawingml/2006/main"/>
            </p:cNvSpPr>
            <p:nvPr/>
          </p:nvSpPr>
          <p:spPr>
            <a:xfrm xmlns:a="http://schemas.openxmlformats.org/drawingml/2006/main">
              <a:off x="2309813" y="3262313"/>
              <a:ext cx="104775" cy="104775"/>
            </a:xfrm>
            <a:prstGeom xmlns:a="http://schemas.openxmlformats.org/drawingml/2006/main" prst="ellipse">
              <a:avLst/>
            </a:prstGeom>
            <a:solidFill xmlns:a="http://schemas.openxmlformats.org/drawingml/2006/main">
              <a:srgbClr val="577531"/>
            </a:solidFill>
            <a:ln xmlns:a="http://schemas.openxmlformats.org/drawingml/2006/main" w="10954">
              <a:solidFill>
                <a:srgbClr val="698044"/>
              </a:solidFill>
              <a:prstDash val="solid"/>
            </a:ln>
          </p:spPr>
        </p:sp>
        <p:sp>
          <p:nvSpPr>
            <p:cNvPr id="76" name="legend-hit-label">
              <a:extLst xmlns:a="http://schemas.openxmlformats.org/drawingml/2006/main">
                <a:ext uri="{FF2B5EF4-FFF2-40B4-BE49-F238E27FC236}">
                  <a16:creationId xmlns:a16="http://schemas.microsoft.com/office/drawing/2014/main" id="{AF131038-5A5D-4B82-A436-559999D78AFB}"/>
                </a:ext>
              </a:extLst>
            </p:cNvPr>
            <p:cNvSpPr>
              <a:spLocks xmlns:a="http://schemas.openxmlformats.org/drawingml/2006/main"/>
            </p:cNvSpPr>
            <p:nvPr/>
          </p:nvSpPr>
          <p:spPr>
            <a:xfrm xmlns:a="http://schemas.openxmlformats.org/drawingml/2006/main">
              <a:off x="2476500" y="320992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l">
                <a:defRPr sz="825" b="0">
                  <a:solidFill>
                    <a:srgbClr val="24272B"/>
                  </a:solidFill>
                  <a:latin typeface="Arial"/>
                  <a:ea typeface="Arial"/>
                  <a:cs typeface="Arial"/>
                </a:defRPr>
              </a:pPr>
              <a:r>
                <a:rPr sz="825" b="0">
                  <a:solidFill>
                    <a:srgbClr val="24272B"/>
                  </a:solidFill>
                  <a:latin typeface="Arial"/>
                  <a:ea typeface="Arial"/>
                  <a:cs typeface="Arial"/>
                </a:rPr>
                <a:t>F ≥ θ</a:t>
              </a:r>
            </a:p>
          </p:txBody>
        </p:sp>
        <p:sp>
          <p:nvSpPr>
            <p:cNvPr id="77" name="legend-low">
              <a:extLst xmlns:a="http://schemas.openxmlformats.org/drawingml/2006/main">
                <a:ext uri="{FF2B5EF4-FFF2-40B4-BE49-F238E27FC236}">
                  <a16:creationId xmlns:a16="http://schemas.microsoft.com/office/drawing/2014/main" id="{AF3A5D41-C80C-45B0-B6E6-D7FF3329AEE9}"/>
                </a:ext>
              </a:extLst>
            </p:cNvPr>
            <p:cNvSpPr>
              <a:spLocks xmlns:a="http://schemas.openxmlformats.org/drawingml/2006/main"/>
            </p:cNvSpPr>
            <p:nvPr/>
          </p:nvSpPr>
          <p:spPr>
            <a:xfrm xmlns:a="http://schemas.openxmlformats.org/drawingml/2006/main">
              <a:off x="3052763" y="3262313"/>
              <a:ext cx="104775" cy="104775"/>
            </a:xfrm>
            <a:prstGeom xmlns:a="http://schemas.openxmlformats.org/drawingml/2006/main" prst="ellipse">
              <a:avLst/>
            </a:prstGeom>
            <a:solidFill xmlns:a="http://schemas.openxmlformats.org/drawingml/2006/main">
              <a:srgbClr val="FFFFFF"/>
            </a:solidFill>
            <a:ln xmlns:a="http://schemas.openxmlformats.org/drawingml/2006/main" w="10954">
              <a:solidFill>
                <a:srgbClr val="698044"/>
              </a:solidFill>
              <a:prstDash val="solid"/>
            </a:ln>
          </p:spPr>
        </p:sp>
        <p:sp>
          <p:nvSpPr>
            <p:cNvPr id="78" name="legend-low-label">
              <a:extLst xmlns:a="http://schemas.openxmlformats.org/drawingml/2006/main">
                <a:ext uri="{FF2B5EF4-FFF2-40B4-BE49-F238E27FC236}">
                  <a16:creationId xmlns:a16="http://schemas.microsoft.com/office/drawing/2014/main" id="{14D40B7D-1116-4FB7-A14D-E6960269292D}"/>
                </a:ext>
              </a:extLst>
            </p:cNvPr>
            <p:cNvSpPr>
              <a:spLocks xmlns:a="http://schemas.openxmlformats.org/drawingml/2006/main"/>
            </p:cNvSpPr>
            <p:nvPr/>
          </p:nvSpPr>
          <p:spPr>
            <a:xfrm xmlns:a="http://schemas.openxmlformats.org/drawingml/2006/main">
              <a:off x="3219450" y="32099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l">
                <a:defRPr sz="825" b="0">
                  <a:solidFill>
                    <a:srgbClr val="24272B"/>
                  </a:solidFill>
                  <a:latin typeface="Arial"/>
                  <a:ea typeface="Arial"/>
                  <a:cs typeface="Arial"/>
                </a:defRPr>
              </a:pPr>
              <a:r>
                <a:rPr sz="825" b="0">
                  <a:solidFill>
                    <a:srgbClr val="24272B"/>
                  </a:solidFill>
                  <a:latin typeface="Arial"/>
                  <a:ea typeface="Arial"/>
                  <a:cs typeface="Arial"/>
                </a:rPr>
                <a:t>F &lt; θ</a:t>
              </a:r>
            </a:p>
          </p:txBody>
        </p:sp>
      </p:grpSp>
      <p:sp>
        <p:nvSpPr>
          <p:cNvPr id="79" name="legend-control-shaft">
            <a:extLst xmlns:a="http://schemas.openxmlformats.org/drawingml/2006/main">
              <a:ext uri="{FF2B5EF4-FFF2-40B4-BE49-F238E27FC236}">
                <a16:creationId xmlns:a16="http://schemas.microsoft.com/office/drawing/2014/main" id="{9E9614D6-1CEA-498A-B176-2F65D642046E}"/>
              </a:ext>
            </a:extLst>
          </p:cNvPr>
          <p:cNvSpPr>
            <a:spLocks xmlns:a="http://schemas.openxmlformats.org/drawingml/2006/main"/>
          </p:cNvSpPr>
          <p:nvPr/>
        </p:nvSpPr>
        <p:spPr>
          <a:xfrm xmlns:a="http://schemas.openxmlformats.org/drawingml/2006/main">
            <a:off x="3924300" y="3314700"/>
            <a:ext cx="228600" cy="95"/>
          </a:xfrm>
          <a:custGeom xmlns:a="http://schemas.openxmlformats.org/drawingml/2006/main">
            <a:pathLst>
              <a:path w="228600" h="95">
                <a:moveTo>
                  <a:pt x="0" y="0"/>
                </a:moveTo>
                <a:lnTo>
                  <a:pt x="228600" y="0"/>
                </a:lnTo>
              </a:path>
            </a:pathLst>
          </a:custGeom>
          <a:noFill xmlns:a="http://schemas.openxmlformats.org/drawingml/2006/main"/>
          <a:ln xmlns:a="http://schemas.openxmlformats.org/drawingml/2006/main" w="15240">
            <a:solidFill>
              <a:srgbClr val="426EAA"/>
            </a:solidFill>
            <a:prstDash val="dash"/>
          </a:ln>
        </p:spPr>
      </p:sp>
      <p:sp>
        <p:nvSpPr>
          <p:cNvPr id="80" name="legend-control-head">
            <a:extLst xmlns:a="http://schemas.openxmlformats.org/drawingml/2006/main">
              <a:ext uri="{FF2B5EF4-FFF2-40B4-BE49-F238E27FC236}">
                <a16:creationId xmlns:a16="http://schemas.microsoft.com/office/drawing/2014/main" id="{DAAC476F-5A65-4758-A8D3-EB69EB5C91AA}"/>
              </a:ext>
            </a:extLst>
          </p:cNvPr>
          <p:cNvSpPr>
            <a:spLocks xmlns:a="http://schemas.openxmlformats.org/drawingml/2006/main"/>
          </p:cNvSpPr>
          <p:nvPr/>
        </p:nvSpPr>
        <p:spPr>
          <a:xfrm xmlns:a="http://schemas.openxmlformats.org/drawingml/2006/main">
            <a:off x="4133850" y="3286125"/>
            <a:ext cx="47625" cy="57150"/>
          </a:xfrm>
          <a:custGeom xmlns:a="http://schemas.openxmlformats.org/drawingml/2006/main">
            <a:pathLst>
              <a:path w="47625" h="57150">
                <a:moveTo>
                  <a:pt x="47625" y="28575"/>
                </a:moveTo>
                <a:lnTo>
                  <a:pt x="0" y="0"/>
                </a:lnTo>
                <a:lnTo>
                  <a:pt x="0" y="57150"/>
                </a:lnTo>
                <a:close/>
              </a:path>
            </a:pathLst>
          </a:custGeom>
          <a:solidFill xmlns:a="http://schemas.openxmlformats.org/drawingml/2006/main">
            <a:srgbClr val="426EAA"/>
          </a:solidFill>
          <a:ln xmlns:a="http://schemas.openxmlformats.org/drawingml/2006/main" w="9525">
            <a:noFill/>
            <a:prstDash val="solid"/>
          </a:ln>
        </p:spPr>
      </p:sp>
      <p:sp>
        <p:nvSpPr>
          <p:cNvPr id="81" name="legend-control-label">
            <a:extLst xmlns:a="http://schemas.openxmlformats.org/drawingml/2006/main">
              <a:ext uri="{FF2B5EF4-FFF2-40B4-BE49-F238E27FC236}">
                <a16:creationId xmlns:a16="http://schemas.microsoft.com/office/drawing/2014/main" id="{04E13443-9B3A-435D-9B54-3D3924F099E4}"/>
              </a:ext>
            </a:extLst>
          </p:cNvPr>
          <p:cNvSpPr>
            <a:spLocks xmlns:a="http://schemas.openxmlformats.org/drawingml/2006/main"/>
          </p:cNvSpPr>
          <p:nvPr/>
        </p:nvSpPr>
        <p:spPr>
          <a:xfrm xmlns:a="http://schemas.openxmlformats.org/drawingml/2006/main">
            <a:off x="4257675" y="3209925"/>
            <a:ext cx="1028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l">
              <a:defRPr sz="825" b="0">
                <a:solidFill>
                  <a:srgbClr val="24272B"/>
                </a:solidFill>
                <a:latin typeface="Arial"/>
                <a:ea typeface="Arial"/>
                <a:cs typeface="Arial"/>
              </a:defRPr>
            </a:pPr>
            <a:r>
              <a:rPr sz="825" b="0">
                <a:solidFill>
                  <a:srgbClr val="24272B"/>
                </a:solidFill>
                <a:latin typeface="Arial"/>
                <a:ea typeface="Arial"/>
                <a:cs typeface="Arial"/>
              </a:rPr>
              <a:t>Signal / trigger</a:t>
            </a:r>
          </a:p>
        </p:txBody>
      </p:sp>
      <p:sp>
        <p:nvSpPr>
          <p:cNvPr id="82" name="disclosure">
            <a:extLst xmlns:a="http://schemas.openxmlformats.org/drawingml/2006/main">
              <a:ext uri="{FF2B5EF4-FFF2-40B4-BE49-F238E27FC236}">
                <a16:creationId xmlns:a16="http://schemas.microsoft.com/office/drawing/2014/main" id="{8EF1A8E4-FE1E-41B2-8FEA-3190E68C4F95}"/>
              </a:ext>
            </a:extLst>
          </p:cNvPr>
          <p:cNvSpPr>
            <a:spLocks xmlns:a="http://schemas.openxmlformats.org/drawingml/2006/main"/>
          </p:cNvSpPr>
          <p:nvPr/>
        </p:nvSpPr>
        <p:spPr>
          <a:xfrm xmlns:a="http://schemas.openxmlformats.org/drawingml/2006/main">
            <a:off x="171450" y="3505200"/>
            <a:ext cx="6057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l">
              <a:defRPr sz="788" b="0">
                <a:solidFill>
                  <a:srgbClr val="51565D"/>
                </a:solidFill>
                <a:latin typeface="Arial"/>
                <a:ea typeface="Arial"/>
                <a:cs typeface="Arial"/>
              </a:defRPr>
            </a:pPr>
            <a:r>
              <a:rPr sz="788" b="0">
                <a:solidFill>
                  <a:srgbClr val="51565D"/>
                </a:solidFill>
                <a:latin typeface="Arial"/>
                <a:ea typeface="Arial"/>
                <a:cs typeface="Arial"/>
              </a:rPr>
              <a:t>Hypothetical workflow. Droplets and channel geometry are schematic.</a:t>
            </a:r>
          </a:p>
        </p:txBody>
      </p:sp>
    </p:spTree>
    <p:extLst>
      <p:ext uri="{BB962C8B-B14F-4D97-AF65-F5344CB8AC3E}">
        <p14:creationId xmlns:p14="http://schemas.microsoft.com/office/powerpoint/2010/main" val="16338113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2026-09-30T06:35:09.6550000Z</dcterms:created>
  <dcterms:modified xsi:type="dcterms:W3CDTF">2026-09-30T06:35:09.6550000Z</dcterms:modified>
</coreProperties>
</file>