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52a7e12829496d" /><Relationship Type="http://schemas.openxmlformats.org/officeDocument/2006/relationships/extended-properties" Target="/docProps/app.xml" Id="Rcb0ab1ba0cce4758" /><Relationship Type="http://schemas.openxmlformats.org/officeDocument/2006/relationships/officeDocument" Target="/ppt/presentation.xml" Id="R63e88841ac214f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54e1b74fe5433d"/>
  </p:sldMasterIdLst>
  <p:notesMasterIdLst>
    <p:notesMasterId xmlns:r="http://schemas.openxmlformats.org/officeDocument/2006/relationships" r:id="R813fbd8846ab45e3"/>
  </p:notesMasterIdLst>
  <p:sldIdLst>
    <p:sldId xmlns:r="http://schemas.openxmlformats.org/officeDocument/2006/relationships" id="256" r:id="R8ee70948594b49c8"/>
  </p:sldIdLst>
  <p:sldSz cx="6400800" cy="4953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07cddd3091423a" /><Relationship Type="http://schemas.openxmlformats.org/officeDocument/2006/relationships/slideMaster" Target="/ppt/slideMasters/slideMaster1.xml" Id="Rc754e1b74fe5433d" /><Relationship Type="http://schemas.openxmlformats.org/officeDocument/2006/relationships/notesMaster" Target="/ppt/notesMasters/notesMaster1.xml" Id="R813fbd8846ab45e3" /><Relationship Type="http://schemas.openxmlformats.org/officeDocument/2006/relationships/presProps" Target="/ppt/presProps.xml" Id="Rd2687afd66a64b75" /><Relationship Type="http://schemas.openxmlformats.org/officeDocument/2006/relationships/tableStyles" Target="/ppt/tableStyles.xml" Id="Ra63e901aaddd4cae" /><Relationship Type="http://schemas.openxmlformats.org/officeDocument/2006/relationships/slide" Target="/ppt/slides/slide1.xml" Id="R8ee70948594b49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eab698be0f4f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b12316d0ea43d9" /><Relationship Type="http://schemas.openxmlformats.org/officeDocument/2006/relationships/notesMaster" Target="/ppt/notesMasters/notesMaster1.xml" Id="R5ca048cb8c3643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BSAE: spike-to-spike compression with delay-tolerant training</a:t>
            </a:r>
          </a:p>
          <a:p xmlns:a="http://schemas.openxmlformats.org/drawingml/2006/main">
            <a:r>
              <a:t>Based on local BSAE config.yaml, models/autoencoder.py, models/layers.py, models/delay.py, losses/van_rossum.py and train.py; source hashes recorded separately. Expanded shared architecture, six Linear+LIF stages per side, binary 32-channel bottleneck. Adapter and validity mask only before shared encoder. Original target receives the learned causal per-channel delay; reconstruction bypasses delay. Both branches use the same 20-bin exponential kernel with full convolution. Current training pads 30 zero-tail bins; no measured performance or model-generated raster is shown. Raster patterns, filtered curves and the three-tap impulse response are explicitly schematic. Native editable explanation, independent generated neural-recording pictogram. Whole image draft is excluded. Draft inspected and transfer plan saved before native authoring. U-Net original architecture inspected only for dimension and contraction/expansion representation: https://lmbweb.informatik.uni-freiburg.de/people/ronneber/u-net/u-net-architecture.png . Simple mathematical labels are native grouped text, not OMML. Intended width 177.8 mm.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ba7abacdc945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e736c0edb84a87" /><Relationship Type="http://schemas.openxmlformats.org/officeDocument/2006/relationships/slideLayout" Target="/ppt/slideLayouts/slideLayout1.xml" Id="R8b2ae7f9f37846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2ae7f9f37846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ecbeaef34c4023" /><Relationship Type="http://schemas.openxmlformats.org/officeDocument/2006/relationships/image" Target="/ppt/media/image.png" Id="R8fc89d553df8470d" /><Relationship Type="http://schemas.openxmlformats.org/officeDocument/2006/relationships/notesSlide" Target="/ppt/notesSlides/notesSlide1.xml" Id="R33f0cbc540d445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8" name="panel-a">
            <a:extLst xmlns:a="http://schemas.openxmlformats.org/drawingml/2006/main">
              <a:ext uri="{FF2B5EF4-FFF2-40B4-BE49-F238E27FC236}">
                <a16:creationId xmlns:a16="http://schemas.microsoft.com/office/drawing/2014/main" id="{3481C3B2-F6E3-43DE-924C-219620D9A88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2400" y="85725"/>
            <a:ext cx="609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29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6292B"/>
                </a:solidFill>
                <a:latin typeface="Arial"/>
                <a:ea typeface="Arial"/>
                <a:cs typeface="Arial"/>
              </a:rPr>
              <a:t>(a)  Spike-to-spike compression</a:t>
            </a:r>
          </a:p>
        </p:txBody>
      </p:sp>
      <p:pic>
        <p:nvPicPr>
          <p:cNvPr id="209" name="neural-recording-picture" descr="Generated illustrative pictogram of cultured-neuron recording on an electrode array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c89d553df8470d"/>
          <a:stretch xmlns:a="http://schemas.openxmlformats.org/drawingml/2006/main"/>
        </p:blipFill>
        <p:spPr>
          <a:xfrm xmlns:a="http://schemas.openxmlformats.org/drawingml/2006/main">
            <a:off x="9525" y="752475"/>
            <a:ext cx="561975" cy="561975"/>
          </a:xfrm>
          <a:prstGeom xmlns:a="http://schemas.openxmlformats.org/drawingml/2006/main" prst="rect">
            <a:avLst/>
          </a:prstGeom>
        </p:spPr>
      </p:pic>
      <p:sp>
        <p:nvSpPr>
          <p:cNvPr id="3" name="recording-caption">
            <a:extLst xmlns:a="http://schemas.openxmlformats.org/drawingml/2006/main">
              <a:ext uri="{FF2B5EF4-FFF2-40B4-BE49-F238E27FC236}">
                <a16:creationId xmlns:a16="http://schemas.microsoft.com/office/drawing/2014/main" id="{2FED8A80-B507-482D-8CB0-11E647F1BBD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050" y="1371600"/>
            <a:ext cx="552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52585B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52585B"/>
                </a:solidFill>
                <a:latin typeface="Arial"/>
                <a:ea typeface="Arial"/>
                <a:cs typeface="Arial"/>
              </a:rPr>
              <a:t>Neural</a:t>
            </a:r>
          </a:p>
          <a:p xmlns:a="http://schemas.openxmlformats.org/drawingml/2006/main">
            <a:pPr algn="ctr">
              <a:defRPr sz="735" b="0">
                <a:solidFill>
                  <a:srgbClr val="52585B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52585B"/>
                </a:solidFill>
                <a:latin typeface="Arial"/>
                <a:ea typeface="Arial"/>
                <a:cs typeface="Arial"/>
              </a:rPr>
              <a:t>recording</a:t>
            </a:r>
          </a:p>
        </p:txBody>
      </p:sp>
      <p:sp>
        <p:nvSpPr>
          <p:cNvPr id="4" name="input-title">
            <a:extLst xmlns:a="http://schemas.openxmlformats.org/drawingml/2006/main">
              <a:ext uri="{FF2B5EF4-FFF2-40B4-BE49-F238E27FC236}">
                <a16:creationId xmlns:a16="http://schemas.microsoft.com/office/drawing/2014/main" id="{A53E1527-6A01-48E7-B5FF-95364915559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57225" y="438150"/>
            <a:ext cx="762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67F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67F7C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5" name="input-X.0">
            <a:extLst xmlns:a="http://schemas.openxmlformats.org/drawingml/2006/main">
              <a:ext uri="{FF2B5EF4-FFF2-40B4-BE49-F238E27FC236}">
                <a16:creationId xmlns:a16="http://schemas.microsoft.com/office/drawing/2014/main" id="{A91C05F5-ACC6-4C0D-B61A-2A723073B0B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979932" y="609600"/>
            <a:ext cx="154686" cy="275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267F7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267F7C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6" name="input-spikes">
            <a:extLst xmlns:a="http://schemas.openxmlformats.org/drawingml/2006/main">
              <a:ext uri="{FF2B5EF4-FFF2-40B4-BE49-F238E27FC236}">
                <a16:creationId xmlns:a16="http://schemas.microsoft.com/office/drawing/2014/main" id="{8E062319-AB51-4082-9E5A-DD54E6A37AE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57225" y="838200"/>
            <a:ext cx="76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4C817E"/>
            </a:solidFill>
            <a:prstDash val="solid"/>
          </a:ln>
        </p:spPr>
      </p:sp>
      <p:grpSp>
        <p:nvGrpSpPr>
          <p:cNvPr id="376" name="input-spikes-events"/>
          <p:cNvGrpSpPr/>
          <p:nvPr/>
        </p:nvGrpSpPr>
        <p:grpSpPr>
          <ns1:xfrm xmlns:ns1="http://schemas.openxmlformats.org/drawingml/2006/main">
            <ns1:off x="714375" y="914400"/>
            <ns1:ext cx="647700" cy="485870"/>
            <ns1:chOff x="714375" y="914400"/>
            <ns1:chExt cx="647700" cy="485870"/>
          </ns1:xfrm>
        </p:grpSpPr>
        <p:sp>
          <p:nvSpPr>
            <p:cNvPr id="7" name="input-spikes-baseline-0">
              <a:extLst xmlns:a="http://schemas.openxmlformats.org/drawingml/2006/main">
                <a:ext uri="{FF2B5EF4-FFF2-40B4-BE49-F238E27FC236}">
                  <a16:creationId xmlns:a16="http://schemas.microsoft.com/office/drawing/2014/main" id="{EB5A92F6-F458-422B-A72A-0495B7BE029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14375" y="981075"/>
              <a:ext cx="647700" cy="95"/>
            </a:xfrm>
            <a:custGeom xmlns:a="http://schemas.openxmlformats.org/drawingml/2006/main">
              <a:pathLst>
                <a:path w="647700" h="95">
                  <a:moveTo>
                    <a:pt x="0" y="0"/>
                  </a:moveTo>
                  <a:lnTo>
                    <a:pt x="6477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4286">
              <a:solidFill>
                <a:srgbClr val="D3D8DA"/>
              </a:solidFill>
              <a:prstDash val="solid"/>
            </a:ln>
          </p:spPr>
        </p:sp>
        <p:sp>
          <p:nvSpPr>
            <p:cNvPr id="8" name="input-spikes-spike-0-0">
              <a:extLst xmlns:a="http://schemas.openxmlformats.org/drawingml/2006/main">
                <a:ext uri="{FF2B5EF4-FFF2-40B4-BE49-F238E27FC236}">
                  <a16:creationId xmlns:a16="http://schemas.microsoft.com/office/drawing/2014/main" id="{1BA90F1B-DBAE-4A8C-80D4-27E1E6526EC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68350" y="91440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267F7C"/>
              </a:solidFill>
              <a:prstDash val="solid"/>
            </a:ln>
          </p:spPr>
        </p:sp>
        <p:sp>
          <p:nvSpPr>
            <p:cNvPr id="9" name="input-spikes-spike-0-1">
              <a:extLst xmlns:a="http://schemas.openxmlformats.org/drawingml/2006/main">
                <a:ext uri="{FF2B5EF4-FFF2-40B4-BE49-F238E27FC236}">
                  <a16:creationId xmlns:a16="http://schemas.microsoft.com/office/drawing/2014/main" id="{24843108-BD69-44A5-87D9-3B813E8CCDA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5338" y="91440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267F7C"/>
              </a:solidFill>
              <a:prstDash val="solid"/>
            </a:ln>
          </p:spPr>
        </p:sp>
        <p:sp>
          <p:nvSpPr>
            <p:cNvPr id="10" name="input-spikes-spike-0-2">
              <a:extLst xmlns:a="http://schemas.openxmlformats.org/drawingml/2006/main">
                <a:ext uri="{FF2B5EF4-FFF2-40B4-BE49-F238E27FC236}">
                  <a16:creationId xmlns:a16="http://schemas.microsoft.com/office/drawing/2014/main" id="{C6A2D1AC-8AB3-4CCF-B499-D48AB0EFBB6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30275" y="91440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267F7C"/>
              </a:solidFill>
              <a:prstDash val="solid"/>
            </a:ln>
          </p:spPr>
        </p:sp>
        <p:sp>
          <p:nvSpPr>
            <p:cNvPr id="11" name="input-spikes-spike-0-3">
              <a:extLst xmlns:a="http://schemas.openxmlformats.org/drawingml/2006/main">
                <a:ext uri="{FF2B5EF4-FFF2-40B4-BE49-F238E27FC236}">
                  <a16:creationId xmlns:a16="http://schemas.microsoft.com/office/drawing/2014/main" id="{57AE31EA-341A-4BE7-9303-B148E3660EB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65213" y="91440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267F7C"/>
              </a:solidFill>
              <a:prstDash val="solid"/>
            </a:ln>
          </p:spPr>
        </p:sp>
        <p:sp>
          <p:nvSpPr>
            <p:cNvPr id="12" name="input-spikes-spike-0-4">
              <a:extLst xmlns:a="http://schemas.openxmlformats.org/drawingml/2006/main">
                <a:ext uri="{FF2B5EF4-FFF2-40B4-BE49-F238E27FC236}">
                  <a16:creationId xmlns:a16="http://schemas.microsoft.com/office/drawing/2014/main" id="{490F11DE-A325-4BB2-B639-F8C4C25949E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00150" y="91440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267F7C"/>
              </a:solidFill>
              <a:prstDash val="solid"/>
            </a:ln>
          </p:spPr>
        </p:sp>
        <p:sp>
          <p:nvSpPr>
            <p:cNvPr id="13" name="input-spikes-baseline-1">
              <a:extLst xmlns:a="http://schemas.openxmlformats.org/drawingml/2006/main">
                <a:ext uri="{FF2B5EF4-FFF2-40B4-BE49-F238E27FC236}">
                  <a16:creationId xmlns:a16="http://schemas.microsoft.com/office/drawing/2014/main" id="{77FB2AB8-16B1-4DC4-B6D2-5595AF00C72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14375" y="1120775"/>
              <a:ext cx="647700" cy="95"/>
            </a:xfrm>
            <a:custGeom xmlns:a="http://schemas.openxmlformats.org/drawingml/2006/main">
              <a:pathLst>
                <a:path w="647700" h="95">
                  <a:moveTo>
                    <a:pt x="0" y="0"/>
                  </a:moveTo>
                  <a:lnTo>
                    <a:pt x="6477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4286">
              <a:solidFill>
                <a:srgbClr val="D3D8DA"/>
              </a:solidFill>
              <a:prstDash val="solid"/>
            </a:ln>
          </p:spPr>
        </p:sp>
        <p:sp>
          <p:nvSpPr>
            <p:cNvPr id="14" name="input-spikes-spike-1-0">
              <a:extLst xmlns:a="http://schemas.openxmlformats.org/drawingml/2006/main">
                <a:ext uri="{FF2B5EF4-FFF2-40B4-BE49-F238E27FC236}">
                  <a16:creationId xmlns:a16="http://schemas.microsoft.com/office/drawing/2014/main" id="{6218C4C0-233D-4A74-887B-89B159C3B86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41363" y="105410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267F7C"/>
              </a:solidFill>
              <a:prstDash val="solid"/>
            </a:ln>
          </p:spPr>
        </p:sp>
        <p:sp>
          <p:nvSpPr>
            <p:cNvPr id="15" name="input-spikes-spike-1-1">
              <a:extLst xmlns:a="http://schemas.openxmlformats.org/drawingml/2006/main">
                <a:ext uri="{FF2B5EF4-FFF2-40B4-BE49-F238E27FC236}">
                  <a16:creationId xmlns:a16="http://schemas.microsoft.com/office/drawing/2014/main" id="{6FA64771-12AF-4DDA-A95B-6FB09354C46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76300" y="105410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267F7C"/>
              </a:solidFill>
              <a:prstDash val="solid"/>
            </a:ln>
          </p:spPr>
        </p:sp>
        <p:sp>
          <p:nvSpPr>
            <p:cNvPr id="16" name="input-spikes-spike-1-2">
              <a:extLst xmlns:a="http://schemas.openxmlformats.org/drawingml/2006/main">
                <a:ext uri="{FF2B5EF4-FFF2-40B4-BE49-F238E27FC236}">
                  <a16:creationId xmlns:a16="http://schemas.microsoft.com/office/drawing/2014/main" id="{523D94CC-EAA8-4EA0-9111-AD9703FF8CE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03288" y="105410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267F7C"/>
              </a:solidFill>
              <a:prstDash val="solid"/>
            </a:ln>
          </p:spPr>
        </p:sp>
        <p:sp>
          <p:nvSpPr>
            <p:cNvPr id="17" name="input-spikes-spike-1-3">
              <a:extLst xmlns:a="http://schemas.openxmlformats.org/drawingml/2006/main">
                <a:ext uri="{FF2B5EF4-FFF2-40B4-BE49-F238E27FC236}">
                  <a16:creationId xmlns:a16="http://schemas.microsoft.com/office/drawing/2014/main" id="{E78D011D-72D5-40AA-8E41-8E0516C11F4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92200" y="105410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267F7C"/>
              </a:solidFill>
              <a:prstDash val="solid"/>
            </a:ln>
          </p:spPr>
        </p:sp>
        <p:sp>
          <p:nvSpPr>
            <p:cNvPr id="18" name="input-spikes-spike-1-4">
              <a:extLst xmlns:a="http://schemas.openxmlformats.org/drawingml/2006/main">
                <a:ext uri="{FF2B5EF4-FFF2-40B4-BE49-F238E27FC236}">
                  <a16:creationId xmlns:a16="http://schemas.microsoft.com/office/drawing/2014/main" id="{CAF7B661-FFCF-4DE2-B79A-35159CA5551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54125" y="105410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267F7C"/>
              </a:solidFill>
              <a:prstDash val="solid"/>
            </a:ln>
          </p:spPr>
        </p:sp>
        <p:sp>
          <p:nvSpPr>
            <p:cNvPr id="19" name="input-spikes-baseline-2">
              <a:extLst xmlns:a="http://schemas.openxmlformats.org/drawingml/2006/main">
                <a:ext uri="{FF2B5EF4-FFF2-40B4-BE49-F238E27FC236}">
                  <a16:creationId xmlns:a16="http://schemas.microsoft.com/office/drawing/2014/main" id="{7E8C5C02-67F3-4EE1-A96C-AE9FFBDFB67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14375" y="1260475"/>
              <a:ext cx="647700" cy="95"/>
            </a:xfrm>
            <a:custGeom xmlns:a="http://schemas.openxmlformats.org/drawingml/2006/main">
              <a:pathLst>
                <a:path w="647700" h="95">
                  <a:moveTo>
                    <a:pt x="0" y="0"/>
                  </a:moveTo>
                  <a:lnTo>
                    <a:pt x="6477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4286">
              <a:solidFill>
                <a:srgbClr val="D3D8DA"/>
              </a:solidFill>
              <a:prstDash val="solid"/>
            </a:ln>
          </p:spPr>
        </p:sp>
        <p:sp>
          <p:nvSpPr>
            <p:cNvPr id="20" name="input-spikes-spike-2-0">
              <a:extLst xmlns:a="http://schemas.openxmlformats.org/drawingml/2006/main">
                <a:ext uri="{FF2B5EF4-FFF2-40B4-BE49-F238E27FC236}">
                  <a16:creationId xmlns:a16="http://schemas.microsoft.com/office/drawing/2014/main" id="{B59F4495-5328-46F6-8AC3-4CAFBBE3776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22325" y="119380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267F7C"/>
              </a:solidFill>
              <a:prstDash val="solid"/>
            </a:ln>
          </p:spPr>
        </p:sp>
        <p:sp>
          <p:nvSpPr>
            <p:cNvPr id="21" name="input-spikes-spike-2-1">
              <a:extLst xmlns:a="http://schemas.openxmlformats.org/drawingml/2006/main">
                <a:ext uri="{FF2B5EF4-FFF2-40B4-BE49-F238E27FC236}">
                  <a16:creationId xmlns:a16="http://schemas.microsoft.com/office/drawing/2014/main" id="{5D123446-CF45-4856-B5E2-CD37E40577E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57263" y="119380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267F7C"/>
              </a:solidFill>
              <a:prstDash val="solid"/>
            </a:ln>
          </p:spPr>
        </p:sp>
        <p:sp>
          <p:nvSpPr>
            <p:cNvPr id="22" name="input-spikes-spike-2-2">
              <a:extLst xmlns:a="http://schemas.openxmlformats.org/drawingml/2006/main">
                <a:ext uri="{FF2B5EF4-FFF2-40B4-BE49-F238E27FC236}">
                  <a16:creationId xmlns:a16="http://schemas.microsoft.com/office/drawing/2014/main" id="{A2321747-F7A7-45D0-B8C6-01D7D9B6088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38225" y="119380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267F7C"/>
              </a:solidFill>
              <a:prstDash val="solid"/>
            </a:ln>
          </p:spPr>
        </p:sp>
        <p:sp>
          <p:nvSpPr>
            <p:cNvPr id="23" name="input-spikes-spike-2-3">
              <a:extLst xmlns:a="http://schemas.openxmlformats.org/drawingml/2006/main">
                <a:ext uri="{FF2B5EF4-FFF2-40B4-BE49-F238E27FC236}">
                  <a16:creationId xmlns:a16="http://schemas.microsoft.com/office/drawing/2014/main" id="{A4B339C1-CC94-400E-8B9C-0D91C3EC883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00150" y="119380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267F7C"/>
              </a:solidFill>
              <a:prstDash val="solid"/>
            </a:ln>
          </p:spPr>
        </p:sp>
        <p:sp>
          <p:nvSpPr>
            <p:cNvPr id="24" name="input-spikes-spike-2-4">
              <a:extLst xmlns:a="http://schemas.openxmlformats.org/drawingml/2006/main">
                <a:ext uri="{FF2B5EF4-FFF2-40B4-BE49-F238E27FC236}">
                  <a16:creationId xmlns:a16="http://schemas.microsoft.com/office/drawing/2014/main" id="{D54FF31E-2C4B-4C61-973C-65FD758D75C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81113" y="119380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267F7C"/>
              </a:solidFill>
              <a:prstDash val="solid"/>
            </a:ln>
          </p:spPr>
        </p:sp>
        <p:sp>
          <p:nvSpPr>
            <p:cNvPr id="25" name="input-spikes-baseline-3">
              <a:extLst xmlns:a="http://schemas.openxmlformats.org/drawingml/2006/main">
                <a:ext uri="{FF2B5EF4-FFF2-40B4-BE49-F238E27FC236}">
                  <a16:creationId xmlns:a16="http://schemas.microsoft.com/office/drawing/2014/main" id="{46474D94-ED0F-4B7D-8948-C87D903C27A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14375" y="1400175"/>
              <a:ext cx="647700" cy="95"/>
            </a:xfrm>
            <a:custGeom xmlns:a="http://schemas.openxmlformats.org/drawingml/2006/main">
              <a:pathLst>
                <a:path w="647700" h="95">
                  <a:moveTo>
                    <a:pt x="0" y="0"/>
                  </a:moveTo>
                  <a:lnTo>
                    <a:pt x="6477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4286">
              <a:solidFill>
                <a:srgbClr val="D3D8DA"/>
              </a:solidFill>
              <a:prstDash val="solid"/>
            </a:ln>
          </p:spPr>
        </p:sp>
        <p:sp>
          <p:nvSpPr>
            <p:cNvPr id="26" name="input-spikes-spike-3-0">
              <a:extLst xmlns:a="http://schemas.openxmlformats.org/drawingml/2006/main">
                <a:ext uri="{FF2B5EF4-FFF2-40B4-BE49-F238E27FC236}">
                  <a16:creationId xmlns:a16="http://schemas.microsoft.com/office/drawing/2014/main" id="{0BA790FE-8E06-4191-9985-D346041EE74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95338" y="133350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267F7C"/>
              </a:solidFill>
              <a:prstDash val="solid"/>
            </a:ln>
          </p:spPr>
        </p:sp>
        <p:sp>
          <p:nvSpPr>
            <p:cNvPr id="27" name="input-spikes-spike-3-1">
              <a:extLst xmlns:a="http://schemas.openxmlformats.org/drawingml/2006/main">
                <a:ext uri="{FF2B5EF4-FFF2-40B4-BE49-F238E27FC236}">
                  <a16:creationId xmlns:a16="http://schemas.microsoft.com/office/drawing/2014/main" id="{B713C06D-9975-45AC-A50F-70B7957E025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49313" y="133350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267F7C"/>
              </a:solidFill>
              <a:prstDash val="solid"/>
            </a:ln>
          </p:spPr>
        </p:sp>
        <p:sp>
          <p:nvSpPr>
            <p:cNvPr id="28" name="input-spikes-spike-3-2">
              <a:extLst xmlns:a="http://schemas.openxmlformats.org/drawingml/2006/main">
                <a:ext uri="{FF2B5EF4-FFF2-40B4-BE49-F238E27FC236}">
                  <a16:creationId xmlns:a16="http://schemas.microsoft.com/office/drawing/2014/main" id="{3EF77121-44AD-41EC-B623-7459B9750F2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11237" y="133350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267F7C"/>
              </a:solidFill>
              <a:prstDash val="solid"/>
            </a:ln>
          </p:spPr>
        </p:sp>
        <p:sp>
          <p:nvSpPr>
            <p:cNvPr id="29" name="input-spikes-spike-3-3">
              <a:extLst xmlns:a="http://schemas.openxmlformats.org/drawingml/2006/main">
                <a:ext uri="{FF2B5EF4-FFF2-40B4-BE49-F238E27FC236}">
                  <a16:creationId xmlns:a16="http://schemas.microsoft.com/office/drawing/2014/main" id="{759E6D4D-84D9-4036-A5CF-B9055C0008C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73163" y="133350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267F7C"/>
              </a:solidFill>
              <a:prstDash val="solid"/>
            </a:ln>
          </p:spPr>
        </p:sp>
        <p:sp>
          <p:nvSpPr>
            <p:cNvPr id="30" name="input-spikes-spike-3-4">
              <a:extLst xmlns:a="http://schemas.openxmlformats.org/drawingml/2006/main">
                <a:ext uri="{FF2B5EF4-FFF2-40B4-BE49-F238E27FC236}">
                  <a16:creationId xmlns:a16="http://schemas.microsoft.com/office/drawing/2014/main" id="{8C10B9E8-26CC-4E5E-8135-DEE45ABC9B6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08100" y="133350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267F7C"/>
              </a:solidFill>
              <a:prstDash val="solid"/>
            </a:ln>
          </p:spPr>
        </p:sp>
      </p:grpSp>
      <p:sp>
        <p:nvSpPr>
          <p:cNvPr id="31" name="input-dimension">
            <a:extLst xmlns:a="http://schemas.openxmlformats.org/drawingml/2006/main">
              <a:ext uri="{FF2B5EF4-FFF2-40B4-BE49-F238E27FC236}">
                <a16:creationId xmlns:a16="http://schemas.microsoft.com/office/drawing/2014/main" id="{84D45D01-5E48-44AC-86D2-8550F2044FD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600075" y="1514475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67F7C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267F7C"/>
                </a:solidFill>
                <a:latin typeface="Arial"/>
                <a:ea typeface="Arial"/>
                <a:cs typeface="Arial"/>
              </a:rPr>
              <a:t>1024 channels</a:t>
            </a:r>
          </a:p>
        </p:txBody>
      </p:sp>
      <p:sp>
        <p:nvSpPr>
          <p:cNvPr id="32" name="input-adapter">
            <a:extLst xmlns:a="http://schemas.openxmlformats.org/drawingml/2006/main">
              <a:ext uri="{FF2B5EF4-FFF2-40B4-BE49-F238E27FC236}">
                <a16:creationId xmlns:a16="http://schemas.microsoft.com/office/drawing/2014/main" id="{83CBE605-167F-407B-BF79-6055F6CAE01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62100" y="942975"/>
            <a:ext cx="447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1F2"/>
          </a:solidFill>
          <a:ln xmlns:a="http://schemas.openxmlformats.org/drawingml/2006/main" w="9525">
            <a:solidFill>
              <a:srgbClr val="747B7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6292B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26292B"/>
                </a:solidFill>
                <a:latin typeface="Arial"/>
                <a:ea typeface="Arial"/>
                <a:cs typeface="Arial"/>
              </a:rPr>
              <a:t>Input</a:t>
            </a:r>
          </a:p>
          <a:p xmlns:a="http://schemas.openxmlformats.org/drawingml/2006/main">
            <a:pPr algn="ctr">
              <a:defRPr sz="788" b="0">
                <a:solidFill>
                  <a:srgbClr val="26292B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26292B"/>
                </a:solidFill>
                <a:latin typeface="Arial"/>
                <a:ea typeface="Arial"/>
                <a:cs typeface="Arial"/>
              </a:rPr>
              <a:t>adapter</a:t>
            </a:r>
          </a:p>
          <a:p xmlns:a="http://schemas.openxmlformats.org/drawingml/2006/main">
            <a:pPr algn="ctr">
              <a:defRPr sz="788" b="0">
                <a:solidFill>
                  <a:srgbClr val="26292B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26292B"/>
                </a:solidFill>
                <a:latin typeface="Arial"/>
                <a:ea typeface="Arial"/>
                <a:cs typeface="Arial"/>
              </a:rPr>
              <a:t>+ mask</a:t>
            </a:r>
          </a:p>
        </p:txBody>
      </p:sp>
      <p:sp>
        <p:nvSpPr>
          <p:cNvPr id="33" name="adapter-caption">
            <a:extLst xmlns:a="http://schemas.openxmlformats.org/drawingml/2006/main">
              <a:ext uri="{FF2B5EF4-FFF2-40B4-BE49-F238E27FC236}">
                <a16:creationId xmlns:a16="http://schemas.microsoft.com/office/drawing/2014/main" id="{30D8A05E-4B79-4A25-8D5B-5CE59F7CF43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04950" y="1438275"/>
            <a:ext cx="561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05" b="0">
                <a:solidFill>
                  <a:srgbClr val="52585B"/>
                </a:solidFill>
                <a:latin typeface="Arial"/>
                <a:ea typeface="Arial"/>
                <a:cs typeface="Arial"/>
              </a:defRPr>
            </a:pPr>
            <a:r>
              <a:rPr sz="705" b="0">
                <a:solidFill>
                  <a:srgbClr val="52585B"/>
                </a:solidFill>
                <a:latin typeface="Arial"/>
                <a:ea typeface="Arial"/>
                <a:cs typeface="Arial"/>
              </a:rPr>
              <a:t>Input only</a:t>
            </a:r>
          </a:p>
        </p:txBody>
      </p:sp>
      <p:sp>
        <p:nvSpPr>
          <p:cNvPr id="34" name="encoder-title">
            <a:extLst xmlns:a="http://schemas.openxmlformats.org/drawingml/2006/main">
              <a:ext uri="{FF2B5EF4-FFF2-40B4-BE49-F238E27FC236}">
                <a16:creationId xmlns:a16="http://schemas.microsoft.com/office/drawing/2014/main" id="{CF0A9C6A-54C2-42F2-B05F-BCE2CA5839B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133600" y="333375"/>
            <a:ext cx="1190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267F7C"/>
                </a:solidFill>
                <a:latin typeface="Arial"/>
                <a:ea typeface="Arial"/>
                <a:cs typeface="Arial"/>
              </a:defRPr>
            </a:pPr>
            <a:r>
              <a:rPr sz="885" b="1">
                <a:solidFill>
                  <a:srgbClr val="267F7C"/>
                </a:solidFill>
                <a:latin typeface="Arial"/>
                <a:ea typeface="Arial"/>
                <a:cs typeface="Arial"/>
              </a:rPr>
              <a:t>Shared encoder</a:t>
            </a:r>
          </a:p>
        </p:txBody>
      </p:sp>
      <p:sp>
        <p:nvSpPr>
          <p:cNvPr id="35" name="encoder-stage-kind">
            <a:extLst xmlns:a="http://schemas.openxmlformats.org/drawingml/2006/main">
              <a:ext uri="{FF2B5EF4-FFF2-40B4-BE49-F238E27FC236}">
                <a16:creationId xmlns:a16="http://schemas.microsoft.com/office/drawing/2014/main" id="{108D5FC2-3E53-439E-A028-E55BEA359F0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133600" y="504825"/>
            <a:ext cx="11906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267F7C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267F7C"/>
                </a:solidFill>
                <a:latin typeface="Arial"/>
                <a:ea typeface="Arial"/>
                <a:cs typeface="Arial"/>
              </a:rPr>
              <a:t>6 × Linear + LIF</a:t>
            </a:r>
          </a:p>
        </p:txBody>
      </p:sp>
      <p:sp>
        <p:nvSpPr>
          <p:cNvPr id="36" name="decoder-title">
            <a:extLst xmlns:a="http://schemas.openxmlformats.org/drawingml/2006/main">
              <a:ext uri="{FF2B5EF4-FFF2-40B4-BE49-F238E27FC236}">
                <a16:creationId xmlns:a16="http://schemas.microsoft.com/office/drawing/2014/main" id="{243D7B4E-8141-4F91-91A0-3785FA8BD88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76700" y="333375"/>
            <a:ext cx="1200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B95446"/>
                </a:solidFill>
                <a:latin typeface="Arial"/>
                <a:ea typeface="Arial"/>
                <a:cs typeface="Arial"/>
              </a:defRPr>
            </a:pPr>
            <a:r>
              <a:rPr sz="885" b="1">
                <a:solidFill>
                  <a:srgbClr val="B95446"/>
                </a:solidFill>
                <a:latin typeface="Arial"/>
                <a:ea typeface="Arial"/>
                <a:cs typeface="Arial"/>
              </a:rPr>
              <a:t>Shared decoder</a:t>
            </a:r>
          </a:p>
        </p:txBody>
      </p:sp>
      <p:sp>
        <p:nvSpPr>
          <p:cNvPr id="37" name="decoder-stage-kind">
            <a:extLst xmlns:a="http://schemas.openxmlformats.org/drawingml/2006/main">
              <a:ext uri="{FF2B5EF4-FFF2-40B4-BE49-F238E27FC236}">
                <a16:creationId xmlns:a16="http://schemas.microsoft.com/office/drawing/2014/main" id="{94E03202-DDB9-4AE7-AFAB-B4B229AAAA8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76700" y="504825"/>
            <a:ext cx="12001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B95446"/>
                </a:solidFill>
                <a:latin typeface="Arial"/>
                <a:ea typeface="Arial"/>
                <a:cs typeface="Arial"/>
              </a:defRPr>
            </a:pPr>
            <a:r>
              <a:rPr sz="735" b="0">
                <a:solidFill>
                  <a:srgbClr val="B95446"/>
                </a:solidFill>
                <a:latin typeface="Arial"/>
                <a:ea typeface="Arial"/>
                <a:cs typeface="Arial"/>
              </a:rPr>
              <a:t>6 × Linear + LIF</a:t>
            </a:r>
          </a:p>
        </p:txBody>
      </p:sp>
      <p:grpSp>
        <p:nvGrpSpPr>
          <p:cNvPr id="377" name="encoder-stages"/>
          <p:cNvGrpSpPr/>
          <p:nvPr/>
        </p:nvGrpSpPr>
        <p:grpSpPr>
          <ns1:xfrm xmlns:ns1="http://schemas.openxmlformats.org/drawingml/2006/main">
            <ns1:off x="2124075" y="657225"/>
            <ns1:ext cx="1209675" cy="990600"/>
            <ns1:chOff x="2124075" y="657225"/>
            <ns1:chExt cx="1209675" cy="990600"/>
          </ns1:xfrm>
        </p:grpSpPr>
        <p:sp>
          <p:nvSpPr>
            <p:cNvPr id="38" name="encoder-stage-0">
              <a:extLst xmlns:a="http://schemas.openxmlformats.org/drawingml/2006/main">
                <a:ext uri="{FF2B5EF4-FFF2-40B4-BE49-F238E27FC236}">
                  <a16:creationId xmlns:a16="http://schemas.microsoft.com/office/drawing/2014/main" id="{C45F4E75-EBE9-4F88-9601-948DA47CF3C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39315" y="657225"/>
              <a:ext cx="187008" cy="990600"/>
            </a:xfrm>
            <a:custGeom xmlns:a="http://schemas.openxmlformats.org/drawingml/2006/main">
              <a:pathLst>
                <a:path w="187008" h="990600">
                  <a:moveTo>
                    <a:pt x="0" y="0"/>
                  </a:moveTo>
                  <a:lnTo>
                    <a:pt x="187008" y="0"/>
                  </a:lnTo>
                  <a:lnTo>
                    <a:pt x="187008" y="990600"/>
                  </a:lnTo>
                  <a:lnTo>
                    <a:pt x="0" y="990600"/>
                  </a:lnTo>
                  <a:close/>
                </a:path>
              </a:pathLst>
            </a:custGeom>
            <a:solidFill xmlns:a="http://schemas.openxmlformats.org/drawingml/2006/main">
              <a:srgbClr val="D9EEEC"/>
            </a:solidFill>
            <a:ln xmlns:a="http://schemas.openxmlformats.org/drawingml/2006/main" w="7620">
              <a:solidFill>
                <a:srgbClr val="4C817E"/>
              </a:solidFill>
              <a:prstDash val="solid"/>
            </a:ln>
          </p:spPr>
        </p:sp>
        <p:sp>
          <p:nvSpPr>
            <p:cNvPr id="39" name="encoder-width-0">
              <a:extLst xmlns:a="http://schemas.openxmlformats.org/drawingml/2006/main">
                <a:ext uri="{FF2B5EF4-FFF2-40B4-BE49-F238E27FC236}">
                  <a16:creationId xmlns:a16="http://schemas.microsoft.com/office/drawing/2014/main" id="{4E7D47C2-7B4E-483B-8D7C-C16954FA9F6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24075" y="1085850"/>
              <a:ext cx="217488" cy="142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675" b="1">
                  <a:solidFill>
                    <a:srgbClr val="267F7C"/>
                  </a:solidFill>
                  <a:latin typeface="Arial"/>
                  <a:ea typeface="Arial"/>
                  <a:cs typeface="Arial"/>
                </a:defRPr>
              </a:pPr>
              <a:r>
                <a:rPr sz="675" b="1">
                  <a:solidFill>
                    <a:srgbClr val="267F7C"/>
                  </a:solidFill>
                  <a:latin typeface="Arial"/>
                  <a:ea typeface="Arial"/>
                  <a:cs typeface="Arial"/>
                </a:rPr>
                <a:t>1024</a:t>
              </a:r>
            </a:p>
          </p:txBody>
        </p:sp>
        <p:sp>
          <p:nvSpPr>
            <p:cNvPr id="40" name="encoder-stage-1">
              <a:extLst xmlns:a="http://schemas.openxmlformats.org/drawingml/2006/main">
                <a:ext uri="{FF2B5EF4-FFF2-40B4-BE49-F238E27FC236}">
                  <a16:creationId xmlns:a16="http://schemas.microsoft.com/office/drawing/2014/main" id="{BA26B631-E7B0-4505-ADC8-EF58D1107F5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37753" y="657225"/>
              <a:ext cx="187007" cy="990600"/>
            </a:xfrm>
            <a:custGeom xmlns:a="http://schemas.openxmlformats.org/drawingml/2006/main">
              <a:pathLst>
                <a:path w="187007" h="990600">
                  <a:moveTo>
                    <a:pt x="0" y="0"/>
                  </a:moveTo>
                  <a:lnTo>
                    <a:pt x="187007" y="76200"/>
                  </a:lnTo>
                  <a:lnTo>
                    <a:pt x="187007" y="914400"/>
                  </a:lnTo>
                  <a:lnTo>
                    <a:pt x="0" y="990600"/>
                  </a:lnTo>
                  <a:close/>
                </a:path>
              </a:pathLst>
            </a:custGeom>
            <a:solidFill xmlns:a="http://schemas.openxmlformats.org/drawingml/2006/main">
              <a:srgbClr val="D9EEEC"/>
            </a:solidFill>
            <a:ln xmlns:a="http://schemas.openxmlformats.org/drawingml/2006/main" w="7620">
              <a:solidFill>
                <a:srgbClr val="4C817E"/>
              </a:solidFill>
              <a:prstDash val="solid"/>
            </a:ln>
          </p:spPr>
        </p:sp>
        <p:sp>
          <p:nvSpPr>
            <p:cNvPr id="41" name="encoder-width-1">
              <a:extLst xmlns:a="http://schemas.openxmlformats.org/drawingml/2006/main">
                <a:ext uri="{FF2B5EF4-FFF2-40B4-BE49-F238E27FC236}">
                  <a16:creationId xmlns:a16="http://schemas.microsoft.com/office/drawing/2014/main" id="{78A1C576-2EE7-42A3-B210-0CB17210DFC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322513" y="1085850"/>
              <a:ext cx="217488" cy="142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675" b="1">
                  <a:solidFill>
                    <a:srgbClr val="267F7C"/>
                  </a:solidFill>
                  <a:latin typeface="Arial"/>
                  <a:ea typeface="Arial"/>
                  <a:cs typeface="Arial"/>
                </a:defRPr>
              </a:pPr>
              <a:r>
                <a:rPr sz="675" b="1">
                  <a:solidFill>
                    <a:srgbClr val="267F7C"/>
                  </a:solidFill>
                  <a:latin typeface="Arial"/>
                  <a:ea typeface="Arial"/>
                  <a:cs typeface="Arial"/>
                </a:rPr>
                <a:t>768</a:t>
              </a:r>
            </a:p>
          </p:txBody>
        </p:sp>
        <p:sp>
          <p:nvSpPr>
            <p:cNvPr id="42" name="encoder-stage-2">
              <a:extLst xmlns:a="http://schemas.openxmlformats.org/drawingml/2006/main">
                <a:ext uri="{FF2B5EF4-FFF2-40B4-BE49-F238E27FC236}">
                  <a16:creationId xmlns:a16="http://schemas.microsoft.com/office/drawing/2014/main" id="{D6488FC7-6ABA-4C00-86A3-00F24015BAD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536190" y="733425"/>
              <a:ext cx="187007" cy="838200"/>
            </a:xfrm>
            <a:custGeom xmlns:a="http://schemas.openxmlformats.org/drawingml/2006/main">
              <a:pathLst>
                <a:path w="187007" h="838200">
                  <a:moveTo>
                    <a:pt x="0" y="0"/>
                  </a:moveTo>
                  <a:lnTo>
                    <a:pt x="187007" y="76200"/>
                  </a:lnTo>
                  <a:lnTo>
                    <a:pt x="187007" y="762000"/>
                  </a:lnTo>
                  <a:lnTo>
                    <a:pt x="0" y="838200"/>
                  </a:lnTo>
                  <a:close/>
                </a:path>
              </a:pathLst>
            </a:custGeom>
            <a:solidFill xmlns:a="http://schemas.openxmlformats.org/drawingml/2006/main">
              <a:srgbClr val="D9EEEC"/>
            </a:solidFill>
            <a:ln xmlns:a="http://schemas.openxmlformats.org/drawingml/2006/main" w="7620">
              <a:solidFill>
                <a:srgbClr val="4C817E"/>
              </a:solidFill>
              <a:prstDash val="solid"/>
            </a:ln>
          </p:spPr>
        </p:sp>
        <p:sp>
          <p:nvSpPr>
            <p:cNvPr id="43" name="encoder-width-2">
              <a:extLst xmlns:a="http://schemas.openxmlformats.org/drawingml/2006/main">
                <a:ext uri="{FF2B5EF4-FFF2-40B4-BE49-F238E27FC236}">
                  <a16:creationId xmlns:a16="http://schemas.microsoft.com/office/drawing/2014/main" id="{76FFDF41-1A53-4650-A7E3-19964210018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520950" y="1085850"/>
              <a:ext cx="217488" cy="142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675" b="1">
                  <a:solidFill>
                    <a:srgbClr val="267F7C"/>
                  </a:solidFill>
                  <a:latin typeface="Arial"/>
                  <a:ea typeface="Arial"/>
                  <a:cs typeface="Arial"/>
                </a:defRPr>
              </a:pPr>
              <a:r>
                <a:rPr sz="675" b="1">
                  <a:solidFill>
                    <a:srgbClr val="267F7C"/>
                  </a:solidFill>
                  <a:latin typeface="Arial"/>
                  <a:ea typeface="Arial"/>
                  <a:cs typeface="Arial"/>
                </a:rPr>
                <a:t>512</a:t>
              </a:r>
            </a:p>
          </p:txBody>
        </p:sp>
        <p:sp>
          <p:nvSpPr>
            <p:cNvPr id="44" name="encoder-stage-3">
              <a:extLst xmlns:a="http://schemas.openxmlformats.org/drawingml/2006/main">
                <a:ext uri="{FF2B5EF4-FFF2-40B4-BE49-F238E27FC236}">
                  <a16:creationId xmlns:a16="http://schemas.microsoft.com/office/drawing/2014/main" id="{FE8C9299-491C-48DE-B837-6FC4D88E0A1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34628" y="809625"/>
              <a:ext cx="187007" cy="685800"/>
            </a:xfrm>
            <a:custGeom xmlns:a="http://schemas.openxmlformats.org/drawingml/2006/main">
              <a:pathLst>
                <a:path w="187007" h="685800">
                  <a:moveTo>
                    <a:pt x="0" y="0"/>
                  </a:moveTo>
                  <a:lnTo>
                    <a:pt x="187007" y="85725"/>
                  </a:lnTo>
                  <a:lnTo>
                    <a:pt x="187007" y="600075"/>
                  </a:lnTo>
                  <a:lnTo>
                    <a:pt x="0" y="685800"/>
                  </a:lnTo>
                  <a:close/>
                </a:path>
              </a:pathLst>
            </a:custGeom>
            <a:solidFill xmlns:a="http://schemas.openxmlformats.org/drawingml/2006/main">
              <a:srgbClr val="D9EEEC"/>
            </a:solidFill>
            <a:ln xmlns:a="http://schemas.openxmlformats.org/drawingml/2006/main" w="7620">
              <a:solidFill>
                <a:srgbClr val="4C817E"/>
              </a:solidFill>
              <a:prstDash val="solid"/>
            </a:ln>
          </p:spPr>
        </p:sp>
        <p:sp>
          <p:nvSpPr>
            <p:cNvPr id="45" name="encoder-width-3">
              <a:extLst xmlns:a="http://schemas.openxmlformats.org/drawingml/2006/main">
                <a:ext uri="{FF2B5EF4-FFF2-40B4-BE49-F238E27FC236}">
                  <a16:creationId xmlns:a16="http://schemas.microsoft.com/office/drawing/2014/main" id="{EFD73322-18C0-4A73-BAA2-8F281ECD2E6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719388" y="1085850"/>
              <a:ext cx="217488" cy="142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675" b="1">
                  <a:solidFill>
                    <a:srgbClr val="267F7C"/>
                  </a:solidFill>
                  <a:latin typeface="Arial"/>
                  <a:ea typeface="Arial"/>
                  <a:cs typeface="Arial"/>
                </a:defRPr>
              </a:pPr>
              <a:r>
                <a:rPr sz="675" b="1">
                  <a:solidFill>
                    <a:srgbClr val="267F7C"/>
                  </a:solidFill>
                  <a:latin typeface="Arial"/>
                  <a:ea typeface="Arial"/>
                  <a:cs typeface="Arial"/>
                </a:rPr>
                <a:t>256</a:t>
              </a:r>
            </a:p>
          </p:txBody>
        </p:sp>
        <p:sp>
          <p:nvSpPr>
            <p:cNvPr id="46" name="encoder-stage-4">
              <a:extLst xmlns:a="http://schemas.openxmlformats.org/drawingml/2006/main">
                <a:ext uri="{FF2B5EF4-FFF2-40B4-BE49-F238E27FC236}">
                  <a16:creationId xmlns:a16="http://schemas.microsoft.com/office/drawing/2014/main" id="{2F5E89A3-BFED-48AA-A235-DC82333771F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33065" y="895350"/>
              <a:ext cx="187007" cy="514350"/>
            </a:xfrm>
            <a:custGeom xmlns:a="http://schemas.openxmlformats.org/drawingml/2006/main">
              <a:pathLst>
                <a:path w="187007" h="514350">
                  <a:moveTo>
                    <a:pt x="0" y="0"/>
                  </a:moveTo>
                  <a:lnTo>
                    <a:pt x="187007" y="76200"/>
                  </a:lnTo>
                  <a:lnTo>
                    <a:pt x="187007" y="438150"/>
                  </a:lnTo>
                  <a:lnTo>
                    <a:pt x="0" y="514350"/>
                  </a:lnTo>
                  <a:close/>
                </a:path>
              </a:pathLst>
            </a:custGeom>
            <a:solidFill xmlns:a="http://schemas.openxmlformats.org/drawingml/2006/main">
              <a:srgbClr val="D9EEEC"/>
            </a:solidFill>
            <a:ln xmlns:a="http://schemas.openxmlformats.org/drawingml/2006/main" w="7620">
              <a:solidFill>
                <a:srgbClr val="4C817E"/>
              </a:solidFill>
              <a:prstDash val="solid"/>
            </a:ln>
          </p:spPr>
        </p:sp>
        <p:sp>
          <p:nvSpPr>
            <p:cNvPr id="47" name="encoder-width-4">
              <a:extLst xmlns:a="http://schemas.openxmlformats.org/drawingml/2006/main">
                <a:ext uri="{FF2B5EF4-FFF2-40B4-BE49-F238E27FC236}">
                  <a16:creationId xmlns:a16="http://schemas.microsoft.com/office/drawing/2014/main" id="{1DF0893B-C2A7-4264-9D4D-1A873030DAA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17825" y="1085850"/>
              <a:ext cx="217488" cy="142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675" b="1">
                  <a:solidFill>
                    <a:srgbClr val="267F7C"/>
                  </a:solidFill>
                  <a:latin typeface="Arial"/>
                  <a:ea typeface="Arial"/>
                  <a:cs typeface="Arial"/>
                </a:defRPr>
              </a:pPr>
              <a:r>
                <a:rPr sz="675" b="1">
                  <a:solidFill>
                    <a:srgbClr val="267F7C"/>
                  </a:solidFill>
                  <a:latin typeface="Arial"/>
                  <a:ea typeface="Arial"/>
                  <a:cs typeface="Arial"/>
                </a:rPr>
                <a:t>128</a:t>
              </a:r>
            </a:p>
          </p:txBody>
        </p:sp>
        <p:sp>
          <p:nvSpPr>
            <p:cNvPr id="48" name="encoder-stage-5">
              <a:extLst xmlns:a="http://schemas.openxmlformats.org/drawingml/2006/main">
                <a:ext uri="{FF2B5EF4-FFF2-40B4-BE49-F238E27FC236}">
                  <a16:creationId xmlns:a16="http://schemas.microsoft.com/office/drawing/2014/main" id="{9FADCDB8-E8F0-4151-8502-EA1D32F6F98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31503" y="971550"/>
              <a:ext cx="187007" cy="361950"/>
            </a:xfrm>
            <a:custGeom xmlns:a="http://schemas.openxmlformats.org/drawingml/2006/main">
              <a:pathLst>
                <a:path w="187007" h="361950">
                  <a:moveTo>
                    <a:pt x="0" y="0"/>
                  </a:moveTo>
                  <a:lnTo>
                    <a:pt x="187007" y="66675"/>
                  </a:lnTo>
                  <a:lnTo>
                    <a:pt x="187007" y="295275"/>
                  </a:lnTo>
                  <a:lnTo>
                    <a:pt x="0" y="361950"/>
                  </a:lnTo>
                  <a:close/>
                </a:path>
              </a:pathLst>
            </a:custGeom>
            <a:solidFill xmlns:a="http://schemas.openxmlformats.org/drawingml/2006/main">
              <a:srgbClr val="D9EEEC"/>
            </a:solidFill>
            <a:ln xmlns:a="http://schemas.openxmlformats.org/drawingml/2006/main" w="7620">
              <a:solidFill>
                <a:srgbClr val="4C817E"/>
              </a:solidFill>
              <a:prstDash val="solid"/>
            </a:ln>
          </p:spPr>
        </p:sp>
        <p:sp>
          <p:nvSpPr>
            <p:cNvPr id="49" name="encoder-width-5">
              <a:extLst xmlns:a="http://schemas.openxmlformats.org/drawingml/2006/main">
                <a:ext uri="{FF2B5EF4-FFF2-40B4-BE49-F238E27FC236}">
                  <a16:creationId xmlns:a16="http://schemas.microsoft.com/office/drawing/2014/main" id="{EE01D913-506E-43A8-9F52-3730DE2CCAC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16262" y="1085850"/>
              <a:ext cx="217488" cy="142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675" b="1">
                  <a:solidFill>
                    <a:srgbClr val="267F7C"/>
                  </a:solidFill>
                  <a:latin typeface="Arial"/>
                  <a:ea typeface="Arial"/>
                  <a:cs typeface="Arial"/>
                </a:defRPr>
              </a:pPr>
              <a:r>
                <a:rPr sz="675" b="1">
                  <a:solidFill>
                    <a:srgbClr val="267F7C"/>
                  </a:solidFill>
                  <a:latin typeface="Arial"/>
                  <a:ea typeface="Arial"/>
                  <a:cs typeface="Arial"/>
                </a:rPr>
                <a:t>32</a:t>
              </a:r>
            </a:p>
          </p:txBody>
        </p:sp>
      </p:grpSp>
      <p:sp>
        <p:nvSpPr>
          <p:cNvPr id="50" name="encoder-in">
            <a:extLst xmlns:a="http://schemas.openxmlformats.org/drawingml/2006/main">
              <a:ext uri="{FF2B5EF4-FFF2-40B4-BE49-F238E27FC236}">
                <a16:creationId xmlns:a16="http://schemas.microsoft.com/office/drawing/2014/main" id="{9B2F5468-6EF1-46B4-9165-FAB264DBC72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128838" y="657225"/>
            <a:ext cx="14288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17E"/>
          </a:solidFill>
          <a:ln xmlns:a="http://schemas.openxmlformats.org/drawingml/2006/main" w="3810">
            <a:solidFill>
              <a:srgbClr val="4C817E"/>
            </a:solidFill>
            <a:prstDash val="solid"/>
          </a:ln>
        </p:spPr>
      </p:sp>
      <p:sp>
        <p:nvSpPr>
          <p:cNvPr id="51" name="encoder-out">
            <a:extLst xmlns:a="http://schemas.openxmlformats.org/drawingml/2006/main">
              <a:ext uri="{FF2B5EF4-FFF2-40B4-BE49-F238E27FC236}">
                <a16:creationId xmlns:a16="http://schemas.microsoft.com/office/drawing/2014/main" id="{775A3DEA-F301-47FC-8FC0-77D71012BBC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14700" y="1038225"/>
            <a:ext cx="1428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817E"/>
          </a:solidFill>
          <a:ln xmlns:a="http://schemas.openxmlformats.org/drawingml/2006/main" w="3810">
            <a:solidFill>
              <a:srgbClr val="4C817E"/>
            </a:solidFill>
            <a:prstDash val="solid"/>
          </a:ln>
        </p:spPr>
      </p:sp>
      <p:grpSp>
        <p:nvGrpSpPr>
          <p:cNvPr id="378" name="decoder-stages"/>
          <p:cNvGrpSpPr/>
          <p:nvPr/>
        </p:nvGrpSpPr>
        <p:grpSpPr>
          <ns1:xfrm xmlns:ns1="http://schemas.openxmlformats.org/drawingml/2006/main">
            <ns1:off x="4067175" y="657225"/>
            <ns1:ext cx="1219200" cy="990600"/>
            <ns1:chOff x="4067175" y="657225"/>
            <ns1:chExt cx="1219200" cy="990600"/>
          </ns1:xfrm>
        </p:grpSpPr>
        <p:sp>
          <p:nvSpPr>
            <p:cNvPr id="52" name="decoder-stage-0">
              <a:extLst xmlns:a="http://schemas.openxmlformats.org/drawingml/2006/main">
                <a:ext uri="{FF2B5EF4-FFF2-40B4-BE49-F238E27FC236}">
                  <a16:creationId xmlns:a16="http://schemas.microsoft.com/office/drawing/2014/main" id="{ACB17CEF-7890-41D0-ABE3-3CA843CF67C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082415" y="971550"/>
              <a:ext cx="188595" cy="361950"/>
            </a:xfrm>
            <a:custGeom xmlns:a="http://schemas.openxmlformats.org/drawingml/2006/main">
              <a:pathLst>
                <a:path w="188595" h="361950">
                  <a:moveTo>
                    <a:pt x="0" y="66675"/>
                  </a:moveTo>
                  <a:lnTo>
                    <a:pt x="188595" y="0"/>
                  </a:lnTo>
                  <a:lnTo>
                    <a:pt x="188595" y="361950"/>
                  </a:lnTo>
                  <a:lnTo>
                    <a:pt x="0" y="295275"/>
                  </a:lnTo>
                  <a:close/>
                </a:path>
              </a:pathLst>
            </a:custGeom>
            <a:solidFill xmlns:a="http://schemas.openxmlformats.org/drawingml/2006/main">
              <a:srgbClr val="F7E0DB"/>
            </a:solidFill>
            <a:ln xmlns:a="http://schemas.openxmlformats.org/drawingml/2006/main" w="7620">
              <a:solidFill>
                <a:srgbClr val="AB6A5E"/>
              </a:solidFill>
              <a:prstDash val="solid"/>
            </a:ln>
          </p:spPr>
        </p:sp>
        <p:sp>
          <p:nvSpPr>
            <p:cNvPr id="53" name="decoder-width-0">
              <a:extLst xmlns:a="http://schemas.openxmlformats.org/drawingml/2006/main">
                <a:ext uri="{FF2B5EF4-FFF2-40B4-BE49-F238E27FC236}">
                  <a16:creationId xmlns:a16="http://schemas.microsoft.com/office/drawing/2014/main" id="{8C748FF5-4EED-407E-A5D2-80EE3C309D4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067175" y="1085850"/>
              <a:ext cx="219075" cy="142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675" b="1">
                  <a:solidFill>
                    <a:srgbClr val="B95446"/>
                  </a:solidFill>
                  <a:latin typeface="Arial"/>
                  <a:ea typeface="Arial"/>
                  <a:cs typeface="Arial"/>
                </a:defRPr>
              </a:pPr>
              <a:r>
                <a:rPr sz="675" b="1">
                  <a:solidFill>
                    <a:srgbClr val="B95446"/>
                  </a:solidFill>
                  <a:latin typeface="Arial"/>
                  <a:ea typeface="Arial"/>
                  <a:cs typeface="Arial"/>
                </a:rPr>
                <a:t>128</a:t>
              </a:r>
            </a:p>
          </p:txBody>
        </p:sp>
        <p:sp>
          <p:nvSpPr>
            <p:cNvPr id="54" name="decoder-stage-1">
              <a:extLst xmlns:a="http://schemas.openxmlformats.org/drawingml/2006/main">
                <a:ext uri="{FF2B5EF4-FFF2-40B4-BE49-F238E27FC236}">
                  <a16:creationId xmlns:a16="http://schemas.microsoft.com/office/drawing/2014/main" id="{72F5AF34-073F-41C2-A695-F5CC9899B2E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82440" y="895350"/>
              <a:ext cx="188595" cy="514350"/>
            </a:xfrm>
            <a:custGeom xmlns:a="http://schemas.openxmlformats.org/drawingml/2006/main">
              <a:pathLst>
                <a:path w="188595" h="514350">
                  <a:moveTo>
                    <a:pt x="0" y="76200"/>
                  </a:moveTo>
                  <a:lnTo>
                    <a:pt x="188595" y="0"/>
                  </a:lnTo>
                  <a:lnTo>
                    <a:pt x="188595" y="514350"/>
                  </a:lnTo>
                  <a:lnTo>
                    <a:pt x="0" y="438150"/>
                  </a:lnTo>
                  <a:close/>
                </a:path>
              </a:pathLst>
            </a:custGeom>
            <a:solidFill xmlns:a="http://schemas.openxmlformats.org/drawingml/2006/main">
              <a:srgbClr val="F7E0DB"/>
            </a:solidFill>
            <a:ln xmlns:a="http://schemas.openxmlformats.org/drawingml/2006/main" w="7620">
              <a:solidFill>
                <a:srgbClr val="AB6A5E"/>
              </a:solidFill>
              <a:prstDash val="solid"/>
            </a:ln>
          </p:spPr>
        </p:sp>
        <p:sp>
          <p:nvSpPr>
            <p:cNvPr id="55" name="decoder-width-1">
              <a:extLst xmlns:a="http://schemas.openxmlformats.org/drawingml/2006/main">
                <a:ext uri="{FF2B5EF4-FFF2-40B4-BE49-F238E27FC236}">
                  <a16:creationId xmlns:a16="http://schemas.microsoft.com/office/drawing/2014/main" id="{29BC06F1-11C7-470D-B4A2-77B31D2EC89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67200" y="1085850"/>
              <a:ext cx="219075" cy="142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675" b="1">
                  <a:solidFill>
                    <a:srgbClr val="B95446"/>
                  </a:solidFill>
                  <a:latin typeface="Arial"/>
                  <a:ea typeface="Arial"/>
                  <a:cs typeface="Arial"/>
                </a:defRPr>
              </a:pPr>
              <a:r>
                <a:rPr sz="675" b="1">
                  <a:solidFill>
                    <a:srgbClr val="B95446"/>
                  </a:solidFill>
                  <a:latin typeface="Arial"/>
                  <a:ea typeface="Arial"/>
                  <a:cs typeface="Arial"/>
                </a:rPr>
                <a:t>256</a:t>
              </a:r>
            </a:p>
          </p:txBody>
        </p:sp>
        <p:sp>
          <p:nvSpPr>
            <p:cNvPr id="56" name="decoder-stage-2">
              <a:extLst xmlns:a="http://schemas.openxmlformats.org/drawingml/2006/main">
                <a:ext uri="{FF2B5EF4-FFF2-40B4-BE49-F238E27FC236}">
                  <a16:creationId xmlns:a16="http://schemas.microsoft.com/office/drawing/2014/main" id="{EDD88A33-14E2-43E4-8234-8F283AF4411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482465" y="809625"/>
              <a:ext cx="188595" cy="685800"/>
            </a:xfrm>
            <a:custGeom xmlns:a="http://schemas.openxmlformats.org/drawingml/2006/main">
              <a:pathLst>
                <a:path w="188595" h="685800">
                  <a:moveTo>
                    <a:pt x="0" y="85725"/>
                  </a:moveTo>
                  <a:lnTo>
                    <a:pt x="188595" y="0"/>
                  </a:lnTo>
                  <a:lnTo>
                    <a:pt x="188595" y="685800"/>
                  </a:lnTo>
                  <a:lnTo>
                    <a:pt x="0" y="600075"/>
                  </a:lnTo>
                  <a:close/>
                </a:path>
              </a:pathLst>
            </a:custGeom>
            <a:solidFill xmlns:a="http://schemas.openxmlformats.org/drawingml/2006/main">
              <a:srgbClr val="F7E0DB"/>
            </a:solidFill>
            <a:ln xmlns:a="http://schemas.openxmlformats.org/drawingml/2006/main" w="7620">
              <a:solidFill>
                <a:srgbClr val="AB6A5E"/>
              </a:solidFill>
              <a:prstDash val="solid"/>
            </a:ln>
          </p:spPr>
        </p:sp>
        <p:sp>
          <p:nvSpPr>
            <p:cNvPr id="57" name="decoder-width-2">
              <a:extLst xmlns:a="http://schemas.openxmlformats.org/drawingml/2006/main">
                <a:ext uri="{FF2B5EF4-FFF2-40B4-BE49-F238E27FC236}">
                  <a16:creationId xmlns:a16="http://schemas.microsoft.com/office/drawing/2014/main" id="{4CB53786-D4B0-4166-B109-1E8D4C63DE9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467225" y="1085850"/>
              <a:ext cx="219075" cy="142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675" b="1">
                  <a:solidFill>
                    <a:srgbClr val="B95446"/>
                  </a:solidFill>
                  <a:latin typeface="Arial"/>
                  <a:ea typeface="Arial"/>
                  <a:cs typeface="Arial"/>
                </a:defRPr>
              </a:pPr>
              <a:r>
                <a:rPr sz="675" b="1">
                  <a:solidFill>
                    <a:srgbClr val="B95446"/>
                  </a:solidFill>
                  <a:latin typeface="Arial"/>
                  <a:ea typeface="Arial"/>
                  <a:cs typeface="Arial"/>
                </a:rPr>
                <a:t>512</a:t>
              </a:r>
            </a:p>
          </p:txBody>
        </p:sp>
        <p:sp>
          <p:nvSpPr>
            <p:cNvPr id="58" name="decoder-stage-3">
              <a:extLst xmlns:a="http://schemas.openxmlformats.org/drawingml/2006/main">
                <a:ext uri="{FF2B5EF4-FFF2-40B4-BE49-F238E27FC236}">
                  <a16:creationId xmlns:a16="http://schemas.microsoft.com/office/drawing/2014/main" id="{E83702AB-674A-4A95-9838-269B62A5433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682490" y="733425"/>
              <a:ext cx="188595" cy="838200"/>
            </a:xfrm>
            <a:custGeom xmlns:a="http://schemas.openxmlformats.org/drawingml/2006/main">
              <a:pathLst>
                <a:path w="188595" h="838200">
                  <a:moveTo>
                    <a:pt x="0" y="76200"/>
                  </a:moveTo>
                  <a:lnTo>
                    <a:pt x="188595" y="0"/>
                  </a:lnTo>
                  <a:lnTo>
                    <a:pt x="188595" y="838200"/>
                  </a:lnTo>
                  <a:lnTo>
                    <a:pt x="0" y="762000"/>
                  </a:lnTo>
                  <a:close/>
                </a:path>
              </a:pathLst>
            </a:custGeom>
            <a:solidFill xmlns:a="http://schemas.openxmlformats.org/drawingml/2006/main">
              <a:srgbClr val="F7E0DB"/>
            </a:solidFill>
            <a:ln xmlns:a="http://schemas.openxmlformats.org/drawingml/2006/main" w="7620">
              <a:solidFill>
                <a:srgbClr val="AB6A5E"/>
              </a:solidFill>
              <a:prstDash val="solid"/>
            </a:ln>
          </p:spPr>
        </p:sp>
        <p:sp>
          <p:nvSpPr>
            <p:cNvPr id="59" name="decoder-width-3">
              <a:extLst xmlns:a="http://schemas.openxmlformats.org/drawingml/2006/main">
                <a:ext uri="{FF2B5EF4-FFF2-40B4-BE49-F238E27FC236}">
                  <a16:creationId xmlns:a16="http://schemas.microsoft.com/office/drawing/2014/main" id="{0576A488-EEC6-4663-87CE-A329006F3AA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667250" y="1085850"/>
              <a:ext cx="219075" cy="142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675" b="1">
                  <a:solidFill>
                    <a:srgbClr val="B95446"/>
                  </a:solidFill>
                  <a:latin typeface="Arial"/>
                  <a:ea typeface="Arial"/>
                  <a:cs typeface="Arial"/>
                </a:defRPr>
              </a:pPr>
              <a:r>
                <a:rPr sz="675" b="1">
                  <a:solidFill>
                    <a:srgbClr val="B95446"/>
                  </a:solidFill>
                  <a:latin typeface="Arial"/>
                  <a:ea typeface="Arial"/>
                  <a:cs typeface="Arial"/>
                </a:rPr>
                <a:t>768</a:t>
              </a:r>
            </a:p>
          </p:txBody>
        </p:sp>
        <p:sp>
          <p:nvSpPr>
            <p:cNvPr id="60" name="decoder-stage-4">
              <a:extLst xmlns:a="http://schemas.openxmlformats.org/drawingml/2006/main">
                <a:ext uri="{FF2B5EF4-FFF2-40B4-BE49-F238E27FC236}">
                  <a16:creationId xmlns:a16="http://schemas.microsoft.com/office/drawing/2014/main" id="{5BE551F0-B33A-4D7B-B9AE-62F84AA1047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882515" y="657225"/>
              <a:ext cx="188595" cy="990600"/>
            </a:xfrm>
            <a:custGeom xmlns:a="http://schemas.openxmlformats.org/drawingml/2006/main">
              <a:pathLst>
                <a:path w="188595" h="990600">
                  <a:moveTo>
                    <a:pt x="0" y="76200"/>
                  </a:moveTo>
                  <a:lnTo>
                    <a:pt x="188595" y="0"/>
                  </a:lnTo>
                  <a:lnTo>
                    <a:pt x="188595" y="990600"/>
                  </a:lnTo>
                  <a:lnTo>
                    <a:pt x="0" y="914400"/>
                  </a:lnTo>
                  <a:close/>
                </a:path>
              </a:pathLst>
            </a:custGeom>
            <a:solidFill xmlns:a="http://schemas.openxmlformats.org/drawingml/2006/main">
              <a:srgbClr val="F7E0DB"/>
            </a:solidFill>
            <a:ln xmlns:a="http://schemas.openxmlformats.org/drawingml/2006/main" w="7620">
              <a:solidFill>
                <a:srgbClr val="AB6A5E"/>
              </a:solidFill>
              <a:prstDash val="solid"/>
            </a:ln>
          </p:spPr>
        </p:sp>
        <p:sp>
          <p:nvSpPr>
            <p:cNvPr id="61" name="decoder-width-4">
              <a:extLst xmlns:a="http://schemas.openxmlformats.org/drawingml/2006/main">
                <a:ext uri="{FF2B5EF4-FFF2-40B4-BE49-F238E27FC236}">
                  <a16:creationId xmlns:a16="http://schemas.microsoft.com/office/drawing/2014/main" id="{BA889DF6-1F42-423A-A56B-5EBBD1E41A4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867275" y="1085850"/>
              <a:ext cx="219075" cy="142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675" b="1">
                  <a:solidFill>
                    <a:srgbClr val="B95446"/>
                  </a:solidFill>
                  <a:latin typeface="Arial"/>
                  <a:ea typeface="Arial"/>
                  <a:cs typeface="Arial"/>
                </a:defRPr>
              </a:pPr>
              <a:r>
                <a:rPr sz="675" b="1">
                  <a:solidFill>
                    <a:srgbClr val="B95446"/>
                  </a:solidFill>
                  <a:latin typeface="Arial"/>
                  <a:ea typeface="Arial"/>
                  <a:cs typeface="Arial"/>
                </a:rPr>
                <a:t>1024</a:t>
              </a:r>
            </a:p>
          </p:txBody>
        </p:sp>
        <p:sp>
          <p:nvSpPr>
            <p:cNvPr id="62" name="decoder-stage-5">
              <a:extLst xmlns:a="http://schemas.openxmlformats.org/drawingml/2006/main">
                <a:ext uri="{FF2B5EF4-FFF2-40B4-BE49-F238E27FC236}">
                  <a16:creationId xmlns:a16="http://schemas.microsoft.com/office/drawing/2014/main" id="{8FBE41EC-59DE-4E8A-8B00-1CC4706B0A7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082540" y="657225"/>
              <a:ext cx="188595" cy="990600"/>
            </a:xfrm>
            <a:custGeom xmlns:a="http://schemas.openxmlformats.org/drawingml/2006/main">
              <a:pathLst>
                <a:path w="188595" h="990600">
                  <a:moveTo>
                    <a:pt x="0" y="0"/>
                  </a:moveTo>
                  <a:lnTo>
                    <a:pt x="188595" y="0"/>
                  </a:lnTo>
                  <a:lnTo>
                    <a:pt x="188595" y="990600"/>
                  </a:lnTo>
                  <a:lnTo>
                    <a:pt x="0" y="990600"/>
                  </a:lnTo>
                  <a:close/>
                </a:path>
              </a:pathLst>
            </a:custGeom>
            <a:solidFill xmlns:a="http://schemas.openxmlformats.org/drawingml/2006/main">
              <a:srgbClr val="F7E0DB"/>
            </a:solidFill>
            <a:ln xmlns:a="http://schemas.openxmlformats.org/drawingml/2006/main" w="7620">
              <a:solidFill>
                <a:srgbClr val="AB6A5E"/>
              </a:solidFill>
              <a:prstDash val="solid"/>
            </a:ln>
          </p:spPr>
        </p:sp>
        <p:sp>
          <p:nvSpPr>
            <p:cNvPr id="63" name="decoder-width-5">
              <a:extLst xmlns:a="http://schemas.openxmlformats.org/drawingml/2006/main">
                <a:ext uri="{FF2B5EF4-FFF2-40B4-BE49-F238E27FC236}">
                  <a16:creationId xmlns:a16="http://schemas.microsoft.com/office/drawing/2014/main" id="{5490A25C-551D-4A17-ADDC-0481967A25B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067300" y="1085850"/>
              <a:ext cx="219075" cy="1428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defRPr sz="675" b="1">
                  <a:solidFill>
                    <a:srgbClr val="B95446"/>
                  </a:solidFill>
                  <a:latin typeface="Arial"/>
                  <a:ea typeface="Arial"/>
                  <a:cs typeface="Arial"/>
                </a:defRPr>
              </a:pPr>
              <a:r>
                <a:rPr sz="675" b="1">
                  <a:solidFill>
                    <a:srgbClr val="B95446"/>
                  </a:solidFill>
                  <a:latin typeface="Arial"/>
                  <a:ea typeface="Arial"/>
                  <a:cs typeface="Arial"/>
                </a:rPr>
                <a:t>1024</a:t>
              </a:r>
            </a:p>
          </p:txBody>
        </p:sp>
      </p:grpSp>
      <p:sp>
        <p:nvSpPr>
          <p:cNvPr id="64" name="decoder-in">
            <a:extLst xmlns:a="http://schemas.openxmlformats.org/drawingml/2006/main">
              <a:ext uri="{FF2B5EF4-FFF2-40B4-BE49-F238E27FC236}">
                <a16:creationId xmlns:a16="http://schemas.microsoft.com/office/drawing/2014/main" id="{9D6B646D-F3DE-4F63-9A61-5FC94D812FF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071938" y="1038225"/>
            <a:ext cx="1428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6A5E"/>
          </a:solidFill>
          <a:ln xmlns:a="http://schemas.openxmlformats.org/drawingml/2006/main" w="3810">
            <a:solidFill>
              <a:srgbClr val="AB6A5E"/>
            </a:solidFill>
            <a:prstDash val="solid"/>
          </a:ln>
        </p:spPr>
      </p:sp>
      <p:sp>
        <p:nvSpPr>
          <p:cNvPr id="65" name="decoder-out">
            <a:extLst xmlns:a="http://schemas.openxmlformats.org/drawingml/2006/main">
              <a:ext uri="{FF2B5EF4-FFF2-40B4-BE49-F238E27FC236}">
                <a16:creationId xmlns:a16="http://schemas.microsoft.com/office/drawing/2014/main" id="{10DA6A3B-C07F-4E25-A859-B8C9A988BA2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267325" y="657225"/>
            <a:ext cx="14288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B6A5E"/>
          </a:solidFill>
          <a:ln xmlns:a="http://schemas.openxmlformats.org/drawingml/2006/main" w="3810">
            <a:solidFill>
              <a:srgbClr val="AB6A5E"/>
            </a:solidFill>
            <a:prstDash val="solid"/>
          </a:ln>
        </p:spPr>
      </p:sp>
      <p:sp>
        <p:nvSpPr>
          <p:cNvPr id="66" name="latent-title">
            <a:extLst xmlns:a="http://schemas.openxmlformats.org/drawingml/2006/main">
              <a:ext uri="{FF2B5EF4-FFF2-40B4-BE49-F238E27FC236}">
                <a16:creationId xmlns:a16="http://schemas.microsoft.com/office/drawing/2014/main" id="{47F5A083-DD33-48A6-9D9B-C7EAE75E726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33750" y="590550"/>
            <a:ext cx="7239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8F702B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8F702B"/>
                </a:solidFill>
                <a:latin typeface="Arial"/>
                <a:ea typeface="Arial"/>
                <a:cs typeface="Arial"/>
              </a:rPr>
              <a:t>Binary latent</a:t>
            </a:r>
          </a:p>
        </p:txBody>
      </p:sp>
      <p:sp>
        <p:nvSpPr>
          <p:cNvPr id="67" name="latent-Z.0">
            <a:extLst xmlns:a="http://schemas.openxmlformats.org/drawingml/2006/main">
              <a:ext uri="{FF2B5EF4-FFF2-40B4-BE49-F238E27FC236}">
                <a16:creationId xmlns:a16="http://schemas.microsoft.com/office/drawing/2014/main" id="{9CB0CC83-B2B2-47A5-8B57-2A8C61FAFB3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644694" y="752475"/>
            <a:ext cx="140113" cy="275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8F70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8F702B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68" name="latent-spikes">
            <a:extLst xmlns:a="http://schemas.openxmlformats.org/drawingml/2006/main">
              <a:ext uri="{FF2B5EF4-FFF2-40B4-BE49-F238E27FC236}">
                <a16:creationId xmlns:a16="http://schemas.microsoft.com/office/drawing/2014/main" id="{49A00300-6FF6-4E6B-9951-929467FA238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486150" y="9906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977C3C"/>
            </a:solidFill>
            <a:prstDash val="solid"/>
          </a:ln>
        </p:spPr>
      </p:sp>
      <p:grpSp>
        <p:nvGrpSpPr>
          <p:cNvPr id="379" name="latent-spikes-events"/>
          <p:cNvGrpSpPr/>
          <p:nvPr/>
        </p:nvGrpSpPr>
        <p:grpSpPr>
          <ns1:xfrm xmlns:ns1="http://schemas.openxmlformats.org/drawingml/2006/main">
            <ns1:off x="3543300" y="1066800"/>
            <ns1:ext cx="304800" cy="181070"/>
            <ns1:chOff x="3543300" y="1066800"/>
            <ns1:chExt cx="304800" cy="181070"/>
          </ns1:xfrm>
        </p:grpSpPr>
        <p:sp>
          <p:nvSpPr>
            <p:cNvPr id="69" name="latent-spikes-baseline-0">
              <a:extLst xmlns:a="http://schemas.openxmlformats.org/drawingml/2006/main">
                <a:ext uri="{FF2B5EF4-FFF2-40B4-BE49-F238E27FC236}">
                  <a16:creationId xmlns:a16="http://schemas.microsoft.com/office/drawing/2014/main" id="{534D962C-153E-47C7-B6ED-D410D4AF8FD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43300" y="1133475"/>
              <a:ext cx="304800" cy="95"/>
            </a:xfrm>
            <a:custGeom xmlns:a="http://schemas.openxmlformats.org/drawingml/2006/main">
              <a:pathLst>
                <a:path w="304800" h="9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4286">
              <a:solidFill>
                <a:srgbClr val="D3D8DA"/>
              </a:solidFill>
              <a:prstDash val="solid"/>
            </a:ln>
          </p:spPr>
        </p:sp>
        <p:sp>
          <p:nvSpPr>
            <p:cNvPr id="70" name="latent-spikes-spike-0-0">
              <a:extLst xmlns:a="http://schemas.openxmlformats.org/drawingml/2006/main">
                <a:ext uri="{FF2B5EF4-FFF2-40B4-BE49-F238E27FC236}">
                  <a16:creationId xmlns:a16="http://schemas.microsoft.com/office/drawing/2014/main" id="{8860881B-8604-4358-BBA1-55F33DEDB06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68700" y="106680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8F702B"/>
              </a:solidFill>
              <a:prstDash val="solid"/>
            </a:ln>
          </p:spPr>
        </p:sp>
        <p:sp>
          <p:nvSpPr>
            <p:cNvPr id="71" name="latent-spikes-spike-0-1">
              <a:extLst xmlns:a="http://schemas.openxmlformats.org/drawingml/2006/main">
                <a:ext uri="{FF2B5EF4-FFF2-40B4-BE49-F238E27FC236}">
                  <a16:creationId xmlns:a16="http://schemas.microsoft.com/office/drawing/2014/main" id="{A27C4484-CD46-4F80-A372-CE9EE319A41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644900" y="106680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8F702B"/>
              </a:solidFill>
              <a:prstDash val="solid"/>
            </a:ln>
          </p:spPr>
        </p:sp>
        <p:sp>
          <p:nvSpPr>
            <p:cNvPr id="72" name="latent-spikes-spike-0-2">
              <a:extLst xmlns:a="http://schemas.openxmlformats.org/drawingml/2006/main">
                <a:ext uri="{FF2B5EF4-FFF2-40B4-BE49-F238E27FC236}">
                  <a16:creationId xmlns:a16="http://schemas.microsoft.com/office/drawing/2014/main" id="{723B8E66-D2EB-458E-87C6-F2B3048E770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771900" y="106680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8F702B"/>
              </a:solidFill>
              <a:prstDash val="solid"/>
            </a:ln>
          </p:spPr>
        </p:sp>
        <p:sp>
          <p:nvSpPr>
            <p:cNvPr id="73" name="latent-spikes-baseline-1">
              <a:extLst xmlns:a="http://schemas.openxmlformats.org/drawingml/2006/main">
                <a:ext uri="{FF2B5EF4-FFF2-40B4-BE49-F238E27FC236}">
                  <a16:creationId xmlns:a16="http://schemas.microsoft.com/office/drawing/2014/main" id="{C1F4B095-D146-4EE5-9BF8-64BF8552860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43300" y="1190625"/>
              <a:ext cx="304800" cy="95"/>
            </a:xfrm>
            <a:custGeom xmlns:a="http://schemas.openxmlformats.org/drawingml/2006/main">
              <a:pathLst>
                <a:path w="304800" h="9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4286">
              <a:solidFill>
                <a:srgbClr val="D3D8DA"/>
              </a:solidFill>
              <a:prstDash val="solid"/>
            </a:ln>
          </p:spPr>
        </p:sp>
        <p:sp>
          <p:nvSpPr>
            <p:cNvPr id="74" name="latent-spikes-spike-1-0">
              <a:extLst xmlns:a="http://schemas.openxmlformats.org/drawingml/2006/main">
                <a:ext uri="{FF2B5EF4-FFF2-40B4-BE49-F238E27FC236}">
                  <a16:creationId xmlns:a16="http://schemas.microsoft.com/office/drawing/2014/main" id="{F74AA1A1-62B2-4045-B97C-774A899B158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94100" y="112395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8F702B"/>
              </a:solidFill>
              <a:prstDash val="solid"/>
            </a:ln>
          </p:spPr>
        </p:sp>
        <p:sp>
          <p:nvSpPr>
            <p:cNvPr id="75" name="latent-spikes-spike-1-1">
              <a:extLst xmlns:a="http://schemas.openxmlformats.org/drawingml/2006/main">
                <a:ext uri="{FF2B5EF4-FFF2-40B4-BE49-F238E27FC236}">
                  <a16:creationId xmlns:a16="http://schemas.microsoft.com/office/drawing/2014/main" id="{78A52B2E-7D73-4367-8E39-4EC1C2C68D0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695700" y="112395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8F702B"/>
              </a:solidFill>
              <a:prstDash val="solid"/>
            </a:ln>
          </p:spPr>
        </p:sp>
        <p:sp>
          <p:nvSpPr>
            <p:cNvPr id="76" name="latent-spikes-spike-1-2">
              <a:extLst xmlns:a="http://schemas.openxmlformats.org/drawingml/2006/main">
                <a:ext uri="{FF2B5EF4-FFF2-40B4-BE49-F238E27FC236}">
                  <a16:creationId xmlns:a16="http://schemas.microsoft.com/office/drawing/2014/main" id="{CB183945-50FA-4E12-A4C3-CA41F728071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784600" y="112395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8F702B"/>
              </a:solidFill>
              <a:prstDash val="solid"/>
            </a:ln>
          </p:spPr>
        </p:sp>
        <p:sp>
          <p:nvSpPr>
            <p:cNvPr id="77" name="latent-spikes-baseline-2">
              <a:extLst xmlns:a="http://schemas.openxmlformats.org/drawingml/2006/main">
                <a:ext uri="{FF2B5EF4-FFF2-40B4-BE49-F238E27FC236}">
                  <a16:creationId xmlns:a16="http://schemas.microsoft.com/office/drawing/2014/main" id="{380FB938-235B-456F-BBD0-E62C5DC3FCF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43300" y="1247775"/>
              <a:ext cx="304800" cy="95"/>
            </a:xfrm>
            <a:custGeom xmlns:a="http://schemas.openxmlformats.org/drawingml/2006/main">
              <a:pathLst>
                <a:path w="304800" h="9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4286">
              <a:solidFill>
                <a:srgbClr val="D3D8DA"/>
              </a:solidFill>
              <a:prstDash val="solid"/>
            </a:ln>
          </p:spPr>
        </p:sp>
        <p:sp>
          <p:nvSpPr>
            <p:cNvPr id="78" name="latent-spikes-spike-2-0">
              <a:extLst xmlns:a="http://schemas.openxmlformats.org/drawingml/2006/main">
                <a:ext uri="{FF2B5EF4-FFF2-40B4-BE49-F238E27FC236}">
                  <a16:creationId xmlns:a16="http://schemas.microsoft.com/office/drawing/2014/main" id="{3F30050A-8A73-43EC-BAF1-47A3BA009BA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56000" y="118110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8F702B"/>
              </a:solidFill>
              <a:prstDash val="solid"/>
            </a:ln>
          </p:spPr>
        </p:sp>
        <p:sp>
          <p:nvSpPr>
            <p:cNvPr id="79" name="latent-spikes-spike-2-1">
              <a:extLst xmlns:a="http://schemas.openxmlformats.org/drawingml/2006/main">
                <a:ext uri="{FF2B5EF4-FFF2-40B4-BE49-F238E27FC236}">
                  <a16:creationId xmlns:a16="http://schemas.microsoft.com/office/drawing/2014/main" id="{143252E8-F496-486E-88DA-373ECDBC2F1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657600" y="118110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8F702B"/>
              </a:solidFill>
              <a:prstDash val="solid"/>
            </a:ln>
          </p:spPr>
        </p:sp>
        <p:sp>
          <p:nvSpPr>
            <p:cNvPr id="80" name="latent-spikes-spike-2-2">
              <a:extLst xmlns:a="http://schemas.openxmlformats.org/drawingml/2006/main">
                <a:ext uri="{FF2B5EF4-FFF2-40B4-BE49-F238E27FC236}">
                  <a16:creationId xmlns:a16="http://schemas.microsoft.com/office/drawing/2014/main" id="{FC2D5A4F-3DC6-42AD-B63D-1A0F40C776D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759200" y="118110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8F702B"/>
              </a:solidFill>
              <a:prstDash val="solid"/>
            </a:ln>
          </p:spPr>
        </p:sp>
      </p:grpSp>
      <p:sp>
        <p:nvSpPr>
          <p:cNvPr id="81" name="latent-dimension">
            <a:extLst xmlns:a="http://schemas.openxmlformats.org/drawingml/2006/main">
              <a:ext uri="{FF2B5EF4-FFF2-40B4-BE49-F238E27FC236}">
                <a16:creationId xmlns:a16="http://schemas.microsoft.com/office/drawing/2014/main" id="{4320D35D-DCFD-40A9-A082-C6EEAC7BDB9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333750" y="1381125"/>
            <a:ext cx="7334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8F702B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8F702B"/>
                </a:solidFill>
                <a:latin typeface="Arial"/>
                <a:ea typeface="Arial"/>
                <a:cs typeface="Arial"/>
              </a:rPr>
              <a:t>32 channels</a:t>
            </a:r>
          </a:p>
        </p:txBody>
      </p:sp>
      <p:sp>
        <p:nvSpPr>
          <p:cNvPr id="82" name="output-title">
            <a:extLst xmlns:a="http://schemas.openxmlformats.org/drawingml/2006/main">
              <a:ext uri="{FF2B5EF4-FFF2-40B4-BE49-F238E27FC236}">
                <a16:creationId xmlns:a16="http://schemas.microsoft.com/office/drawing/2014/main" id="{0B0F851B-FE2D-497A-9A7D-85AB8EFFE70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381625" y="438150"/>
            <a:ext cx="933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70" b="1">
                <a:solidFill>
                  <a:srgbClr val="B95446"/>
                </a:solidFill>
                <a:latin typeface="Arial"/>
                <a:ea typeface="Arial"/>
                <a:cs typeface="Arial"/>
              </a:defRPr>
            </a:pPr>
            <a:r>
              <a:rPr sz="870" b="1">
                <a:solidFill>
                  <a:srgbClr val="B95446"/>
                </a:solidFill>
                <a:latin typeface="Arial"/>
                <a:ea typeface="Arial"/>
                <a:cs typeface="Arial"/>
              </a:rPr>
              <a:t>Reconstruction</a:t>
            </a:r>
          </a:p>
        </p:txBody>
      </p:sp>
      <p:grpSp>
        <p:nvGrpSpPr>
          <p:cNvPr id="380" name="output-X"/>
          <p:cNvGrpSpPr/>
          <p:nvPr/>
        </p:nvGrpSpPr>
        <p:grpSpPr>
          <ns1:xfrm xmlns:ns1="http://schemas.openxmlformats.org/drawingml/2006/main">
            <ns1:off x="5799582" y="609029"/>
            <ns1:ext cx="154686" cy="304419"/>
            <ns1:chOff x="5799582" y="609029"/>
            <ns1:chExt cx="154686" cy="304419"/>
          </ns1:xfrm>
        </p:grpSpPr>
        <p:sp>
          <p:nvSpPr>
            <p:cNvPr id="83" name="output-X.0">
              <a:extLst xmlns:a="http://schemas.openxmlformats.org/drawingml/2006/main">
                <a:ext uri="{FF2B5EF4-FFF2-40B4-BE49-F238E27FC236}">
                  <a16:creationId xmlns:a16="http://schemas.microsoft.com/office/drawing/2014/main" id="{D8BCAC96-0634-4EFB-9A71-1501AD26CCB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99582" y="638175"/>
              <a:ext cx="154686" cy="27527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75" b="0" i="1">
                  <a:solidFill>
                    <a:srgbClr val="B9544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 i="1">
                  <a:solidFill>
                    <a:srgbClr val="B95446"/>
                  </a:solidFill>
                  <a:latin typeface="Times New Roman"/>
                  <a:ea typeface="Times New Roman"/>
                  <a:cs typeface="Times New Roman"/>
                </a:rPr>
                <a:t>X</a:t>
              </a:r>
            </a:p>
          </p:txBody>
        </p:sp>
        <p:sp>
          <p:nvSpPr>
            <p:cNvPr id="84" name="output-X.1">
              <a:extLst xmlns:a="http://schemas.openxmlformats.org/drawingml/2006/main">
                <a:ext uri="{FF2B5EF4-FFF2-40B4-BE49-F238E27FC236}">
                  <a16:creationId xmlns:a16="http://schemas.microsoft.com/office/drawing/2014/main" id="{BB2475B9-1274-4AF0-84C0-7905D6D8B7D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35206" y="609029"/>
              <a:ext cx="84201" cy="17892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829" b="0" i="0">
                  <a:solidFill>
                    <a:srgbClr val="B9544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29" b="0" i="0">
                  <a:solidFill>
                    <a:srgbClr val="B95446"/>
                  </a:solidFill>
                  <a:latin typeface="Times New Roman"/>
                  <a:ea typeface="Times New Roman"/>
                  <a:cs typeface="Times New Roman"/>
                </a:rPr>
                <a:t>^</a:t>
              </a:r>
            </a:p>
          </p:txBody>
        </p:sp>
      </p:grpSp>
      <p:sp>
        <p:nvSpPr>
          <p:cNvPr id="85" name="output-spikes">
            <a:extLst xmlns:a="http://schemas.openxmlformats.org/drawingml/2006/main">
              <a:ext uri="{FF2B5EF4-FFF2-40B4-BE49-F238E27FC236}">
                <a16:creationId xmlns:a16="http://schemas.microsoft.com/office/drawing/2014/main" id="{BF34BB25-2C06-491F-BA9C-2A1C712BE73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467350" y="838200"/>
            <a:ext cx="7905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AB6A5E"/>
            </a:solidFill>
            <a:prstDash val="solid"/>
          </a:ln>
        </p:spPr>
      </p:sp>
      <p:grpSp>
        <p:nvGrpSpPr>
          <p:cNvPr id="381" name="output-spikes-events"/>
          <p:cNvGrpSpPr/>
          <p:nvPr/>
        </p:nvGrpSpPr>
        <p:grpSpPr>
          <ns1:xfrm xmlns:ns1="http://schemas.openxmlformats.org/drawingml/2006/main">
            <ns1:off x="5524500" y="914400"/>
            <ns1:ext cx="676275" cy="485870"/>
            <ns1:chOff x="5524500" y="914400"/>
            <ns1:chExt cx="676275" cy="485870"/>
          </ns1:xfrm>
        </p:grpSpPr>
        <p:sp>
          <p:nvSpPr>
            <p:cNvPr id="86" name="output-spikes-baseline-0">
              <a:extLst xmlns:a="http://schemas.openxmlformats.org/drawingml/2006/main">
                <a:ext uri="{FF2B5EF4-FFF2-40B4-BE49-F238E27FC236}">
                  <a16:creationId xmlns:a16="http://schemas.microsoft.com/office/drawing/2014/main" id="{BB58A38D-07D4-445D-99AE-976400A9681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524500" y="981075"/>
              <a:ext cx="676275" cy="95"/>
            </a:xfrm>
            <a:custGeom xmlns:a="http://schemas.openxmlformats.org/drawingml/2006/main">
              <a:pathLst>
                <a:path w="676275" h="95">
                  <a:moveTo>
                    <a:pt x="0" y="0"/>
                  </a:moveTo>
                  <a:lnTo>
                    <a:pt x="67627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4286">
              <a:solidFill>
                <a:srgbClr val="D3D8DA"/>
              </a:solidFill>
              <a:prstDash val="solid"/>
            </a:ln>
          </p:spPr>
        </p:sp>
        <p:sp>
          <p:nvSpPr>
            <p:cNvPr id="87" name="output-spikes-spike-0-0">
              <a:extLst xmlns:a="http://schemas.openxmlformats.org/drawingml/2006/main">
                <a:ext uri="{FF2B5EF4-FFF2-40B4-BE49-F238E27FC236}">
                  <a16:creationId xmlns:a16="http://schemas.microsoft.com/office/drawing/2014/main" id="{25167C34-942E-4721-A500-4A0AFBBDC1F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09034" y="91440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B95446"/>
              </a:solidFill>
              <a:prstDash val="solid"/>
            </a:ln>
          </p:spPr>
        </p:sp>
        <p:sp>
          <p:nvSpPr>
            <p:cNvPr id="88" name="output-spikes-spike-0-1">
              <a:extLst xmlns:a="http://schemas.openxmlformats.org/drawingml/2006/main">
                <a:ext uri="{FF2B5EF4-FFF2-40B4-BE49-F238E27FC236}">
                  <a16:creationId xmlns:a16="http://schemas.microsoft.com/office/drawing/2014/main" id="{12C58A92-1504-4AFB-938E-718B6C508F6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65391" y="91440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B95446"/>
              </a:solidFill>
              <a:prstDash val="solid"/>
            </a:ln>
          </p:spPr>
        </p:sp>
        <p:sp>
          <p:nvSpPr>
            <p:cNvPr id="89" name="output-spikes-spike-0-2">
              <a:extLst xmlns:a="http://schemas.openxmlformats.org/drawingml/2006/main">
                <a:ext uri="{FF2B5EF4-FFF2-40B4-BE49-F238E27FC236}">
                  <a16:creationId xmlns:a16="http://schemas.microsoft.com/office/drawing/2014/main" id="{0C62CBF7-0C78-4866-A8F4-E8ABAE77B53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78103" y="91440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B95446"/>
              </a:solidFill>
              <a:prstDash val="solid"/>
            </a:ln>
          </p:spPr>
        </p:sp>
        <p:sp>
          <p:nvSpPr>
            <p:cNvPr id="90" name="output-spikes-spike-0-3">
              <a:extLst xmlns:a="http://schemas.openxmlformats.org/drawingml/2006/main">
                <a:ext uri="{FF2B5EF4-FFF2-40B4-BE49-F238E27FC236}">
                  <a16:creationId xmlns:a16="http://schemas.microsoft.com/office/drawing/2014/main" id="{2B956A5F-0ED4-4558-9372-68C14FFB4D0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18994" y="91440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B95446"/>
              </a:solidFill>
              <a:prstDash val="solid"/>
            </a:ln>
          </p:spPr>
        </p:sp>
        <p:sp>
          <p:nvSpPr>
            <p:cNvPr id="91" name="output-spikes-spike-0-4">
              <a:extLst xmlns:a="http://schemas.openxmlformats.org/drawingml/2006/main">
                <a:ext uri="{FF2B5EF4-FFF2-40B4-BE49-F238E27FC236}">
                  <a16:creationId xmlns:a16="http://schemas.microsoft.com/office/drawing/2014/main" id="{5E7546B0-F494-4D1A-B0D1-C7ABF7A7C58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59884" y="91440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B95446"/>
              </a:solidFill>
              <a:prstDash val="solid"/>
            </a:ln>
          </p:spPr>
        </p:sp>
        <p:sp>
          <p:nvSpPr>
            <p:cNvPr id="92" name="output-spikes-baseline-1">
              <a:extLst xmlns:a="http://schemas.openxmlformats.org/drawingml/2006/main">
                <a:ext uri="{FF2B5EF4-FFF2-40B4-BE49-F238E27FC236}">
                  <a16:creationId xmlns:a16="http://schemas.microsoft.com/office/drawing/2014/main" id="{40BB2AF7-AB57-47B8-AE70-384601E2616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524500" y="1120775"/>
              <a:ext cx="676275" cy="95"/>
            </a:xfrm>
            <a:custGeom xmlns:a="http://schemas.openxmlformats.org/drawingml/2006/main">
              <a:pathLst>
                <a:path w="676275" h="95">
                  <a:moveTo>
                    <a:pt x="0" y="0"/>
                  </a:moveTo>
                  <a:lnTo>
                    <a:pt x="67627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4286">
              <a:solidFill>
                <a:srgbClr val="D3D8DA"/>
              </a:solidFill>
              <a:prstDash val="solid"/>
            </a:ln>
          </p:spPr>
        </p:sp>
        <p:sp>
          <p:nvSpPr>
            <p:cNvPr id="93" name="output-spikes-spike-1-0">
              <a:extLst xmlns:a="http://schemas.openxmlformats.org/drawingml/2006/main">
                <a:ext uri="{FF2B5EF4-FFF2-40B4-BE49-F238E27FC236}">
                  <a16:creationId xmlns:a16="http://schemas.microsoft.com/office/drawing/2014/main" id="{E23A8BCE-90AF-4039-ACDC-A77838C7F94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580856" y="105410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B95446"/>
              </a:solidFill>
              <a:prstDash val="solid"/>
            </a:ln>
          </p:spPr>
        </p:sp>
        <p:sp>
          <p:nvSpPr>
            <p:cNvPr id="94" name="output-spikes-spike-1-1">
              <a:extLst xmlns:a="http://schemas.openxmlformats.org/drawingml/2006/main">
                <a:ext uri="{FF2B5EF4-FFF2-40B4-BE49-F238E27FC236}">
                  <a16:creationId xmlns:a16="http://schemas.microsoft.com/office/drawing/2014/main" id="{C11B47B5-0BCF-4901-BC06-1BF8E308CC1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21747" y="105410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B95446"/>
              </a:solidFill>
              <a:prstDash val="solid"/>
            </a:ln>
          </p:spPr>
        </p:sp>
        <p:sp>
          <p:nvSpPr>
            <p:cNvPr id="95" name="output-spikes-spike-1-2">
              <a:extLst xmlns:a="http://schemas.openxmlformats.org/drawingml/2006/main">
                <a:ext uri="{FF2B5EF4-FFF2-40B4-BE49-F238E27FC236}">
                  <a16:creationId xmlns:a16="http://schemas.microsoft.com/office/drawing/2014/main" id="{5F3A386A-4B81-4803-B90E-1D0E745EF67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78103" y="105410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B95446"/>
              </a:solidFill>
              <a:prstDash val="solid"/>
            </a:ln>
          </p:spPr>
        </p:sp>
        <p:sp>
          <p:nvSpPr>
            <p:cNvPr id="96" name="output-spikes-spike-1-3">
              <a:extLst xmlns:a="http://schemas.openxmlformats.org/drawingml/2006/main">
                <a:ext uri="{FF2B5EF4-FFF2-40B4-BE49-F238E27FC236}">
                  <a16:creationId xmlns:a16="http://schemas.microsoft.com/office/drawing/2014/main" id="{0B4807E0-D80F-489C-8ABF-E814315C660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47172" y="105410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B95446"/>
              </a:solidFill>
              <a:prstDash val="solid"/>
            </a:ln>
          </p:spPr>
        </p:sp>
        <p:sp>
          <p:nvSpPr>
            <p:cNvPr id="97" name="output-spikes-spike-1-4">
              <a:extLst xmlns:a="http://schemas.openxmlformats.org/drawingml/2006/main">
                <a:ext uri="{FF2B5EF4-FFF2-40B4-BE49-F238E27FC236}">
                  <a16:creationId xmlns:a16="http://schemas.microsoft.com/office/drawing/2014/main" id="{19E38507-94EC-4842-9E8C-0EDFDE7B99B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116241" y="105410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B95446"/>
              </a:solidFill>
              <a:prstDash val="solid"/>
            </a:ln>
          </p:spPr>
        </p:sp>
        <p:sp>
          <p:nvSpPr>
            <p:cNvPr id="98" name="output-spikes-baseline-2">
              <a:extLst xmlns:a="http://schemas.openxmlformats.org/drawingml/2006/main">
                <a:ext uri="{FF2B5EF4-FFF2-40B4-BE49-F238E27FC236}">
                  <a16:creationId xmlns:a16="http://schemas.microsoft.com/office/drawing/2014/main" id="{03DCDFCF-53A3-4402-868A-F0DC03F012F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524500" y="1260475"/>
              <a:ext cx="676275" cy="95"/>
            </a:xfrm>
            <a:custGeom xmlns:a="http://schemas.openxmlformats.org/drawingml/2006/main">
              <a:pathLst>
                <a:path w="676275" h="95">
                  <a:moveTo>
                    <a:pt x="0" y="0"/>
                  </a:moveTo>
                  <a:lnTo>
                    <a:pt x="67627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4286">
              <a:solidFill>
                <a:srgbClr val="D3D8DA"/>
              </a:solidFill>
              <a:prstDash val="solid"/>
            </a:ln>
          </p:spPr>
        </p:sp>
        <p:sp>
          <p:nvSpPr>
            <p:cNvPr id="99" name="output-spikes-spike-2-0">
              <a:extLst xmlns:a="http://schemas.openxmlformats.org/drawingml/2006/main">
                <a:ext uri="{FF2B5EF4-FFF2-40B4-BE49-F238E27FC236}">
                  <a16:creationId xmlns:a16="http://schemas.microsoft.com/office/drawing/2014/main" id="{41F70897-2EF2-41A3-BBB9-365C3C29502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65391" y="119380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B95446"/>
              </a:solidFill>
              <a:prstDash val="solid"/>
            </a:ln>
          </p:spPr>
        </p:sp>
        <p:sp>
          <p:nvSpPr>
            <p:cNvPr id="100" name="output-spikes-spike-2-1">
              <a:extLst xmlns:a="http://schemas.openxmlformats.org/drawingml/2006/main">
                <a:ext uri="{FF2B5EF4-FFF2-40B4-BE49-F238E27FC236}">
                  <a16:creationId xmlns:a16="http://schemas.microsoft.com/office/drawing/2014/main" id="{77CF45AF-D726-488A-9283-476A9073276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06281" y="119380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B95446"/>
              </a:solidFill>
              <a:prstDash val="solid"/>
            </a:ln>
          </p:spPr>
        </p:sp>
        <p:sp>
          <p:nvSpPr>
            <p:cNvPr id="101" name="output-spikes-spike-2-2">
              <a:extLst xmlns:a="http://schemas.openxmlformats.org/drawingml/2006/main">
                <a:ext uri="{FF2B5EF4-FFF2-40B4-BE49-F238E27FC236}">
                  <a16:creationId xmlns:a16="http://schemas.microsoft.com/office/drawing/2014/main" id="{88643F58-F8A7-4B54-B759-AAC0D63310A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90816" y="119380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B95446"/>
              </a:solidFill>
              <a:prstDash val="solid"/>
            </a:ln>
          </p:spPr>
        </p:sp>
        <p:sp>
          <p:nvSpPr>
            <p:cNvPr id="102" name="output-spikes-spike-2-3">
              <a:extLst xmlns:a="http://schemas.openxmlformats.org/drawingml/2006/main">
                <a:ext uri="{FF2B5EF4-FFF2-40B4-BE49-F238E27FC236}">
                  <a16:creationId xmlns:a16="http://schemas.microsoft.com/office/drawing/2014/main" id="{930D71C0-C8F9-45C5-A9DE-E3F9226DB57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59884" y="119380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B95446"/>
              </a:solidFill>
              <a:prstDash val="solid"/>
            </a:ln>
          </p:spPr>
        </p:sp>
        <p:sp>
          <p:nvSpPr>
            <p:cNvPr id="103" name="output-spikes-spike-2-4">
              <a:extLst xmlns:a="http://schemas.openxmlformats.org/drawingml/2006/main">
                <a:ext uri="{FF2B5EF4-FFF2-40B4-BE49-F238E27FC236}">
                  <a16:creationId xmlns:a16="http://schemas.microsoft.com/office/drawing/2014/main" id="{193494A7-DCB4-49CB-98BB-C84788AB4EE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144419" y="119380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B95446"/>
              </a:solidFill>
              <a:prstDash val="solid"/>
            </a:ln>
          </p:spPr>
        </p:sp>
        <p:sp>
          <p:nvSpPr>
            <p:cNvPr id="104" name="output-spikes-baseline-3">
              <a:extLst xmlns:a="http://schemas.openxmlformats.org/drawingml/2006/main">
                <a:ext uri="{FF2B5EF4-FFF2-40B4-BE49-F238E27FC236}">
                  <a16:creationId xmlns:a16="http://schemas.microsoft.com/office/drawing/2014/main" id="{481CDC0B-AE60-4EC1-8A54-BE602B4026C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524500" y="1400175"/>
              <a:ext cx="676275" cy="95"/>
            </a:xfrm>
            <a:custGeom xmlns:a="http://schemas.openxmlformats.org/drawingml/2006/main">
              <a:pathLst>
                <a:path w="676275" h="95">
                  <a:moveTo>
                    <a:pt x="0" y="0"/>
                  </a:moveTo>
                  <a:lnTo>
                    <a:pt x="676275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4286">
              <a:solidFill>
                <a:srgbClr val="D3D8DA"/>
              </a:solidFill>
              <a:prstDash val="solid"/>
            </a:ln>
          </p:spPr>
        </p:sp>
        <p:sp>
          <p:nvSpPr>
            <p:cNvPr id="105" name="output-spikes-spike-3-0">
              <a:extLst xmlns:a="http://schemas.openxmlformats.org/drawingml/2006/main">
                <a:ext uri="{FF2B5EF4-FFF2-40B4-BE49-F238E27FC236}">
                  <a16:creationId xmlns:a16="http://schemas.microsoft.com/office/drawing/2014/main" id="{295DEBB9-CD80-4598-976B-84F982B91FD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37213" y="133350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B95446"/>
              </a:solidFill>
              <a:prstDash val="solid"/>
            </a:ln>
          </p:spPr>
        </p:sp>
        <p:sp>
          <p:nvSpPr>
            <p:cNvPr id="106" name="output-spikes-spike-3-1">
              <a:extLst xmlns:a="http://schemas.openxmlformats.org/drawingml/2006/main">
                <a:ext uri="{FF2B5EF4-FFF2-40B4-BE49-F238E27FC236}">
                  <a16:creationId xmlns:a16="http://schemas.microsoft.com/office/drawing/2014/main" id="{FE4F74ED-B700-436E-9E5E-8CB23B82211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21747" y="133350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B95446"/>
              </a:solidFill>
              <a:prstDash val="solid"/>
            </a:ln>
          </p:spPr>
        </p:sp>
        <p:sp>
          <p:nvSpPr>
            <p:cNvPr id="107" name="output-spikes-spike-3-2">
              <a:extLst xmlns:a="http://schemas.openxmlformats.org/drawingml/2006/main">
                <a:ext uri="{FF2B5EF4-FFF2-40B4-BE49-F238E27FC236}">
                  <a16:creationId xmlns:a16="http://schemas.microsoft.com/office/drawing/2014/main" id="{EBFDA47E-954D-4AAF-8273-13A804ED4CF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62638" y="133350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B95446"/>
              </a:solidFill>
              <a:prstDash val="solid"/>
            </a:ln>
          </p:spPr>
        </p:sp>
        <p:sp>
          <p:nvSpPr>
            <p:cNvPr id="108" name="output-spikes-spike-3-3">
              <a:extLst xmlns:a="http://schemas.openxmlformats.org/drawingml/2006/main">
                <a:ext uri="{FF2B5EF4-FFF2-40B4-BE49-F238E27FC236}">
                  <a16:creationId xmlns:a16="http://schemas.microsoft.com/office/drawing/2014/main" id="{878DED96-E858-4F07-B141-11E04CA2CDC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31706" y="133350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B95446"/>
              </a:solidFill>
              <a:prstDash val="solid"/>
            </a:ln>
          </p:spPr>
        </p:sp>
        <p:sp>
          <p:nvSpPr>
            <p:cNvPr id="109" name="output-spikes-spike-3-4">
              <a:extLst xmlns:a="http://schemas.openxmlformats.org/drawingml/2006/main">
                <a:ext uri="{FF2B5EF4-FFF2-40B4-BE49-F238E27FC236}">
                  <a16:creationId xmlns:a16="http://schemas.microsoft.com/office/drawing/2014/main" id="{3B4E7D70-82BA-4899-B3E6-7AE7DA6BC99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172597" y="1333500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B95446"/>
              </a:solidFill>
              <a:prstDash val="solid"/>
            </a:ln>
          </p:spPr>
        </p:sp>
      </p:grpSp>
      <p:sp>
        <p:nvSpPr>
          <p:cNvPr id="110" name="output-dimension">
            <a:extLst xmlns:a="http://schemas.openxmlformats.org/drawingml/2006/main">
              <a:ext uri="{FF2B5EF4-FFF2-40B4-BE49-F238E27FC236}">
                <a16:creationId xmlns:a16="http://schemas.microsoft.com/office/drawing/2014/main" id="{866F6573-C043-4F6E-9F65-C6B4F41A528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419725" y="1514475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B9544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B95446"/>
                </a:solidFill>
                <a:latin typeface="Arial"/>
                <a:ea typeface="Arial"/>
                <a:cs typeface="Arial"/>
              </a:rPr>
              <a:t>1024 channels</a:t>
            </a:r>
          </a:p>
        </p:txBody>
      </p:sp>
      <p:cxnSp>
        <p:nvCxnSpPr>
          <p:cNvPr id="318" name="main-0"/>
          <p:cNvCxnSpPr>
            <a:stCxn xmlns:a="http://schemas.openxmlformats.org/drawingml/2006/main" id="6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1419225" y="1152525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22384" cap="rnd">
            <a:solidFill>
              <a:srgbClr val="394248"/>
            </a:solidFill>
            <a:prstDash val="solid"/>
            <a:round/>
            <a:tailEnd type="triangle" w="med" len="med"/>
          </a:ln>
        </p:spPr>
      </p:cxnSp>
      <p:cxnSp>
        <p:nvCxnSpPr>
          <p:cNvPr id="319" name="main-1"/>
          <p:cNvCxnSpPr>
            <a:stCxn xmlns:a="http://schemas.openxmlformats.org/drawingml/2006/main" id="32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2009775" y="1152525"/>
            <a:ext cx="119063" cy="0"/>
          </a:xfrm>
          <a:prstGeom xmlns:a="http://schemas.openxmlformats.org/drawingml/2006/main" prst="straightConnector1">
            <a:avLst/>
          </a:prstGeom>
          <a:ln xmlns:a="http://schemas.openxmlformats.org/drawingml/2006/main" w="22384" cap="rnd">
            <a:solidFill>
              <a:srgbClr val="394248"/>
            </a:solidFill>
            <a:prstDash val="solid"/>
            <a:round/>
            <a:tailEnd type="triangle" w="med" len="med"/>
          </a:ln>
        </p:spPr>
      </p:cxnSp>
      <p:cxnSp>
        <p:nvCxnSpPr>
          <p:cNvPr id="320" name="main-2"/>
          <p:cNvCxnSpPr>
            <a:stCxn xmlns:a="http://schemas.openxmlformats.org/drawingml/2006/main" id="51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3328988" y="1152525"/>
            <a:ext cx="157162" cy="0"/>
          </a:xfrm>
          <a:prstGeom xmlns:a="http://schemas.openxmlformats.org/drawingml/2006/main" prst="straightConnector1">
            <a:avLst/>
          </a:prstGeom>
          <a:ln xmlns:a="http://schemas.openxmlformats.org/drawingml/2006/main" w="22384" cap="rnd">
            <a:solidFill>
              <a:srgbClr val="394248"/>
            </a:solidFill>
            <a:prstDash val="solid"/>
            <a:round/>
            <a:tailEnd type="triangle" w="med" len="med"/>
          </a:ln>
        </p:spPr>
      </p:cxnSp>
      <p:cxnSp>
        <p:nvCxnSpPr>
          <p:cNvPr id="321" name="main-3"/>
          <p:cNvCxnSpPr>
            <a:stCxn xmlns:a="http://schemas.openxmlformats.org/drawingml/2006/main" id="68" idx="3"/>
            <a:endCxn xmlns:a="http://schemas.openxmlformats.org/drawingml/2006/main" id="64" idx="1"/>
          </p:cNvCxnSpPr>
          <p:nvPr/>
        </p:nvCxnSpPr>
        <p:spPr>
          <a:xfrm xmlns:a="http://schemas.openxmlformats.org/drawingml/2006/main">
            <a:off x="3905250" y="1152525"/>
            <a:ext cx="166688" cy="0"/>
          </a:xfrm>
          <a:prstGeom xmlns:a="http://schemas.openxmlformats.org/drawingml/2006/main" prst="straightConnector1">
            <a:avLst/>
          </a:prstGeom>
          <a:ln xmlns:a="http://schemas.openxmlformats.org/drawingml/2006/main" w="22384" cap="rnd">
            <a:solidFill>
              <a:srgbClr val="394248"/>
            </a:solidFill>
            <a:prstDash val="solid"/>
            <a:round/>
            <a:tailEnd type="triangle" w="med" len="med"/>
          </a:ln>
        </p:spPr>
      </p:cxnSp>
      <p:cxnSp>
        <p:nvCxnSpPr>
          <p:cNvPr id="322" name="main-4"/>
          <p:cNvCxnSpPr>
            <a:stCxn xmlns:a="http://schemas.openxmlformats.org/drawingml/2006/main" id="65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5281613" y="1152525"/>
            <a:ext cx="185737" cy="0"/>
          </a:xfrm>
          <a:prstGeom xmlns:a="http://schemas.openxmlformats.org/drawingml/2006/main" prst="straightConnector1">
            <a:avLst/>
          </a:prstGeom>
          <a:ln xmlns:a="http://schemas.openxmlformats.org/drawingml/2006/main" w="22384" cap="rnd">
            <a:solidFill>
              <a:srgbClr val="394248"/>
            </a:solidFill>
            <a:prstDash val="solid"/>
            <a:round/>
            <a:tailEnd type="triangle" w="med" len="med"/>
          </a:ln>
        </p:spPr>
      </p:cxnSp>
      <p:sp>
        <p:nvSpPr>
          <p:cNvPr id="116" name="encoder-sequence">
            <a:extLst xmlns:a="http://schemas.openxmlformats.org/drawingml/2006/main">
              <a:ext uri="{FF2B5EF4-FFF2-40B4-BE49-F238E27FC236}">
                <a16:creationId xmlns:a16="http://schemas.microsoft.com/office/drawing/2014/main" id="{64C7CEF4-8F51-46F5-844B-AC391966E3B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2400" y="1781175"/>
            <a:ext cx="3086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6292B"/>
                </a:solidFill>
                <a:latin typeface="Arial"/>
                <a:ea typeface="Arial"/>
                <a:cs typeface="Arial"/>
              </a:defRPr>
            </a:pPr>
            <a:r>
              <a:rPr sz="773" b="0">
                <a:solidFill>
                  <a:srgbClr val="26292B"/>
                </a:solidFill>
                <a:latin typeface="Arial"/>
                <a:ea typeface="Arial"/>
                <a:cs typeface="Arial"/>
              </a:rPr>
              <a:t>Encoder: 1024 → 1024 → 768 → 512 → 256 → 128 → 32</a:t>
            </a:r>
          </a:p>
        </p:txBody>
      </p:sp>
      <p:sp>
        <p:nvSpPr>
          <p:cNvPr id="117" name="decoder-sequence">
            <a:extLst xmlns:a="http://schemas.openxmlformats.org/drawingml/2006/main">
              <a:ext uri="{FF2B5EF4-FFF2-40B4-BE49-F238E27FC236}">
                <a16:creationId xmlns:a16="http://schemas.microsoft.com/office/drawing/2014/main" id="{6A4035BE-3DC0-4EA7-88D8-33F85306549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257550" y="1781175"/>
            <a:ext cx="2990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26292B"/>
                </a:solidFill>
                <a:latin typeface="Arial"/>
                <a:ea typeface="Arial"/>
                <a:cs typeface="Arial"/>
              </a:defRPr>
            </a:pPr>
            <a:r>
              <a:rPr sz="773" b="0">
                <a:solidFill>
                  <a:srgbClr val="26292B"/>
                </a:solidFill>
                <a:latin typeface="Arial"/>
                <a:ea typeface="Arial"/>
                <a:cs typeface="Arial"/>
              </a:rPr>
              <a:t>Decoder: 32 → 128 → 256 → 512 → 768 → 1024 → 1024</a:t>
            </a:r>
          </a:p>
        </p:txBody>
      </p:sp>
      <p:sp>
        <p:nvSpPr>
          <p:cNvPr id="118" name="time-preserved">
            <a:extLst xmlns:a="http://schemas.openxmlformats.org/drawingml/2006/main">
              <a:ext uri="{FF2B5EF4-FFF2-40B4-BE49-F238E27FC236}">
                <a16:creationId xmlns:a16="http://schemas.microsoft.com/office/drawing/2014/main" id="{023F8053-FEEF-45FC-8B71-EBC39876988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2400" y="1971675"/>
            <a:ext cx="6096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52585B"/>
                </a:solidFill>
                <a:latin typeface="Arial"/>
                <a:ea typeface="Arial"/>
                <a:cs typeface="Arial"/>
              </a:defRPr>
            </a:pPr>
            <a:r>
              <a:rPr sz="773" b="0">
                <a:solidFill>
                  <a:srgbClr val="52585B"/>
                </a:solidFill>
                <a:latin typeface="Arial"/>
                <a:ea typeface="Arial"/>
                <a:cs typeface="Arial"/>
              </a:rPr>
              <a:t>Time runs left to right and is preserved through the shared stages.</a:t>
            </a:r>
          </a:p>
        </p:txBody>
      </p:sp>
      <p:sp>
        <p:nvSpPr>
          <p:cNvPr id="119" name="panel-separator">
            <a:extLst xmlns:a="http://schemas.openxmlformats.org/drawingml/2006/main">
              <a:ext uri="{FF2B5EF4-FFF2-40B4-BE49-F238E27FC236}">
                <a16:creationId xmlns:a16="http://schemas.microsoft.com/office/drawing/2014/main" id="{A184628E-1BB2-48FD-A068-7448955CC4B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2400" y="2181225"/>
            <a:ext cx="6096000" cy="95"/>
          </a:xfrm>
          <a:custGeom xmlns:a="http://schemas.openxmlformats.org/drawingml/2006/main">
            <a:pathLst>
              <a:path w="6096000" h="95">
                <a:moveTo>
                  <a:pt x="0" y="0"/>
                </a:moveTo>
                <a:lnTo>
                  <a:pt x="609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7BEC1"/>
            </a:solidFill>
            <a:prstDash val="solid"/>
          </a:ln>
        </p:spPr>
      </p:sp>
      <p:sp>
        <p:nvSpPr>
          <p:cNvPr id="120" name="panel-b">
            <a:extLst xmlns:a="http://schemas.openxmlformats.org/drawingml/2006/main">
              <a:ext uri="{FF2B5EF4-FFF2-40B4-BE49-F238E27FC236}">
                <a16:creationId xmlns:a16="http://schemas.microsoft.com/office/drawing/2014/main" id="{A8BF6240-3B3F-491F-8AC7-7217A65F5CD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2400" y="2238375"/>
            <a:ext cx="6096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6292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6292B"/>
                </a:solidFill>
                <a:latin typeface="Arial"/>
                <a:ea typeface="Arial"/>
                <a:cs typeface="Arial"/>
              </a:rPr>
              <a:t>(b)  Delay-tolerant training</a:t>
            </a:r>
          </a:p>
        </p:txBody>
      </p:sp>
      <p:sp>
        <p:nvSpPr>
          <p:cNvPr id="121" name="target-caption">
            <a:extLst xmlns:a="http://schemas.openxmlformats.org/drawingml/2006/main">
              <a:ext uri="{FF2B5EF4-FFF2-40B4-BE49-F238E27FC236}">
                <a16:creationId xmlns:a16="http://schemas.microsoft.com/office/drawing/2014/main" id="{46CB8933-075F-40B1-9C15-8341EE76BA5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8600" y="2552700"/>
            <a:ext cx="895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67F7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67F7C"/>
                </a:solidFill>
                <a:latin typeface="Arial"/>
                <a:ea typeface="Arial"/>
                <a:cs typeface="Arial"/>
              </a:rPr>
              <a:t>Original target</a:t>
            </a:r>
          </a:p>
        </p:txBody>
      </p:sp>
      <p:sp>
        <p:nvSpPr>
          <p:cNvPr id="122" name="target-X.0">
            <a:extLst xmlns:a="http://schemas.openxmlformats.org/drawingml/2006/main">
              <a:ext uri="{FF2B5EF4-FFF2-40B4-BE49-F238E27FC236}">
                <a16:creationId xmlns:a16="http://schemas.microsoft.com/office/drawing/2014/main" id="{47318F60-8FF3-44C2-A8E3-DDD9E930908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141857" y="2533650"/>
            <a:ext cx="154686" cy="275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267F7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267F7C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123" name="target-spikes">
            <a:extLst xmlns:a="http://schemas.openxmlformats.org/drawingml/2006/main">
              <a:ext uri="{FF2B5EF4-FFF2-40B4-BE49-F238E27FC236}">
                <a16:creationId xmlns:a16="http://schemas.microsoft.com/office/drawing/2014/main" id="{CABF3B11-3138-4AC6-A501-4E5C63CFAA9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8600" y="2824163"/>
            <a:ext cx="8953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4C817E"/>
            </a:solidFill>
            <a:prstDash val="solid"/>
          </a:ln>
        </p:spPr>
      </p:sp>
      <p:grpSp>
        <p:nvGrpSpPr>
          <p:cNvPr id="382" name="target-spikes-events"/>
          <p:cNvGrpSpPr/>
          <p:nvPr/>
        </p:nvGrpSpPr>
        <p:grpSpPr>
          <ns1:xfrm xmlns:ns1="http://schemas.openxmlformats.org/drawingml/2006/main">
            <ns1:off x="285750" y="2900363"/>
            <ns1:ext cx="781050" cy="66770"/>
            <ns1:chOff x="285750" y="2900363"/>
            <ns1:chExt cx="781050" cy="66770"/>
          </ns1:xfrm>
        </p:grpSpPr>
        <p:sp>
          <p:nvSpPr>
            <p:cNvPr id="124" name="target-spikes-baseline-0">
              <a:extLst xmlns:a="http://schemas.openxmlformats.org/drawingml/2006/main">
                <a:ext uri="{FF2B5EF4-FFF2-40B4-BE49-F238E27FC236}">
                  <a16:creationId xmlns:a16="http://schemas.microsoft.com/office/drawing/2014/main" id="{F8454FF2-28D8-4F03-9204-98B5381EE90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5750" y="2967038"/>
              <a:ext cx="781050" cy="95"/>
            </a:xfrm>
            <a:custGeom xmlns:a="http://schemas.openxmlformats.org/drawingml/2006/main">
              <a:pathLst>
                <a:path w="781050" h="95">
                  <a:moveTo>
                    <a:pt x="0" y="0"/>
                  </a:moveTo>
                  <a:lnTo>
                    <a:pt x="78105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4286">
              <a:solidFill>
                <a:srgbClr val="D3D8DA"/>
              </a:solidFill>
              <a:prstDash val="solid"/>
            </a:ln>
          </p:spPr>
        </p:sp>
        <p:sp>
          <p:nvSpPr>
            <p:cNvPr id="125" name="target-spikes-spike-0-0">
              <a:extLst xmlns:a="http://schemas.openxmlformats.org/drawingml/2006/main">
                <a:ext uri="{FF2B5EF4-FFF2-40B4-BE49-F238E27FC236}">
                  <a16:creationId xmlns:a16="http://schemas.microsoft.com/office/drawing/2014/main" id="{F95BE2E7-0108-4878-9A48-693ACB5ED52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0838" y="2900363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267F7C"/>
              </a:solidFill>
              <a:prstDash val="solid"/>
            </a:ln>
          </p:spPr>
        </p:sp>
        <p:sp>
          <p:nvSpPr>
            <p:cNvPr id="126" name="target-spikes-spike-0-1">
              <a:extLst xmlns:a="http://schemas.openxmlformats.org/drawingml/2006/main">
                <a:ext uri="{FF2B5EF4-FFF2-40B4-BE49-F238E27FC236}">
                  <a16:creationId xmlns:a16="http://schemas.microsoft.com/office/drawing/2014/main" id="{57ED16EF-2D43-4574-92D9-5FF1DC1549D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3381" y="2900363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267F7C"/>
              </a:solidFill>
              <a:prstDash val="solid"/>
            </a:ln>
          </p:spPr>
        </p:sp>
        <p:sp>
          <p:nvSpPr>
            <p:cNvPr id="127" name="target-spikes-spike-0-2">
              <a:extLst xmlns:a="http://schemas.openxmlformats.org/drawingml/2006/main">
                <a:ext uri="{FF2B5EF4-FFF2-40B4-BE49-F238E27FC236}">
                  <a16:creationId xmlns:a16="http://schemas.microsoft.com/office/drawing/2014/main" id="{124319A7-109B-4ACD-BE6D-09F26DC1650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46100" y="2900363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267F7C"/>
              </a:solidFill>
              <a:prstDash val="solid"/>
            </a:ln>
          </p:spPr>
        </p:sp>
        <p:sp>
          <p:nvSpPr>
            <p:cNvPr id="128" name="target-spikes-spike-0-3">
              <a:extLst xmlns:a="http://schemas.openxmlformats.org/drawingml/2006/main">
                <a:ext uri="{FF2B5EF4-FFF2-40B4-BE49-F238E27FC236}">
                  <a16:creationId xmlns:a16="http://schemas.microsoft.com/office/drawing/2014/main" id="{03E7CA88-3AB0-4216-8EAA-5BFFAAF28EE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8819" y="2900363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267F7C"/>
              </a:solidFill>
              <a:prstDash val="solid"/>
            </a:ln>
          </p:spPr>
        </p:sp>
        <p:sp>
          <p:nvSpPr>
            <p:cNvPr id="129" name="target-spikes-spike-0-4">
              <a:extLst xmlns:a="http://schemas.openxmlformats.org/drawingml/2006/main">
                <a:ext uri="{FF2B5EF4-FFF2-40B4-BE49-F238E27FC236}">
                  <a16:creationId xmlns:a16="http://schemas.microsoft.com/office/drawing/2014/main" id="{AAABB4ED-423C-49F4-B73B-A7744F0AC4A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71538" y="2900363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267F7C"/>
              </a:solidFill>
              <a:prstDash val="solid"/>
            </a:ln>
          </p:spPr>
        </p:sp>
      </p:grpSp>
      <p:sp>
        <p:nvSpPr>
          <p:cNvPr id="130" name="target-definition">
            <a:extLst xmlns:a="http://schemas.openxmlformats.org/drawingml/2006/main">
              <a:ext uri="{FF2B5EF4-FFF2-40B4-BE49-F238E27FC236}">
                <a16:creationId xmlns:a16="http://schemas.microsoft.com/office/drawing/2014/main" id="{9532DD92-47CC-4896-A9FC-D701580B7C6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8600" y="3238500"/>
            <a:ext cx="10001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52585B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52585B"/>
                </a:solidFill>
                <a:latin typeface="Arial"/>
                <a:ea typeface="Arial"/>
                <a:cs typeface="Arial"/>
              </a:rPr>
              <a:t>Before adaptation</a:t>
            </a:r>
          </a:p>
        </p:txBody>
      </p:sp>
      <p:sp>
        <p:nvSpPr>
          <p:cNvPr id="131" name="causal-delay">
            <a:extLst xmlns:a="http://schemas.openxmlformats.org/drawingml/2006/main">
              <a:ext uri="{FF2B5EF4-FFF2-40B4-BE49-F238E27FC236}">
                <a16:creationId xmlns:a16="http://schemas.microsoft.com/office/drawing/2014/main" id="{9B475AD9-C0D8-4608-B432-16A30402622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38275" y="2714625"/>
            <a:ext cx="1152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1F2"/>
          </a:solidFill>
          <a:ln xmlns:a="http://schemas.openxmlformats.org/drawingml/2006/main" w="9525">
            <a:solidFill>
              <a:srgbClr val="747B7F"/>
            </a:solidFill>
            <a:prstDash val="solid"/>
          </a:ln>
        </p:spPr>
      </p:sp>
      <p:sp>
        <p:nvSpPr>
          <p:cNvPr id="132" name="delay-heading">
            <a:extLst xmlns:a="http://schemas.openxmlformats.org/drawingml/2006/main">
              <a:ext uri="{FF2B5EF4-FFF2-40B4-BE49-F238E27FC236}">
                <a16:creationId xmlns:a16="http://schemas.microsoft.com/office/drawing/2014/main" id="{42EDF96C-5924-488C-9793-9259809BDFC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95425" y="2762250"/>
            <a:ext cx="1038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6292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6292B"/>
                </a:solidFill>
                <a:latin typeface="Arial"/>
                <a:ea typeface="Arial"/>
                <a:cs typeface="Arial"/>
              </a:rPr>
              <a:t>Learned causal delay</a:t>
            </a:r>
          </a:p>
        </p:txBody>
      </p:sp>
      <p:grpSp>
        <p:nvGrpSpPr>
          <p:cNvPr id="383" name="delay-probability"/>
          <p:cNvGrpSpPr/>
          <p:nvPr/>
        </p:nvGrpSpPr>
        <p:grpSpPr>
          <ns1:xfrm xmlns:ns1="http://schemas.openxmlformats.org/drawingml/2006/main">
            <ns1:off x="1848174" y="2933700"/>
            <ns1:ext cx="397688" cy="275273"/>
            <ns1:chOff x="1848174" y="2933700"/>
            <ns1:chExt cx="397688" cy="275273"/>
          </ns1:xfrm>
        </p:grpSpPr>
        <p:sp>
          <p:nvSpPr>
            <p:cNvPr id="133" name="delay-probability.0">
              <a:extLst xmlns:a="http://schemas.openxmlformats.org/drawingml/2006/main">
                <a:ext uri="{FF2B5EF4-FFF2-40B4-BE49-F238E27FC236}">
                  <a16:creationId xmlns:a16="http://schemas.microsoft.com/office/drawing/2014/main" id="{36999243-2FE2-4F5F-B6F5-9D9A45A8474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848174" y="2933700"/>
              <a:ext cx="129540" cy="27527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75" b="0" i="1">
                  <a:solidFill>
                    <a:srgbClr val="2629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 i="1">
                  <a:solidFill>
                    <a:srgbClr val="26292B"/>
                  </a:solidFill>
                  <a:latin typeface="Times New Roman"/>
                  <a:ea typeface="Times New Roman"/>
                  <a:cs typeface="Times New Roman"/>
                </a:rPr>
                <a:t>p</a:t>
              </a:r>
            </a:p>
          </p:txBody>
        </p:sp>
        <p:sp>
          <p:nvSpPr>
            <p:cNvPr id="134" name="delay-probability.1">
              <a:extLst xmlns:a="http://schemas.openxmlformats.org/drawingml/2006/main">
                <a:ext uri="{FF2B5EF4-FFF2-40B4-BE49-F238E27FC236}">
                  <a16:creationId xmlns:a16="http://schemas.microsoft.com/office/drawing/2014/main" id="{469B13E8-DB71-48CB-9464-9F8C9EC857F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30756" y="3011424"/>
              <a:ext cx="88087" cy="18718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867" b="0" i="1">
                  <a:solidFill>
                    <a:srgbClr val="2629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67" b="0" i="1">
                  <a:solidFill>
                    <a:srgbClr val="26292B"/>
                  </a:solidFill>
                  <a:latin typeface="Times New Roman"/>
                  <a:ea typeface="Times New Roman"/>
                  <a:cs typeface="Times New Roman"/>
                </a:rPr>
                <a:t>c</a:t>
              </a:r>
            </a:p>
          </p:txBody>
        </p:sp>
        <p:sp>
          <p:nvSpPr>
            <p:cNvPr id="135" name="delay-probability.2">
              <a:extLst xmlns:a="http://schemas.openxmlformats.org/drawingml/2006/main">
                <a:ext uri="{FF2B5EF4-FFF2-40B4-BE49-F238E27FC236}">
                  <a16:creationId xmlns:a16="http://schemas.microsoft.com/office/drawing/2014/main" id="{AF6BB92D-489C-4E8F-B922-444F9443141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980305" y="2933700"/>
              <a:ext cx="129540" cy="27527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75" b="0" i="0">
                  <a:solidFill>
                    <a:srgbClr val="2629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 i="0">
                  <a:solidFill>
                    <a:srgbClr val="26292B"/>
                  </a:solidFill>
                  <a:latin typeface="Times New Roman"/>
                  <a:ea typeface="Times New Roman"/>
                  <a:cs typeface="Times New Roman"/>
                </a:rPr>
                <a:t>(</a:t>
              </a:r>
            </a:p>
          </p:txBody>
        </p:sp>
        <p:sp>
          <p:nvSpPr>
            <p:cNvPr id="136" name="delay-probability.3">
              <a:extLst xmlns:a="http://schemas.openxmlformats.org/drawingml/2006/main">
                <a:ext uri="{FF2B5EF4-FFF2-40B4-BE49-F238E27FC236}">
                  <a16:creationId xmlns:a16="http://schemas.microsoft.com/office/drawing/2014/main" id="{C2DA6DE5-4FB2-4DF0-86CB-6B7AD6CA216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035359" y="2933700"/>
              <a:ext cx="129540" cy="27527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75" b="0" i="1">
                  <a:solidFill>
                    <a:srgbClr val="2629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 i="1">
                  <a:solidFill>
                    <a:srgbClr val="26292B"/>
                  </a:solidFill>
                  <a:latin typeface="Times New Roman"/>
                  <a:ea typeface="Times New Roman"/>
                  <a:cs typeface="Times New Roman"/>
                </a:rPr>
                <a:t>d</a:t>
              </a:r>
            </a:p>
          </p:txBody>
        </p:sp>
        <p:sp>
          <p:nvSpPr>
            <p:cNvPr id="137" name="delay-probability.4">
              <a:extLst xmlns:a="http://schemas.openxmlformats.org/drawingml/2006/main">
                <a:ext uri="{FF2B5EF4-FFF2-40B4-BE49-F238E27FC236}">
                  <a16:creationId xmlns:a16="http://schemas.microsoft.com/office/drawing/2014/main" id="{7F663EC4-526C-45F7-8A61-1DA4862EC52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116322" y="2933700"/>
              <a:ext cx="129540" cy="27527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75" b="0" i="0">
                  <a:solidFill>
                    <a:srgbClr val="2629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 i="0">
                  <a:solidFill>
                    <a:srgbClr val="26292B"/>
                  </a:solidFill>
                  <a:latin typeface="Times New Roman"/>
                  <a:ea typeface="Times New Roman"/>
                  <a:cs typeface="Times New Roman"/>
                </a:rPr>
                <a:t>)</a:t>
              </a:r>
            </a:p>
          </p:txBody>
        </p:sp>
      </p:grpSp>
      <p:sp>
        <p:nvSpPr>
          <p:cNvPr id="138" name="delay-support">
            <a:extLst xmlns:a="http://schemas.openxmlformats.org/drawingml/2006/main">
              <a:ext uri="{FF2B5EF4-FFF2-40B4-BE49-F238E27FC236}">
                <a16:creationId xmlns:a16="http://schemas.microsoft.com/office/drawing/2014/main" id="{0CA9DBAF-7A94-47D2-9F36-0A7DDE73A7E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476375" y="3152775"/>
            <a:ext cx="10763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2585B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52585B"/>
                </a:solidFill>
                <a:latin typeface="Arial"/>
                <a:ea typeface="Arial"/>
                <a:cs typeface="Arial"/>
              </a:rPr>
              <a:t>0–30 bins, per channel</a:t>
            </a:r>
          </a:p>
        </p:txBody>
      </p:sp>
      <p:sp>
        <p:nvSpPr>
          <p:cNvPr id="139" name="reconstruction-caption">
            <a:extLst xmlns:a="http://schemas.openxmlformats.org/drawingml/2006/main">
              <a:ext uri="{FF2B5EF4-FFF2-40B4-BE49-F238E27FC236}">
                <a16:creationId xmlns:a16="http://schemas.microsoft.com/office/drawing/2014/main" id="{E3686A9C-F896-46D1-BDB0-93E03DB0C4E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8600" y="3457575"/>
            <a:ext cx="981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9544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95446"/>
                </a:solidFill>
                <a:latin typeface="Arial"/>
                <a:ea typeface="Arial"/>
                <a:cs typeface="Arial"/>
              </a:rPr>
              <a:t>Reconstruction</a:t>
            </a:r>
          </a:p>
        </p:txBody>
      </p:sp>
      <p:grpSp>
        <p:nvGrpSpPr>
          <p:cNvPr id="384" name="reconstruction-X"/>
          <p:cNvGrpSpPr/>
          <p:nvPr/>
        </p:nvGrpSpPr>
        <p:grpSpPr>
          <ns1:xfrm xmlns:ns1="http://schemas.openxmlformats.org/drawingml/2006/main">
            <ns1:off x="1265682" y="3437954"/>
            <ns1:ext cx="154686" cy="304419"/>
            <ns1:chOff x="1265682" y="3437954"/>
            <ns1:chExt cx="154686" cy="304419"/>
          </ns1:xfrm>
        </p:grpSpPr>
        <p:sp>
          <p:nvSpPr>
            <p:cNvPr id="140" name="reconstruction-X.0">
              <a:extLst xmlns:a="http://schemas.openxmlformats.org/drawingml/2006/main">
                <a:ext uri="{FF2B5EF4-FFF2-40B4-BE49-F238E27FC236}">
                  <a16:creationId xmlns:a16="http://schemas.microsoft.com/office/drawing/2014/main" id="{2A35B2F2-516B-4694-9BF8-523E55AF07A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265682" y="3467100"/>
              <a:ext cx="154686" cy="27527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275" b="0" i="1">
                  <a:solidFill>
                    <a:srgbClr val="B9544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 i="1">
                  <a:solidFill>
                    <a:srgbClr val="B95446"/>
                  </a:solidFill>
                  <a:latin typeface="Times New Roman"/>
                  <a:ea typeface="Times New Roman"/>
                  <a:cs typeface="Times New Roman"/>
                </a:rPr>
                <a:t>X</a:t>
              </a:r>
            </a:p>
          </p:txBody>
        </p:sp>
        <p:sp>
          <p:nvSpPr>
            <p:cNvPr id="141" name="reconstruction-X.1">
              <a:extLst xmlns:a="http://schemas.openxmlformats.org/drawingml/2006/main">
                <a:ext uri="{FF2B5EF4-FFF2-40B4-BE49-F238E27FC236}">
                  <a16:creationId xmlns:a16="http://schemas.microsoft.com/office/drawing/2014/main" id="{47A6EE7C-4A93-4564-850E-B887908B284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01306" y="3437954"/>
              <a:ext cx="84201" cy="17892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829" b="0" i="0">
                  <a:solidFill>
                    <a:srgbClr val="B9544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29" b="0" i="0">
                  <a:solidFill>
                    <a:srgbClr val="B95446"/>
                  </a:solidFill>
                  <a:latin typeface="Times New Roman"/>
                  <a:ea typeface="Times New Roman"/>
                  <a:cs typeface="Times New Roman"/>
                </a:rPr>
                <a:t>^</a:t>
              </a:r>
            </a:p>
          </p:txBody>
        </p:sp>
      </p:grpSp>
      <p:sp>
        <p:nvSpPr>
          <p:cNvPr id="142" name="reconstruction-spikes">
            <a:extLst xmlns:a="http://schemas.openxmlformats.org/drawingml/2006/main">
              <a:ext uri="{FF2B5EF4-FFF2-40B4-BE49-F238E27FC236}">
                <a16:creationId xmlns:a16="http://schemas.microsoft.com/office/drawing/2014/main" id="{30C9DB42-6E6D-4131-9482-D3DE34C85F4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8600" y="3767138"/>
            <a:ext cx="8953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001">
            <a:solidFill>
              <a:srgbClr val="AB6A5E"/>
            </a:solidFill>
            <a:prstDash val="solid"/>
          </a:ln>
        </p:spPr>
      </p:sp>
      <p:grpSp>
        <p:nvGrpSpPr>
          <p:cNvPr id="385" name="reconstruction-spikes-events"/>
          <p:cNvGrpSpPr/>
          <p:nvPr/>
        </p:nvGrpSpPr>
        <p:grpSpPr>
          <ns1:xfrm xmlns:ns1="http://schemas.openxmlformats.org/drawingml/2006/main">
            <ns1:off x="285750" y="3843338"/>
            <ns1:ext cx="781050" cy="66770"/>
            <ns1:chOff x="285750" y="3843338"/>
            <ns1:chExt cx="781050" cy="66770"/>
          </ns1:xfrm>
        </p:grpSpPr>
        <p:sp>
          <p:nvSpPr>
            <p:cNvPr id="143" name="reconstruction-spikes-baseline-0">
              <a:extLst xmlns:a="http://schemas.openxmlformats.org/drawingml/2006/main">
                <a:ext uri="{FF2B5EF4-FFF2-40B4-BE49-F238E27FC236}">
                  <a16:creationId xmlns:a16="http://schemas.microsoft.com/office/drawing/2014/main" id="{7F5ED953-D3D7-48DF-8AC4-FC82F2E13AD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5750" y="3910013"/>
              <a:ext cx="781050" cy="95"/>
            </a:xfrm>
            <a:custGeom xmlns:a="http://schemas.openxmlformats.org/drawingml/2006/main">
              <a:pathLst>
                <a:path w="781050" h="95">
                  <a:moveTo>
                    <a:pt x="0" y="0"/>
                  </a:moveTo>
                  <a:lnTo>
                    <a:pt x="78105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4286">
              <a:solidFill>
                <a:srgbClr val="D3D8DA"/>
              </a:solidFill>
              <a:prstDash val="solid"/>
            </a:ln>
          </p:spPr>
        </p:sp>
        <p:sp>
          <p:nvSpPr>
            <p:cNvPr id="144" name="reconstruction-spikes-spike-0-0">
              <a:extLst xmlns:a="http://schemas.openxmlformats.org/drawingml/2006/main">
                <a:ext uri="{FF2B5EF4-FFF2-40B4-BE49-F238E27FC236}">
                  <a16:creationId xmlns:a16="http://schemas.microsoft.com/office/drawing/2014/main" id="{8847E17B-0592-41E2-BB64-05E4ED9CA3F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83381" y="3843338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B95446"/>
              </a:solidFill>
              <a:prstDash val="solid"/>
            </a:ln>
          </p:spPr>
        </p:sp>
        <p:sp>
          <p:nvSpPr>
            <p:cNvPr id="145" name="reconstruction-spikes-spike-0-1">
              <a:extLst xmlns:a="http://schemas.openxmlformats.org/drawingml/2006/main">
                <a:ext uri="{FF2B5EF4-FFF2-40B4-BE49-F238E27FC236}">
                  <a16:creationId xmlns:a16="http://schemas.microsoft.com/office/drawing/2014/main" id="{1136367A-5B22-44A4-95F4-7DE34BA0504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48469" y="3843338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B95446"/>
              </a:solidFill>
              <a:prstDash val="solid"/>
            </a:ln>
          </p:spPr>
        </p:sp>
        <p:sp>
          <p:nvSpPr>
            <p:cNvPr id="146" name="reconstruction-spikes-spike-0-2">
              <a:extLst xmlns:a="http://schemas.openxmlformats.org/drawingml/2006/main">
                <a:ext uri="{FF2B5EF4-FFF2-40B4-BE49-F238E27FC236}">
                  <a16:creationId xmlns:a16="http://schemas.microsoft.com/office/drawing/2014/main" id="{802CE0CF-DB03-45A7-B7AA-DE911594571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8644" y="3843338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B95446"/>
              </a:solidFill>
              <a:prstDash val="solid"/>
            </a:ln>
          </p:spPr>
        </p:sp>
        <p:sp>
          <p:nvSpPr>
            <p:cNvPr id="147" name="reconstruction-spikes-spike-0-3">
              <a:extLst xmlns:a="http://schemas.openxmlformats.org/drawingml/2006/main">
                <a:ext uri="{FF2B5EF4-FFF2-40B4-BE49-F238E27FC236}">
                  <a16:creationId xmlns:a16="http://schemas.microsoft.com/office/drawing/2014/main" id="{5DF97740-C43F-48B5-843D-0E1D9E72BBB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41363" y="3843338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B95446"/>
              </a:solidFill>
              <a:prstDash val="solid"/>
            </a:ln>
          </p:spPr>
        </p:sp>
        <p:sp>
          <p:nvSpPr>
            <p:cNvPr id="148" name="reconstruction-spikes-spike-0-4">
              <a:extLst xmlns:a="http://schemas.openxmlformats.org/drawingml/2006/main">
                <a:ext uri="{FF2B5EF4-FFF2-40B4-BE49-F238E27FC236}">
                  <a16:creationId xmlns:a16="http://schemas.microsoft.com/office/drawing/2014/main" id="{FBEAF101-A525-479B-AC4D-350472D947F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04081" y="3843338"/>
              <a:ext cx="95" cy="66675"/>
            </a:xfrm>
            <a:custGeom xmlns:a="http://schemas.openxmlformats.org/drawingml/2006/main">
              <a:pathLst>
                <a:path w="95" h="66675">
                  <a:moveTo>
                    <a:pt x="0" y="66675"/>
                  </a:moveTo>
                  <a:lnTo>
                    <a:pt x="0" y="0"/>
                  </a:lnTo>
                </a:path>
              </a:pathLst>
            </a:custGeom>
            <a:noFill xmlns:a="http://schemas.openxmlformats.org/drawingml/2006/main"/>
            <a:ln xmlns:a="http://schemas.openxmlformats.org/drawingml/2006/main" w="10001">
              <a:solidFill>
                <a:srgbClr val="B95446"/>
              </a:solidFill>
              <a:prstDash val="solid"/>
            </a:ln>
          </p:spPr>
        </p:sp>
      </p:grpSp>
      <p:sp>
        <p:nvSpPr>
          <p:cNvPr id="149" name="target-filter">
            <a:extLst xmlns:a="http://schemas.openxmlformats.org/drawingml/2006/main">
              <a:ext uri="{FF2B5EF4-FFF2-40B4-BE49-F238E27FC236}">
                <a16:creationId xmlns:a16="http://schemas.microsoft.com/office/drawing/2014/main" id="{F02047E8-27EB-4125-A729-B08267B52D3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105150" y="2714625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1F2"/>
          </a:solidFill>
          <a:ln xmlns:a="http://schemas.openxmlformats.org/drawingml/2006/main" w="9525">
            <a:solidFill>
              <a:srgbClr val="747B7F"/>
            </a:solidFill>
            <a:prstDash val="solid"/>
          </a:ln>
        </p:spPr>
      </p:sp>
      <p:sp>
        <p:nvSpPr>
          <p:cNvPr id="150" name="target-filter-title">
            <a:extLst xmlns:a="http://schemas.openxmlformats.org/drawingml/2006/main">
              <a:ext uri="{FF2B5EF4-FFF2-40B4-BE49-F238E27FC236}">
                <a16:creationId xmlns:a16="http://schemas.microsoft.com/office/drawing/2014/main" id="{8814AE94-5BFB-4E5B-99D3-82D6F449744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152775" y="2752725"/>
            <a:ext cx="154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5" b="1">
                <a:solidFill>
                  <a:srgbClr val="267F7C"/>
                </a:solidFill>
                <a:latin typeface="Arial"/>
                <a:ea typeface="Arial"/>
                <a:cs typeface="Arial"/>
              </a:defRPr>
            </a:pPr>
            <a:r>
              <a:rPr sz="795" b="1">
                <a:solidFill>
                  <a:srgbClr val="267F7C"/>
                </a:solidFill>
                <a:latin typeface="Arial"/>
                <a:ea typeface="Arial"/>
                <a:cs typeface="Arial"/>
              </a:rPr>
              <a:t>Exponential filtering</a:t>
            </a:r>
          </a:p>
        </p:txBody>
      </p:sp>
      <p:sp>
        <p:nvSpPr>
          <p:cNvPr id="151" name="target-filter-baseline">
            <a:extLst xmlns:a="http://schemas.openxmlformats.org/drawingml/2006/main">
              <a:ext uri="{FF2B5EF4-FFF2-40B4-BE49-F238E27FC236}">
                <a16:creationId xmlns:a16="http://schemas.microsoft.com/office/drawing/2014/main" id="{098C237D-018A-4488-B08D-8C17AF03A42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209925" y="3219450"/>
            <a:ext cx="1428750" cy="95"/>
          </a:xfrm>
          <a:custGeom xmlns:a="http://schemas.openxmlformats.org/drawingml/2006/main">
            <a:pathLst>
              <a:path w="1428750" h="9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BB2B6"/>
            </a:solidFill>
            <a:prstDash val="solid"/>
          </a:ln>
        </p:spPr>
      </p:sp>
      <p:sp>
        <p:nvSpPr>
          <p:cNvPr id="152" name="target-filter-trace">
            <a:extLst xmlns:a="http://schemas.openxmlformats.org/drawingml/2006/main">
              <a:ext uri="{FF2B5EF4-FFF2-40B4-BE49-F238E27FC236}">
                <a16:creationId xmlns:a16="http://schemas.microsoft.com/office/drawing/2014/main" id="{5C41F186-8243-47A6-82ED-4AFCB19EDFD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209925" y="2935663"/>
            <a:ext cx="1428750" cy="283787"/>
          </a:xfrm>
          <a:custGeom xmlns:a="http://schemas.openxmlformats.org/drawingml/2006/main">
            <a:pathLst>
              <a:path w="1428750" h="283787">
                <a:moveTo>
                  <a:pt x="0" y="283787"/>
                </a:moveTo>
                <a:lnTo>
                  <a:pt x="29766" y="283787"/>
                </a:lnTo>
                <a:lnTo>
                  <a:pt x="59531" y="246787"/>
                </a:lnTo>
                <a:lnTo>
                  <a:pt x="89297" y="123993"/>
                </a:lnTo>
                <a:lnTo>
                  <a:pt x="119063" y="4957"/>
                </a:lnTo>
                <a:lnTo>
                  <a:pt x="148828" y="0"/>
                </a:lnTo>
                <a:lnTo>
                  <a:pt x="178594" y="51442"/>
                </a:lnTo>
                <a:lnTo>
                  <a:pt x="208359" y="93559"/>
                </a:lnTo>
                <a:lnTo>
                  <a:pt x="238125" y="91041"/>
                </a:lnTo>
                <a:lnTo>
                  <a:pt x="267891" y="33479"/>
                </a:lnTo>
                <a:lnTo>
                  <a:pt x="297656" y="23352"/>
                </a:lnTo>
                <a:lnTo>
                  <a:pt x="327422" y="70561"/>
                </a:lnTo>
                <a:lnTo>
                  <a:pt x="357188" y="109212"/>
                </a:lnTo>
                <a:lnTo>
                  <a:pt x="386953" y="103857"/>
                </a:lnTo>
                <a:lnTo>
                  <a:pt x="416719" y="43972"/>
                </a:lnTo>
                <a:lnTo>
                  <a:pt x="446484" y="31943"/>
                </a:lnTo>
                <a:lnTo>
                  <a:pt x="476250" y="77594"/>
                </a:lnTo>
                <a:lnTo>
                  <a:pt x="506016" y="114971"/>
                </a:lnTo>
                <a:lnTo>
                  <a:pt x="535781" y="108572"/>
                </a:lnTo>
                <a:lnTo>
                  <a:pt x="565547" y="47832"/>
                </a:lnTo>
                <a:lnTo>
                  <a:pt x="595313" y="35103"/>
                </a:lnTo>
                <a:lnTo>
                  <a:pt x="625078" y="80182"/>
                </a:lnTo>
                <a:lnTo>
                  <a:pt x="654844" y="117767"/>
                </a:lnTo>
                <a:lnTo>
                  <a:pt x="684609" y="150233"/>
                </a:lnTo>
                <a:lnTo>
                  <a:pt x="714375" y="177153"/>
                </a:lnTo>
                <a:lnTo>
                  <a:pt x="744141" y="197499"/>
                </a:lnTo>
                <a:lnTo>
                  <a:pt x="773906" y="213141"/>
                </a:lnTo>
                <a:lnTo>
                  <a:pt x="803672" y="225947"/>
                </a:lnTo>
                <a:lnTo>
                  <a:pt x="833438" y="237109"/>
                </a:lnTo>
                <a:lnTo>
                  <a:pt x="863203" y="247265"/>
                </a:lnTo>
                <a:lnTo>
                  <a:pt x="892969" y="254902"/>
                </a:lnTo>
                <a:lnTo>
                  <a:pt x="922734" y="260138"/>
                </a:lnTo>
                <a:lnTo>
                  <a:pt x="952500" y="264425"/>
                </a:lnTo>
                <a:lnTo>
                  <a:pt x="982266" y="268612"/>
                </a:lnTo>
                <a:lnTo>
                  <a:pt x="1012031" y="273057"/>
                </a:lnTo>
                <a:lnTo>
                  <a:pt x="1041797" y="276019"/>
                </a:lnTo>
                <a:lnTo>
                  <a:pt x="1071563" y="277427"/>
                </a:lnTo>
                <a:lnTo>
                  <a:pt x="1101328" y="278580"/>
                </a:lnTo>
                <a:lnTo>
                  <a:pt x="1131094" y="280202"/>
                </a:lnTo>
                <a:lnTo>
                  <a:pt x="1160859" y="282546"/>
                </a:lnTo>
                <a:lnTo>
                  <a:pt x="1190625" y="283787"/>
                </a:lnTo>
                <a:lnTo>
                  <a:pt x="1220391" y="283787"/>
                </a:lnTo>
                <a:lnTo>
                  <a:pt x="1250156" y="283787"/>
                </a:lnTo>
                <a:lnTo>
                  <a:pt x="1279922" y="283787"/>
                </a:lnTo>
                <a:lnTo>
                  <a:pt x="1309688" y="283787"/>
                </a:lnTo>
                <a:lnTo>
                  <a:pt x="1339453" y="283787"/>
                </a:lnTo>
                <a:lnTo>
                  <a:pt x="1369219" y="283787"/>
                </a:lnTo>
                <a:lnTo>
                  <a:pt x="1398984" y="283787"/>
                </a:lnTo>
                <a:lnTo>
                  <a:pt x="1428750" y="283787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67F7C"/>
            </a:solidFill>
            <a:prstDash val="solid"/>
          </a:ln>
        </p:spPr>
      </p:sp>
      <p:sp>
        <p:nvSpPr>
          <p:cNvPr id="153" name="output-filter">
            <a:extLst xmlns:a="http://schemas.openxmlformats.org/drawingml/2006/main">
              <a:ext uri="{FF2B5EF4-FFF2-40B4-BE49-F238E27FC236}">
                <a16:creationId xmlns:a16="http://schemas.microsoft.com/office/drawing/2014/main" id="{D4E9D335-FA34-49F3-BAD1-80CBF64F825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105150" y="36576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1F2"/>
          </a:solidFill>
          <a:ln xmlns:a="http://schemas.openxmlformats.org/drawingml/2006/main" w="9525">
            <a:solidFill>
              <a:srgbClr val="747B7F"/>
            </a:solidFill>
            <a:prstDash val="solid"/>
          </a:ln>
        </p:spPr>
      </p:sp>
      <p:sp>
        <p:nvSpPr>
          <p:cNvPr id="154" name="output-filter-title">
            <a:extLst xmlns:a="http://schemas.openxmlformats.org/drawingml/2006/main">
              <a:ext uri="{FF2B5EF4-FFF2-40B4-BE49-F238E27FC236}">
                <a16:creationId xmlns:a16="http://schemas.microsoft.com/office/drawing/2014/main" id="{0F2E7D13-1C8C-4726-9B0E-52889C3EF85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152775" y="3695700"/>
            <a:ext cx="154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95" b="1">
                <a:solidFill>
                  <a:srgbClr val="B95446"/>
                </a:solidFill>
                <a:latin typeface="Arial"/>
                <a:ea typeface="Arial"/>
                <a:cs typeface="Arial"/>
              </a:defRPr>
            </a:pPr>
            <a:r>
              <a:rPr sz="795" b="1">
                <a:solidFill>
                  <a:srgbClr val="B95446"/>
                </a:solidFill>
                <a:latin typeface="Arial"/>
                <a:ea typeface="Arial"/>
                <a:cs typeface="Arial"/>
              </a:rPr>
              <a:t>Exponential filtering</a:t>
            </a:r>
          </a:p>
        </p:txBody>
      </p:sp>
      <p:sp>
        <p:nvSpPr>
          <p:cNvPr id="155" name="output-filter-baseline">
            <a:extLst xmlns:a="http://schemas.openxmlformats.org/drawingml/2006/main">
              <a:ext uri="{FF2B5EF4-FFF2-40B4-BE49-F238E27FC236}">
                <a16:creationId xmlns:a16="http://schemas.microsoft.com/office/drawing/2014/main" id="{13EB87B8-482E-45DE-9299-3666FCC9F0F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209925" y="4162425"/>
            <a:ext cx="1428750" cy="95"/>
          </a:xfrm>
          <a:custGeom xmlns:a="http://schemas.openxmlformats.org/drawingml/2006/main">
            <a:pathLst>
              <a:path w="1428750" h="9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239">
            <a:solidFill>
              <a:srgbClr val="ABB2B6"/>
            </a:solidFill>
            <a:prstDash val="solid"/>
          </a:ln>
        </p:spPr>
      </p:sp>
      <p:sp>
        <p:nvSpPr>
          <p:cNvPr id="156" name="output-filter-trace">
            <a:extLst xmlns:a="http://schemas.openxmlformats.org/drawingml/2006/main">
              <a:ext uri="{FF2B5EF4-FFF2-40B4-BE49-F238E27FC236}">
                <a16:creationId xmlns:a16="http://schemas.microsoft.com/office/drawing/2014/main" id="{1BA3FEC1-9695-46FB-AF0C-1BE8493D937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209925" y="3838575"/>
            <a:ext cx="1428750" cy="323850"/>
          </a:xfrm>
          <a:custGeom xmlns:a="http://schemas.openxmlformats.org/drawingml/2006/main">
            <a:pathLst>
              <a:path w="1428750" h="323850">
                <a:moveTo>
                  <a:pt x="0" y="323850"/>
                </a:moveTo>
                <a:lnTo>
                  <a:pt x="29766" y="323850"/>
                </a:lnTo>
                <a:lnTo>
                  <a:pt x="59531" y="323850"/>
                </a:lnTo>
                <a:lnTo>
                  <a:pt x="89297" y="138848"/>
                </a:lnTo>
                <a:lnTo>
                  <a:pt x="119063" y="172383"/>
                </a:lnTo>
                <a:lnTo>
                  <a:pt x="148828" y="14838"/>
                </a:lnTo>
                <a:lnTo>
                  <a:pt x="178594" y="70852"/>
                </a:lnTo>
                <a:lnTo>
                  <a:pt x="208359" y="116713"/>
                </a:lnTo>
                <a:lnTo>
                  <a:pt x="238125" y="154260"/>
                </a:lnTo>
                <a:lnTo>
                  <a:pt x="267891" y="0"/>
                </a:lnTo>
                <a:lnTo>
                  <a:pt x="297656" y="58704"/>
                </a:lnTo>
                <a:lnTo>
                  <a:pt x="327422" y="106767"/>
                </a:lnTo>
                <a:lnTo>
                  <a:pt x="357188" y="146117"/>
                </a:lnTo>
                <a:lnTo>
                  <a:pt x="386953" y="178335"/>
                </a:lnTo>
                <a:lnTo>
                  <a:pt x="416719" y="19710"/>
                </a:lnTo>
                <a:lnTo>
                  <a:pt x="446484" y="74842"/>
                </a:lnTo>
                <a:lnTo>
                  <a:pt x="476250" y="119979"/>
                </a:lnTo>
                <a:lnTo>
                  <a:pt x="506016" y="156935"/>
                </a:lnTo>
                <a:lnTo>
                  <a:pt x="535781" y="187191"/>
                </a:lnTo>
                <a:lnTo>
                  <a:pt x="565547" y="26961"/>
                </a:lnTo>
                <a:lnTo>
                  <a:pt x="595313" y="80778"/>
                </a:lnTo>
                <a:lnTo>
                  <a:pt x="625078" y="124840"/>
                </a:lnTo>
                <a:lnTo>
                  <a:pt x="654844" y="160914"/>
                </a:lnTo>
                <a:lnTo>
                  <a:pt x="684609" y="193838"/>
                </a:lnTo>
                <a:lnTo>
                  <a:pt x="714375" y="217405"/>
                </a:lnTo>
                <a:lnTo>
                  <a:pt x="744141" y="240089"/>
                </a:lnTo>
                <a:lnTo>
                  <a:pt x="773906" y="255272"/>
                </a:lnTo>
                <a:lnTo>
                  <a:pt x="803672" y="267703"/>
                </a:lnTo>
                <a:lnTo>
                  <a:pt x="833438" y="277881"/>
                </a:lnTo>
                <a:lnTo>
                  <a:pt x="863203" y="289602"/>
                </a:lnTo>
                <a:lnTo>
                  <a:pt x="892969" y="295810"/>
                </a:lnTo>
                <a:lnTo>
                  <a:pt x="922734" y="300893"/>
                </a:lnTo>
                <a:lnTo>
                  <a:pt x="952500" y="305054"/>
                </a:lnTo>
                <a:lnTo>
                  <a:pt x="982266" y="308461"/>
                </a:lnTo>
                <a:lnTo>
                  <a:pt x="1012031" y="314639"/>
                </a:lnTo>
                <a:lnTo>
                  <a:pt x="1041797" y="316309"/>
                </a:lnTo>
                <a:lnTo>
                  <a:pt x="1071563" y="317676"/>
                </a:lnTo>
                <a:lnTo>
                  <a:pt x="1101328" y="318795"/>
                </a:lnTo>
                <a:lnTo>
                  <a:pt x="1131094" y="319711"/>
                </a:lnTo>
                <a:lnTo>
                  <a:pt x="1160859" y="323850"/>
                </a:lnTo>
                <a:lnTo>
                  <a:pt x="1190625" y="323850"/>
                </a:lnTo>
                <a:lnTo>
                  <a:pt x="1220391" y="323850"/>
                </a:lnTo>
                <a:lnTo>
                  <a:pt x="1250156" y="323850"/>
                </a:lnTo>
                <a:lnTo>
                  <a:pt x="1279922" y="323850"/>
                </a:lnTo>
                <a:lnTo>
                  <a:pt x="1309688" y="323850"/>
                </a:lnTo>
                <a:lnTo>
                  <a:pt x="1339453" y="323850"/>
                </a:lnTo>
                <a:lnTo>
                  <a:pt x="1369219" y="323850"/>
                </a:lnTo>
                <a:lnTo>
                  <a:pt x="1398984" y="323850"/>
                </a:lnTo>
                <a:lnTo>
                  <a:pt x="1428750" y="3238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B95446"/>
            </a:solidFill>
            <a:prstDash val="solid"/>
          </a:ln>
        </p:spPr>
      </p:sp>
      <p:sp>
        <p:nvSpPr>
          <p:cNvPr id="157" name="filter-definition">
            <a:extLst xmlns:a="http://schemas.openxmlformats.org/drawingml/2006/main">
              <a:ext uri="{FF2B5EF4-FFF2-40B4-BE49-F238E27FC236}">
                <a16:creationId xmlns:a16="http://schemas.microsoft.com/office/drawing/2014/main" id="{125DFA39-A21D-4607-A759-09F1842332E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105150" y="3381375"/>
            <a:ext cx="16478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65" b="0">
                <a:solidFill>
                  <a:srgbClr val="52585B"/>
                </a:solidFill>
                <a:latin typeface="Arial"/>
                <a:ea typeface="Arial"/>
                <a:cs typeface="Arial"/>
              </a:defRPr>
            </a:pPr>
            <a:r>
              <a:rPr sz="765" b="0">
                <a:solidFill>
                  <a:srgbClr val="52585B"/>
                </a:solidFill>
                <a:latin typeface="Arial"/>
                <a:ea typeface="Arial"/>
                <a:cs typeface="Arial"/>
              </a:rPr>
              <a:t>Same kernel, full convolution</a:t>
            </a:r>
          </a:p>
        </p:txBody>
      </p:sp>
      <p:sp>
        <p:nvSpPr>
          <p:cNvPr id="158" name="loss">
            <a:extLst xmlns:a="http://schemas.openxmlformats.org/drawingml/2006/main">
              <a:ext uri="{FF2B5EF4-FFF2-40B4-BE49-F238E27FC236}">
                <a16:creationId xmlns:a16="http://schemas.microsoft.com/office/drawing/2014/main" id="{A459159E-2037-4F74-B0BE-67C8425AD44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314950" y="2886075"/>
            <a:ext cx="9334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1F2"/>
          </a:solidFill>
          <a:ln xmlns:a="http://schemas.openxmlformats.org/drawingml/2006/main" w="10478">
            <a:solidFill>
              <a:srgbClr val="747B7F"/>
            </a:solidFill>
            <a:prstDash val="solid"/>
          </a:ln>
        </p:spPr>
      </p:sp>
      <p:sp>
        <p:nvSpPr>
          <p:cNvPr id="159" name="loss-target-port">
            <a:extLst xmlns:a="http://schemas.openxmlformats.org/drawingml/2006/main">
              <a:ext uri="{FF2B5EF4-FFF2-40B4-BE49-F238E27FC236}">
                <a16:creationId xmlns:a16="http://schemas.microsoft.com/office/drawing/2014/main" id="{C6CE0A90-0FB9-4BE9-95BA-EFF790E32B2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300663" y="2962275"/>
            <a:ext cx="285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F7C"/>
          </a:solidFill>
          <a:ln xmlns:a="http://schemas.openxmlformats.org/drawingml/2006/main" w="3810">
            <a:solidFill>
              <a:srgbClr val="267F7C"/>
            </a:solidFill>
            <a:prstDash val="solid"/>
          </a:ln>
        </p:spPr>
      </p:sp>
      <p:sp>
        <p:nvSpPr>
          <p:cNvPr id="160" name="loss-output-port">
            <a:extLst xmlns:a="http://schemas.openxmlformats.org/drawingml/2006/main">
              <a:ext uri="{FF2B5EF4-FFF2-40B4-BE49-F238E27FC236}">
                <a16:creationId xmlns:a16="http://schemas.microsoft.com/office/drawing/2014/main" id="{A7003521-C5C6-488F-9650-8B7843F2C6D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300663" y="3905250"/>
            <a:ext cx="285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446"/>
          </a:solidFill>
          <a:ln xmlns:a="http://schemas.openxmlformats.org/drawingml/2006/main" w="3810">
            <a:solidFill>
              <a:srgbClr val="B95446"/>
            </a:solidFill>
            <a:prstDash val="solid"/>
          </a:ln>
        </p:spPr>
      </p:sp>
      <p:sp>
        <p:nvSpPr>
          <p:cNvPr id="161" name="loss-name">
            <a:extLst xmlns:a="http://schemas.openxmlformats.org/drawingml/2006/main">
              <a:ext uri="{FF2B5EF4-FFF2-40B4-BE49-F238E27FC236}">
                <a16:creationId xmlns:a16="http://schemas.microsoft.com/office/drawing/2014/main" id="{29B9629E-7EF8-4AB3-9D07-A8F57CAE34C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381625" y="3190875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26292B"/>
                </a:solidFill>
                <a:latin typeface="Arial"/>
                <a:ea typeface="Arial"/>
                <a:cs typeface="Arial"/>
              </a:defRPr>
            </a:pPr>
            <a:r>
              <a:rPr sz="885" b="1">
                <a:solidFill>
                  <a:srgbClr val="26292B"/>
                </a:solidFill>
                <a:latin typeface="Arial"/>
                <a:ea typeface="Arial"/>
                <a:cs typeface="Arial"/>
              </a:rPr>
              <a:t>Mean squared</a:t>
            </a:r>
          </a:p>
          <a:p xmlns:a="http://schemas.openxmlformats.org/drawingml/2006/main">
            <a:pPr algn="ctr">
              <a:defRPr sz="885" b="1">
                <a:solidFill>
                  <a:srgbClr val="26292B"/>
                </a:solidFill>
                <a:latin typeface="Arial"/>
                <a:ea typeface="Arial"/>
                <a:cs typeface="Arial"/>
              </a:defRPr>
            </a:pPr>
            <a:r>
              <a:rPr sz="885" b="1">
                <a:solidFill>
                  <a:srgbClr val="26292B"/>
                </a:solidFill>
                <a:latin typeface="Arial"/>
                <a:ea typeface="Arial"/>
                <a:cs typeface="Arial"/>
              </a:rPr>
              <a:t>difference</a:t>
            </a:r>
          </a:p>
        </p:txBody>
      </p:sp>
      <p:grpSp>
        <p:nvGrpSpPr>
          <p:cNvPr id="386" name="loss-symbol"/>
          <p:cNvGrpSpPr/>
          <p:nvPr/>
        </p:nvGrpSpPr>
        <p:grpSpPr>
          <ns1:xfrm xmlns:ns1="http://schemas.openxmlformats.org/drawingml/2006/main">
            <ns1:off x="5629656" y="3600450"/>
            <ns1:ext cx="342138" cy="323850"/>
            <ns1:chOff x="5629656" y="3600450"/>
            <ns1:chExt cx="342138" cy="323850"/>
          </ns1:xfrm>
        </p:grpSpPr>
        <p:sp>
          <p:nvSpPr>
            <p:cNvPr id="162" name="loss-symbol.0">
              <a:extLst xmlns:a="http://schemas.openxmlformats.org/drawingml/2006/main">
                <a:ext uri="{FF2B5EF4-FFF2-40B4-BE49-F238E27FC236}">
                  <a16:creationId xmlns:a16="http://schemas.microsoft.com/office/drawing/2014/main" id="{49D77D66-2EC2-4B6C-B1C0-1B104CCE8B5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629656" y="3600450"/>
              <a:ext cx="154305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500" b="0" i="1">
                  <a:solidFill>
                    <a:srgbClr val="2629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0" i="1">
                  <a:solidFill>
                    <a:srgbClr val="26292B"/>
                  </a:solidFill>
                  <a:latin typeface="Times New Roman"/>
                  <a:ea typeface="Times New Roman"/>
                  <a:cs typeface="Times New Roman"/>
                </a:rPr>
                <a:t>L</a:t>
              </a:r>
            </a:p>
          </p:txBody>
        </p:sp>
        <p:sp>
          <p:nvSpPr>
            <p:cNvPr id="163" name="loss-symbol.1">
              <a:extLst xmlns:a="http://schemas.openxmlformats.org/drawingml/2006/main">
                <a:ext uri="{FF2B5EF4-FFF2-40B4-BE49-F238E27FC236}">
                  <a16:creationId xmlns:a16="http://schemas.microsoft.com/office/drawing/2014/main" id="{8C2E0AC3-836C-4459-A619-C4ECE55416F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745861" y="3691890"/>
              <a:ext cx="225933" cy="22021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1020" b="0" i="0">
                  <a:solidFill>
                    <a:srgbClr val="2629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20" b="0" i="0">
                  <a:solidFill>
                    <a:srgbClr val="26292B"/>
                  </a:solidFill>
                  <a:latin typeface="Times New Roman"/>
                  <a:ea typeface="Times New Roman"/>
                  <a:cs typeface="Times New Roman"/>
                </a:rPr>
                <a:t>VR</a:t>
              </a:r>
            </a:p>
          </p:txBody>
        </p:sp>
      </p:grpSp>
      <p:cxnSp>
        <p:nvCxnSpPr>
          <p:cNvPr id="371" name="target-to-delay"/>
          <p:cNvCxnSpPr>
            <a:stCxn xmlns:a="http://schemas.openxmlformats.org/drawingml/2006/main" id="123" idx="3"/>
            <a:endCxn xmlns:a="http://schemas.openxmlformats.org/drawingml/2006/main" id="131" idx="1"/>
          </p:cNvCxnSpPr>
          <p:nvPr/>
        </p:nvCxnSpPr>
        <p:spPr>
          <a:xfrm xmlns:a="http://schemas.openxmlformats.org/drawingml/2006/main" flipV="1">
            <a:off x="1123950" y="300990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20479" cap="rnd">
            <a:solidFill>
              <a:srgbClr val="267F7C"/>
            </a:solidFill>
            <a:prstDash val="solid"/>
            <a:round/>
            <a:tailEnd type="triangle" w="med" len="med"/>
          </a:ln>
        </p:spPr>
      </p:cxnSp>
      <p:cxnSp>
        <p:nvCxnSpPr>
          <p:cNvPr id="372" name="delay-to-filter"/>
          <p:cNvCxnSpPr>
            <a:stCxn xmlns:a="http://schemas.openxmlformats.org/drawingml/2006/main" id="131" idx="3"/>
            <a:endCxn xmlns:a="http://schemas.openxmlformats.org/drawingml/2006/main" id="149" idx="1"/>
          </p:cNvCxnSpPr>
          <p:nvPr/>
        </p:nvCxnSpPr>
        <p:spPr>
          <a:xfrm xmlns:a="http://schemas.openxmlformats.org/drawingml/2006/main">
            <a:off x="2590800" y="30099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0479" cap="rnd">
            <a:solidFill>
              <a:srgbClr val="267F7C"/>
            </a:solidFill>
            <a:prstDash val="solid"/>
            <a:round/>
            <a:tailEnd type="triangle" w="med" len="med"/>
          </a:ln>
        </p:spPr>
      </p:cxnSp>
      <p:cxnSp>
        <p:nvCxnSpPr>
          <p:cNvPr id="373" name="reconstruction-to-filter"/>
          <p:cNvCxnSpPr>
            <a:stCxn xmlns:a="http://schemas.openxmlformats.org/drawingml/2006/main" id="142" idx="3"/>
            <a:endCxn xmlns:a="http://schemas.openxmlformats.org/drawingml/2006/main" id="153" idx="1"/>
          </p:cNvCxnSpPr>
          <p:nvPr/>
        </p:nvCxnSpPr>
        <p:spPr>
          <a:xfrm xmlns:a="http://schemas.openxmlformats.org/drawingml/2006/main" flipV="1">
            <a:off x="1123950" y="3952875"/>
            <a:ext cx="1981200" cy="0"/>
          </a:xfrm>
          <a:prstGeom xmlns:a="http://schemas.openxmlformats.org/drawingml/2006/main" prst="straightConnector1">
            <a:avLst/>
          </a:prstGeom>
          <a:ln xmlns:a="http://schemas.openxmlformats.org/drawingml/2006/main" w="20479" cap="rnd">
            <a:solidFill>
              <a:srgbClr val="B95446"/>
            </a:solidFill>
            <a:prstDash val="solid"/>
            <a:round/>
            <a:tailEnd type="triangle" w="med" len="med"/>
          </a:ln>
        </p:spPr>
      </p:cxnSp>
      <p:cxnSp>
        <p:nvCxnSpPr>
          <p:cNvPr id="374" name="target-to-loss"/>
          <p:cNvCxnSpPr>
            <a:stCxn xmlns:a="http://schemas.openxmlformats.org/drawingml/2006/main" id="149" idx="3"/>
            <a:endCxn xmlns:a="http://schemas.openxmlformats.org/drawingml/2006/main" id="159" idx="1"/>
          </p:cNvCxnSpPr>
          <p:nvPr/>
        </p:nvCxnSpPr>
        <p:spPr>
          <a:xfrm xmlns:a="http://schemas.openxmlformats.org/drawingml/2006/main">
            <a:off x="4743450" y="3009900"/>
            <a:ext cx="557213" cy="0"/>
          </a:xfrm>
          <a:prstGeom xmlns:a="http://schemas.openxmlformats.org/drawingml/2006/main" prst="straightConnector1">
            <a:avLst/>
          </a:prstGeom>
          <a:ln xmlns:a="http://schemas.openxmlformats.org/drawingml/2006/main" w="20479" cap="rnd">
            <a:solidFill>
              <a:srgbClr val="267F7C"/>
            </a:solidFill>
            <a:prstDash val="solid"/>
            <a:round/>
            <a:tailEnd type="triangle" w="med" len="med"/>
          </a:ln>
        </p:spPr>
      </p:cxnSp>
      <p:cxnSp>
        <p:nvCxnSpPr>
          <p:cNvPr id="375" name="output-to-loss"/>
          <p:cNvCxnSpPr>
            <a:stCxn xmlns:a="http://schemas.openxmlformats.org/drawingml/2006/main" id="153" idx="3"/>
            <a:endCxn xmlns:a="http://schemas.openxmlformats.org/drawingml/2006/main" id="160" idx="1"/>
          </p:cNvCxnSpPr>
          <p:nvPr/>
        </p:nvCxnSpPr>
        <p:spPr>
          <a:xfrm xmlns:a="http://schemas.openxmlformats.org/drawingml/2006/main">
            <a:off x="4743450" y="3952875"/>
            <a:ext cx="557213" cy="0"/>
          </a:xfrm>
          <a:prstGeom xmlns:a="http://schemas.openxmlformats.org/drawingml/2006/main" prst="straightConnector1">
            <a:avLst/>
          </a:prstGeom>
          <a:ln xmlns:a="http://schemas.openxmlformats.org/drawingml/2006/main" w="20479" cap="rnd">
            <a:solidFill>
              <a:srgbClr val="B95446"/>
            </a:solidFill>
            <a:prstDash val="solid"/>
            <a:round/>
            <a:tailEnd type="triangle" w="med" len="med"/>
          </a:ln>
        </p:spPr>
      </p:cxnSp>
      <p:sp>
        <p:nvSpPr>
          <p:cNvPr id="169" name="inset-separator">
            <a:extLst xmlns:a="http://schemas.openxmlformats.org/drawingml/2006/main">
              <a:ext uri="{FF2B5EF4-FFF2-40B4-BE49-F238E27FC236}">
                <a16:creationId xmlns:a16="http://schemas.microsoft.com/office/drawing/2014/main" id="{24961A76-4731-4472-B51A-71CE839EF72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2400" y="4333875"/>
            <a:ext cx="6096000" cy="95"/>
          </a:xfrm>
          <a:custGeom xmlns:a="http://schemas.openxmlformats.org/drawingml/2006/main">
            <a:pathLst>
              <a:path w="6096000" h="95">
                <a:moveTo>
                  <a:pt x="0" y="0"/>
                </a:moveTo>
                <a:lnTo>
                  <a:pt x="6096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BAC3C8"/>
            </a:solidFill>
            <a:prstDash val="dash"/>
          </a:ln>
        </p:spPr>
      </p:sp>
      <p:sp>
        <p:nvSpPr>
          <p:cNvPr id="170" name="inset-caption">
            <a:extLst xmlns:a="http://schemas.openxmlformats.org/drawingml/2006/main">
              <a:ext uri="{FF2B5EF4-FFF2-40B4-BE49-F238E27FC236}">
                <a16:creationId xmlns:a16="http://schemas.microsoft.com/office/drawing/2014/main" id="{C38CD4B6-8A39-497B-B50B-6D7E1BD2B81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2400" y="4391025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6292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6292B"/>
                </a:solidFill>
                <a:latin typeface="Arial"/>
                <a:ea typeface="Arial"/>
                <a:cs typeface="Arial"/>
              </a:rPr>
              <a:t>Illustrative causal delay</a:t>
            </a:r>
          </a:p>
        </p:txBody>
      </p:sp>
      <p:sp>
        <p:nvSpPr>
          <p:cNvPr id="171" name="inset-description">
            <a:extLst xmlns:a="http://schemas.openxmlformats.org/drawingml/2006/main">
              <a:ext uri="{FF2B5EF4-FFF2-40B4-BE49-F238E27FC236}">
                <a16:creationId xmlns:a16="http://schemas.microsoft.com/office/drawing/2014/main" id="{B4B0590F-4E28-4411-8242-625385E52C6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2400" y="4572000"/>
            <a:ext cx="1562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2585B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52585B"/>
                </a:solidFill>
                <a:latin typeface="Arial"/>
                <a:ea typeface="Arial"/>
                <a:cs typeface="Arial"/>
              </a:rPr>
              <a:t>One event spreads to later bins</a:t>
            </a:r>
          </a:p>
        </p:txBody>
      </p:sp>
      <p:sp>
        <p:nvSpPr>
          <p:cNvPr id="172" name="impulse-base">
            <a:extLst xmlns:a="http://schemas.openxmlformats.org/drawingml/2006/main">
              <a:ext uri="{FF2B5EF4-FFF2-40B4-BE49-F238E27FC236}">
                <a16:creationId xmlns:a16="http://schemas.microsoft.com/office/drawing/2014/main" id="{BE528538-4C07-47B9-ABB5-32781E6DC9C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828800" y="4676775"/>
            <a:ext cx="523875" cy="95"/>
          </a:xfrm>
          <a:custGeom xmlns:a="http://schemas.openxmlformats.org/drawingml/2006/main">
            <a:pathLst>
              <a:path w="523875" h="95">
                <a:moveTo>
                  <a:pt x="0" y="0"/>
                </a:moveTo>
                <a:lnTo>
                  <a:pt x="523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747B7F"/>
            </a:solidFill>
            <a:prstDash val="solid"/>
          </a:ln>
        </p:spPr>
      </p:sp>
      <p:sp>
        <p:nvSpPr>
          <p:cNvPr id="173" name="impulse-event">
            <a:extLst xmlns:a="http://schemas.openxmlformats.org/drawingml/2006/main">
              <a:ext uri="{FF2B5EF4-FFF2-40B4-BE49-F238E27FC236}">
                <a16:creationId xmlns:a16="http://schemas.microsoft.com/office/drawing/2014/main" id="{73A46D61-23AD-4B4C-9589-DCF3770CBEE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90725" y="4410075"/>
            <a:ext cx="95" cy="266700"/>
          </a:xfrm>
          <a:custGeom xmlns:a="http://schemas.openxmlformats.org/drawingml/2006/main">
            <a:pathLst>
              <a:path w="95" h="266700">
                <a:moveTo>
                  <a:pt x="0" y="2667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267F7C"/>
            </a:solidFill>
            <a:prstDash val="solid"/>
          </a:ln>
        </p:spPr>
      </p:sp>
      <p:sp>
        <p:nvSpPr>
          <p:cNvPr id="174" name="impulse-t.0">
            <a:extLst xmlns:a="http://schemas.openxmlformats.org/drawingml/2006/main">
              <a:ext uri="{FF2B5EF4-FFF2-40B4-BE49-F238E27FC236}">
                <a16:creationId xmlns:a16="http://schemas.microsoft.com/office/drawing/2014/main" id="{C006C89A-DF5C-4A91-88C6-0EF00F906B0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974152" y="4686300"/>
            <a:ext cx="91440" cy="19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2629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1">
                <a:solidFill>
                  <a:srgbClr val="26292B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75" name="inset-arrow-1">
            <a:extLst xmlns:a="http://schemas.openxmlformats.org/drawingml/2006/main">
              <a:ext uri="{FF2B5EF4-FFF2-40B4-BE49-F238E27FC236}">
                <a16:creationId xmlns:a16="http://schemas.microsoft.com/office/drawing/2014/main" id="{A489681D-DE0D-450F-A587-159E58DC62B3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476500" y="4581525"/>
            <a:ext cx="247650" cy="95"/>
          </a:xfrm>
          <a:custGeom xmlns:a="http://schemas.openxmlformats.org/drawingml/2006/main">
            <a:pathLst>
              <a:path w="247650" h="9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394248"/>
            </a:solidFill>
            <a:prstDash val="solid"/>
          </a:ln>
        </p:spPr>
      </p:sp>
      <p:sp>
        <p:nvSpPr>
          <p:cNvPr id="176" name="inset-arrowhead-1">
            <a:extLst xmlns:a="http://schemas.openxmlformats.org/drawingml/2006/main">
              <a:ext uri="{FF2B5EF4-FFF2-40B4-BE49-F238E27FC236}">
                <a16:creationId xmlns:a16="http://schemas.microsoft.com/office/drawing/2014/main" id="{79261C6E-E9B0-4138-B98C-F0A38749F3E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667000" y="4552950"/>
            <a:ext cx="57150" cy="57150"/>
          </a:xfrm>
          <a:custGeom xmlns:a="http://schemas.openxmlformats.org/drawingml/2006/main">
            <a:pathLst>
              <a:path w="57150" h="57150">
                <a:moveTo>
                  <a:pt x="57150" y="28575"/>
                </a:moveTo>
                <a:lnTo>
                  <a:pt x="0" y="0"/>
                </a:lnTo>
                <a:lnTo>
                  <a:pt x="0" y="57150"/>
                </a:lnTo>
                <a:close/>
              </a:path>
            </a:pathLst>
          </a:custGeom>
          <a:solidFill xmlns:a="http://schemas.openxmlformats.org/drawingml/2006/main">
            <a:srgbClr val="394248"/>
          </a:solidFill>
          <a:ln xmlns:a="http://schemas.openxmlformats.org/drawingml/2006/main" w="2858">
            <a:solidFill>
              <a:srgbClr val="394248"/>
            </a:solidFill>
            <a:prstDash val="solid"/>
          </a:ln>
        </p:spPr>
      </p:sp>
      <p:sp>
        <p:nvSpPr>
          <p:cNvPr id="177" name="delay-tap-0">
            <a:extLst xmlns:a="http://schemas.openxmlformats.org/drawingml/2006/main">
              <a:ext uri="{FF2B5EF4-FFF2-40B4-BE49-F238E27FC236}">
                <a16:creationId xmlns:a16="http://schemas.microsoft.com/office/drawing/2014/main" id="{03D93FB9-6295-4054-ADE0-17331E9D5AB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38450" y="4381500"/>
            <a:ext cx="2476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26292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6292B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178" name="delay-probability-bar-0">
            <a:extLst xmlns:a="http://schemas.openxmlformats.org/drawingml/2006/main">
              <a:ext uri="{FF2B5EF4-FFF2-40B4-BE49-F238E27FC236}">
                <a16:creationId xmlns:a16="http://schemas.microsoft.com/office/drawing/2014/main" id="{3617C790-ADD8-4DFA-902F-0D726E40EA7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933700" y="4623435"/>
            <a:ext cx="57150" cy="53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F7C"/>
          </a:solidFill>
          <a:ln xmlns:a="http://schemas.openxmlformats.org/drawingml/2006/main" w="0">
            <a:noFill/>
            <a:prstDash val="solid"/>
          </a:ln>
        </p:spPr>
      </p:sp>
      <p:grpSp>
        <p:nvGrpSpPr>
          <p:cNvPr id="387" name="delay-index-0"/>
          <p:cNvGrpSpPr/>
          <p:nvPr/>
        </p:nvGrpSpPr>
        <p:grpSpPr>
          <ns1:xfrm xmlns:ns1="http://schemas.openxmlformats.org/drawingml/2006/main">
            <ns1:off x="2866263" y="4686300"/>
            <ns1:ext cx="230124" cy="194310"/>
            <ns1:chOff x="2866263" y="4686300"/>
            <ns1:chExt cx="230124" cy="194310"/>
          </ns1:xfrm>
        </p:grpSpPr>
        <p:sp>
          <p:nvSpPr>
            <p:cNvPr id="179" name="delay-index-0.0">
              <a:extLst xmlns:a="http://schemas.openxmlformats.org/drawingml/2006/main">
                <a:ext uri="{FF2B5EF4-FFF2-40B4-BE49-F238E27FC236}">
                  <a16:creationId xmlns:a16="http://schemas.microsoft.com/office/drawing/2014/main" id="{0928A134-C50F-407D-A6CB-8DDA8C2D65E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866263" y="4686300"/>
              <a:ext cx="95250" cy="19431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900" b="0" i="1">
                  <a:solidFill>
                    <a:srgbClr val="2629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1">
                  <a:solidFill>
                    <a:srgbClr val="26292B"/>
                  </a:solidFill>
                  <a:latin typeface="Times New Roman"/>
                  <a:ea typeface="Times New Roman"/>
                  <a:cs typeface="Times New Roman"/>
                </a:rPr>
                <a:t>d</a:t>
              </a:r>
            </a:p>
          </p:txBody>
        </p:sp>
        <p:sp>
          <p:nvSpPr>
            <p:cNvPr id="180" name="delay-index-0.1">
              <a:extLst xmlns:a="http://schemas.openxmlformats.org/drawingml/2006/main">
                <a:ext uri="{FF2B5EF4-FFF2-40B4-BE49-F238E27FC236}">
                  <a16:creationId xmlns:a16="http://schemas.microsoft.com/office/drawing/2014/main" id="{7CBDB328-533E-405E-ABBE-279266A6F13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23413" y="4686300"/>
              <a:ext cx="112395" cy="19431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900" b="0" i="0">
                  <a:solidFill>
                    <a:srgbClr val="2629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26292B"/>
                  </a:solidFill>
                  <a:latin typeface="Times New Roman"/>
                  <a:ea typeface="Times New Roman"/>
                  <a:cs typeface="Times New Roman"/>
                </a:rPr>
                <a:t>=</a:t>
              </a:r>
            </a:p>
          </p:txBody>
        </p:sp>
        <p:sp>
          <p:nvSpPr>
            <p:cNvPr id="181" name="delay-index-0.2">
              <a:extLst xmlns:a="http://schemas.openxmlformats.org/drawingml/2006/main">
                <a:ext uri="{FF2B5EF4-FFF2-40B4-BE49-F238E27FC236}">
                  <a16:creationId xmlns:a16="http://schemas.microsoft.com/office/drawing/2014/main" id="{A042C42E-E7DA-4227-B889-06868954A5C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2997708" y="4686300"/>
              <a:ext cx="98679" cy="19431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900" b="0" i="0">
                  <a:solidFill>
                    <a:srgbClr val="2629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26292B"/>
                  </a:solidFill>
                  <a:latin typeface="Times New Roman"/>
                  <a:ea typeface="Times New Roman"/>
                  <a:cs typeface="Times New Roman"/>
                </a:rPr>
                <a:t>0</a:t>
              </a:r>
            </a:p>
          </p:txBody>
        </p:sp>
      </p:grpSp>
      <p:sp>
        <p:nvSpPr>
          <p:cNvPr id="182" name="delay-tap-1">
            <a:extLst xmlns:a="http://schemas.openxmlformats.org/drawingml/2006/main">
              <a:ext uri="{FF2B5EF4-FFF2-40B4-BE49-F238E27FC236}">
                <a16:creationId xmlns:a16="http://schemas.microsoft.com/office/drawing/2014/main" id="{2D11003F-CCBC-4A5C-B377-65EBB2C6330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171825" y="4381500"/>
            <a:ext cx="2476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26292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6292B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183" name="delay-probability-bar-1">
            <a:extLst xmlns:a="http://schemas.openxmlformats.org/drawingml/2006/main">
              <a:ext uri="{FF2B5EF4-FFF2-40B4-BE49-F238E27FC236}">
                <a16:creationId xmlns:a16="http://schemas.microsoft.com/office/drawing/2014/main" id="{CDC6E6CE-1BE7-427E-A1DB-1B36685B1C3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267075" y="4543425"/>
            <a:ext cx="57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F7C"/>
          </a:solidFill>
          <a:ln xmlns:a="http://schemas.openxmlformats.org/drawingml/2006/main" w="0">
            <a:noFill/>
            <a:prstDash val="solid"/>
          </a:ln>
        </p:spPr>
      </p:sp>
      <p:grpSp>
        <p:nvGrpSpPr>
          <p:cNvPr id="388" name="delay-index-1"/>
          <p:cNvGrpSpPr/>
          <p:nvPr/>
        </p:nvGrpSpPr>
        <p:grpSpPr>
          <ns1:xfrm xmlns:ns1="http://schemas.openxmlformats.org/drawingml/2006/main">
            <ns1:off x="3199638" y="4686300"/>
            <ns1:ext cx="230124" cy="194310"/>
            <ns1:chOff x="3199638" y="4686300"/>
            <ns1:chExt cx="230124" cy="194310"/>
          </ns1:xfrm>
        </p:grpSpPr>
        <p:sp>
          <p:nvSpPr>
            <p:cNvPr id="184" name="delay-index-1.0">
              <a:extLst xmlns:a="http://schemas.openxmlformats.org/drawingml/2006/main">
                <a:ext uri="{FF2B5EF4-FFF2-40B4-BE49-F238E27FC236}">
                  <a16:creationId xmlns:a16="http://schemas.microsoft.com/office/drawing/2014/main" id="{3DB1C175-277F-4D8B-B4B6-2329FA48903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199638" y="4686300"/>
              <a:ext cx="95250" cy="19431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900" b="0" i="1">
                  <a:solidFill>
                    <a:srgbClr val="2629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1">
                  <a:solidFill>
                    <a:srgbClr val="26292B"/>
                  </a:solidFill>
                  <a:latin typeface="Times New Roman"/>
                  <a:ea typeface="Times New Roman"/>
                  <a:cs typeface="Times New Roman"/>
                </a:rPr>
                <a:t>d</a:t>
              </a:r>
            </a:p>
          </p:txBody>
        </p:sp>
        <p:sp>
          <p:nvSpPr>
            <p:cNvPr id="185" name="delay-index-1.1">
              <a:extLst xmlns:a="http://schemas.openxmlformats.org/drawingml/2006/main">
                <a:ext uri="{FF2B5EF4-FFF2-40B4-BE49-F238E27FC236}">
                  <a16:creationId xmlns:a16="http://schemas.microsoft.com/office/drawing/2014/main" id="{1E4C6801-5D3A-4060-B209-1EA68BDEAEF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56788" y="4686300"/>
              <a:ext cx="112395" cy="19431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900" b="0" i="0">
                  <a:solidFill>
                    <a:srgbClr val="2629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26292B"/>
                  </a:solidFill>
                  <a:latin typeface="Times New Roman"/>
                  <a:ea typeface="Times New Roman"/>
                  <a:cs typeface="Times New Roman"/>
                </a:rPr>
                <a:t>=</a:t>
              </a:r>
            </a:p>
          </p:txBody>
        </p:sp>
        <p:sp>
          <p:nvSpPr>
            <p:cNvPr id="186" name="delay-index-1.2">
              <a:extLst xmlns:a="http://schemas.openxmlformats.org/drawingml/2006/main">
                <a:ext uri="{FF2B5EF4-FFF2-40B4-BE49-F238E27FC236}">
                  <a16:creationId xmlns:a16="http://schemas.microsoft.com/office/drawing/2014/main" id="{36ED7DF4-D1AC-4BB2-BCF7-ABADBBB8410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331083" y="4686300"/>
              <a:ext cx="98679" cy="19431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900" b="0" i="0">
                  <a:solidFill>
                    <a:srgbClr val="2629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26292B"/>
                  </a:solidFill>
                  <a:latin typeface="Times New Roman"/>
                  <a:ea typeface="Times New Roman"/>
                  <a:cs typeface="Times New Roman"/>
                </a:rPr>
                <a:t>1</a:t>
              </a:r>
            </a:p>
          </p:txBody>
        </p:sp>
      </p:grpSp>
      <p:sp>
        <p:nvSpPr>
          <p:cNvPr id="187" name="delay-tap-2">
            <a:extLst xmlns:a="http://schemas.openxmlformats.org/drawingml/2006/main">
              <a:ext uri="{FF2B5EF4-FFF2-40B4-BE49-F238E27FC236}">
                <a16:creationId xmlns:a16="http://schemas.microsoft.com/office/drawing/2014/main" id="{8441102C-1EC2-46E0-98AB-E2CCA7A31CA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505200" y="4381500"/>
            <a:ext cx="2476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26292B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6292B"/>
                </a:solidFill>
                <a:latin typeface="Arial"/>
                <a:ea typeface="Arial"/>
                <a:cs typeface="Arial"/>
              </a:rPr>
              <a:t>0.3</a:t>
            </a:r>
          </a:p>
        </p:txBody>
      </p:sp>
      <p:sp>
        <p:nvSpPr>
          <p:cNvPr id="188" name="delay-probability-bar-2">
            <a:extLst xmlns:a="http://schemas.openxmlformats.org/drawingml/2006/main">
              <a:ext uri="{FF2B5EF4-FFF2-40B4-BE49-F238E27FC236}">
                <a16:creationId xmlns:a16="http://schemas.microsoft.com/office/drawing/2014/main" id="{77685E75-26E1-4200-B481-671FD231793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600450" y="4596765"/>
            <a:ext cx="5715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F7C"/>
          </a:solidFill>
          <a:ln xmlns:a="http://schemas.openxmlformats.org/drawingml/2006/main" w="0">
            <a:noFill/>
            <a:prstDash val="solid"/>
          </a:ln>
        </p:spPr>
      </p:sp>
      <p:grpSp>
        <p:nvGrpSpPr>
          <p:cNvPr id="389" name="delay-index-2"/>
          <p:cNvGrpSpPr/>
          <p:nvPr/>
        </p:nvGrpSpPr>
        <p:grpSpPr>
          <ns1:xfrm xmlns:ns1="http://schemas.openxmlformats.org/drawingml/2006/main">
            <ns1:off x="3533013" y="4686300"/>
            <ns1:ext cx="230124" cy="194310"/>
            <ns1:chOff x="3533013" y="4686300"/>
            <ns1:chExt cx="230124" cy="194310"/>
          </ns1:xfrm>
        </p:grpSpPr>
        <p:sp>
          <p:nvSpPr>
            <p:cNvPr id="189" name="delay-index-2.0">
              <a:extLst xmlns:a="http://schemas.openxmlformats.org/drawingml/2006/main">
                <a:ext uri="{FF2B5EF4-FFF2-40B4-BE49-F238E27FC236}">
                  <a16:creationId xmlns:a16="http://schemas.microsoft.com/office/drawing/2014/main" id="{F75F5E67-2E28-4876-B08E-BB5F863D688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33013" y="4686300"/>
              <a:ext cx="95250" cy="19431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900" b="0" i="1">
                  <a:solidFill>
                    <a:srgbClr val="2629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1">
                  <a:solidFill>
                    <a:srgbClr val="26292B"/>
                  </a:solidFill>
                  <a:latin typeface="Times New Roman"/>
                  <a:ea typeface="Times New Roman"/>
                  <a:cs typeface="Times New Roman"/>
                </a:rPr>
                <a:t>d</a:t>
              </a:r>
            </a:p>
          </p:txBody>
        </p:sp>
        <p:sp>
          <p:nvSpPr>
            <p:cNvPr id="190" name="delay-index-2.1">
              <a:extLst xmlns:a="http://schemas.openxmlformats.org/drawingml/2006/main">
                <a:ext uri="{FF2B5EF4-FFF2-40B4-BE49-F238E27FC236}">
                  <a16:creationId xmlns:a16="http://schemas.microsoft.com/office/drawing/2014/main" id="{F9FE1CBF-41C3-4D2E-942C-DAA20AD6D8D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90163" y="4686300"/>
              <a:ext cx="112395" cy="19431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900" b="0" i="0">
                  <a:solidFill>
                    <a:srgbClr val="2629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26292B"/>
                  </a:solidFill>
                  <a:latin typeface="Times New Roman"/>
                  <a:ea typeface="Times New Roman"/>
                  <a:cs typeface="Times New Roman"/>
                </a:rPr>
                <a:t>=</a:t>
              </a:r>
            </a:p>
          </p:txBody>
        </p:sp>
        <p:sp>
          <p:nvSpPr>
            <p:cNvPr id="191" name="delay-index-2.2">
              <a:extLst xmlns:a="http://schemas.openxmlformats.org/drawingml/2006/main">
                <a:ext uri="{FF2B5EF4-FFF2-40B4-BE49-F238E27FC236}">
                  <a16:creationId xmlns:a16="http://schemas.microsoft.com/office/drawing/2014/main" id="{F33B89BF-1C14-4052-8F03-D01A74A8BA9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664458" y="4686300"/>
              <a:ext cx="98679" cy="19431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900" b="0" i="0">
                  <a:solidFill>
                    <a:srgbClr val="2629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26292B"/>
                  </a:solidFill>
                  <a:latin typeface="Times New Roman"/>
                  <a:ea typeface="Times New Roman"/>
                  <a:cs typeface="Times New Roman"/>
                </a:rPr>
                <a:t>2</a:t>
              </a:r>
            </a:p>
          </p:txBody>
        </p:sp>
      </p:grpSp>
      <p:sp>
        <p:nvSpPr>
          <p:cNvPr id="192" name="kernel-base">
            <a:extLst xmlns:a="http://schemas.openxmlformats.org/drawingml/2006/main">
              <a:ext uri="{FF2B5EF4-FFF2-40B4-BE49-F238E27FC236}">
                <a16:creationId xmlns:a16="http://schemas.microsoft.com/office/drawing/2014/main" id="{7BE00360-39E9-4CB6-BCB1-7E29274E497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847975" y="4676775"/>
            <a:ext cx="942975" cy="95"/>
          </a:xfrm>
          <a:custGeom xmlns:a="http://schemas.openxmlformats.org/drawingml/2006/main">
            <a:pathLst>
              <a:path w="942975" h="95">
                <a:moveTo>
                  <a:pt x="0" y="0"/>
                </a:moveTo>
                <a:lnTo>
                  <a:pt x="942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747B7F"/>
            </a:solidFill>
            <a:prstDash val="solid"/>
          </a:ln>
        </p:spPr>
      </p:sp>
      <p:sp>
        <p:nvSpPr>
          <p:cNvPr id="193" name="inset-arrow-2">
            <a:extLst xmlns:a="http://schemas.openxmlformats.org/drawingml/2006/main">
              <a:ext uri="{FF2B5EF4-FFF2-40B4-BE49-F238E27FC236}">
                <a16:creationId xmlns:a16="http://schemas.microsoft.com/office/drawing/2014/main" id="{A2AF3267-1944-4701-AE49-ED4BA6AFDDE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952875" y="4581525"/>
            <a:ext cx="238125" cy="95"/>
          </a:xfrm>
          <a:custGeom xmlns:a="http://schemas.openxmlformats.org/drawingml/2006/main">
            <a:pathLst>
              <a:path w="238125" h="9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394248"/>
            </a:solidFill>
            <a:prstDash val="solid"/>
          </a:ln>
        </p:spPr>
      </p:sp>
      <p:sp>
        <p:nvSpPr>
          <p:cNvPr id="194" name="inset-arrowhead-2">
            <a:extLst xmlns:a="http://schemas.openxmlformats.org/drawingml/2006/main">
              <a:ext uri="{FF2B5EF4-FFF2-40B4-BE49-F238E27FC236}">
                <a16:creationId xmlns:a16="http://schemas.microsoft.com/office/drawing/2014/main" id="{7D6C9933-9A3B-4A9C-8578-85413C513BE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133850" y="4552950"/>
            <a:ext cx="57150" cy="57150"/>
          </a:xfrm>
          <a:custGeom xmlns:a="http://schemas.openxmlformats.org/drawingml/2006/main">
            <a:pathLst>
              <a:path w="57150" h="57150">
                <a:moveTo>
                  <a:pt x="57150" y="28575"/>
                </a:moveTo>
                <a:lnTo>
                  <a:pt x="0" y="0"/>
                </a:lnTo>
                <a:lnTo>
                  <a:pt x="0" y="57150"/>
                </a:lnTo>
                <a:close/>
              </a:path>
            </a:pathLst>
          </a:custGeom>
          <a:solidFill xmlns:a="http://schemas.openxmlformats.org/drawingml/2006/main">
            <a:srgbClr val="394248"/>
          </a:solidFill>
          <a:ln xmlns:a="http://schemas.openxmlformats.org/drawingml/2006/main" w="2858">
            <a:solidFill>
              <a:srgbClr val="394248"/>
            </a:solidFill>
            <a:prstDash val="solid"/>
          </a:ln>
        </p:spPr>
      </p:sp>
      <p:sp>
        <p:nvSpPr>
          <p:cNvPr id="195" name="weighted-base">
            <a:extLst xmlns:a="http://schemas.openxmlformats.org/drawingml/2006/main">
              <a:ext uri="{FF2B5EF4-FFF2-40B4-BE49-F238E27FC236}">
                <a16:creationId xmlns:a16="http://schemas.microsoft.com/office/drawing/2014/main" id="{BC4B49C1-D542-4B2E-A7D8-9FC6A22A69C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400550" y="4676775"/>
            <a:ext cx="1238250" cy="95"/>
          </a:xfrm>
          <a:custGeom xmlns:a="http://schemas.openxmlformats.org/drawingml/2006/main">
            <a:pathLst>
              <a:path w="1238250" h="95">
                <a:moveTo>
                  <a:pt x="0" y="0"/>
                </a:moveTo>
                <a:lnTo>
                  <a:pt x="1238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15">
            <a:solidFill>
              <a:srgbClr val="747B7F"/>
            </a:solidFill>
            <a:prstDash val="solid"/>
          </a:ln>
        </p:spPr>
      </p:sp>
      <p:sp>
        <p:nvSpPr>
          <p:cNvPr id="196" name="weighted-event-0">
            <a:extLst xmlns:a="http://schemas.openxmlformats.org/drawingml/2006/main">
              <a:ext uri="{FF2B5EF4-FFF2-40B4-BE49-F238E27FC236}">
                <a16:creationId xmlns:a16="http://schemas.microsoft.com/office/drawing/2014/main" id="{406F08B0-6D78-4E34-A240-5B10E4229CC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600575" y="4623435"/>
            <a:ext cx="95" cy="53340"/>
          </a:xfrm>
          <a:custGeom xmlns:a="http://schemas.openxmlformats.org/drawingml/2006/main">
            <a:pathLst>
              <a:path w="95" h="53340">
                <a:moveTo>
                  <a:pt x="0" y="5334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267F7C"/>
            </a:solidFill>
            <a:prstDash val="solid"/>
          </a:ln>
        </p:spPr>
      </p:sp>
      <p:sp>
        <p:nvSpPr>
          <p:cNvPr id="197" name="weighted-time-0.0">
            <a:extLst xmlns:a="http://schemas.openxmlformats.org/drawingml/2006/main">
              <a:ext uri="{FF2B5EF4-FFF2-40B4-BE49-F238E27FC236}">
                <a16:creationId xmlns:a16="http://schemas.microsoft.com/office/drawing/2014/main" id="{E52B1549-E58F-43E7-A5BE-2AC2BCB82BD0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584002" y="4686300"/>
            <a:ext cx="91440" cy="19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2629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1">
                <a:solidFill>
                  <a:srgbClr val="26292B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198" name="weighted-event-1">
            <a:extLst xmlns:a="http://schemas.openxmlformats.org/drawingml/2006/main">
              <a:ext uri="{FF2B5EF4-FFF2-40B4-BE49-F238E27FC236}">
                <a16:creationId xmlns:a16="http://schemas.microsoft.com/office/drawing/2014/main" id="{763981B5-26C5-4A96-AADF-B14AE1E5D33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943475" y="4543425"/>
            <a:ext cx="95" cy="133350"/>
          </a:xfrm>
          <a:custGeom xmlns:a="http://schemas.openxmlformats.org/drawingml/2006/main">
            <a:pathLst>
              <a:path w="95" h="133350">
                <a:moveTo>
                  <a:pt x="0" y="1333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267F7C"/>
            </a:solidFill>
            <a:prstDash val="solid"/>
          </a:ln>
        </p:spPr>
      </p:sp>
      <p:grpSp>
        <p:nvGrpSpPr>
          <p:cNvPr id="390" name="weighted-time-1"/>
          <p:cNvGrpSpPr/>
          <p:nvPr/>
        </p:nvGrpSpPr>
        <p:grpSpPr>
          <ns1:xfrm xmlns:ns1="http://schemas.openxmlformats.org/drawingml/2006/main">
            <ns1:off x="4853750" y="4686300"/>
            <ns1:ext cx="217550" cy="194310"/>
            <ns1:chOff x="4853750" y="4686300"/>
            <ns1:chExt cx="217550" cy="194310"/>
          </ns1:xfrm>
        </p:grpSpPr>
        <p:sp>
          <p:nvSpPr>
            <p:cNvPr id="199" name="weighted-time-1.0">
              <a:extLst xmlns:a="http://schemas.openxmlformats.org/drawingml/2006/main">
                <a:ext uri="{FF2B5EF4-FFF2-40B4-BE49-F238E27FC236}">
                  <a16:creationId xmlns:a16="http://schemas.microsoft.com/office/drawing/2014/main" id="{73DEA120-8203-4AAD-B4C4-C6AB85DFE34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853750" y="4686300"/>
              <a:ext cx="91440" cy="19431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900" b="0" i="1">
                  <a:solidFill>
                    <a:srgbClr val="2629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1">
                  <a:solidFill>
                    <a:srgbClr val="26292B"/>
                  </a:solidFill>
                  <a:latin typeface="Times New Roman"/>
                  <a:ea typeface="Times New Roman"/>
                  <a:cs typeface="Times New Roman"/>
                </a:rPr>
                <a:t>t</a:t>
              </a:r>
            </a:p>
          </p:txBody>
        </p:sp>
        <p:sp>
          <p:nvSpPr>
            <p:cNvPr id="200" name="weighted-time-1.1">
              <a:extLst xmlns:a="http://schemas.openxmlformats.org/drawingml/2006/main">
                <a:ext uri="{FF2B5EF4-FFF2-40B4-BE49-F238E27FC236}">
                  <a16:creationId xmlns:a16="http://schemas.microsoft.com/office/drawing/2014/main" id="{1B4AF37F-49BB-458B-97A7-6C0AA776712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886896" y="4686300"/>
              <a:ext cx="123825" cy="19431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900" b="0" i="0">
                  <a:solidFill>
                    <a:srgbClr val="2629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26292B"/>
                  </a:solidFill>
                  <a:latin typeface="Times New Roman"/>
                  <a:ea typeface="Times New Roman"/>
                  <a:cs typeface="Times New Roman"/>
                </a:rPr>
                <a:t>+</a:t>
              </a:r>
            </a:p>
          </p:txBody>
        </p:sp>
        <p:sp>
          <p:nvSpPr>
            <p:cNvPr id="201" name="weighted-time-1.2">
              <a:extLst xmlns:a="http://schemas.openxmlformats.org/drawingml/2006/main">
                <a:ext uri="{FF2B5EF4-FFF2-40B4-BE49-F238E27FC236}">
                  <a16:creationId xmlns:a16="http://schemas.microsoft.com/office/drawing/2014/main" id="{37DF2A63-C711-45D1-A478-2CE00577D13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972621" y="4686300"/>
              <a:ext cx="98679" cy="19431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900" b="0" i="0">
                  <a:solidFill>
                    <a:srgbClr val="2629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26292B"/>
                  </a:solidFill>
                  <a:latin typeface="Times New Roman"/>
                  <a:ea typeface="Times New Roman"/>
                  <a:cs typeface="Times New Roman"/>
                </a:rPr>
                <a:t>1</a:t>
              </a:r>
            </a:p>
          </p:txBody>
        </p:sp>
      </p:grpSp>
      <p:sp>
        <p:nvSpPr>
          <p:cNvPr id="202" name="weighted-event-2">
            <a:extLst xmlns:a="http://schemas.openxmlformats.org/drawingml/2006/main">
              <a:ext uri="{FF2B5EF4-FFF2-40B4-BE49-F238E27FC236}">
                <a16:creationId xmlns:a16="http://schemas.microsoft.com/office/drawing/2014/main" id="{A7425295-A8D9-46CA-8D48-0D57759288DA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286375" y="4596765"/>
            <a:ext cx="95" cy="80010"/>
          </a:xfrm>
          <a:custGeom xmlns:a="http://schemas.openxmlformats.org/drawingml/2006/main">
            <a:pathLst>
              <a:path w="95" h="80010">
                <a:moveTo>
                  <a:pt x="0" y="8001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267F7C"/>
            </a:solidFill>
            <a:prstDash val="solid"/>
          </a:ln>
        </p:spPr>
      </p:sp>
      <p:grpSp>
        <p:nvGrpSpPr>
          <p:cNvPr id="391" name="weighted-time-2"/>
          <p:cNvGrpSpPr/>
          <p:nvPr/>
        </p:nvGrpSpPr>
        <p:grpSpPr>
          <ns1:xfrm xmlns:ns1="http://schemas.openxmlformats.org/drawingml/2006/main">
            <ns1:off x="5196650" y="4686300"/>
            <ns1:ext cx="217551" cy="194310"/>
            <ns1:chOff x="5196650" y="4686300"/>
            <ns1:chExt cx="217551" cy="194310"/>
          </ns1:xfrm>
        </p:grpSpPr>
        <p:sp>
          <p:nvSpPr>
            <p:cNvPr id="203" name="weighted-time-2.0">
              <a:extLst xmlns:a="http://schemas.openxmlformats.org/drawingml/2006/main">
                <a:ext uri="{FF2B5EF4-FFF2-40B4-BE49-F238E27FC236}">
                  <a16:creationId xmlns:a16="http://schemas.microsoft.com/office/drawing/2014/main" id="{15890C4C-4431-4FC0-80CD-A0605C8E720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96650" y="4686300"/>
              <a:ext cx="91440" cy="19431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900" b="0" i="1">
                  <a:solidFill>
                    <a:srgbClr val="2629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1">
                  <a:solidFill>
                    <a:srgbClr val="26292B"/>
                  </a:solidFill>
                  <a:latin typeface="Times New Roman"/>
                  <a:ea typeface="Times New Roman"/>
                  <a:cs typeface="Times New Roman"/>
                </a:rPr>
                <a:t>t</a:t>
              </a:r>
            </a:p>
          </p:txBody>
        </p:sp>
        <p:sp>
          <p:nvSpPr>
            <p:cNvPr id="204" name="weighted-time-2.1">
              <a:extLst xmlns:a="http://schemas.openxmlformats.org/drawingml/2006/main">
                <a:ext uri="{FF2B5EF4-FFF2-40B4-BE49-F238E27FC236}">
                  <a16:creationId xmlns:a16="http://schemas.microsoft.com/office/drawing/2014/main" id="{B328532E-29C9-4276-97ED-B0F14350C21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229797" y="4686300"/>
              <a:ext cx="123825" cy="19431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900" b="0" i="0">
                  <a:solidFill>
                    <a:srgbClr val="2629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26292B"/>
                  </a:solidFill>
                  <a:latin typeface="Times New Roman"/>
                  <a:ea typeface="Times New Roman"/>
                  <a:cs typeface="Times New Roman"/>
                </a:rPr>
                <a:t>+</a:t>
              </a:r>
            </a:p>
          </p:txBody>
        </p:sp>
        <p:sp>
          <p:nvSpPr>
            <p:cNvPr id="205" name="weighted-time-2.2">
              <a:extLst xmlns:a="http://schemas.openxmlformats.org/drawingml/2006/main">
                <a:ext uri="{FF2B5EF4-FFF2-40B4-BE49-F238E27FC236}">
                  <a16:creationId xmlns:a16="http://schemas.microsoft.com/office/drawing/2014/main" id="{3B4B9AFA-3A91-439D-AF43-7764CB94D92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315522" y="4686300"/>
              <a:ext cx="98679" cy="19431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defRPr sz="900" b="0" i="0">
                  <a:solidFill>
                    <a:srgbClr val="2629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26292B"/>
                  </a:solidFill>
                  <a:latin typeface="Times New Roman"/>
                  <a:ea typeface="Times New Roman"/>
                  <a:cs typeface="Times New Roman"/>
                </a:rPr>
                <a:t>2</a:t>
              </a:r>
            </a:p>
          </p:txBody>
        </p:sp>
      </p:grpSp>
      <p:sp>
        <p:nvSpPr>
          <p:cNvPr id="206" name="kernel-example-label">
            <a:extLst xmlns:a="http://schemas.openxmlformats.org/drawingml/2006/main">
              <a:ext uri="{FF2B5EF4-FFF2-40B4-BE49-F238E27FC236}">
                <a16:creationId xmlns:a16="http://schemas.microsoft.com/office/drawing/2014/main" id="{79B51762-E464-4715-A607-B8101A92826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734050" y="4448175"/>
            <a:ext cx="523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2585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2585B"/>
                </a:solidFill>
                <a:latin typeface="Arial"/>
                <a:ea typeface="Arial"/>
                <a:cs typeface="Arial"/>
              </a:rPr>
              <a:t>3 nonzero</a:t>
            </a:r>
          </a:p>
          <a:p xmlns:a="http://schemas.openxmlformats.org/drawingml/2006/main">
            <a:pPr algn="ctr">
              <a:defRPr sz="675" b="0">
                <a:solidFill>
                  <a:srgbClr val="52585B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2585B"/>
                </a:solidFill>
                <a:latin typeface="Arial"/>
                <a:ea typeface="Arial"/>
                <a:cs typeface="Arial"/>
              </a:rPr>
              <a:t>taps shown</a:t>
            </a:r>
          </a:p>
        </p:txBody>
      </p:sp>
      <p:sp>
        <p:nvSpPr>
          <p:cNvPr id="207" name="footer">
            <a:extLst xmlns:a="http://schemas.openxmlformats.org/drawingml/2006/main">
              <a:ext uri="{FF2B5EF4-FFF2-40B4-BE49-F238E27FC236}">
                <a16:creationId xmlns:a16="http://schemas.microsoft.com/office/drawing/2014/main" id="{00FC6E56-174B-447A-A974-47CD04F4DF4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2400" y="4829175"/>
            <a:ext cx="60960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52585B"/>
                </a:solidFill>
                <a:latin typeface="Arial"/>
                <a:ea typeface="Arial"/>
                <a:cs typeface="Arial"/>
              </a:defRPr>
            </a:pPr>
            <a:r>
              <a:rPr sz="690" b="0">
                <a:solidFill>
                  <a:srgbClr val="52585B"/>
                </a:solidFill>
                <a:latin typeface="Arial"/>
                <a:ea typeface="Arial"/>
                <a:cs typeface="Arial"/>
              </a:rPr>
              <a:t>Schematic spikes and widths. Training input and target include 30 zero-tail bins.</a:t>
            </a:r>
          </a:p>
        </p:txBody>
      </p:sp>
    </p:spTree>
    <p:extLst>
      <p:ext uri="{BB962C8B-B14F-4D97-AF65-F5344CB8AC3E}">
        <p14:creationId xmlns:p14="http://schemas.microsoft.com/office/powerpoint/2010/main" val="4732561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2026-10-01T01:54:15.2520000Z</dcterms:created>
  <dcterms:modified xsi:type="dcterms:W3CDTF">2026-10-01T01:54:15.2520000Z</dcterms:modified>
</coreProperties>
</file>