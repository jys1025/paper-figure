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b692cbb0ec4475" /><Relationship Type="http://schemas.openxmlformats.org/officeDocument/2006/relationships/extended-properties" Target="/docProps/app.xml" Id="R23095e54d58b48a3" /><Relationship Type="http://schemas.openxmlformats.org/officeDocument/2006/relationships/officeDocument" Target="/ppt/presentation.xml" Id="Rc12cbdb9cddc4c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b69e976e38464d"/>
  </p:sldMasterIdLst>
  <p:notesMasterIdLst>
    <p:notesMasterId xmlns:r="http://schemas.openxmlformats.org/officeDocument/2006/relationships" r:id="R82fdcb8e87dc4eee"/>
  </p:notesMasterIdLst>
  <p:sldIdLst>
    <p:sldId xmlns:r="http://schemas.openxmlformats.org/officeDocument/2006/relationships" id="256" r:id="R370a340f4cb24322"/>
  </p:sldIdLst>
  <p:sldSz cx="6400800" cy="4095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6d6f20bc664134" /><Relationship Type="http://schemas.openxmlformats.org/officeDocument/2006/relationships/slideMaster" Target="/ppt/slideMasters/slideMaster1.xml" Id="Rc1b69e976e38464d" /><Relationship Type="http://schemas.openxmlformats.org/officeDocument/2006/relationships/notesMaster" Target="/ppt/notesMasters/notesMaster1.xml" Id="R82fdcb8e87dc4eee" /><Relationship Type="http://schemas.openxmlformats.org/officeDocument/2006/relationships/presProps" Target="/ppt/presProps.xml" Id="R6293afff3ad74e1e" /><Relationship Type="http://schemas.openxmlformats.org/officeDocument/2006/relationships/tableStyles" Target="/ppt/tableStyles.xml" Id="R4bf6828a78be4a93" /><Relationship Type="http://schemas.openxmlformats.org/officeDocument/2006/relationships/slide" Target="/ppt/slides/slide1.xml" Id="R370a340f4cb243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5c1f1458584c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ed460d875b4e44" /><Relationship Type="http://schemas.openxmlformats.org/officeDocument/2006/relationships/notesMaster" Target="/ppt/notesMasters/notesMaster1.xml" Id="R60948129236840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Facet coverage and source-linked answer assembly</a:t>
            </a:r>
          </a:p>
          <a:p xmlns:a="http://schemas.openxmlformats.org/drawingml/2006/main">
            <a:r>
              <a:t>Illustrative toy example: stipulated binary facet coverage, earliest source ID breaks ties, one source per facet. Citations [1] and [3] refer to the toy documents d1 and d3, not published sources. No measured scores or performance claims. Full image-model draft was generated, inspected and its transfer plan saved before native authoring. CLIP figure inspected for row/column identity: https://arxiv.org/html/2103.00020v1/main-diagrams.png . No source artwork or full draft embedded. Separate image-model document pictogram is illustrative and independently replaceable. All explanation geometry/text is native. Mathematical labels are grouped text, not OMML. Intended print width 177.8 mm.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b15c509e7e49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bb600c6b924ab0" /><Relationship Type="http://schemas.openxmlformats.org/officeDocument/2006/relationships/slideLayout" Target="/ppt/slideLayouts/slideLayout1.xml" Id="R341928b45b4849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1928b45b4849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e6df9ebbc4ff6" /><Relationship Type="http://schemas.openxmlformats.org/officeDocument/2006/relationships/image" Target="/ppt/media/image.png" Id="Rf79591b5ff434ec1" /><Relationship Type="http://schemas.openxmlformats.org/officeDocument/2006/relationships/notesSlide" Target="/ppt/notesSlides/notesSlide1.xml" Id="R1a7780a9ee394d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query-context">
            <a:extLst xmlns:a="http://schemas.openxmlformats.org/drawingml/2006/main">
              <a:ext uri="{FF2B5EF4-FFF2-40B4-BE49-F238E27FC236}">
                <a16:creationId xmlns:a16="http://schemas.microsoft.com/office/drawing/2014/main" id="{763C8884-974E-4B10-B1D3-0A57DCCCD25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1500" y="238125"/>
            <a:ext cx="18478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3EAD5"/>
          </a:solidFill>
          <a:ln xmlns:a="http://schemas.openxmlformats.org/drawingml/2006/main" w="11906">
            <a:solidFill>
              <a:srgbClr val="967F4B"/>
            </a:solidFill>
            <a:prstDash val="solid"/>
          </a:ln>
        </p:spPr>
      </p:sp>
      <p:sp>
        <p:nvSpPr>
          <p:cNvPr id="2" name="query-heading">
            <a:extLst xmlns:a="http://schemas.openxmlformats.org/drawingml/2006/main">
              <a:ext uri="{FF2B5EF4-FFF2-40B4-BE49-F238E27FC236}">
                <a16:creationId xmlns:a16="http://schemas.microsoft.com/office/drawing/2014/main" id="{A798473D-BD96-43AD-A36D-BB15DBB2A4A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85800" y="323850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B6D2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6D2D"/>
                </a:solidFill>
                <a:latin typeface="Arial"/>
                <a:ea typeface="Arial"/>
                <a:cs typeface="Arial"/>
              </a:rPr>
              <a:t>Query</a:t>
            </a:r>
          </a:p>
        </p:txBody>
      </p:sp>
      <p:sp>
        <p:nvSpPr>
          <p:cNvPr id="3" name="query-text">
            <a:extLst xmlns:a="http://schemas.openxmlformats.org/drawingml/2006/main">
              <a:ext uri="{FF2B5EF4-FFF2-40B4-BE49-F238E27FC236}">
                <a16:creationId xmlns:a16="http://schemas.microsoft.com/office/drawing/2014/main" id="{9D3F5C3E-F77E-4CCA-BE1D-9898B8E9F8A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85800" y="53340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C282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C282D"/>
                </a:solidFill>
                <a:latin typeface="Arial"/>
                <a:ea typeface="Arial"/>
                <a:cs typeface="Arial"/>
              </a:rPr>
              <a:t>How are cached results reused and evicted?</a:t>
            </a:r>
          </a:p>
        </p:txBody>
      </p:sp>
      <p:sp>
        <p:nvSpPr>
          <p:cNvPr id="4" name="selection-rule">
            <a:extLst xmlns:a="http://schemas.openxmlformats.org/drawingml/2006/main">
              <a:ext uri="{FF2B5EF4-FFF2-40B4-BE49-F238E27FC236}">
                <a16:creationId xmlns:a16="http://schemas.microsoft.com/office/drawing/2014/main" id="{569A90D7-1C2B-4C2A-B188-4D089F01D18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457700" y="238125"/>
            <a:ext cx="1828800" cy="657225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3F0F2"/>
          </a:solidFill>
          <a:ln xmlns:a="http://schemas.openxmlformats.org/drawingml/2006/main" w="9525">
            <a:solidFill>
              <a:srgbClr val="7D737C"/>
            </a:solidFill>
            <a:prstDash val="solid"/>
          </a:ln>
        </p:spPr>
      </p:sp>
      <p:sp>
        <p:nvSpPr>
          <p:cNvPr id="5" name="rule-heading">
            <a:extLst xmlns:a="http://schemas.openxmlformats.org/drawingml/2006/main">
              <a:ext uri="{FF2B5EF4-FFF2-40B4-BE49-F238E27FC236}">
                <a16:creationId xmlns:a16="http://schemas.microsoft.com/office/drawing/2014/main" id="{468B47F5-0D03-4063-9FE0-8331E20BE94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62475" y="314325"/>
            <a:ext cx="1619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C282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C282D"/>
                </a:solidFill>
                <a:latin typeface="Arial"/>
                <a:ea typeface="Arial"/>
                <a:cs typeface="Arial"/>
              </a:rPr>
              <a:t>Selection rule</a:t>
            </a:r>
          </a:p>
        </p:txBody>
      </p:sp>
      <p:sp>
        <p:nvSpPr>
          <p:cNvPr id="6" name="rule-one">
            <a:extLst xmlns:a="http://schemas.openxmlformats.org/drawingml/2006/main">
              <a:ext uri="{FF2B5EF4-FFF2-40B4-BE49-F238E27FC236}">
                <a16:creationId xmlns:a16="http://schemas.microsoft.com/office/drawing/2014/main" id="{77AE37A4-3CC7-4443-99DB-A6159C51727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62475" y="523875"/>
            <a:ext cx="1619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C282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C282D"/>
                </a:solidFill>
                <a:latin typeface="Arial"/>
                <a:ea typeface="Arial"/>
                <a:cs typeface="Arial"/>
              </a:rPr>
              <a:t>One source per facet</a:t>
            </a:r>
          </a:p>
        </p:txBody>
      </p:sp>
      <p:sp>
        <p:nvSpPr>
          <p:cNvPr id="7" name="rule-tie">
            <a:extLst xmlns:a="http://schemas.openxmlformats.org/drawingml/2006/main">
              <a:ext uri="{FF2B5EF4-FFF2-40B4-BE49-F238E27FC236}">
                <a16:creationId xmlns:a16="http://schemas.microsoft.com/office/drawing/2014/main" id="{F23797ED-1191-4F4E-B20E-C5339493EFB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62475" y="7048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A525A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5A525A"/>
                </a:solidFill>
                <a:latin typeface="Arial"/>
                <a:ea typeface="Arial"/>
                <a:cs typeface="Arial"/>
              </a:rPr>
              <a:t>Earliest ID breaks ties</a:t>
            </a:r>
          </a:p>
        </p:txBody>
      </p:sp>
      <p:sp>
        <p:nvSpPr>
          <p:cNvPr id="8" name="selected-sources">
            <a:extLst xmlns:a="http://schemas.openxmlformats.org/drawingml/2006/main">
              <a:ext uri="{FF2B5EF4-FFF2-40B4-BE49-F238E27FC236}">
                <a16:creationId xmlns:a16="http://schemas.microsoft.com/office/drawing/2014/main" id="{6B87D024-DD95-4383-9B6F-8BCCA5EB9CE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81525" y="1104900"/>
            <a:ext cx="158115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3F0F2"/>
          </a:solidFill>
          <a:ln xmlns:a="http://schemas.openxmlformats.org/drawingml/2006/main" w="9525">
            <a:solidFill>
              <a:srgbClr val="7D737C"/>
            </a:solidFill>
            <a:prstDash val="solid"/>
          </a:ln>
        </p:spPr>
      </p:sp>
      <p:sp>
        <p:nvSpPr>
          <p:cNvPr id="9" name="selected-heading">
            <a:extLst xmlns:a="http://schemas.openxmlformats.org/drawingml/2006/main">
              <a:ext uri="{FF2B5EF4-FFF2-40B4-BE49-F238E27FC236}">
                <a16:creationId xmlns:a16="http://schemas.microsoft.com/office/drawing/2014/main" id="{C7ADD628-F35C-4E0A-AD5F-520948E2D86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667250" y="1171575"/>
            <a:ext cx="1409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C282D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C282D"/>
                </a:solidFill>
                <a:latin typeface="Arial"/>
                <a:ea typeface="Arial"/>
                <a:cs typeface="Arial"/>
              </a:rPr>
              <a:t>Selected sources</a:t>
            </a:r>
          </a:p>
        </p:txBody>
      </p:sp>
      <p:grpSp>
        <p:nvGrpSpPr>
          <p:cNvPr id="164" name="selected-set"/>
          <p:cNvGrpSpPr/>
          <p:nvPr/>
        </p:nvGrpSpPr>
        <p:grpSpPr>
          <ns1:xfrm xmlns:ns1="http://schemas.openxmlformats.org/drawingml/2006/main">
            <ns1:off x="4881319" y="1400175"/>
            <ns1:ext cx="1015566" cy="340042"/>
            <ns1:chOff x="4881319" y="1400175"/>
            <ns1:chExt cx="1015566" cy="340042"/>
          </ns1:xfrm>
        </p:grpSpPr>
        <p:sp>
          <p:nvSpPr>
            <p:cNvPr id="10" name="selected-set.0">
              <a:extLst xmlns:a="http://schemas.openxmlformats.org/drawingml/2006/main">
                <a:ext uri="{FF2B5EF4-FFF2-40B4-BE49-F238E27FC236}">
                  <a16:creationId xmlns:a16="http://schemas.microsoft.com/office/drawing/2014/main" id="{00F44194-9EA1-4A24-8AE9-8FE512490B6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881319" y="1400175"/>
              <a:ext cx="148590" cy="34004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75" b="0" i="1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 i="1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rPr>
                <a:t>S</a:t>
              </a:r>
            </a:p>
          </p:txBody>
        </p:sp>
        <p:sp>
          <p:nvSpPr>
            <p:cNvPr id="11" name="selected-set.1">
              <a:extLst xmlns:a="http://schemas.openxmlformats.org/drawingml/2006/main">
                <a:ext uri="{FF2B5EF4-FFF2-40B4-BE49-F238E27FC236}">
                  <a16:creationId xmlns:a16="http://schemas.microsoft.com/office/drawing/2014/main" id="{2333C2C8-16E8-4561-86CD-1EFC0BA8C0B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001334" y="1400175"/>
              <a:ext cx="256603" cy="34004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75" b="0" i="0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 i="0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rPr>
                <a:t> = </a:t>
              </a:r>
            </a:p>
          </p:txBody>
        </p:sp>
        <p:sp>
          <p:nvSpPr>
            <p:cNvPr id="12" name="selected-set.2">
              <a:extLst xmlns:a="http://schemas.openxmlformats.org/drawingml/2006/main">
                <a:ext uri="{FF2B5EF4-FFF2-40B4-BE49-F238E27FC236}">
                  <a16:creationId xmlns:a16="http://schemas.microsoft.com/office/drawing/2014/main" id="{18D8F5AF-2DBB-4DCE-BEE7-01D29980C23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29362" y="1400175"/>
              <a:ext cx="130016" cy="34004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75" b="0" i="0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 i="0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rPr>
                <a:t>{</a:t>
              </a:r>
            </a:p>
          </p:txBody>
        </p:sp>
        <p:sp>
          <p:nvSpPr>
            <p:cNvPr id="13" name="selected-set.3">
              <a:extLst xmlns:a="http://schemas.openxmlformats.org/drawingml/2006/main">
                <a:ext uri="{FF2B5EF4-FFF2-40B4-BE49-F238E27FC236}">
                  <a16:creationId xmlns:a16="http://schemas.microsoft.com/office/drawing/2014/main" id="{851CBAEF-1D31-4C7D-A2FD-EAE2A959B61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325374" y="1400175"/>
              <a:ext cx="130016" cy="34004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75" b="0" i="1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 i="1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rPr>
                <a:t>d</a:t>
              </a:r>
            </a:p>
          </p:txBody>
        </p:sp>
        <p:sp>
          <p:nvSpPr>
            <p:cNvPr id="14" name="selected-set.4">
              <a:extLst xmlns:a="http://schemas.openxmlformats.org/drawingml/2006/main">
                <a:ext uri="{FF2B5EF4-FFF2-40B4-BE49-F238E27FC236}">
                  <a16:creationId xmlns:a16="http://schemas.microsoft.com/office/drawing/2014/main" id="{F48343B5-402F-43E5-95DB-F3E42DCC840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425387" y="1496187"/>
              <a:ext cx="99304" cy="23122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071" b="0" i="0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71" b="0" i="0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rPr>
                <a:t>1</a:t>
              </a:r>
            </a:p>
          </p:txBody>
        </p:sp>
        <p:sp>
          <p:nvSpPr>
            <p:cNvPr id="15" name="selected-set.5">
              <a:extLst xmlns:a="http://schemas.openxmlformats.org/drawingml/2006/main">
                <a:ext uri="{FF2B5EF4-FFF2-40B4-BE49-F238E27FC236}">
                  <a16:creationId xmlns:a16="http://schemas.microsoft.com/office/drawing/2014/main" id="{9EDF09A6-8512-42B8-9BC8-5C9E9247F88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496116" y="1400175"/>
              <a:ext cx="130016" cy="34004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75" b="0" i="0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 i="0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rPr>
                <a:t>, </a:t>
              </a:r>
            </a:p>
          </p:txBody>
        </p:sp>
        <p:sp>
          <p:nvSpPr>
            <p:cNvPr id="16" name="selected-set.6">
              <a:extLst xmlns:a="http://schemas.openxmlformats.org/drawingml/2006/main">
                <a:ext uri="{FF2B5EF4-FFF2-40B4-BE49-F238E27FC236}">
                  <a16:creationId xmlns:a16="http://schemas.microsoft.com/office/drawing/2014/main" id="{77C9CF8E-8E51-4633-8802-42A36E8C0AF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596128" y="1400175"/>
              <a:ext cx="130016" cy="34004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75" b="0" i="1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 i="1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rPr>
                <a:t>d</a:t>
              </a:r>
            </a:p>
          </p:txBody>
        </p:sp>
        <p:sp>
          <p:nvSpPr>
            <p:cNvPr id="17" name="selected-set.7">
              <a:extLst xmlns:a="http://schemas.openxmlformats.org/drawingml/2006/main">
                <a:ext uri="{FF2B5EF4-FFF2-40B4-BE49-F238E27FC236}">
                  <a16:creationId xmlns:a16="http://schemas.microsoft.com/office/drawing/2014/main" id="{658B6A06-1015-4328-9962-CB0C5B25A9A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96141" y="1496187"/>
              <a:ext cx="99304" cy="23122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071" b="0" i="0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71" b="0" i="0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rPr>
                <a:t>3</a:t>
              </a:r>
            </a:p>
          </p:txBody>
        </p:sp>
        <p:sp>
          <p:nvSpPr>
            <p:cNvPr id="18" name="selected-set.8">
              <a:extLst xmlns:a="http://schemas.openxmlformats.org/drawingml/2006/main">
                <a:ext uri="{FF2B5EF4-FFF2-40B4-BE49-F238E27FC236}">
                  <a16:creationId xmlns:a16="http://schemas.microsoft.com/office/drawing/2014/main" id="{739FBABC-B7B3-4119-8712-0CE42B4D371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66869" y="1400175"/>
              <a:ext cx="130016" cy="34004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75" b="0" i="0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 i="0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rPr>
                <a:t>}</a:t>
              </a:r>
            </a:p>
          </p:txBody>
        </p:sp>
      </p:grpSp>
      <p:cxnSp>
        <p:nvCxnSpPr>
          <p:cNvPr id="102" name="apply-selection-rule"/>
          <p:cNvCxnSpPr>
            <a:stCxn xmlns:a="http://schemas.openxmlformats.org/drawingml/2006/main" id="4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5372100" y="8953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8098" cap="rnd">
            <a:solidFill>
              <a:srgbClr val="5A525A"/>
            </a:solidFill>
            <a:prstDash val="solid"/>
            <a:round/>
            <a:tailEnd type="triangle" w="med" len="med"/>
          </a:ln>
        </p:spPr>
      </p:cxnSp>
      <p:sp>
        <p:nvSpPr>
          <p:cNvPr id="20" name="source-divider">
            <a:extLst xmlns:a="http://schemas.openxmlformats.org/drawingml/2006/main">
              <a:ext uri="{FF2B5EF4-FFF2-40B4-BE49-F238E27FC236}">
                <a16:creationId xmlns:a16="http://schemas.microsoft.com/office/drawing/2014/main" id="{7931A9CA-E671-49D2-B0CF-2813A802223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43175" y="238125"/>
            <a:ext cx="95" cy="3467100"/>
          </a:xfrm>
          <a:custGeom xmlns:a="http://schemas.openxmlformats.org/drawingml/2006/main">
            <a:pathLst>
              <a:path w="95" h="3467100">
                <a:moveTo>
                  <a:pt x="0" y="0"/>
                </a:moveTo>
                <a:lnTo>
                  <a:pt x="0" y="346710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C2BAC1"/>
            </a:solidFill>
            <a:prstDash val="dash"/>
          </a:ln>
        </p:spPr>
      </p:sp>
      <p:sp>
        <p:nvSpPr>
          <p:cNvPr id="21" name="answer-divider">
            <a:extLst xmlns:a="http://schemas.openxmlformats.org/drawingml/2006/main">
              <a:ext uri="{FF2B5EF4-FFF2-40B4-BE49-F238E27FC236}">
                <a16:creationId xmlns:a16="http://schemas.microsoft.com/office/drawing/2014/main" id="{C9DCB59F-F628-41D0-8D30-156E4742954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38625" y="238125"/>
            <a:ext cx="95" cy="3467100"/>
          </a:xfrm>
          <a:custGeom xmlns:a="http://schemas.openxmlformats.org/drawingml/2006/main">
            <a:pathLst>
              <a:path w="95" h="3467100">
                <a:moveTo>
                  <a:pt x="0" y="0"/>
                </a:moveTo>
                <a:lnTo>
                  <a:pt x="0" y="346710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C2BAC1"/>
            </a:solidFill>
            <a:prstDash val="dash"/>
          </a:ln>
        </p:spPr>
      </p:sp>
      <p:sp>
        <p:nvSpPr>
          <p:cNvPr id="22" name="panel-a">
            <a:extLst xmlns:a="http://schemas.openxmlformats.org/drawingml/2006/main">
              <a:ext uri="{FF2B5EF4-FFF2-40B4-BE49-F238E27FC236}">
                <a16:creationId xmlns:a16="http://schemas.microsoft.com/office/drawing/2014/main" id="{0872D894-E7B0-496D-9A7C-06F949DB233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1500" y="1114425"/>
            <a:ext cx="18764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C282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C282D"/>
                </a:solidFill>
                <a:latin typeface="Arial"/>
                <a:ea typeface="Arial"/>
                <a:cs typeface="Arial"/>
              </a:rPr>
              <a:t>(a) Candidate passages</a:t>
            </a:r>
          </a:p>
        </p:txBody>
      </p:sp>
      <p:sp>
        <p:nvSpPr>
          <p:cNvPr id="23" name="panel-b">
            <a:extLst xmlns:a="http://schemas.openxmlformats.org/drawingml/2006/main">
              <a:ext uri="{FF2B5EF4-FFF2-40B4-BE49-F238E27FC236}">
                <a16:creationId xmlns:a16="http://schemas.microsoft.com/office/drawing/2014/main" id="{54720C63-9623-4537-87FD-68EB74E8C33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67000" y="1114425"/>
            <a:ext cx="1533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C282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C282D"/>
                </a:solidFill>
                <a:latin typeface="Arial"/>
                <a:ea typeface="Arial"/>
                <a:cs typeface="Arial"/>
              </a:rPr>
              <a:t>(b) Facet coverage</a:t>
            </a:r>
          </a:p>
        </p:txBody>
      </p:sp>
      <p:sp>
        <p:nvSpPr>
          <p:cNvPr id="24" name="panel-c">
            <a:extLst xmlns:a="http://schemas.openxmlformats.org/drawingml/2006/main">
              <a:ext uri="{FF2B5EF4-FFF2-40B4-BE49-F238E27FC236}">
                <a16:creationId xmlns:a16="http://schemas.microsoft.com/office/drawing/2014/main" id="{337B99B6-FAEF-4851-BCD1-20F8C70BC10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457700" y="1924050"/>
            <a:ext cx="1828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C282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C282D"/>
                </a:solidFill>
                <a:latin typeface="Arial"/>
                <a:ea typeface="Arial"/>
                <a:cs typeface="Arial"/>
              </a:rPr>
              <a:t>(c) Grounded answer</a:t>
            </a:r>
          </a:p>
        </p:txBody>
      </p:sp>
      <p:sp>
        <p:nvSpPr>
          <p:cNvPr id="25" name="matrix-header-id">
            <a:extLst xmlns:a="http://schemas.openxmlformats.org/drawingml/2006/main">
              <a:ext uri="{FF2B5EF4-FFF2-40B4-BE49-F238E27FC236}">
                <a16:creationId xmlns:a16="http://schemas.microsoft.com/office/drawing/2014/main" id="{B5F51A5B-9864-4D4D-BFD8-2D5771DF478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67000" y="1352550"/>
            <a:ext cx="323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F2"/>
          </a:solidFill>
          <a:ln xmlns:a="http://schemas.openxmlformats.org/drawingml/2006/main" w="6668">
            <a:solidFill>
              <a:srgbClr val="ACA1AC"/>
            </a:solidFill>
            <a:prstDash val="solid"/>
          </a:ln>
        </p:spPr>
      </p:sp>
      <p:sp>
        <p:nvSpPr>
          <p:cNvPr id="26" name="facet-0">
            <a:extLst xmlns:a="http://schemas.openxmlformats.org/drawingml/2006/main">
              <a:ext uri="{FF2B5EF4-FFF2-40B4-BE49-F238E27FC236}">
                <a16:creationId xmlns:a16="http://schemas.microsoft.com/office/drawing/2014/main" id="{82AF6133-2060-4CDA-BC71-90D88E84CB2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990850" y="1352550"/>
            <a:ext cx="533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F2"/>
          </a:solidFill>
          <a:ln xmlns:a="http://schemas.openxmlformats.org/drawingml/2006/main" w="6668">
            <a:solidFill>
              <a:srgbClr val="ACA1A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C282D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C282D"/>
                </a:solidFill>
                <a:latin typeface="Arial"/>
                <a:ea typeface="Arial"/>
                <a:cs typeface="Arial"/>
              </a:rPr>
              <a:t>Reuse</a:t>
            </a:r>
          </a:p>
        </p:txBody>
      </p:sp>
      <p:sp>
        <p:nvSpPr>
          <p:cNvPr id="27" name="facet-1">
            <a:extLst xmlns:a="http://schemas.openxmlformats.org/drawingml/2006/main">
              <a:ext uri="{FF2B5EF4-FFF2-40B4-BE49-F238E27FC236}">
                <a16:creationId xmlns:a16="http://schemas.microsoft.com/office/drawing/2014/main" id="{BE07726F-2CCF-4151-B4E8-6B67745BC2A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524250" y="1352550"/>
            <a:ext cx="533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F2"/>
          </a:solidFill>
          <a:ln xmlns:a="http://schemas.openxmlformats.org/drawingml/2006/main" w="6668">
            <a:solidFill>
              <a:srgbClr val="ACA1A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C282D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C282D"/>
                </a:solidFill>
                <a:latin typeface="Arial"/>
                <a:ea typeface="Arial"/>
                <a:cs typeface="Arial"/>
              </a:rPr>
              <a:t>Eviction</a:t>
            </a:r>
          </a:p>
        </p:txBody>
      </p:sp>
      <p:sp>
        <p:nvSpPr>
          <p:cNvPr id="28" name="passage-d1">
            <a:extLst xmlns:a="http://schemas.openxmlformats.org/drawingml/2006/main">
              <a:ext uri="{FF2B5EF4-FFF2-40B4-BE49-F238E27FC236}">
                <a16:creationId xmlns:a16="http://schemas.microsoft.com/office/drawing/2014/main" id="{39EB7869-82DB-4BEF-8533-FE532E5AE30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1500" y="1628775"/>
            <a:ext cx="18478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0ED"/>
          </a:solidFill>
          <a:ln xmlns:a="http://schemas.openxmlformats.org/drawingml/2006/main" w="10954">
            <a:solidFill>
              <a:srgbClr val="8D6D91"/>
            </a:solidFill>
            <a:prstDash val="solid"/>
          </a:ln>
        </p:spPr>
      </p:sp>
      <p:sp>
        <p:nvSpPr>
          <p:cNvPr id="29" name="passage-id-separator-d1">
            <a:extLst xmlns:a="http://schemas.openxmlformats.org/drawingml/2006/main">
              <a:ext uri="{FF2B5EF4-FFF2-40B4-BE49-F238E27FC236}">
                <a16:creationId xmlns:a16="http://schemas.microsoft.com/office/drawing/2014/main" id="{8BF16ED8-863A-4DF9-99BD-56E0633945F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95350" y="1628775"/>
            <a:ext cx="95" cy="466725"/>
          </a:xfrm>
          <a:custGeom xmlns:a="http://schemas.openxmlformats.org/drawingml/2006/main">
            <a:pathLst>
              <a:path w="95" h="466725">
                <a:moveTo>
                  <a:pt x="0" y="0"/>
                </a:moveTo>
                <a:lnTo>
                  <a:pt x="0" y="4667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8D6D91"/>
            </a:solidFill>
            <a:prstDash val="solid"/>
          </a:ln>
        </p:spPr>
      </p:sp>
      <p:grpSp>
        <p:nvGrpSpPr>
          <p:cNvPr id="165" name="passage-id-d1"/>
          <p:cNvGrpSpPr/>
          <p:nvPr/>
        </p:nvGrpSpPr>
        <p:grpSpPr>
          <ns1:xfrm xmlns:ns1="http://schemas.openxmlformats.org/drawingml/2006/main">
            <ns1:off x="652120" y="1752600"/>
            <ns1:ext cx="191186" cy="323850"/>
            <ns1:chOff x="652120" y="1752600"/>
            <ns1:chExt cx="191186" cy="323850"/>
          </ns1:xfrm>
        </p:grpSpPr>
        <p:sp>
          <p:nvSpPr>
            <p:cNvPr id="30" name="passage-id-d1.0">
              <a:extLst xmlns:a="http://schemas.openxmlformats.org/drawingml/2006/main">
                <a:ext uri="{FF2B5EF4-FFF2-40B4-BE49-F238E27FC236}">
                  <a16:creationId xmlns:a16="http://schemas.microsoft.com/office/drawing/2014/main" id="{068F3BCB-3A2B-4D15-B437-F7CED26EB8E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52120" y="1752600"/>
              <a:ext cx="123825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 i="1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 i="1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rPr>
                <a:t>d</a:t>
              </a:r>
            </a:p>
          </p:txBody>
        </p:sp>
        <p:sp>
          <p:nvSpPr>
            <p:cNvPr id="31" name="passage-id-d1.1">
              <a:extLst xmlns:a="http://schemas.openxmlformats.org/drawingml/2006/main">
                <a:ext uri="{FF2B5EF4-FFF2-40B4-BE49-F238E27FC236}">
                  <a16:creationId xmlns:a16="http://schemas.microsoft.com/office/drawing/2014/main" id="{1C1BA93D-3B48-416D-9B54-BE4203A1953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47370" y="1844040"/>
              <a:ext cx="95936" cy="22021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020" b="0" i="0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20" b="0" i="0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rPr>
                <a:t>1</a:t>
              </a:r>
            </a:p>
          </p:txBody>
        </p:sp>
      </p:grpSp>
      <p:sp>
        <p:nvSpPr>
          <p:cNvPr id="32" name="passage-text-d1">
            <a:extLst xmlns:a="http://schemas.openxmlformats.org/drawingml/2006/main">
              <a:ext uri="{FF2B5EF4-FFF2-40B4-BE49-F238E27FC236}">
                <a16:creationId xmlns:a16="http://schemas.microsoft.com/office/drawing/2014/main" id="{1D4C84B7-9172-4EAF-AF82-A51FC9F7DF8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71550" y="169545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C282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C282D"/>
                </a:solidFill>
                <a:latin typeface="Arial"/>
                <a:ea typeface="Arial"/>
                <a:cs typeface="Arial"/>
              </a:rPr>
              <a:t>Repeated queries reuse stored results.</a:t>
            </a:r>
          </a:p>
        </p:txBody>
      </p:sp>
      <p:sp>
        <p:nvSpPr>
          <p:cNvPr id="33" name="coverage-id-cell-d1">
            <a:extLst xmlns:a="http://schemas.openxmlformats.org/drawingml/2006/main">
              <a:ext uri="{FF2B5EF4-FFF2-40B4-BE49-F238E27FC236}">
                <a16:creationId xmlns:a16="http://schemas.microsoft.com/office/drawing/2014/main" id="{0D8AA829-5DFC-4490-8621-F0A90AE5C01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67000" y="1628775"/>
            <a:ext cx="3238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0ED"/>
          </a:solidFill>
          <a:ln xmlns:a="http://schemas.openxmlformats.org/drawingml/2006/main" w="6668">
            <a:solidFill>
              <a:srgbClr val="ACA1AC"/>
            </a:solidFill>
            <a:prstDash val="solid"/>
          </a:ln>
        </p:spPr>
      </p:sp>
      <p:grpSp>
        <p:nvGrpSpPr>
          <p:cNvPr id="166" name="matrix-id-d1"/>
          <p:cNvGrpSpPr/>
          <p:nvPr/>
        </p:nvGrpSpPr>
        <p:grpSpPr>
          <ns1:xfrm xmlns:ns1="http://schemas.openxmlformats.org/drawingml/2006/main">
            <ns1:off x="2747620" y="1752600"/>
            <ns1:ext cx="191186" cy="323850"/>
            <ns1:chOff x="2747620" y="1752600"/>
            <ns1:chExt cx="191186" cy="323850"/>
          </ns1:xfrm>
        </p:grpSpPr>
        <p:sp>
          <p:nvSpPr>
            <p:cNvPr id="34" name="matrix-id-d1.0">
              <a:extLst xmlns:a="http://schemas.openxmlformats.org/drawingml/2006/main">
                <a:ext uri="{FF2B5EF4-FFF2-40B4-BE49-F238E27FC236}">
                  <a16:creationId xmlns:a16="http://schemas.microsoft.com/office/drawing/2014/main" id="{7753CC74-C841-4047-88E9-CEDCAB66899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47620" y="1752600"/>
              <a:ext cx="123825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 i="1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 i="1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rPr>
                <a:t>d</a:t>
              </a:r>
            </a:p>
          </p:txBody>
        </p:sp>
        <p:sp>
          <p:nvSpPr>
            <p:cNvPr id="35" name="matrix-id-d1.1">
              <a:extLst xmlns:a="http://schemas.openxmlformats.org/drawingml/2006/main">
                <a:ext uri="{FF2B5EF4-FFF2-40B4-BE49-F238E27FC236}">
                  <a16:creationId xmlns:a16="http://schemas.microsoft.com/office/drawing/2014/main" id="{6D37C3B4-94C5-44A5-B351-BC2A85FC3F0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42870" y="1844040"/>
              <a:ext cx="95936" cy="22021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020" b="0" i="0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20" b="0" i="0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rPr>
                <a:t>1</a:t>
              </a:r>
            </a:p>
          </p:txBody>
        </p:sp>
      </p:grpSp>
      <p:sp>
        <p:nvSpPr>
          <p:cNvPr id="36" name="coverage-d1-0">
            <a:extLst xmlns:a="http://schemas.openxmlformats.org/drawingml/2006/main">
              <a:ext uri="{FF2B5EF4-FFF2-40B4-BE49-F238E27FC236}">
                <a16:creationId xmlns:a16="http://schemas.microsoft.com/office/drawing/2014/main" id="{7286E9D1-A803-4B2F-B194-3DCCF9629AD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990850" y="1628775"/>
            <a:ext cx="5334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0ED"/>
          </a:solidFill>
          <a:ln xmlns:a="http://schemas.openxmlformats.org/drawingml/2006/main" w="6668">
            <a:solidFill>
              <a:srgbClr val="ACA1A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C282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C282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7" name="coverage-d1-1">
            <a:extLst xmlns:a="http://schemas.openxmlformats.org/drawingml/2006/main">
              <a:ext uri="{FF2B5EF4-FFF2-40B4-BE49-F238E27FC236}">
                <a16:creationId xmlns:a16="http://schemas.microsoft.com/office/drawing/2014/main" id="{31B67822-FD56-445C-9BA5-637FA740F29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524250" y="1628775"/>
            <a:ext cx="5334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0ED"/>
          </a:solidFill>
          <a:ln xmlns:a="http://schemas.openxmlformats.org/drawingml/2006/main" w="6668">
            <a:solidFill>
              <a:srgbClr val="ACA1A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C282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C282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8" name="selected-row-d1">
            <a:extLst xmlns:a="http://schemas.openxmlformats.org/drawingml/2006/main">
              <a:ext uri="{FF2B5EF4-FFF2-40B4-BE49-F238E27FC236}">
                <a16:creationId xmlns:a16="http://schemas.microsoft.com/office/drawing/2014/main" id="{750BE1C2-A396-403C-8C4C-06D03B22AA0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67000" y="1628775"/>
            <a:ext cx="13906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621">
            <a:solidFill>
              <a:srgbClr val="7C4F82"/>
            </a:solidFill>
            <a:prstDash val="solid"/>
          </a:ln>
        </p:spPr>
      </p:sp>
      <p:sp>
        <p:nvSpPr>
          <p:cNvPr id="39" name="passage-d2">
            <a:extLst xmlns:a="http://schemas.openxmlformats.org/drawingml/2006/main">
              <a:ext uri="{FF2B5EF4-FFF2-40B4-BE49-F238E27FC236}">
                <a16:creationId xmlns:a16="http://schemas.microsoft.com/office/drawing/2014/main" id="{5B073572-F9DF-4D53-8674-4EDB0864EF9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1500" y="2162175"/>
            <a:ext cx="18478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F1"/>
          </a:solidFill>
          <a:ln xmlns:a="http://schemas.openxmlformats.org/drawingml/2006/main" w="7620">
            <a:solidFill>
              <a:srgbClr val="627E9A"/>
            </a:solidFill>
            <a:prstDash val="solid"/>
          </a:ln>
        </p:spPr>
      </p:sp>
      <p:sp>
        <p:nvSpPr>
          <p:cNvPr id="40" name="passage-id-separator-d2">
            <a:extLst xmlns:a="http://schemas.openxmlformats.org/drawingml/2006/main">
              <a:ext uri="{FF2B5EF4-FFF2-40B4-BE49-F238E27FC236}">
                <a16:creationId xmlns:a16="http://schemas.microsoft.com/office/drawing/2014/main" id="{1471CBEB-B782-4483-A1DF-7198E445705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95350" y="2162175"/>
            <a:ext cx="95" cy="466725"/>
          </a:xfrm>
          <a:custGeom xmlns:a="http://schemas.openxmlformats.org/drawingml/2006/main">
            <a:pathLst>
              <a:path w="95" h="466725">
                <a:moveTo>
                  <a:pt x="0" y="0"/>
                </a:moveTo>
                <a:lnTo>
                  <a:pt x="0" y="4667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627E9A"/>
            </a:solidFill>
            <a:prstDash val="solid"/>
          </a:ln>
        </p:spPr>
      </p:sp>
      <p:grpSp>
        <p:nvGrpSpPr>
          <p:cNvPr id="167" name="passage-id-d2"/>
          <p:cNvGrpSpPr/>
          <p:nvPr/>
        </p:nvGrpSpPr>
        <p:grpSpPr>
          <ns1:xfrm xmlns:ns1="http://schemas.openxmlformats.org/drawingml/2006/main">
            <ns1:off x="652120" y="2286000"/>
            <ns1:ext cx="191186" cy="323850"/>
            <ns1:chOff x="652120" y="2286000"/>
            <ns1:chExt cx="191186" cy="323850"/>
          </ns1:xfrm>
        </p:grpSpPr>
        <p:sp>
          <p:nvSpPr>
            <p:cNvPr id="41" name="passage-id-d2.0">
              <a:extLst xmlns:a="http://schemas.openxmlformats.org/drawingml/2006/main">
                <a:ext uri="{FF2B5EF4-FFF2-40B4-BE49-F238E27FC236}">
                  <a16:creationId xmlns:a16="http://schemas.microsoft.com/office/drawing/2014/main" id="{E01DD0B9-3DD6-457D-9F2C-F751453A895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52120" y="2286000"/>
              <a:ext cx="123825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 i="1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 i="1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rPr>
                <a:t>d</a:t>
              </a:r>
            </a:p>
          </p:txBody>
        </p:sp>
        <p:sp>
          <p:nvSpPr>
            <p:cNvPr id="42" name="passage-id-d2.1">
              <a:extLst xmlns:a="http://schemas.openxmlformats.org/drawingml/2006/main">
                <a:ext uri="{FF2B5EF4-FFF2-40B4-BE49-F238E27FC236}">
                  <a16:creationId xmlns:a16="http://schemas.microsoft.com/office/drawing/2014/main" id="{C08F3E6D-8388-4BC8-A23D-0876921AC0C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47370" y="2377440"/>
              <a:ext cx="95936" cy="22021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020" b="0" i="0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20" b="0" i="0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rPr>
                <a:t>2</a:t>
              </a:r>
            </a:p>
          </p:txBody>
        </p:sp>
      </p:grpSp>
      <p:sp>
        <p:nvSpPr>
          <p:cNvPr id="43" name="passage-text-d2">
            <a:extLst xmlns:a="http://schemas.openxmlformats.org/drawingml/2006/main">
              <a:ext uri="{FF2B5EF4-FFF2-40B4-BE49-F238E27FC236}">
                <a16:creationId xmlns:a16="http://schemas.microsoft.com/office/drawing/2014/main" id="{27FE44EC-C914-4C29-BD11-3BCEB25B50B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71550" y="222885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C282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C282D"/>
                </a:solidFill>
                <a:latin typeface="Arial"/>
                <a:ea typeface="Arial"/>
                <a:cs typeface="Arial"/>
              </a:rPr>
              <a:t>Documents are split into passages.</a:t>
            </a:r>
          </a:p>
        </p:txBody>
      </p:sp>
      <p:sp>
        <p:nvSpPr>
          <p:cNvPr id="44" name="coverage-id-cell-d2">
            <a:extLst xmlns:a="http://schemas.openxmlformats.org/drawingml/2006/main">
              <a:ext uri="{FF2B5EF4-FFF2-40B4-BE49-F238E27FC236}">
                <a16:creationId xmlns:a16="http://schemas.microsoft.com/office/drawing/2014/main" id="{57AA5149-C079-4AEC-884D-5B57F5C6FA1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67000" y="2162175"/>
            <a:ext cx="3238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F1"/>
          </a:solidFill>
          <a:ln xmlns:a="http://schemas.openxmlformats.org/drawingml/2006/main" w="6668">
            <a:solidFill>
              <a:srgbClr val="ACA1AC"/>
            </a:solidFill>
            <a:prstDash val="solid"/>
          </a:ln>
        </p:spPr>
      </p:sp>
      <p:grpSp>
        <p:nvGrpSpPr>
          <p:cNvPr id="168" name="matrix-id-d2"/>
          <p:cNvGrpSpPr/>
          <p:nvPr/>
        </p:nvGrpSpPr>
        <p:grpSpPr>
          <ns1:xfrm xmlns:ns1="http://schemas.openxmlformats.org/drawingml/2006/main">
            <ns1:off x="2747620" y="2286000"/>
            <ns1:ext cx="191186" cy="323850"/>
            <ns1:chOff x="2747620" y="2286000"/>
            <ns1:chExt cx="191186" cy="323850"/>
          </ns1:xfrm>
        </p:grpSpPr>
        <p:sp>
          <p:nvSpPr>
            <p:cNvPr id="45" name="matrix-id-d2.0">
              <a:extLst xmlns:a="http://schemas.openxmlformats.org/drawingml/2006/main">
                <a:ext uri="{FF2B5EF4-FFF2-40B4-BE49-F238E27FC236}">
                  <a16:creationId xmlns:a16="http://schemas.microsoft.com/office/drawing/2014/main" id="{D7B3CD68-A365-46E9-91B8-58F39A5EACD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47620" y="2286000"/>
              <a:ext cx="123825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 i="1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 i="1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rPr>
                <a:t>d</a:t>
              </a:r>
            </a:p>
          </p:txBody>
        </p:sp>
        <p:sp>
          <p:nvSpPr>
            <p:cNvPr id="46" name="matrix-id-d2.1">
              <a:extLst xmlns:a="http://schemas.openxmlformats.org/drawingml/2006/main">
                <a:ext uri="{FF2B5EF4-FFF2-40B4-BE49-F238E27FC236}">
                  <a16:creationId xmlns:a16="http://schemas.microsoft.com/office/drawing/2014/main" id="{350AD0E1-103B-44BD-90EB-DC33E6F4EE7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42870" y="2377440"/>
              <a:ext cx="95936" cy="22021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020" b="0" i="0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20" b="0" i="0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rPr>
                <a:t>2</a:t>
              </a:r>
            </a:p>
          </p:txBody>
        </p:sp>
      </p:grpSp>
      <p:sp>
        <p:nvSpPr>
          <p:cNvPr id="47" name="coverage-d2-0">
            <a:extLst xmlns:a="http://schemas.openxmlformats.org/drawingml/2006/main">
              <a:ext uri="{FF2B5EF4-FFF2-40B4-BE49-F238E27FC236}">
                <a16:creationId xmlns:a16="http://schemas.microsoft.com/office/drawing/2014/main" id="{ED2282E3-A0A0-4757-BF3A-FD9B557A2AA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990850" y="2162175"/>
            <a:ext cx="5334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F1"/>
          </a:solidFill>
          <a:ln xmlns:a="http://schemas.openxmlformats.org/drawingml/2006/main" w="6668">
            <a:solidFill>
              <a:srgbClr val="ACA1A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C282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C282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8" name="coverage-d2-1">
            <a:extLst xmlns:a="http://schemas.openxmlformats.org/drawingml/2006/main">
              <a:ext uri="{FF2B5EF4-FFF2-40B4-BE49-F238E27FC236}">
                <a16:creationId xmlns:a16="http://schemas.microsoft.com/office/drawing/2014/main" id="{971B1CB2-D4D5-4B4A-9B42-1101B0808B0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524250" y="2162175"/>
            <a:ext cx="5334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F1"/>
          </a:solidFill>
          <a:ln xmlns:a="http://schemas.openxmlformats.org/drawingml/2006/main" w="6668">
            <a:solidFill>
              <a:srgbClr val="ACA1A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C282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C282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9" name="passage-d3">
            <a:extLst xmlns:a="http://schemas.openxmlformats.org/drawingml/2006/main">
              <a:ext uri="{FF2B5EF4-FFF2-40B4-BE49-F238E27FC236}">
                <a16:creationId xmlns:a16="http://schemas.microsoft.com/office/drawing/2014/main" id="{7333433E-C848-4069-A233-26D5FAE4008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1500" y="2695575"/>
            <a:ext cx="18478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0ED"/>
          </a:solidFill>
          <a:ln xmlns:a="http://schemas.openxmlformats.org/drawingml/2006/main" w="10954">
            <a:solidFill>
              <a:srgbClr val="8D6D91"/>
            </a:solidFill>
            <a:prstDash val="solid"/>
          </a:ln>
        </p:spPr>
      </p:sp>
      <p:sp>
        <p:nvSpPr>
          <p:cNvPr id="50" name="passage-id-separator-d3">
            <a:extLst xmlns:a="http://schemas.openxmlformats.org/drawingml/2006/main">
              <a:ext uri="{FF2B5EF4-FFF2-40B4-BE49-F238E27FC236}">
                <a16:creationId xmlns:a16="http://schemas.microsoft.com/office/drawing/2014/main" id="{251C534D-9AD3-4270-9639-6864984FD05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95350" y="2695575"/>
            <a:ext cx="95" cy="466725"/>
          </a:xfrm>
          <a:custGeom xmlns:a="http://schemas.openxmlformats.org/drawingml/2006/main">
            <a:pathLst>
              <a:path w="95" h="466725">
                <a:moveTo>
                  <a:pt x="0" y="0"/>
                </a:moveTo>
                <a:lnTo>
                  <a:pt x="0" y="4667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8D6D91"/>
            </a:solidFill>
            <a:prstDash val="solid"/>
          </a:ln>
        </p:spPr>
      </p:sp>
      <p:grpSp>
        <p:nvGrpSpPr>
          <p:cNvPr id="169" name="passage-id-d3"/>
          <p:cNvGrpSpPr/>
          <p:nvPr/>
        </p:nvGrpSpPr>
        <p:grpSpPr>
          <ns1:xfrm xmlns:ns1="http://schemas.openxmlformats.org/drawingml/2006/main">
            <ns1:off x="652120" y="2819400"/>
            <ns1:ext cx="191186" cy="323850"/>
            <ns1:chOff x="652120" y="2819400"/>
            <ns1:chExt cx="191186" cy="323850"/>
          </ns1:xfrm>
        </p:grpSpPr>
        <p:sp>
          <p:nvSpPr>
            <p:cNvPr id="51" name="passage-id-d3.0">
              <a:extLst xmlns:a="http://schemas.openxmlformats.org/drawingml/2006/main">
                <a:ext uri="{FF2B5EF4-FFF2-40B4-BE49-F238E27FC236}">
                  <a16:creationId xmlns:a16="http://schemas.microsoft.com/office/drawing/2014/main" id="{46CB3F26-D325-4C29-8EAF-FD281FF7B3D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52120" y="2819400"/>
              <a:ext cx="123825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 i="1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 i="1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rPr>
                <a:t>d</a:t>
              </a:r>
            </a:p>
          </p:txBody>
        </p:sp>
        <p:sp>
          <p:nvSpPr>
            <p:cNvPr id="52" name="passage-id-d3.1">
              <a:extLst xmlns:a="http://schemas.openxmlformats.org/drawingml/2006/main">
                <a:ext uri="{FF2B5EF4-FFF2-40B4-BE49-F238E27FC236}">
                  <a16:creationId xmlns:a16="http://schemas.microsoft.com/office/drawing/2014/main" id="{770D8E29-4367-4F1A-B859-3377A35319C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47370" y="2910840"/>
              <a:ext cx="95936" cy="22021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020" b="0" i="0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20" b="0" i="0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rPr>
                <a:t>3</a:t>
              </a:r>
            </a:p>
          </p:txBody>
        </p:sp>
      </p:grpSp>
      <p:sp>
        <p:nvSpPr>
          <p:cNvPr id="53" name="passage-text-d3">
            <a:extLst xmlns:a="http://schemas.openxmlformats.org/drawingml/2006/main">
              <a:ext uri="{FF2B5EF4-FFF2-40B4-BE49-F238E27FC236}">
                <a16:creationId xmlns:a16="http://schemas.microsoft.com/office/drawing/2014/main" id="{FD9B4499-F2FD-44F4-BFFB-CCE8BCD970F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71550" y="276225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C282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C282D"/>
                </a:solidFill>
                <a:latin typeface="Arial"/>
                <a:ea typeface="Arial"/>
                <a:cs typeface="Arial"/>
              </a:rPr>
              <a:t>Old entries are removed at capacity.</a:t>
            </a:r>
          </a:p>
        </p:txBody>
      </p:sp>
      <p:sp>
        <p:nvSpPr>
          <p:cNvPr id="54" name="coverage-id-cell-d3">
            <a:extLst xmlns:a="http://schemas.openxmlformats.org/drawingml/2006/main">
              <a:ext uri="{FF2B5EF4-FFF2-40B4-BE49-F238E27FC236}">
                <a16:creationId xmlns:a16="http://schemas.microsoft.com/office/drawing/2014/main" id="{F0B0E3AC-B916-4AFE-A892-0E21CF85551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67000" y="2695575"/>
            <a:ext cx="3238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0ED"/>
          </a:solidFill>
          <a:ln xmlns:a="http://schemas.openxmlformats.org/drawingml/2006/main" w="6668">
            <a:solidFill>
              <a:srgbClr val="ACA1AC"/>
            </a:solidFill>
            <a:prstDash val="solid"/>
          </a:ln>
        </p:spPr>
      </p:sp>
      <p:grpSp>
        <p:nvGrpSpPr>
          <p:cNvPr id="170" name="matrix-id-d3"/>
          <p:cNvGrpSpPr/>
          <p:nvPr/>
        </p:nvGrpSpPr>
        <p:grpSpPr>
          <ns1:xfrm xmlns:ns1="http://schemas.openxmlformats.org/drawingml/2006/main">
            <ns1:off x="2747620" y="2819400"/>
            <ns1:ext cx="191186" cy="323850"/>
            <ns1:chOff x="2747620" y="2819400"/>
            <ns1:chExt cx="191186" cy="323850"/>
          </ns1:xfrm>
        </p:grpSpPr>
        <p:sp>
          <p:nvSpPr>
            <p:cNvPr id="55" name="matrix-id-d3.0">
              <a:extLst xmlns:a="http://schemas.openxmlformats.org/drawingml/2006/main">
                <a:ext uri="{FF2B5EF4-FFF2-40B4-BE49-F238E27FC236}">
                  <a16:creationId xmlns:a16="http://schemas.microsoft.com/office/drawing/2014/main" id="{60387121-496D-44A7-B20D-258D7C5257D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47620" y="2819400"/>
              <a:ext cx="123825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 i="1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 i="1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rPr>
                <a:t>d</a:t>
              </a:r>
            </a:p>
          </p:txBody>
        </p:sp>
        <p:sp>
          <p:nvSpPr>
            <p:cNvPr id="56" name="matrix-id-d3.1">
              <a:extLst xmlns:a="http://schemas.openxmlformats.org/drawingml/2006/main">
                <a:ext uri="{FF2B5EF4-FFF2-40B4-BE49-F238E27FC236}">
                  <a16:creationId xmlns:a16="http://schemas.microsoft.com/office/drawing/2014/main" id="{B27FBBF8-DB06-4032-B64C-D1D75115035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42870" y="2910840"/>
              <a:ext cx="95936" cy="22021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020" b="0" i="0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20" b="0" i="0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rPr>
                <a:t>3</a:t>
              </a:r>
            </a:p>
          </p:txBody>
        </p:sp>
      </p:grpSp>
      <p:sp>
        <p:nvSpPr>
          <p:cNvPr id="57" name="coverage-d3-0">
            <a:extLst xmlns:a="http://schemas.openxmlformats.org/drawingml/2006/main">
              <a:ext uri="{FF2B5EF4-FFF2-40B4-BE49-F238E27FC236}">
                <a16:creationId xmlns:a16="http://schemas.microsoft.com/office/drawing/2014/main" id="{40AEC08D-6C4A-46A9-82C3-87090FF6D1E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990850" y="2695575"/>
            <a:ext cx="5334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0ED"/>
          </a:solidFill>
          <a:ln xmlns:a="http://schemas.openxmlformats.org/drawingml/2006/main" w="6668">
            <a:solidFill>
              <a:srgbClr val="ACA1A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C282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C282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8" name="coverage-d3-1">
            <a:extLst xmlns:a="http://schemas.openxmlformats.org/drawingml/2006/main">
              <a:ext uri="{FF2B5EF4-FFF2-40B4-BE49-F238E27FC236}">
                <a16:creationId xmlns:a16="http://schemas.microsoft.com/office/drawing/2014/main" id="{2AF9183B-06CD-439D-AC3B-FDD2E29CC7B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524250" y="2695575"/>
            <a:ext cx="5334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0ED"/>
          </a:solidFill>
          <a:ln xmlns:a="http://schemas.openxmlformats.org/drawingml/2006/main" w="6668">
            <a:solidFill>
              <a:srgbClr val="ACA1A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C282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C282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9" name="selected-row-d3">
            <a:extLst xmlns:a="http://schemas.openxmlformats.org/drawingml/2006/main">
              <a:ext uri="{FF2B5EF4-FFF2-40B4-BE49-F238E27FC236}">
                <a16:creationId xmlns:a16="http://schemas.microsoft.com/office/drawing/2014/main" id="{1ED877F4-AE88-4838-91FE-BF65D02E028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67000" y="2695575"/>
            <a:ext cx="13906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621">
            <a:solidFill>
              <a:srgbClr val="7C4F82"/>
            </a:solidFill>
            <a:prstDash val="solid"/>
          </a:ln>
        </p:spPr>
      </p:sp>
      <p:sp>
        <p:nvSpPr>
          <p:cNvPr id="60" name="passage-d4">
            <a:extLst xmlns:a="http://schemas.openxmlformats.org/drawingml/2006/main">
              <a:ext uri="{FF2B5EF4-FFF2-40B4-BE49-F238E27FC236}">
                <a16:creationId xmlns:a16="http://schemas.microsoft.com/office/drawing/2014/main" id="{73B86CF3-DF42-4E59-85E1-2056DF18398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1500" y="3228975"/>
            <a:ext cx="18478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F1"/>
          </a:solidFill>
          <a:ln xmlns:a="http://schemas.openxmlformats.org/drawingml/2006/main" w="7620">
            <a:solidFill>
              <a:srgbClr val="627E9A"/>
            </a:solidFill>
            <a:prstDash val="solid"/>
          </a:ln>
        </p:spPr>
      </p:sp>
      <p:sp>
        <p:nvSpPr>
          <p:cNvPr id="61" name="passage-id-separator-d4">
            <a:extLst xmlns:a="http://schemas.openxmlformats.org/drawingml/2006/main">
              <a:ext uri="{FF2B5EF4-FFF2-40B4-BE49-F238E27FC236}">
                <a16:creationId xmlns:a16="http://schemas.microsoft.com/office/drawing/2014/main" id="{21CCAF83-692D-4A53-B8CD-27487C5D7DB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95350" y="3228975"/>
            <a:ext cx="95" cy="466725"/>
          </a:xfrm>
          <a:custGeom xmlns:a="http://schemas.openxmlformats.org/drawingml/2006/main">
            <a:pathLst>
              <a:path w="95" h="466725">
                <a:moveTo>
                  <a:pt x="0" y="0"/>
                </a:moveTo>
                <a:lnTo>
                  <a:pt x="0" y="4667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627E9A"/>
            </a:solidFill>
            <a:prstDash val="solid"/>
          </a:ln>
        </p:spPr>
      </p:sp>
      <p:grpSp>
        <p:nvGrpSpPr>
          <p:cNvPr id="171" name="passage-id-d4"/>
          <p:cNvGrpSpPr/>
          <p:nvPr/>
        </p:nvGrpSpPr>
        <p:grpSpPr>
          <ns1:xfrm xmlns:ns1="http://schemas.openxmlformats.org/drawingml/2006/main">
            <ns1:off x="652120" y="3352800"/>
            <ns1:ext cx="191186" cy="323850"/>
            <ns1:chOff x="652120" y="3352800"/>
            <ns1:chExt cx="191186" cy="323850"/>
          </ns1:xfrm>
        </p:grpSpPr>
        <p:sp>
          <p:nvSpPr>
            <p:cNvPr id="62" name="passage-id-d4.0">
              <a:extLst xmlns:a="http://schemas.openxmlformats.org/drawingml/2006/main">
                <a:ext uri="{FF2B5EF4-FFF2-40B4-BE49-F238E27FC236}">
                  <a16:creationId xmlns:a16="http://schemas.microsoft.com/office/drawing/2014/main" id="{E6BF38C9-F55D-435E-9C10-38DDD1969FE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52120" y="3352800"/>
              <a:ext cx="123825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 i="1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 i="1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rPr>
                <a:t>d</a:t>
              </a:r>
            </a:p>
          </p:txBody>
        </p:sp>
        <p:sp>
          <p:nvSpPr>
            <p:cNvPr id="63" name="passage-id-d4.1">
              <a:extLst xmlns:a="http://schemas.openxmlformats.org/drawingml/2006/main">
                <a:ext uri="{FF2B5EF4-FFF2-40B4-BE49-F238E27FC236}">
                  <a16:creationId xmlns:a16="http://schemas.microsoft.com/office/drawing/2014/main" id="{4B26EC4B-DD9F-450C-A9E2-06AB953E868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47370" y="3444240"/>
              <a:ext cx="95936" cy="22021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020" b="0" i="0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20" b="0" i="0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rPr>
                <a:t>4</a:t>
              </a:r>
            </a:p>
          </p:txBody>
        </p:sp>
      </p:grpSp>
      <p:sp>
        <p:nvSpPr>
          <p:cNvPr id="64" name="passage-text-d4">
            <a:extLst xmlns:a="http://schemas.openxmlformats.org/drawingml/2006/main">
              <a:ext uri="{FF2B5EF4-FFF2-40B4-BE49-F238E27FC236}">
                <a16:creationId xmlns:a16="http://schemas.microsoft.com/office/drawing/2014/main" id="{E16FACC7-C6A7-48D7-80D3-82CBE9A141A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71550" y="329565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C282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C282D"/>
                </a:solidFill>
                <a:latin typeface="Arial"/>
                <a:ea typeface="Arial"/>
                <a:cs typeface="Arial"/>
              </a:rPr>
              <a:t>Cached results serve repeated queries.</a:t>
            </a:r>
          </a:p>
        </p:txBody>
      </p:sp>
      <p:sp>
        <p:nvSpPr>
          <p:cNvPr id="65" name="coverage-id-cell-d4">
            <a:extLst xmlns:a="http://schemas.openxmlformats.org/drawingml/2006/main">
              <a:ext uri="{FF2B5EF4-FFF2-40B4-BE49-F238E27FC236}">
                <a16:creationId xmlns:a16="http://schemas.microsoft.com/office/drawing/2014/main" id="{5C392E22-9FFB-499C-B35D-EA4218F391D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67000" y="3228975"/>
            <a:ext cx="3238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F1"/>
          </a:solidFill>
          <a:ln xmlns:a="http://schemas.openxmlformats.org/drawingml/2006/main" w="6668">
            <a:solidFill>
              <a:srgbClr val="ACA1AC"/>
            </a:solidFill>
            <a:prstDash val="solid"/>
          </a:ln>
        </p:spPr>
      </p:sp>
      <p:grpSp>
        <p:nvGrpSpPr>
          <p:cNvPr id="172" name="matrix-id-d4"/>
          <p:cNvGrpSpPr/>
          <p:nvPr/>
        </p:nvGrpSpPr>
        <p:grpSpPr>
          <ns1:xfrm xmlns:ns1="http://schemas.openxmlformats.org/drawingml/2006/main">
            <ns1:off x="2747620" y="3352800"/>
            <ns1:ext cx="191186" cy="323850"/>
            <ns1:chOff x="2747620" y="3352800"/>
            <ns1:chExt cx="191186" cy="323850"/>
          </ns1:xfrm>
        </p:grpSpPr>
        <p:sp>
          <p:nvSpPr>
            <p:cNvPr id="66" name="matrix-id-d4.0">
              <a:extLst xmlns:a="http://schemas.openxmlformats.org/drawingml/2006/main">
                <a:ext uri="{FF2B5EF4-FFF2-40B4-BE49-F238E27FC236}">
                  <a16:creationId xmlns:a16="http://schemas.microsoft.com/office/drawing/2014/main" id="{4F10A741-5B3C-445B-9D10-F7E1026B64F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47620" y="3352800"/>
              <a:ext cx="123825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 i="1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 i="1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rPr>
                <a:t>d</a:t>
              </a:r>
            </a:p>
          </p:txBody>
        </p:sp>
        <p:sp>
          <p:nvSpPr>
            <p:cNvPr id="67" name="matrix-id-d4.1">
              <a:extLst xmlns:a="http://schemas.openxmlformats.org/drawingml/2006/main">
                <a:ext uri="{FF2B5EF4-FFF2-40B4-BE49-F238E27FC236}">
                  <a16:creationId xmlns:a16="http://schemas.microsoft.com/office/drawing/2014/main" id="{F8B410D4-3B89-4B84-9C3D-85C8512583A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42870" y="3444240"/>
              <a:ext cx="95936" cy="22021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020" b="0" i="0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20" b="0" i="0">
                  <a:solidFill>
                    <a:srgbClr val="2C282D"/>
                  </a:solidFill>
                  <a:latin typeface="Times New Roman"/>
                  <a:ea typeface="Times New Roman"/>
                  <a:cs typeface="Times New Roman"/>
                </a:rPr>
                <a:t>4</a:t>
              </a:r>
            </a:p>
          </p:txBody>
        </p:sp>
      </p:grpSp>
      <p:sp>
        <p:nvSpPr>
          <p:cNvPr id="68" name="coverage-d4-0">
            <a:extLst xmlns:a="http://schemas.openxmlformats.org/drawingml/2006/main">
              <a:ext uri="{FF2B5EF4-FFF2-40B4-BE49-F238E27FC236}">
                <a16:creationId xmlns:a16="http://schemas.microsoft.com/office/drawing/2014/main" id="{C2B5FC2B-626E-4E9C-8E08-AB1BA861BF0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990850" y="3228975"/>
            <a:ext cx="5334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F1"/>
          </a:solidFill>
          <a:ln xmlns:a="http://schemas.openxmlformats.org/drawingml/2006/main" w="6668">
            <a:solidFill>
              <a:srgbClr val="ACA1A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C282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C282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9" name="coverage-d4-1">
            <a:extLst xmlns:a="http://schemas.openxmlformats.org/drawingml/2006/main">
              <a:ext uri="{FF2B5EF4-FFF2-40B4-BE49-F238E27FC236}">
                <a16:creationId xmlns:a16="http://schemas.microsoft.com/office/drawing/2014/main" id="{5E752928-2320-4566-91EF-2542C6C2DF9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524250" y="3228975"/>
            <a:ext cx="5334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F1"/>
          </a:solidFill>
          <a:ln xmlns:a="http://schemas.openxmlformats.org/drawingml/2006/main" w="6668">
            <a:solidFill>
              <a:srgbClr val="ACA1A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C282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C282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pic>
        <p:nvPicPr>
          <p:cNvPr id="153" name="document-collection-picture" descr="Generated flat pictogram of a collection of documents; illustrative source-category marker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9591b5ff434ec1"/>
          <a:stretch xmlns:a="http://schemas.openxmlformats.org/drawingml/2006/main"/>
        </p:blipFill>
        <p:spPr>
          <a:xfrm xmlns:a="http://schemas.openxmlformats.org/drawingml/2006/main">
            <a:off x="9525" y="2419350"/>
            <a:ext cx="466725" cy="404356"/>
          </a:xfrm>
          <a:prstGeom xmlns:a="http://schemas.openxmlformats.org/drawingml/2006/main" prst="rect">
            <a:avLst/>
          </a:prstGeom>
        </p:spPr>
      </p:pic>
      <p:sp>
        <p:nvSpPr>
          <p:cNvPr id="71" name="collection-bracket">
            <a:extLst xmlns:a="http://schemas.openxmlformats.org/drawingml/2006/main">
              <a:ext uri="{FF2B5EF4-FFF2-40B4-BE49-F238E27FC236}">
                <a16:creationId xmlns:a16="http://schemas.microsoft.com/office/drawing/2014/main" id="{B6A8FE9A-1059-4C08-BB57-CF57309A4A8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81000" y="1647825"/>
            <a:ext cx="123825" cy="2047875"/>
          </a:xfrm>
          <a:custGeom xmlns:a="http://schemas.openxmlformats.org/drawingml/2006/main">
            <a:pathLst>
              <a:path w="123825" h="2047875">
                <a:moveTo>
                  <a:pt x="123825" y="0"/>
                </a:moveTo>
                <a:lnTo>
                  <a:pt x="76200" y="0"/>
                </a:lnTo>
                <a:lnTo>
                  <a:pt x="47625" y="47625"/>
                </a:lnTo>
                <a:lnTo>
                  <a:pt x="47625" y="885825"/>
                </a:lnTo>
                <a:lnTo>
                  <a:pt x="0" y="1009650"/>
                </a:lnTo>
                <a:lnTo>
                  <a:pt x="47625" y="1123950"/>
                </a:lnTo>
                <a:lnTo>
                  <a:pt x="47625" y="2000250"/>
                </a:lnTo>
                <a:lnTo>
                  <a:pt x="76200" y="2047875"/>
                </a:lnTo>
                <a:lnTo>
                  <a:pt x="123825" y="2047875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2C282D"/>
            </a:solidFill>
            <a:prstDash val="solid"/>
          </a:ln>
        </p:spPr>
      </p:sp>
      <p:sp>
        <p:nvSpPr>
          <p:cNvPr id="72" name="grounded-answer">
            <a:extLst xmlns:a="http://schemas.openxmlformats.org/drawingml/2006/main">
              <a:ext uri="{FF2B5EF4-FFF2-40B4-BE49-F238E27FC236}">
                <a16:creationId xmlns:a16="http://schemas.microsoft.com/office/drawing/2014/main" id="{EBAAF120-3E4F-4697-8F7C-6CF626216F8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457700" y="2200275"/>
            <a:ext cx="18288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3EAD5"/>
          </a:solidFill>
          <a:ln xmlns:a="http://schemas.openxmlformats.org/drawingml/2006/main" w="10001">
            <a:solidFill>
              <a:srgbClr val="967F4B"/>
            </a:solidFill>
            <a:prstDash val="solid"/>
          </a:ln>
        </p:spPr>
      </p:sp>
      <p:sp>
        <p:nvSpPr>
          <p:cNvPr id="73" name="answer-reuse">
            <a:extLst xmlns:a="http://schemas.openxmlformats.org/drawingml/2006/main">
              <a:ext uri="{FF2B5EF4-FFF2-40B4-BE49-F238E27FC236}">
                <a16:creationId xmlns:a16="http://schemas.microsoft.com/office/drawing/2014/main" id="{E19C0A3F-949A-490F-868C-F99FE700362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72000" y="2314575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0ED"/>
          </a:solidFill>
          <a:ln xmlns:a="http://schemas.openxmlformats.org/drawingml/2006/main" w="10001">
            <a:solidFill>
              <a:srgbClr val="8D6D91"/>
            </a:solidFill>
            <a:prstDash val="solid"/>
          </a:ln>
        </p:spPr>
      </p:sp>
      <p:sp>
        <p:nvSpPr>
          <p:cNvPr id="74" name="answer-reuse-text">
            <a:extLst xmlns:a="http://schemas.openxmlformats.org/drawingml/2006/main">
              <a:ext uri="{FF2B5EF4-FFF2-40B4-BE49-F238E27FC236}">
                <a16:creationId xmlns:a16="http://schemas.microsoft.com/office/drawing/2014/main" id="{D8D9CE6E-C4CE-41A5-89B0-0B229CD8C7F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667250" y="23812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C282D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C282D"/>
                </a:solidFill>
                <a:latin typeface="Arial"/>
                <a:ea typeface="Arial"/>
                <a:cs typeface="Arial"/>
              </a:rPr>
              <a:t>Stored results serve repeated queries.</a:t>
            </a:r>
          </a:p>
        </p:txBody>
      </p:sp>
      <p:sp>
        <p:nvSpPr>
          <p:cNvPr id="75" name="answer-reuse-citation">
            <a:extLst xmlns:a="http://schemas.openxmlformats.org/drawingml/2006/main">
              <a:ext uri="{FF2B5EF4-FFF2-40B4-BE49-F238E27FC236}">
                <a16:creationId xmlns:a16="http://schemas.microsoft.com/office/drawing/2014/main" id="{79F4F50F-C87D-4925-A011-5E98565967D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876925" y="2590800"/>
            <a:ext cx="219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C4F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C4F82"/>
                </a:solidFill>
                <a:latin typeface="Arial"/>
                <a:ea typeface="Arial"/>
                <a:cs typeface="Arial"/>
              </a:rPr>
              <a:t>[1]</a:t>
            </a:r>
          </a:p>
        </p:txBody>
      </p:sp>
      <p:cxnSp>
        <p:nvCxnSpPr>
          <p:cNvPr id="159" name="evidence-d1"/>
          <p:cNvCxnSpPr>
            <a:stCxn xmlns:a="http://schemas.openxmlformats.org/drawingml/2006/main" id="38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4057650" y="1862138"/>
            <a:ext cx="514350" cy="6905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336" cap="rnd">
            <a:solidFill>
              <a:srgbClr val="7C4F82"/>
            </a:solidFill>
            <a:prstDash val="solid"/>
            <a:round/>
            <a:tailEnd type="triangle" w="med" len="med"/>
          </a:ln>
        </p:spPr>
      </p:cxnSp>
      <p:sp>
        <p:nvSpPr>
          <p:cNvPr id="77" name="answer-eviction">
            <a:extLst xmlns:a="http://schemas.openxmlformats.org/drawingml/2006/main">
              <a:ext uri="{FF2B5EF4-FFF2-40B4-BE49-F238E27FC236}">
                <a16:creationId xmlns:a16="http://schemas.microsoft.com/office/drawing/2014/main" id="{4698C7E6-E696-4041-A495-CA06BFAD93E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72000" y="2943225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0ED"/>
          </a:solidFill>
          <a:ln xmlns:a="http://schemas.openxmlformats.org/drawingml/2006/main" w="10001">
            <a:solidFill>
              <a:srgbClr val="8D6D91"/>
            </a:solidFill>
            <a:prstDash val="solid"/>
          </a:ln>
        </p:spPr>
      </p:sp>
      <p:sp>
        <p:nvSpPr>
          <p:cNvPr id="78" name="answer-eviction-text">
            <a:extLst xmlns:a="http://schemas.openxmlformats.org/drawingml/2006/main">
              <a:ext uri="{FF2B5EF4-FFF2-40B4-BE49-F238E27FC236}">
                <a16:creationId xmlns:a16="http://schemas.microsoft.com/office/drawing/2014/main" id="{B4C475E3-AEB5-4155-B139-6046AA2C32F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667250" y="300990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C282D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C282D"/>
                </a:solidFill>
                <a:latin typeface="Arial"/>
                <a:ea typeface="Arial"/>
                <a:cs typeface="Arial"/>
              </a:rPr>
              <a:t>Old entries are evicted at capacity.</a:t>
            </a:r>
          </a:p>
        </p:txBody>
      </p:sp>
      <p:sp>
        <p:nvSpPr>
          <p:cNvPr id="79" name="answer-eviction-citation">
            <a:extLst xmlns:a="http://schemas.openxmlformats.org/drawingml/2006/main">
              <a:ext uri="{FF2B5EF4-FFF2-40B4-BE49-F238E27FC236}">
                <a16:creationId xmlns:a16="http://schemas.microsoft.com/office/drawing/2014/main" id="{A4A80BC5-CF34-4C28-B9AD-1C592FE0E92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876925" y="3219450"/>
            <a:ext cx="219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C4F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C4F82"/>
                </a:solidFill>
                <a:latin typeface="Arial"/>
                <a:ea typeface="Arial"/>
                <a:cs typeface="Arial"/>
              </a:rPr>
              <a:t>[3]</a:t>
            </a:r>
          </a:p>
        </p:txBody>
      </p:sp>
      <p:cxnSp>
        <p:nvCxnSpPr>
          <p:cNvPr id="163" name="evidence-d3"/>
          <p:cNvCxnSpPr>
            <a:stCxn xmlns:a="http://schemas.openxmlformats.org/drawingml/2006/main" id="59" idx="3"/>
            <a:endCxn xmlns:a="http://schemas.openxmlformats.org/drawingml/2006/main" id="77" idx="1"/>
          </p:cNvCxnSpPr>
          <p:nvPr/>
        </p:nvCxnSpPr>
        <p:spPr>
          <a:xfrm xmlns:a="http://schemas.openxmlformats.org/drawingml/2006/main">
            <a:off x="4057650" y="2928938"/>
            <a:ext cx="514350" cy="2524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336" cap="rnd">
            <a:solidFill>
              <a:srgbClr val="7C4F82"/>
            </a:solidFill>
            <a:prstDash val="solid"/>
            <a:round/>
            <a:tailEnd type="triangle" w="med" len="med"/>
          </a:ln>
        </p:spPr>
      </p:cxnSp>
      <p:sp>
        <p:nvSpPr>
          <p:cNvPr id="81" name="coverage-definition">
            <a:extLst xmlns:a="http://schemas.openxmlformats.org/drawingml/2006/main">
              <a:ext uri="{FF2B5EF4-FFF2-40B4-BE49-F238E27FC236}">
                <a16:creationId xmlns:a16="http://schemas.microsoft.com/office/drawing/2014/main" id="{A5D1C1EA-5407-47B5-8A7F-AD864E5FE52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09850" y="3762375"/>
            <a:ext cx="1638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5A525A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5A525A"/>
                </a:solidFill>
                <a:latin typeface="Arial"/>
                <a:ea typeface="Arial"/>
                <a:cs typeface="Arial"/>
              </a:rPr>
              <a:t>1 = covers facet; 0 = does not</a:t>
            </a:r>
          </a:p>
        </p:txBody>
      </p:sp>
      <p:sp>
        <p:nvSpPr>
          <p:cNvPr id="82" name="selection-definition">
            <a:extLst xmlns:a="http://schemas.openxmlformats.org/drawingml/2006/main">
              <a:ext uri="{FF2B5EF4-FFF2-40B4-BE49-F238E27FC236}">
                <a16:creationId xmlns:a16="http://schemas.microsoft.com/office/drawing/2014/main" id="{BAEFABED-FEEA-4D05-A81D-299841847E5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09850" y="3924300"/>
            <a:ext cx="16383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5A525A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5A525A"/>
                </a:solidFill>
                <a:latin typeface="Arial"/>
                <a:ea typeface="Arial"/>
                <a:cs typeface="Arial"/>
              </a:rPr>
              <a:t>Outlined rows are selected</a:t>
            </a:r>
          </a:p>
        </p:txBody>
      </p:sp>
      <p:sp>
        <p:nvSpPr>
          <p:cNvPr id="83" name="disclosure">
            <a:extLst xmlns:a="http://schemas.openxmlformats.org/drawingml/2006/main">
              <a:ext uri="{FF2B5EF4-FFF2-40B4-BE49-F238E27FC236}">
                <a16:creationId xmlns:a16="http://schemas.microsoft.com/office/drawing/2014/main" id="{880C32FC-9546-4D96-A4B9-392EBF576C3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53000" y="3905250"/>
            <a:ext cx="1333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5A525A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5A525A"/>
                </a:solidFill>
                <a:latin typeface="Arial"/>
                <a:ea typeface="Arial"/>
                <a:cs typeface="Arial"/>
              </a:rPr>
              <a:t>Illustrative example</a:t>
            </a:r>
          </a:p>
        </p:txBody>
      </p:sp>
    </p:spTree>
    <p:extLst>
      <p:ext uri="{BB962C8B-B14F-4D97-AF65-F5344CB8AC3E}">
        <p14:creationId xmlns:p14="http://schemas.microsoft.com/office/powerpoint/2010/main" val="19006640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2026-10-01T01:28:50.1130000Z</dcterms:created>
  <dcterms:modified xsi:type="dcterms:W3CDTF">2026-10-01T01:28:50.1130000Z</dcterms:modified>
</coreProperties>
</file>