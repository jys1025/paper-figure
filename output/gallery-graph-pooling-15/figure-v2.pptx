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4669bc711409e" /><Relationship Type="http://schemas.openxmlformats.org/officeDocument/2006/relationships/extended-properties" Target="/docProps/app.xml" Id="R4c1be2410fdb46da" /><Relationship Type="http://schemas.openxmlformats.org/officeDocument/2006/relationships/officeDocument" Target="/ppt/presentation.xml" Id="Rb1933c66d5774d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6431bdd0f4559"/>
  </p:sldMasterIdLst>
  <p:notesMasterIdLst>
    <p:notesMasterId xmlns:r="http://schemas.openxmlformats.org/officeDocument/2006/relationships" r:id="R7cd527da88be4643"/>
  </p:notesMasterIdLst>
  <p:sldIdLst>
    <p:sldId xmlns:r="http://schemas.openxmlformats.org/officeDocument/2006/relationships" id="256" r:id="Rd835a0d39031437c"/>
  </p:sldIdLst>
  <p:sldSz cx="6400800" cy="3714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122538904f41a5" /><Relationship Type="http://schemas.openxmlformats.org/officeDocument/2006/relationships/slideMaster" Target="/ppt/slideMasters/slideMaster1.xml" Id="Rebb6431bdd0f4559" /><Relationship Type="http://schemas.openxmlformats.org/officeDocument/2006/relationships/notesMaster" Target="/ppt/notesMasters/notesMaster1.xml" Id="R7cd527da88be4643" /><Relationship Type="http://schemas.openxmlformats.org/officeDocument/2006/relationships/presProps" Target="/ppt/presProps.xml" Id="R75bd92de15ff4794" /><Relationship Type="http://schemas.openxmlformats.org/officeDocument/2006/relationships/tableStyles" Target="/ppt/tableStyles.xml" Id="R8ba1c5f17bb74a9d" /><Relationship Type="http://schemas.openxmlformats.org/officeDocument/2006/relationships/slide" Target="/ppt/slides/slide1.xml" Id="Rd835a0d3903143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63a12798c5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2c43975bbe4006" /><Relationship Type="http://schemas.openxmlformats.org/officeDocument/2006/relationships/notesMaster" Target="/ppt/notesMasters/notesMaster1.xml" Id="Re089a52fe32045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From nodes to a coarsened graph</a:t>
            </a:r>
          </a:p>
          <a:p xmlns:a="http://schemas.openxmlformats.org/drawingml/2006/main">
            <a:r>
              <a:t>Original illustrative hard-assignment pooling example inspired by DiffPool, which learns soft assignments. Eight nodes, eleven undirected edges, three clusters. Adjacency A has zero diagonal; S is one-hot. A′=SᵀAS has diagonal 6,6,2. Graph renders cross-cluster edges only; diagonal mass retained in matrix. No trained model result. Every visible object is native, including grouped text math (not OMML). Full composition draft not embedded. Intended width 177.8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748d241e0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06645919aa4c52" /><Relationship Type="http://schemas.openxmlformats.org/officeDocument/2006/relationships/slideLayout" Target="/ppt/slideLayouts/slideLayout1.xml" Id="R454bf940eb7d48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4bf940eb7d48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92dd205cc4fb5" /><Relationship Type="http://schemas.openxmlformats.org/officeDocument/2006/relationships/notesSlide" Target="/ppt/notesSlides/notesSlide1.xml" Id="R28f901af0cf94e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title">
            <a:extLst xmlns:a="http://schemas.openxmlformats.org/drawingml/2006/main">
              <a:ext uri="{FF2B5EF4-FFF2-40B4-BE49-F238E27FC236}">
                <a16:creationId xmlns:a16="http://schemas.microsoft.com/office/drawing/2014/main" id="{8FF97A79-6D55-4472-87B9-D49D79DC04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133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From nodes to a coarsened graph</a:t>
            </a:r>
          </a:p>
        </p:txBody>
      </p:sp>
      <p:sp>
        <p:nvSpPr>
          <p:cNvPr id="2" name="panel-a">
            <a:extLst xmlns:a="http://schemas.openxmlformats.org/drawingml/2006/main">
              <a:ext uri="{FF2B5EF4-FFF2-40B4-BE49-F238E27FC236}">
                <a16:creationId xmlns:a16="http://schemas.microsoft.com/office/drawing/2014/main" id="{1FD4254C-AEDF-411E-AEBB-EB8606E1F2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300" y="23717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(a) Original graph</a:t>
            </a:r>
          </a:p>
        </p:txBody>
      </p:sp>
      <p:sp>
        <p:nvSpPr>
          <p:cNvPr id="3" name="panel-b">
            <a:extLst xmlns:a="http://schemas.openxmlformats.org/drawingml/2006/main">
              <a:ext uri="{FF2B5EF4-FFF2-40B4-BE49-F238E27FC236}">
                <a16:creationId xmlns:a16="http://schemas.microsoft.com/office/drawing/2014/main" id="{F73FEB9C-A799-44D1-809D-8CF3D83848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05075" y="23717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(b) Assignment S</a:t>
            </a:r>
          </a:p>
        </p:txBody>
      </p:sp>
      <p:sp>
        <p:nvSpPr>
          <p:cNvPr id="4" name="panel-c">
            <a:extLst xmlns:a="http://schemas.openxmlformats.org/drawingml/2006/main">
              <a:ext uri="{FF2B5EF4-FFF2-40B4-BE49-F238E27FC236}">
                <a16:creationId xmlns:a16="http://schemas.microsoft.com/office/drawing/2014/main" id="{BAA1D06D-BF3A-41D9-928D-4AA5A41968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7675" y="2371725"/>
            <a:ext cx="2047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(c) Coarsened graph</a:t>
            </a:r>
          </a:p>
        </p:txBody>
      </p:sp>
      <p:sp>
        <p:nvSpPr>
          <p:cNvPr id="5" name="hull-A">
            <a:extLst xmlns:a="http://schemas.openxmlformats.org/drawingml/2006/main">
              <a:ext uri="{FF2B5EF4-FFF2-40B4-BE49-F238E27FC236}">
                <a16:creationId xmlns:a16="http://schemas.microsoft.com/office/drawing/2014/main" id="{F6342FE9-1DEA-400E-B484-E451DB8C61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825" y="514350"/>
            <a:ext cx="1019175" cy="914400"/>
          </a:xfrm>
          <a:custGeom xmlns:a="http://schemas.openxmlformats.org/drawingml/2006/main">
            <a:pathLst>
              <a:path w="1019175" h="914400">
                <a:moveTo>
                  <a:pt x="0" y="200025"/>
                </a:moveTo>
                <a:lnTo>
                  <a:pt x="200025" y="28575"/>
                </a:lnTo>
                <a:lnTo>
                  <a:pt x="666750" y="0"/>
                </a:lnTo>
                <a:lnTo>
                  <a:pt x="923925" y="114300"/>
                </a:lnTo>
                <a:lnTo>
                  <a:pt x="1019175" y="476250"/>
                </a:lnTo>
                <a:lnTo>
                  <a:pt x="876300" y="762000"/>
                </a:lnTo>
                <a:lnTo>
                  <a:pt x="581025" y="914400"/>
                </a:lnTo>
                <a:lnTo>
                  <a:pt x="209550" y="809625"/>
                </a:lnTo>
                <a:lnTo>
                  <a:pt x="47625" y="581025"/>
                </a:lnTo>
                <a:close/>
              </a:path>
            </a:pathLst>
          </a:custGeom>
          <a:solidFill xmlns:a="http://schemas.openxmlformats.org/drawingml/2006/main">
            <a:srgbClr val="E1EB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hull-B">
            <a:extLst xmlns:a="http://schemas.openxmlformats.org/drawingml/2006/main">
              <a:ext uri="{FF2B5EF4-FFF2-40B4-BE49-F238E27FC236}">
                <a16:creationId xmlns:a16="http://schemas.microsoft.com/office/drawing/2014/main" id="{9F133DB8-13FD-4084-9157-6EDAF32A93A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6350" y="857250"/>
            <a:ext cx="981075" cy="1000125"/>
          </a:xfrm>
          <a:custGeom xmlns:a="http://schemas.openxmlformats.org/drawingml/2006/main">
            <a:pathLst>
              <a:path w="981075" h="1000125">
                <a:moveTo>
                  <a:pt x="0" y="190500"/>
                </a:moveTo>
                <a:lnTo>
                  <a:pt x="371475" y="0"/>
                </a:lnTo>
                <a:lnTo>
                  <a:pt x="800100" y="161925"/>
                </a:lnTo>
                <a:lnTo>
                  <a:pt x="981075" y="466725"/>
                </a:lnTo>
                <a:lnTo>
                  <a:pt x="952500" y="838200"/>
                </a:lnTo>
                <a:lnTo>
                  <a:pt x="704850" y="1000125"/>
                </a:lnTo>
                <a:lnTo>
                  <a:pt x="371475" y="895350"/>
                </a:lnTo>
                <a:lnTo>
                  <a:pt x="85725" y="742950"/>
                </a:lnTo>
                <a:close/>
              </a:path>
            </a:pathLst>
          </a:custGeom>
          <a:solidFill xmlns:a="http://schemas.openxmlformats.org/drawingml/2006/main">
            <a:srgbClr val="F8E5D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hull-C">
            <a:extLst xmlns:a="http://schemas.openxmlformats.org/drawingml/2006/main">
              <a:ext uri="{FF2B5EF4-FFF2-40B4-BE49-F238E27FC236}">
                <a16:creationId xmlns:a16="http://schemas.microsoft.com/office/drawing/2014/main" id="{1947D4F3-4BD3-4732-8C6E-679D14319C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350" y="1762125"/>
            <a:ext cx="1133475" cy="581025"/>
          </a:xfrm>
          <a:custGeom xmlns:a="http://schemas.openxmlformats.org/drawingml/2006/main">
            <a:pathLst>
              <a:path w="1133475" h="581025">
                <a:moveTo>
                  <a:pt x="0" y="123825"/>
                </a:moveTo>
                <a:lnTo>
                  <a:pt x="428625" y="0"/>
                </a:lnTo>
                <a:lnTo>
                  <a:pt x="885825" y="9525"/>
                </a:lnTo>
                <a:lnTo>
                  <a:pt x="1133475" y="247650"/>
                </a:lnTo>
                <a:lnTo>
                  <a:pt x="1038225" y="514350"/>
                </a:lnTo>
                <a:lnTo>
                  <a:pt x="447675" y="581025"/>
                </a:lnTo>
                <a:lnTo>
                  <a:pt x="47625" y="438150"/>
                </a:lnTo>
                <a:close/>
              </a:path>
            </a:pathLst>
          </a:custGeom>
          <a:solidFill xmlns:a="http://schemas.openxmlformats.org/drawingml/2006/main">
            <a:srgbClr val="E0EF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graph-edge-1-2">
            <a:extLst xmlns:a="http://schemas.openxmlformats.org/drawingml/2006/main">
              <a:ext uri="{FF2B5EF4-FFF2-40B4-BE49-F238E27FC236}">
                <a16:creationId xmlns:a16="http://schemas.microsoft.com/office/drawing/2014/main" id="{D831FD6B-F220-464D-BBA2-02E4277401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950" y="838200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9" name="graph-edge-2-3">
            <a:extLst xmlns:a="http://schemas.openxmlformats.org/drawingml/2006/main">
              <a:ext uri="{FF2B5EF4-FFF2-40B4-BE49-F238E27FC236}">
                <a16:creationId xmlns:a16="http://schemas.microsoft.com/office/drawing/2014/main" id="{177E9D3D-9015-42FB-998E-AEE899D4F3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125" y="838200"/>
            <a:ext cx="247650" cy="381000"/>
          </a:xfrm>
          <a:custGeom xmlns:a="http://schemas.openxmlformats.org/drawingml/2006/main">
            <a:pathLst>
              <a:path w="247650" h="381000">
                <a:moveTo>
                  <a:pt x="24765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0" name="graph-edge-1-3">
            <a:extLst xmlns:a="http://schemas.openxmlformats.org/drawingml/2006/main">
              <a:ext uri="{FF2B5EF4-FFF2-40B4-BE49-F238E27FC236}">
                <a16:creationId xmlns:a16="http://schemas.microsoft.com/office/drawing/2014/main" id="{49F90BA6-4D88-42CD-9A12-5D6606FCF9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950" y="838200"/>
            <a:ext cx="257175" cy="381000"/>
          </a:xfrm>
          <a:custGeom xmlns:a="http://schemas.openxmlformats.org/drawingml/2006/main">
            <a:pathLst>
              <a:path w="257175" h="381000">
                <a:moveTo>
                  <a:pt x="0" y="0"/>
                </a:moveTo>
                <a:lnTo>
                  <a:pt x="257175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1" name="graph-edge-3-4">
            <a:extLst xmlns:a="http://schemas.openxmlformats.org/drawingml/2006/main">
              <a:ext uri="{FF2B5EF4-FFF2-40B4-BE49-F238E27FC236}">
                <a16:creationId xmlns:a16="http://schemas.microsoft.com/office/drawing/2014/main" id="{21F1846F-BCA3-4648-8A91-F679329573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125" y="1190625"/>
            <a:ext cx="990600" cy="28575"/>
          </a:xfrm>
          <a:custGeom xmlns:a="http://schemas.openxmlformats.org/drawingml/2006/main">
            <a:pathLst>
              <a:path w="990600" h="28575">
                <a:moveTo>
                  <a:pt x="0" y="28575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2" name="graph-edge-2-5">
            <a:extLst xmlns:a="http://schemas.openxmlformats.org/drawingml/2006/main">
              <a:ext uri="{FF2B5EF4-FFF2-40B4-BE49-F238E27FC236}">
                <a16:creationId xmlns:a16="http://schemas.microsoft.com/office/drawing/2014/main" id="{875D1EE8-CC08-4B0F-BBC4-0DFBAC56E2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6775" y="838200"/>
            <a:ext cx="542925" cy="723900"/>
          </a:xfrm>
          <a:custGeom xmlns:a="http://schemas.openxmlformats.org/drawingml/2006/main">
            <a:pathLst>
              <a:path w="542925" h="723900">
                <a:moveTo>
                  <a:pt x="0" y="0"/>
                </a:moveTo>
                <a:lnTo>
                  <a:pt x="542925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3" name="graph-edge-4-5">
            <a:extLst xmlns:a="http://schemas.openxmlformats.org/drawingml/2006/main">
              <a:ext uri="{FF2B5EF4-FFF2-40B4-BE49-F238E27FC236}">
                <a16:creationId xmlns:a16="http://schemas.microsoft.com/office/drawing/2014/main" id="{295CDBEF-6918-4ED3-8F8E-83FC895865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9700" y="1190625"/>
            <a:ext cx="200025" cy="371475"/>
          </a:xfrm>
          <a:custGeom xmlns:a="http://schemas.openxmlformats.org/drawingml/2006/main">
            <a:pathLst>
              <a:path w="200025" h="371475">
                <a:moveTo>
                  <a:pt x="200025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4" name="graph-edge-5-6">
            <a:extLst xmlns:a="http://schemas.openxmlformats.org/drawingml/2006/main">
              <a:ext uri="{FF2B5EF4-FFF2-40B4-BE49-F238E27FC236}">
                <a16:creationId xmlns:a16="http://schemas.microsoft.com/office/drawing/2014/main" id="{1F3244EE-555C-420F-9446-7FC06C736C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9700" y="1562100"/>
            <a:ext cx="600075" cy="19050"/>
          </a:xfrm>
          <a:custGeom xmlns:a="http://schemas.openxmlformats.org/drawingml/2006/main">
            <a:pathLst>
              <a:path w="600075" h="19050">
                <a:moveTo>
                  <a:pt x="0" y="0"/>
                </a:moveTo>
                <a:lnTo>
                  <a:pt x="600075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5" name="graph-edge-4-6">
            <a:extLst xmlns:a="http://schemas.openxmlformats.org/drawingml/2006/main">
              <a:ext uri="{FF2B5EF4-FFF2-40B4-BE49-F238E27FC236}">
                <a16:creationId xmlns:a16="http://schemas.microsoft.com/office/drawing/2014/main" id="{601FB62B-87F2-4C65-AD1B-05618FBEAD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9725" y="1190625"/>
            <a:ext cx="400050" cy="390525"/>
          </a:xfrm>
          <a:custGeom xmlns:a="http://schemas.openxmlformats.org/drawingml/2006/main">
            <a:pathLst>
              <a:path w="400050" h="390525">
                <a:moveTo>
                  <a:pt x="0" y="0"/>
                </a:moveTo>
                <a:lnTo>
                  <a:pt x="40005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6" name="graph-edge-6-7">
            <a:extLst xmlns:a="http://schemas.openxmlformats.org/drawingml/2006/main">
              <a:ext uri="{FF2B5EF4-FFF2-40B4-BE49-F238E27FC236}">
                <a16:creationId xmlns:a16="http://schemas.microsoft.com/office/drawing/2014/main" id="{90BD1109-E849-4264-BA02-F8303B6993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71600" y="1581150"/>
            <a:ext cx="638175" cy="495300"/>
          </a:xfrm>
          <a:custGeom xmlns:a="http://schemas.openxmlformats.org/drawingml/2006/main">
            <a:pathLst>
              <a:path w="638175" h="495300">
                <a:moveTo>
                  <a:pt x="638175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7" name="graph-edge-7-8">
            <a:extLst xmlns:a="http://schemas.openxmlformats.org/drawingml/2006/main">
              <a:ext uri="{FF2B5EF4-FFF2-40B4-BE49-F238E27FC236}">
                <a16:creationId xmlns:a16="http://schemas.microsoft.com/office/drawing/2014/main" id="{FAB74018-1F1C-46B7-9340-F7360D3406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2475" y="2076450"/>
            <a:ext cx="619125" cy="95"/>
          </a:xfrm>
          <a:custGeom xmlns:a="http://schemas.openxmlformats.org/drawingml/2006/main">
            <a:pathLst>
              <a:path w="619125" h="95">
                <a:moveTo>
                  <a:pt x="619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8" name="graph-edge-3-8">
            <a:extLst xmlns:a="http://schemas.openxmlformats.org/drawingml/2006/main">
              <a:ext uri="{FF2B5EF4-FFF2-40B4-BE49-F238E27FC236}">
                <a16:creationId xmlns:a16="http://schemas.microsoft.com/office/drawing/2014/main" id="{2F144245-3F8D-4AF1-8CE2-0A6DB63C46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125" y="1219200"/>
            <a:ext cx="133350" cy="857250"/>
          </a:xfrm>
          <a:custGeom xmlns:a="http://schemas.openxmlformats.org/drawingml/2006/main">
            <a:pathLst>
              <a:path w="133350" h="857250">
                <a:moveTo>
                  <a:pt x="0" y="0"/>
                </a:moveTo>
                <a:lnTo>
                  <a:pt x="13335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D444C"/>
            </a:solidFill>
            <a:prstDash val="solid"/>
          </a:ln>
        </p:spPr>
      </p:sp>
      <p:sp>
        <p:nvSpPr>
          <p:cNvPr id="19" name="node-1">
            <a:extLst xmlns:a="http://schemas.openxmlformats.org/drawingml/2006/main">
              <a:ext uri="{FF2B5EF4-FFF2-40B4-BE49-F238E27FC236}">
                <a16:creationId xmlns:a16="http://schemas.microsoft.com/office/drawing/2014/main" id="{B5B6D0F2-1D2E-49E4-B933-4A08964D49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7175" y="733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649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node-2">
            <a:extLst xmlns:a="http://schemas.openxmlformats.org/drawingml/2006/main">
              <a:ext uri="{FF2B5EF4-FFF2-40B4-BE49-F238E27FC236}">
                <a16:creationId xmlns:a16="http://schemas.microsoft.com/office/drawing/2014/main" id="{5974A286-FE14-42C0-BDAD-7FCF8418FB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0" y="733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649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node-3">
            <a:extLst xmlns:a="http://schemas.openxmlformats.org/drawingml/2006/main">
              <a:ext uri="{FF2B5EF4-FFF2-40B4-BE49-F238E27FC236}">
                <a16:creationId xmlns:a16="http://schemas.microsoft.com/office/drawing/2014/main" id="{C832A62E-A950-473D-AFB8-80EC925F5D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350" y="1114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0649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node-4">
            <a:extLst xmlns:a="http://schemas.openxmlformats.org/drawingml/2006/main">
              <a:ext uri="{FF2B5EF4-FFF2-40B4-BE49-F238E27FC236}">
                <a16:creationId xmlns:a16="http://schemas.microsoft.com/office/drawing/2014/main" id="{9FCDAB08-A499-4CBF-8742-5F71D9BD7E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4950" y="1085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B632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node-5">
            <a:extLst xmlns:a="http://schemas.openxmlformats.org/drawingml/2006/main">
              <a:ext uri="{FF2B5EF4-FFF2-40B4-BE49-F238E27FC236}">
                <a16:creationId xmlns:a16="http://schemas.microsoft.com/office/drawing/2014/main" id="{4F395647-D2B0-4072-8A2E-AB9CA1B8FD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4925" y="1457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B632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node-6">
            <a:extLst xmlns:a="http://schemas.openxmlformats.org/drawingml/2006/main">
              <a:ext uri="{FF2B5EF4-FFF2-40B4-BE49-F238E27FC236}">
                <a16:creationId xmlns:a16="http://schemas.microsoft.com/office/drawing/2014/main" id="{077EE729-21C0-4B83-980B-2FD35B8DA2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0" y="1476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B632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node-7">
            <a:extLst xmlns:a="http://schemas.openxmlformats.org/drawingml/2006/main">
              <a:ext uri="{FF2B5EF4-FFF2-40B4-BE49-F238E27FC236}">
                <a16:creationId xmlns:a16="http://schemas.microsoft.com/office/drawing/2014/main" id="{5DFF67C7-AEBD-4B00-9590-DE28194F77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6825" y="1971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7B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node-8">
            <a:extLst xmlns:a="http://schemas.openxmlformats.org/drawingml/2006/main">
              <a:ext uri="{FF2B5EF4-FFF2-40B4-BE49-F238E27FC236}">
                <a16:creationId xmlns:a16="http://schemas.microsoft.com/office/drawing/2014/main" id="{81B12AA2-DDBE-443E-871A-0F72B2914B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7700" y="1971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7B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cluster-A">
            <a:extLst xmlns:a="http://schemas.openxmlformats.org/drawingml/2006/main">
              <a:ext uri="{FF2B5EF4-FFF2-40B4-BE49-F238E27FC236}">
                <a16:creationId xmlns:a16="http://schemas.microsoft.com/office/drawing/2014/main" id="{3A8810B5-A98E-4598-9363-DB5D2B8004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2450" y="552450"/>
            <a:ext cx="238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064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0649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cluster-B">
            <a:extLst xmlns:a="http://schemas.openxmlformats.org/drawingml/2006/main">
              <a:ext uri="{FF2B5EF4-FFF2-40B4-BE49-F238E27FC236}">
                <a16:creationId xmlns:a16="http://schemas.microsoft.com/office/drawing/2014/main" id="{9A561993-1AF8-4A42-AE0E-F64F717122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57375" y="952500"/>
            <a:ext cx="238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B63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B632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9" name="cluster-C">
            <a:extLst xmlns:a="http://schemas.openxmlformats.org/drawingml/2006/main">
              <a:ext uri="{FF2B5EF4-FFF2-40B4-BE49-F238E27FC236}">
                <a16:creationId xmlns:a16="http://schemas.microsoft.com/office/drawing/2014/main" id="{904AFD64-6054-47B9-91ED-D5FF43FD3C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1550" y="2095500"/>
            <a:ext cx="238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7B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7B7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assignment-field">
            <a:extLst xmlns:a="http://schemas.openxmlformats.org/drawingml/2006/main">
              <a:ext uri="{FF2B5EF4-FFF2-40B4-BE49-F238E27FC236}">
                <a16:creationId xmlns:a16="http://schemas.microsoft.com/office/drawing/2014/main" id="{952FDC77-3C8F-4F89-BE1E-175611C43B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657225"/>
            <a:ext cx="742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7A84"/>
            </a:solidFill>
            <a:prstDash val="solid"/>
          </a:ln>
        </p:spPr>
      </p:sp>
      <p:sp>
        <p:nvSpPr>
          <p:cNvPr id="31" name="assignment-col-0">
            <a:extLst xmlns:a="http://schemas.openxmlformats.org/drawingml/2006/main">
              <a:ext uri="{FF2B5EF4-FFF2-40B4-BE49-F238E27FC236}">
                <a16:creationId xmlns:a16="http://schemas.microsoft.com/office/drawing/2014/main" id="{70E33E0E-ACE4-4923-B8F3-D1CA3927D7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438150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064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0649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2" name="assignment-col-1">
            <a:extLst xmlns:a="http://schemas.openxmlformats.org/drawingml/2006/main">
              <a:ext uri="{FF2B5EF4-FFF2-40B4-BE49-F238E27FC236}">
                <a16:creationId xmlns:a16="http://schemas.microsoft.com/office/drawing/2014/main" id="{FDCD2D92-63BF-4B70-B3DD-DB19943D71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438150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B632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B632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" name="assignment-col-2">
            <a:extLst xmlns:a="http://schemas.openxmlformats.org/drawingml/2006/main">
              <a:ext uri="{FF2B5EF4-FFF2-40B4-BE49-F238E27FC236}">
                <a16:creationId xmlns:a16="http://schemas.microsoft.com/office/drawing/2014/main" id="{8A28726A-C5E2-47AC-8776-8B3F0968E7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438150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7B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87B7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assignment-row-0">
            <a:extLst xmlns:a="http://schemas.openxmlformats.org/drawingml/2006/main">
              <a:ext uri="{FF2B5EF4-FFF2-40B4-BE49-F238E27FC236}">
                <a16:creationId xmlns:a16="http://schemas.microsoft.com/office/drawing/2014/main" id="{036528A0-60A1-499F-99F3-31438C3570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65722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assignment-0-0">
            <a:extLst xmlns:a="http://schemas.openxmlformats.org/drawingml/2006/main">
              <a:ext uri="{FF2B5EF4-FFF2-40B4-BE49-F238E27FC236}">
                <a16:creationId xmlns:a16="http://schemas.microsoft.com/office/drawing/2014/main" id="{A79167E1-9971-4E6F-AE5C-D15D631656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65722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6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assignment-0-1">
            <a:extLst xmlns:a="http://schemas.openxmlformats.org/drawingml/2006/main">
              <a:ext uri="{FF2B5EF4-FFF2-40B4-BE49-F238E27FC236}">
                <a16:creationId xmlns:a16="http://schemas.microsoft.com/office/drawing/2014/main" id="{09D5CBF3-9E63-49AE-A924-F4A56FE02B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65722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assignment-0-2">
            <a:extLst xmlns:a="http://schemas.openxmlformats.org/drawingml/2006/main">
              <a:ext uri="{FF2B5EF4-FFF2-40B4-BE49-F238E27FC236}">
                <a16:creationId xmlns:a16="http://schemas.microsoft.com/office/drawing/2014/main" id="{F1C349F4-ABBF-4A63-9F04-4680151155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65722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assignment-row-1">
            <a:extLst xmlns:a="http://schemas.openxmlformats.org/drawingml/2006/main">
              <a:ext uri="{FF2B5EF4-FFF2-40B4-BE49-F238E27FC236}">
                <a16:creationId xmlns:a16="http://schemas.microsoft.com/office/drawing/2014/main" id="{4D989711-19A6-4EF1-AA4E-5D2F43B509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85725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" name="assignment-1-0">
            <a:extLst xmlns:a="http://schemas.openxmlformats.org/drawingml/2006/main">
              <a:ext uri="{FF2B5EF4-FFF2-40B4-BE49-F238E27FC236}">
                <a16:creationId xmlns:a16="http://schemas.microsoft.com/office/drawing/2014/main" id="{595FE61E-85A5-4827-9A9A-7AF4C8EDB1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85725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6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assignment-1-1">
            <a:extLst xmlns:a="http://schemas.openxmlformats.org/drawingml/2006/main">
              <a:ext uri="{FF2B5EF4-FFF2-40B4-BE49-F238E27FC236}">
                <a16:creationId xmlns:a16="http://schemas.microsoft.com/office/drawing/2014/main" id="{F7733FAB-5328-4064-B497-61661849F9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85725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assignment-1-2">
            <a:extLst xmlns:a="http://schemas.openxmlformats.org/drawingml/2006/main">
              <a:ext uri="{FF2B5EF4-FFF2-40B4-BE49-F238E27FC236}">
                <a16:creationId xmlns:a16="http://schemas.microsoft.com/office/drawing/2014/main" id="{CAE644A3-A721-4FB6-B953-E106175269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85725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assignment-row-2">
            <a:extLst xmlns:a="http://schemas.openxmlformats.org/drawingml/2006/main">
              <a:ext uri="{FF2B5EF4-FFF2-40B4-BE49-F238E27FC236}">
                <a16:creationId xmlns:a16="http://schemas.microsoft.com/office/drawing/2014/main" id="{209C7194-B20C-4815-B3F6-E9B54867AD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10572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assignment-2-0">
            <a:extLst xmlns:a="http://schemas.openxmlformats.org/drawingml/2006/main">
              <a:ext uri="{FF2B5EF4-FFF2-40B4-BE49-F238E27FC236}">
                <a16:creationId xmlns:a16="http://schemas.microsoft.com/office/drawing/2014/main" id="{29E8A39C-FF80-45F7-9524-1EF6788634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105727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6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4" name="assignment-2-1">
            <a:extLst xmlns:a="http://schemas.openxmlformats.org/drawingml/2006/main">
              <a:ext uri="{FF2B5EF4-FFF2-40B4-BE49-F238E27FC236}">
                <a16:creationId xmlns:a16="http://schemas.microsoft.com/office/drawing/2014/main" id="{383A91B0-6460-4B3F-BE7E-D0BB3F4131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105727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assignment-2-2">
            <a:extLst xmlns:a="http://schemas.openxmlformats.org/drawingml/2006/main">
              <a:ext uri="{FF2B5EF4-FFF2-40B4-BE49-F238E27FC236}">
                <a16:creationId xmlns:a16="http://schemas.microsoft.com/office/drawing/2014/main" id="{E8563C4F-2230-4E6A-BA01-870A44DB56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105727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assignment-row-3">
            <a:extLst xmlns:a="http://schemas.openxmlformats.org/drawingml/2006/main">
              <a:ext uri="{FF2B5EF4-FFF2-40B4-BE49-F238E27FC236}">
                <a16:creationId xmlns:a16="http://schemas.microsoft.com/office/drawing/2014/main" id="{90F97DC5-8374-4CE3-B45E-FE254BCCD1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125730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7" name="assignment-3-0">
            <a:extLst xmlns:a="http://schemas.openxmlformats.org/drawingml/2006/main">
              <a:ext uri="{FF2B5EF4-FFF2-40B4-BE49-F238E27FC236}">
                <a16:creationId xmlns:a16="http://schemas.microsoft.com/office/drawing/2014/main" id="{C9B39DA1-CAC3-4482-96CA-B3261E09F9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125730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assignment-3-1">
            <a:extLst xmlns:a="http://schemas.openxmlformats.org/drawingml/2006/main">
              <a:ext uri="{FF2B5EF4-FFF2-40B4-BE49-F238E27FC236}">
                <a16:creationId xmlns:a16="http://schemas.microsoft.com/office/drawing/2014/main" id="{6066C166-ADE3-4173-A9CD-CB6CA6760D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125730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D2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9" name="assignment-3-2">
            <a:extLst xmlns:a="http://schemas.openxmlformats.org/drawingml/2006/main">
              <a:ext uri="{FF2B5EF4-FFF2-40B4-BE49-F238E27FC236}">
                <a16:creationId xmlns:a16="http://schemas.microsoft.com/office/drawing/2014/main" id="{B10F43CC-5129-45E7-B23D-7E445ED2BD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125730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assignment-row-4">
            <a:extLst xmlns:a="http://schemas.openxmlformats.org/drawingml/2006/main">
              <a:ext uri="{FF2B5EF4-FFF2-40B4-BE49-F238E27FC236}">
                <a16:creationId xmlns:a16="http://schemas.microsoft.com/office/drawing/2014/main" id="{764CE6F0-E112-4098-A92E-D190D852FE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145732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1" name="assignment-4-0">
            <a:extLst xmlns:a="http://schemas.openxmlformats.org/drawingml/2006/main">
              <a:ext uri="{FF2B5EF4-FFF2-40B4-BE49-F238E27FC236}">
                <a16:creationId xmlns:a16="http://schemas.microsoft.com/office/drawing/2014/main" id="{24412D14-58AF-41A9-8718-AD69AF346A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145732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assignment-4-1">
            <a:extLst xmlns:a="http://schemas.openxmlformats.org/drawingml/2006/main">
              <a:ext uri="{FF2B5EF4-FFF2-40B4-BE49-F238E27FC236}">
                <a16:creationId xmlns:a16="http://schemas.microsoft.com/office/drawing/2014/main" id="{A5E515A6-AEF6-4693-81D6-202F711C6A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145732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D2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assignment-4-2">
            <a:extLst xmlns:a="http://schemas.openxmlformats.org/drawingml/2006/main">
              <a:ext uri="{FF2B5EF4-FFF2-40B4-BE49-F238E27FC236}">
                <a16:creationId xmlns:a16="http://schemas.microsoft.com/office/drawing/2014/main" id="{0268CF38-E90C-44BD-8778-E0107D2769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145732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assignment-row-5">
            <a:extLst xmlns:a="http://schemas.openxmlformats.org/drawingml/2006/main">
              <a:ext uri="{FF2B5EF4-FFF2-40B4-BE49-F238E27FC236}">
                <a16:creationId xmlns:a16="http://schemas.microsoft.com/office/drawing/2014/main" id="{07FED0DE-0C37-4AEB-9512-BBB5725E4F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165735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5" name="assignment-5-0">
            <a:extLst xmlns:a="http://schemas.openxmlformats.org/drawingml/2006/main">
              <a:ext uri="{FF2B5EF4-FFF2-40B4-BE49-F238E27FC236}">
                <a16:creationId xmlns:a16="http://schemas.microsoft.com/office/drawing/2014/main" id="{1917E6A6-9AD8-4764-B146-7FAA3E7D95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165735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assignment-5-1">
            <a:extLst xmlns:a="http://schemas.openxmlformats.org/drawingml/2006/main">
              <a:ext uri="{FF2B5EF4-FFF2-40B4-BE49-F238E27FC236}">
                <a16:creationId xmlns:a16="http://schemas.microsoft.com/office/drawing/2014/main" id="{23C9FDCB-15D7-409D-A12E-AA3F141B30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165735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D2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assignment-5-2">
            <a:extLst xmlns:a="http://schemas.openxmlformats.org/drawingml/2006/main">
              <a:ext uri="{FF2B5EF4-FFF2-40B4-BE49-F238E27FC236}">
                <a16:creationId xmlns:a16="http://schemas.microsoft.com/office/drawing/2014/main" id="{50FDAC0E-8020-43FB-B32A-3B67AC6427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165735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8" name="assignment-row-6">
            <a:extLst xmlns:a="http://schemas.openxmlformats.org/drawingml/2006/main">
              <a:ext uri="{FF2B5EF4-FFF2-40B4-BE49-F238E27FC236}">
                <a16:creationId xmlns:a16="http://schemas.microsoft.com/office/drawing/2014/main" id="{DA5C04A8-4B7A-4416-814C-318FEC85A2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18573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9" name="assignment-6-0">
            <a:extLst xmlns:a="http://schemas.openxmlformats.org/drawingml/2006/main">
              <a:ext uri="{FF2B5EF4-FFF2-40B4-BE49-F238E27FC236}">
                <a16:creationId xmlns:a16="http://schemas.microsoft.com/office/drawing/2014/main" id="{4FA2FCBF-7584-44B1-A285-95F8CE4CCF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185737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0" name="assignment-6-1">
            <a:extLst xmlns:a="http://schemas.openxmlformats.org/drawingml/2006/main">
              <a:ext uri="{FF2B5EF4-FFF2-40B4-BE49-F238E27FC236}">
                <a16:creationId xmlns:a16="http://schemas.microsoft.com/office/drawing/2014/main" id="{2FAED871-0F85-4A5B-810E-E47EE94835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185737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assignment-6-2">
            <a:extLst xmlns:a="http://schemas.openxmlformats.org/drawingml/2006/main">
              <a:ext uri="{FF2B5EF4-FFF2-40B4-BE49-F238E27FC236}">
                <a16:creationId xmlns:a16="http://schemas.microsoft.com/office/drawing/2014/main" id="{FA60F12A-817A-4984-8544-0C82114514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1857375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EC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2" name="assignment-row-7">
            <a:extLst xmlns:a="http://schemas.openxmlformats.org/drawingml/2006/main">
              <a:ext uri="{FF2B5EF4-FFF2-40B4-BE49-F238E27FC236}">
                <a16:creationId xmlns:a16="http://schemas.microsoft.com/office/drawing/2014/main" id="{65C423F8-D4A4-4DA1-A19F-EDC47763B8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47950" y="205740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3" name="assignment-7-0">
            <a:extLst xmlns:a="http://schemas.openxmlformats.org/drawingml/2006/main">
              <a:ext uri="{FF2B5EF4-FFF2-40B4-BE49-F238E27FC236}">
                <a16:creationId xmlns:a16="http://schemas.microsoft.com/office/drawing/2014/main" id="{BDA45815-0F67-4EB7-AF60-F54CA0D12A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76550" y="205740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assignment-7-1">
            <a:extLst xmlns:a="http://schemas.openxmlformats.org/drawingml/2006/main">
              <a:ext uri="{FF2B5EF4-FFF2-40B4-BE49-F238E27FC236}">
                <a16:creationId xmlns:a16="http://schemas.microsoft.com/office/drawing/2014/main" id="{F9CB9557-7407-4329-9CC3-3D81D9C8CD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24200" y="205740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5" name="assignment-7-2">
            <a:extLst xmlns:a="http://schemas.openxmlformats.org/drawingml/2006/main">
              <a:ext uri="{FF2B5EF4-FFF2-40B4-BE49-F238E27FC236}">
                <a16:creationId xmlns:a16="http://schemas.microsoft.com/office/drawing/2014/main" id="{66E8DB39-CCB0-4827-91C4-35D10FED32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71850" y="2057400"/>
            <a:ext cx="247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EC"/>
          </a:solidFill>
          <a:ln xmlns:a="http://schemas.openxmlformats.org/drawingml/2006/main" w="5715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6" name="input-anchor">
            <a:extLst xmlns:a="http://schemas.openxmlformats.org/drawingml/2006/main">
              <a:ext uri="{FF2B5EF4-FFF2-40B4-BE49-F238E27FC236}">
                <a16:creationId xmlns:a16="http://schemas.microsoft.com/office/drawing/2014/main" id="{F8C3B6D1-B885-4FB5-BC52-C8279D6E05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300" y="552450"/>
            <a:ext cx="21621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noFill/>
            <a:prstDash val="solid"/>
          </a:ln>
        </p:spPr>
      </p:sp>
      <p:sp>
        <p:nvSpPr>
          <p:cNvPr id="67" name="pool-anchor">
            <a:extLst xmlns:a="http://schemas.openxmlformats.org/drawingml/2006/main">
              <a:ext uri="{FF2B5EF4-FFF2-40B4-BE49-F238E27FC236}">
                <a16:creationId xmlns:a16="http://schemas.microsoft.com/office/drawing/2014/main" id="{5CF33EC7-3F52-47AA-B768-ADF7B8B79B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19600" y="623888"/>
            <a:ext cx="171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noFill/>
            <a:prstDash val="solid"/>
          </a:ln>
        </p:spPr>
      </p:sp>
      <p:cxnSp>
        <p:nvCxnSpPr>
          <p:cNvPr id="177" name="explain-assignments"/>
          <p:cNvCxnSpPr>
            <a:stCxn xmlns:a="http://schemas.openxmlformats.org/drawingml/2006/main" id="6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276475" y="1457325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3D444C"/>
            </a:solidFill>
            <a:prstDash val="solid"/>
            <a:round/>
            <a:tailEnd type="triangle" w="med" len="med"/>
          </a:ln>
        </p:spPr>
      </p:cxnSp>
      <p:cxnSp>
        <p:nvCxnSpPr>
          <p:cNvPr id="178" name="explain-pooling"/>
          <p:cNvCxnSpPr>
            <a:stCxn xmlns:a="http://schemas.openxmlformats.org/drawingml/2006/main" id="30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619500" y="14573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3D444C"/>
            </a:solidFill>
            <a:prstDash val="solid"/>
            <a:round/>
            <a:tailEnd type="triangle" w="med" len="med"/>
          </a:ln>
        </p:spPr>
      </p:cxnSp>
      <p:sp>
        <p:nvSpPr>
          <p:cNvPr id="70" name="pooled-edge-A-B">
            <a:extLst xmlns:a="http://schemas.openxmlformats.org/drawingml/2006/main">
              <a:ext uri="{FF2B5EF4-FFF2-40B4-BE49-F238E27FC236}">
                <a16:creationId xmlns:a16="http://schemas.microsoft.com/office/drawing/2014/main" id="{0D424216-EA68-4B33-B9F5-B33730C9F9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24400" y="962025"/>
            <a:ext cx="1143000" cy="95"/>
          </a:xfrm>
          <a:custGeom xmlns:a="http://schemas.openxmlformats.org/drawingml/2006/main">
            <a:pathLst>
              <a:path w="1143000" h="9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D444C"/>
            </a:solidFill>
            <a:prstDash val="solid"/>
          </a:ln>
        </p:spPr>
      </p:sp>
      <p:sp>
        <p:nvSpPr>
          <p:cNvPr id="71" name="pooled-edge-B-C">
            <a:extLst xmlns:a="http://schemas.openxmlformats.org/drawingml/2006/main">
              <a:ext uri="{FF2B5EF4-FFF2-40B4-BE49-F238E27FC236}">
                <a16:creationId xmlns:a16="http://schemas.microsoft.com/office/drawing/2014/main" id="{5C40125B-2857-4F2F-A754-8BDB7A3D3C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95900" y="962025"/>
            <a:ext cx="571500" cy="1047750"/>
          </a:xfrm>
          <a:custGeom xmlns:a="http://schemas.openxmlformats.org/drawingml/2006/main">
            <a:pathLst>
              <a:path w="571500" h="1047750">
                <a:moveTo>
                  <a:pt x="571500" y="0"/>
                </a:move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D444C"/>
            </a:solidFill>
            <a:prstDash val="solid"/>
          </a:ln>
        </p:spPr>
      </p:sp>
      <p:sp>
        <p:nvSpPr>
          <p:cNvPr id="72" name="pooled-edge-A-C">
            <a:extLst xmlns:a="http://schemas.openxmlformats.org/drawingml/2006/main">
              <a:ext uri="{FF2B5EF4-FFF2-40B4-BE49-F238E27FC236}">
                <a16:creationId xmlns:a16="http://schemas.microsoft.com/office/drawing/2014/main" id="{C30747AA-4707-4C30-A057-640EB6A5F7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24400" y="962025"/>
            <a:ext cx="571500" cy="1047750"/>
          </a:xfrm>
          <a:custGeom xmlns:a="http://schemas.openxmlformats.org/drawingml/2006/main">
            <a:pathLst>
              <a:path w="571500" h="1047750">
                <a:moveTo>
                  <a:pt x="0" y="0"/>
                </a:moveTo>
                <a:lnTo>
                  <a:pt x="57150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D444C"/>
            </a:solidFill>
            <a:prstDash val="solid"/>
          </a:ln>
        </p:spPr>
      </p:sp>
      <p:sp>
        <p:nvSpPr>
          <p:cNvPr id="73" name="pooled-count-AB">
            <a:extLst xmlns:a="http://schemas.openxmlformats.org/drawingml/2006/main">
              <a:ext uri="{FF2B5EF4-FFF2-40B4-BE49-F238E27FC236}">
                <a16:creationId xmlns:a16="http://schemas.microsoft.com/office/drawing/2014/main" id="{29EA4951-B7AE-4FF4-B2AA-7BD5DCDDCA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53025" y="6858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4" name="pooled-count-AC">
            <a:extLst xmlns:a="http://schemas.openxmlformats.org/drawingml/2006/main">
              <a:ext uri="{FF2B5EF4-FFF2-40B4-BE49-F238E27FC236}">
                <a16:creationId xmlns:a16="http://schemas.microsoft.com/office/drawing/2014/main" id="{A0E3F395-D573-46C6-A833-FE16D6DAA9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29175" y="1409700"/>
            <a:ext cx="257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5" name="pooled-count-BC">
            <a:extLst xmlns:a="http://schemas.openxmlformats.org/drawingml/2006/main">
              <a:ext uri="{FF2B5EF4-FFF2-40B4-BE49-F238E27FC236}">
                <a16:creationId xmlns:a16="http://schemas.microsoft.com/office/drawing/2014/main" id="{B80E52D6-3D2F-4C00-A9DB-3E3DC76C35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95925" y="1409700"/>
            <a:ext cx="257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6" name="pooled-node-A">
            <a:extLst xmlns:a="http://schemas.openxmlformats.org/drawingml/2006/main">
              <a:ext uri="{FF2B5EF4-FFF2-40B4-BE49-F238E27FC236}">
                <a16:creationId xmlns:a16="http://schemas.microsoft.com/office/drawing/2014/main" id="{EAC86705-56F9-4879-83A6-C848BBF7FF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14850" y="752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BF6"/>
          </a:solidFill>
          <a:ln xmlns:a="http://schemas.openxmlformats.org/drawingml/2006/main" w="17145">
            <a:solidFill>
              <a:srgbClr val="30649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064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0649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7" name="pooled-node-B">
            <a:extLst xmlns:a="http://schemas.openxmlformats.org/drawingml/2006/main">
              <a:ext uri="{FF2B5EF4-FFF2-40B4-BE49-F238E27FC236}">
                <a16:creationId xmlns:a16="http://schemas.microsoft.com/office/drawing/2014/main" id="{E782ECEA-9B99-4337-84BC-791ED425E5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57850" y="752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5D2"/>
          </a:solidFill>
          <a:ln xmlns:a="http://schemas.openxmlformats.org/drawingml/2006/main" w="17145">
            <a:solidFill>
              <a:srgbClr val="AB632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B632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B632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8" name="pooled-node-C">
            <a:extLst xmlns:a="http://schemas.openxmlformats.org/drawingml/2006/main">
              <a:ext uri="{FF2B5EF4-FFF2-40B4-BE49-F238E27FC236}">
                <a16:creationId xmlns:a16="http://schemas.microsoft.com/office/drawing/2014/main" id="{B954299F-5A76-4AEE-AF59-E942AB30CA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86350" y="18002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EFEC"/>
          </a:solidFill>
          <a:ln xmlns:a="http://schemas.openxmlformats.org/drawingml/2006/main" w="17145">
            <a:solidFill>
              <a:srgbClr val="287B7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87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87B7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9" name="lower-rule">
            <a:extLst xmlns:a="http://schemas.openxmlformats.org/drawingml/2006/main">
              <a:ext uri="{FF2B5EF4-FFF2-40B4-BE49-F238E27FC236}">
                <a16:creationId xmlns:a16="http://schemas.microsoft.com/office/drawing/2014/main" id="{C0E32C78-1B30-4AA4-B0DD-325CABBF9C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686050"/>
            <a:ext cx="6096000" cy="95"/>
          </a:xfrm>
          <a:custGeom xmlns:a="http://schemas.openxmlformats.org/drawingml/2006/main">
            <a:pathLst>
              <a:path w="6096000" h="9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C5C9CE"/>
            </a:solidFill>
            <a:prstDash val="solid"/>
          </a:ln>
        </p:spPr>
      </p:sp>
      <p:sp>
        <p:nvSpPr>
          <p:cNvPr id="80" name="pooling-heading">
            <a:extLst xmlns:a="http://schemas.openxmlformats.org/drawingml/2006/main">
              <a:ext uri="{FF2B5EF4-FFF2-40B4-BE49-F238E27FC236}">
                <a16:creationId xmlns:a16="http://schemas.microsoft.com/office/drawing/2014/main" id="{1949EF12-A181-45CB-8432-66BE6B940D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828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Pool features and edges</a:t>
            </a:r>
          </a:p>
        </p:txBody>
      </p:sp>
      <p:grpSp>
        <p:nvGrpSpPr>
          <p:cNvPr id="179" name="feature-equation"/>
          <p:cNvGrpSpPr/>
          <p:nvPr/>
        </p:nvGrpSpPr>
        <p:grpSpPr>
          <ns1:xfrm xmlns:ns1="http://schemas.openxmlformats.org/drawingml/2006/main">
            <ns1:off x="152400" y="3067050"/>
            <ns1:ext cx="714375" cy="323850"/>
            <ns1:chOff x="152400" y="3067050"/>
            <ns1:chExt cx="714375" cy="323850"/>
          </ns1:xfrm>
        </p:grpSpPr>
        <p:sp>
          <p:nvSpPr>
            <p:cNvPr id="81" name="feature-equation-0">
              <a:extLst xmlns:a="http://schemas.openxmlformats.org/drawingml/2006/main">
                <a:ext uri="{FF2B5EF4-FFF2-40B4-BE49-F238E27FC236}">
                  <a16:creationId xmlns:a16="http://schemas.microsoft.com/office/drawing/2014/main" id="{2D6B2E53-ACAC-4B06-AAF1-B520075883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" y="3114675"/>
              <a:ext cx="2095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X′</a:t>
              </a:r>
            </a:p>
          </p:txBody>
        </p:sp>
        <p:sp>
          <p:nvSpPr>
            <p:cNvPr id="82" name="feature-equation-1">
              <a:extLst xmlns:a="http://schemas.openxmlformats.org/drawingml/2006/main">
                <a:ext uri="{FF2B5EF4-FFF2-40B4-BE49-F238E27FC236}">
                  <a16:creationId xmlns:a16="http://schemas.microsoft.com/office/drawing/2014/main" id="{A79F646B-1C6E-4439-A640-B468D0DFA2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" y="3114675"/>
              <a:ext cx="2286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</a:p>
          </p:txBody>
        </p:sp>
        <p:sp>
          <p:nvSpPr>
            <p:cNvPr id="83" name="feature-equation-2">
              <a:extLst xmlns:a="http://schemas.openxmlformats.org/drawingml/2006/main">
                <a:ext uri="{FF2B5EF4-FFF2-40B4-BE49-F238E27FC236}">
                  <a16:creationId xmlns:a16="http://schemas.microsoft.com/office/drawing/2014/main" id="{EAEF4A9E-F4E4-4BB8-97DB-3FF7FB78A4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" y="3114675"/>
              <a:ext cx="1333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84" name="feature-equation-3">
              <a:extLst xmlns:a="http://schemas.openxmlformats.org/drawingml/2006/main">
                <a:ext uri="{FF2B5EF4-FFF2-40B4-BE49-F238E27FC236}">
                  <a16:creationId xmlns:a16="http://schemas.microsoft.com/office/drawing/2014/main" id="{69C06CB9-04FB-4791-998F-C4A7C223CD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8175" y="3067050"/>
              <a:ext cx="1143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38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85" name="feature-equation-4">
              <a:extLst xmlns:a="http://schemas.openxmlformats.org/drawingml/2006/main">
                <a:ext uri="{FF2B5EF4-FFF2-40B4-BE49-F238E27FC236}">
                  <a16:creationId xmlns:a16="http://schemas.microsoft.com/office/drawing/2014/main" id="{154DD5B9-C14E-4D10-8928-170D0557B2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114675"/>
              <a:ext cx="142875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</a:p>
          </p:txBody>
        </p:sp>
      </p:grpSp>
      <p:grpSp>
        <p:nvGrpSpPr>
          <p:cNvPr id="180" name="adjacency-equation"/>
          <p:cNvGrpSpPr/>
          <p:nvPr/>
        </p:nvGrpSpPr>
        <p:grpSpPr>
          <ns1:xfrm xmlns:ns1="http://schemas.openxmlformats.org/drawingml/2006/main">
            <ns1:off x="1219200" y="3067050"/>
            <ns1:ext cx="857250" cy="323850"/>
            <ns1:chOff x="1219200" y="3067050"/>
            <ns1:chExt cx="857250" cy="323850"/>
          </ns1:xfrm>
        </p:grpSpPr>
        <p:sp>
          <p:nvSpPr>
            <p:cNvPr id="86" name="adjacency-equation-0">
              <a:extLst xmlns:a="http://schemas.openxmlformats.org/drawingml/2006/main">
                <a:ext uri="{FF2B5EF4-FFF2-40B4-BE49-F238E27FC236}">
                  <a16:creationId xmlns:a16="http://schemas.microsoft.com/office/drawing/2014/main" id="{0529315E-C8FC-40BA-AAC2-30AF46C039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3114675"/>
              <a:ext cx="2095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A′</a:t>
              </a:r>
            </a:p>
          </p:txBody>
        </p:sp>
        <p:sp>
          <p:nvSpPr>
            <p:cNvPr id="87" name="adjacency-equation-1">
              <a:extLst xmlns:a="http://schemas.openxmlformats.org/drawingml/2006/main">
                <a:ext uri="{FF2B5EF4-FFF2-40B4-BE49-F238E27FC236}">
                  <a16:creationId xmlns:a16="http://schemas.microsoft.com/office/drawing/2014/main" id="{FD97A3B4-CA62-490E-8951-76987167D4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00175" y="3114675"/>
              <a:ext cx="2286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 = </a:t>
              </a:r>
            </a:p>
          </p:txBody>
        </p:sp>
        <p:sp>
          <p:nvSpPr>
            <p:cNvPr id="88" name="adjacency-equation-2">
              <a:extLst xmlns:a="http://schemas.openxmlformats.org/drawingml/2006/main">
                <a:ext uri="{FF2B5EF4-FFF2-40B4-BE49-F238E27FC236}">
                  <a16:creationId xmlns:a16="http://schemas.microsoft.com/office/drawing/2014/main" id="{7A29B0DE-414D-46D0-AC4B-6EBF99BB16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0200" y="3114675"/>
              <a:ext cx="1333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</a:p>
          </p:txBody>
        </p:sp>
        <p:sp>
          <p:nvSpPr>
            <p:cNvPr id="89" name="adjacency-equation-3">
              <a:extLst xmlns:a="http://schemas.openxmlformats.org/drawingml/2006/main">
                <a:ext uri="{FF2B5EF4-FFF2-40B4-BE49-F238E27FC236}">
                  <a16:creationId xmlns:a16="http://schemas.microsoft.com/office/drawing/2014/main" id="{7A74101E-8EEB-4875-B24D-242954AC76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04975" y="3067050"/>
              <a:ext cx="11430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38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0" i="0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90" name="adjacency-equation-4">
              <a:extLst xmlns:a="http://schemas.openxmlformats.org/drawingml/2006/main">
                <a:ext uri="{FF2B5EF4-FFF2-40B4-BE49-F238E27FC236}">
                  <a16:creationId xmlns:a16="http://schemas.microsoft.com/office/drawing/2014/main" id="{35925AE2-FBF2-470B-ACFA-A5FA6D6E9E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90700" y="3114675"/>
              <a:ext cx="2857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 i="1">
                  <a:solidFill>
                    <a:srgbClr val="25282D"/>
                  </a:solidFill>
                  <a:latin typeface="Times New Roman"/>
                  <a:ea typeface="Times New Roman"/>
                  <a:cs typeface="Times New Roman"/>
                </a:rPr>
                <a:t>AS</a:t>
              </a:r>
            </a:p>
          </p:txBody>
        </p:sp>
      </p:grpSp>
      <p:sp>
        <p:nvSpPr>
          <p:cNvPr id="91" name="definitions">
            <a:extLst xmlns:a="http://schemas.openxmlformats.org/drawingml/2006/main">
              <a:ext uri="{FF2B5EF4-FFF2-40B4-BE49-F238E27FC236}">
                <a16:creationId xmlns:a16="http://schemas.microsoft.com/office/drawing/2014/main" id="{C1FBF4DB-8671-4B6B-B3CD-062EF9D5CC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3409950"/>
            <a:ext cx="3257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A: adjacency   S: assignments   Z: node embeddings</a:t>
            </a:r>
          </a:p>
        </p:txBody>
      </p:sp>
      <p:sp>
        <p:nvSpPr>
          <p:cNvPr id="92" name="pooled-matrix-heading">
            <a:extLst xmlns:a="http://schemas.openxmlformats.org/drawingml/2006/main">
              <a:ext uri="{FF2B5EF4-FFF2-40B4-BE49-F238E27FC236}">
                <a16:creationId xmlns:a16="http://schemas.microsoft.com/office/drawing/2014/main" id="{C8F04ABB-ACA3-4A32-8177-0D3FF7F3D3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52775" y="28479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282D"/>
                </a:solidFill>
                <a:latin typeface="Arial"/>
                <a:ea typeface="Arial"/>
                <a:cs typeface="Arial"/>
              </a:rPr>
              <a:t>Pooled adjacency</a:t>
            </a:r>
          </a:p>
        </p:txBody>
      </p:sp>
      <p:sp>
        <p:nvSpPr>
          <p:cNvPr id="93" name="diagonal-note">
            <a:extLst xmlns:a="http://schemas.openxmlformats.org/drawingml/2006/main">
              <a:ext uri="{FF2B5EF4-FFF2-40B4-BE49-F238E27FC236}">
                <a16:creationId xmlns:a16="http://schemas.microsoft.com/office/drawing/2014/main" id="{1DAA1D8B-3C7D-40AF-9C14-8BA64401BF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52775" y="3114675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Diagonal mass retained;</a:t>
            </a:r>
          </a:p>
          <a:p xmlns:a="http://schemas.openxmlformats.org/drawingml/2006/main">
            <a:pPr algn="l">
              <a:defRPr sz="803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graph shows cross-cluster edges.</a:t>
            </a:r>
          </a:p>
        </p:txBody>
      </p:sp>
      <p:sp>
        <p:nvSpPr>
          <p:cNvPr id="94" name="adj-col-0">
            <a:extLst xmlns:a="http://schemas.openxmlformats.org/drawingml/2006/main">
              <a:ext uri="{FF2B5EF4-FFF2-40B4-BE49-F238E27FC236}">
                <a16:creationId xmlns:a16="http://schemas.microsoft.com/office/drawing/2014/main" id="{AD565F2C-DF57-4718-9C0D-AC33181484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2714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0649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0649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5" name="adj-col-1">
            <a:extLst xmlns:a="http://schemas.openxmlformats.org/drawingml/2006/main">
              <a:ext uri="{FF2B5EF4-FFF2-40B4-BE49-F238E27FC236}">
                <a16:creationId xmlns:a16="http://schemas.microsoft.com/office/drawing/2014/main" id="{56027F38-E38D-47CD-A5FC-FDCF07C033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14950" y="2714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B632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B632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6" name="adj-col-2">
            <a:extLst xmlns:a="http://schemas.openxmlformats.org/drawingml/2006/main">
              <a:ext uri="{FF2B5EF4-FFF2-40B4-BE49-F238E27FC236}">
                <a16:creationId xmlns:a16="http://schemas.microsoft.com/office/drawing/2014/main" id="{1380BC13-0B7B-40A1-AE0D-A37670B637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6900" y="27146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87B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7B7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7" name="adj-row-0">
            <a:extLst xmlns:a="http://schemas.openxmlformats.org/drawingml/2006/main">
              <a:ext uri="{FF2B5EF4-FFF2-40B4-BE49-F238E27FC236}">
                <a16:creationId xmlns:a16="http://schemas.microsoft.com/office/drawing/2014/main" id="{1A6FBF05-5B1E-4FE7-8E42-74F8195AFE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2905125"/>
            <a:ext cx="200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0649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0649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8" name="pooled-adj-0-0">
            <a:extLst xmlns:a="http://schemas.openxmlformats.org/drawingml/2006/main">
              <a:ext uri="{FF2B5EF4-FFF2-40B4-BE49-F238E27FC236}">
                <a16:creationId xmlns:a16="http://schemas.microsoft.com/office/drawing/2014/main" id="{224D6407-E393-4B27-865E-4417B80C8B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2905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6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9" name="pooled-adj-0-1">
            <a:extLst xmlns:a="http://schemas.openxmlformats.org/drawingml/2006/main">
              <a:ext uri="{FF2B5EF4-FFF2-40B4-BE49-F238E27FC236}">
                <a16:creationId xmlns:a16="http://schemas.microsoft.com/office/drawing/2014/main" id="{B342CC2A-9BA9-4C79-9BCD-E6D34DD7C3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14950" y="2905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0" name="pooled-adj-0-2">
            <a:extLst xmlns:a="http://schemas.openxmlformats.org/drawingml/2006/main">
              <a:ext uri="{FF2B5EF4-FFF2-40B4-BE49-F238E27FC236}">
                <a16:creationId xmlns:a16="http://schemas.microsoft.com/office/drawing/2014/main" id="{04821C7D-018B-4E8A-A774-7546EE4BCD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6900" y="2905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1" name="adj-row-1">
            <a:extLst xmlns:a="http://schemas.openxmlformats.org/drawingml/2006/main">
              <a:ext uri="{FF2B5EF4-FFF2-40B4-BE49-F238E27FC236}">
                <a16:creationId xmlns:a16="http://schemas.microsoft.com/office/drawing/2014/main" id="{FCEB2926-DDEA-4784-AC05-23C2A8A859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3095625"/>
            <a:ext cx="200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B632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B632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2" name="pooled-adj-1-0">
            <a:extLst xmlns:a="http://schemas.openxmlformats.org/drawingml/2006/main">
              <a:ext uri="{FF2B5EF4-FFF2-40B4-BE49-F238E27FC236}">
                <a16:creationId xmlns:a16="http://schemas.microsoft.com/office/drawing/2014/main" id="{4CF6567F-ACBA-4ED1-8D15-7F2C28446C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3095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3" name="pooled-adj-1-1">
            <a:extLst xmlns:a="http://schemas.openxmlformats.org/drawingml/2006/main">
              <a:ext uri="{FF2B5EF4-FFF2-40B4-BE49-F238E27FC236}">
                <a16:creationId xmlns:a16="http://schemas.microsoft.com/office/drawing/2014/main" id="{E7EE7A2F-DCAD-424C-BE56-F25D6F98F0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14950" y="3095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D2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4" name="pooled-adj-1-2">
            <a:extLst xmlns:a="http://schemas.openxmlformats.org/drawingml/2006/main">
              <a:ext uri="{FF2B5EF4-FFF2-40B4-BE49-F238E27FC236}">
                <a16:creationId xmlns:a16="http://schemas.microsoft.com/office/drawing/2014/main" id="{DF643683-9F3F-4CE6-A139-FB266F3C59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6900" y="3095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5" name="adj-row-2">
            <a:extLst xmlns:a="http://schemas.openxmlformats.org/drawingml/2006/main">
              <a:ext uri="{FF2B5EF4-FFF2-40B4-BE49-F238E27FC236}">
                <a16:creationId xmlns:a16="http://schemas.microsoft.com/office/drawing/2014/main" id="{A141399C-7A70-4B8E-B80F-FEC8FA6071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14875" y="3286125"/>
            <a:ext cx="200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87B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87B7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6" name="pooled-adj-2-0">
            <a:extLst xmlns:a="http://schemas.openxmlformats.org/drawingml/2006/main">
              <a:ext uri="{FF2B5EF4-FFF2-40B4-BE49-F238E27FC236}">
                <a16:creationId xmlns:a16="http://schemas.microsoft.com/office/drawing/2014/main" id="{417B728D-DE73-47B9-A592-688813A30F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0" y="3286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7" name="pooled-adj-2-1">
            <a:extLst xmlns:a="http://schemas.openxmlformats.org/drawingml/2006/main">
              <a:ext uri="{FF2B5EF4-FFF2-40B4-BE49-F238E27FC236}">
                <a16:creationId xmlns:a16="http://schemas.microsoft.com/office/drawing/2014/main" id="{937E1CBD-5F69-4933-AE54-616C481D39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14950" y="3286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8" name="pooled-adj-2-2">
            <a:extLst xmlns:a="http://schemas.openxmlformats.org/drawingml/2006/main">
              <a:ext uri="{FF2B5EF4-FFF2-40B4-BE49-F238E27FC236}">
                <a16:creationId xmlns:a16="http://schemas.microsoft.com/office/drawing/2014/main" id="{C9DF0DDF-D1FF-4CAC-9BD0-8BDB1E9D48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6900" y="32861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EC"/>
          </a:solidFill>
          <a:ln xmlns:a="http://schemas.openxmlformats.org/drawingml/2006/main" w="6668">
            <a:solidFill>
              <a:srgbClr val="ADB3B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5282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28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9" name="footer">
            <a:extLst xmlns:a="http://schemas.openxmlformats.org/drawingml/2006/main">
              <a:ext uri="{FF2B5EF4-FFF2-40B4-BE49-F238E27FC236}">
                <a16:creationId xmlns:a16="http://schemas.microsoft.com/office/drawing/2014/main" id="{899D86A9-5B76-42A5-88F3-4341A5C868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3581400"/>
            <a:ext cx="6096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52575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52575F"/>
                </a:solidFill>
                <a:latin typeface="Arial"/>
                <a:ea typeface="Arial"/>
                <a:cs typeface="Arial"/>
              </a:rPr>
              <a:t>Illustrative hard assignments · DiffPool learns soft assignments</a:t>
            </a:r>
          </a:p>
        </p:txBody>
      </p:sp>
    </p:spTree>
    <p:extLst>
      <p:ext uri="{BB962C8B-B14F-4D97-AF65-F5344CB8AC3E}">
        <p14:creationId xmlns:p14="http://schemas.microsoft.com/office/powerpoint/2010/main" val="716793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2026-10-01T06:06:59.3430000Z</dcterms:created>
  <dcterms:modified xsi:type="dcterms:W3CDTF">2026-10-01T06:06:59.3430000Z</dcterms:modified>
</coreProperties>
</file>