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34c5378e854f90" /><Relationship Type="http://schemas.openxmlformats.org/officeDocument/2006/relationships/extended-properties" Target="/docProps/app.xml" Id="R911490c1518c46c9" /><Relationship Type="http://schemas.openxmlformats.org/officeDocument/2006/relationships/officeDocument" Target="/ppt/presentation.xml" Id="Rda11e932ca0d4e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d9424c4a343ae"/>
  </p:sldMasterIdLst>
  <p:notesMasterIdLst>
    <p:notesMasterId xmlns:r="http://schemas.openxmlformats.org/officeDocument/2006/relationships" r:id="R513eb4c5cac44bd8"/>
  </p:notesMasterIdLst>
  <p:sldIdLst>
    <p:sldId xmlns:r="http://schemas.openxmlformats.org/officeDocument/2006/relationships" id="256" r:id="Rdada0eb9fb0742f0"/>
  </p:sldIdLst>
  <p:sldSz cx="6400800" cy="3238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04e800b2724446" /><Relationship Type="http://schemas.openxmlformats.org/officeDocument/2006/relationships/slideMaster" Target="/ppt/slideMasters/slideMaster1.xml" Id="Rf09d9424c4a343ae" /><Relationship Type="http://schemas.openxmlformats.org/officeDocument/2006/relationships/notesMaster" Target="/ppt/notesMasters/notesMaster1.xml" Id="R513eb4c5cac44bd8" /><Relationship Type="http://schemas.openxmlformats.org/officeDocument/2006/relationships/presProps" Target="/ppt/presProps.xml" Id="Rdf5788268c7f47aa" /><Relationship Type="http://schemas.openxmlformats.org/officeDocument/2006/relationships/tableStyles" Target="/ppt/tableStyles.xml" Id="Rd1c618337b184ecf" /><Relationship Type="http://schemas.openxmlformats.org/officeDocument/2006/relationships/slide" Target="/ppt/slides/slide1.xml" Id="Rdada0eb9fb07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2e6bd02181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46da98f82d4017" /><Relationship Type="http://schemas.openxmlformats.org/officeDocument/2006/relationships/notesMaster" Target="/ppt/notesMasters/notesMaster1.xml" Id="Re833dd01ca0e43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Image-guided droplet screening schematic</a:t>
            </a:r>
          </a:p>
          <a:p xmlns:a="http://schemas.openxmlformats.org/drawingml/2006/main">
            <a:r>
              <a:t>Hypothetical method, not experimental evidence. Visual composition reconstructed from a built-in image-model draft generated for this task. All native shapes, custom paths, gradients, text and connectors remain editable; no draft raster is embedded. Physical dimensions, flow, time, biology, electrode mechanism and performance are unspecified. Pale droplets are unscored, solid olive are F ≥ θ, open are F &lt; θ. Cosmetic gradient is not a measured quantity.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f1a16f050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683451eec44e5e" /><Relationship Type="http://schemas.openxmlformats.org/officeDocument/2006/relationships/slideLayout" Target="/ppt/slideLayouts/slideLayout1.xml" Id="R7ea1bc09da34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1bc09da34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4f08774f34756" /><Relationship Type="http://schemas.openxmlformats.org/officeDocument/2006/relationships/notesSlide" Target="/ppt/notesSlides/notesSlide1.xml" Id="Rb2de17065a2a49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aqueous-inlet-channel.wall">
            <a:extLst xmlns:a="http://schemas.openxmlformats.org/drawingml/2006/main">
              <a:ext uri="{FF2B5EF4-FFF2-40B4-BE49-F238E27FC236}">
                <a16:creationId xmlns:a16="http://schemas.microsoft.com/office/drawing/2014/main" id="{6243A351-46E7-4DDB-B6D3-81A3851B72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14500"/>
            <a:ext cx="1181100" cy="95"/>
          </a:xfrm>
          <a:custGeom xmlns:a="http://schemas.openxmlformats.org/drawingml/2006/main">
            <a:pathLst>
              <a:path w="1181100" h="9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B1703D"/>
            </a:solidFill>
            <a:prstDash val="solid"/>
          </a:ln>
        </p:spPr>
      </p:sp>
      <p:sp>
        <p:nvSpPr>
          <p:cNvPr id="2" name="oil-upper-channel.wall">
            <a:extLst xmlns:a="http://schemas.openxmlformats.org/drawingml/2006/main">
              <a:ext uri="{FF2B5EF4-FFF2-40B4-BE49-F238E27FC236}">
                <a16:creationId xmlns:a16="http://schemas.microsoft.com/office/drawing/2014/main" id="{5E12FCD9-4F49-41B1-97A5-1FD6826670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81075"/>
            <a:ext cx="1028700" cy="733425"/>
          </a:xfrm>
          <a:custGeom xmlns:a="http://schemas.openxmlformats.org/drawingml/2006/main">
            <a:pathLst>
              <a:path w="1028700" h="733425">
                <a:moveTo>
                  <a:pt x="0" y="0"/>
                </a:moveTo>
                <a:lnTo>
                  <a:pt x="200025" y="0"/>
                </a:lnTo>
                <a:lnTo>
                  <a:pt x="233769" y="1254"/>
                </a:lnTo>
                <a:lnTo>
                  <a:pt x="266422" y="5017"/>
                </a:lnTo>
                <a:lnTo>
                  <a:pt x="297984" y="11289"/>
                </a:lnTo>
                <a:lnTo>
                  <a:pt x="328454" y="20069"/>
                </a:lnTo>
                <a:lnTo>
                  <a:pt x="357833" y="31359"/>
                </a:lnTo>
                <a:lnTo>
                  <a:pt x="386120" y="45156"/>
                </a:lnTo>
                <a:lnTo>
                  <a:pt x="413317" y="61463"/>
                </a:lnTo>
                <a:lnTo>
                  <a:pt x="439421" y="80278"/>
                </a:lnTo>
                <a:lnTo>
                  <a:pt x="464435" y="101602"/>
                </a:lnTo>
                <a:lnTo>
                  <a:pt x="488357" y="125434"/>
                </a:lnTo>
                <a:lnTo>
                  <a:pt x="645118" y="293666"/>
                </a:lnTo>
                <a:lnTo>
                  <a:pt x="668435" y="318806"/>
                </a:lnTo>
                <a:lnTo>
                  <a:pt x="691633" y="344051"/>
                </a:lnTo>
                <a:lnTo>
                  <a:pt x="714711" y="369403"/>
                </a:lnTo>
                <a:lnTo>
                  <a:pt x="737670" y="394861"/>
                </a:lnTo>
                <a:lnTo>
                  <a:pt x="760511" y="420425"/>
                </a:lnTo>
                <a:lnTo>
                  <a:pt x="783232" y="446094"/>
                </a:lnTo>
                <a:lnTo>
                  <a:pt x="805834" y="471870"/>
                </a:lnTo>
                <a:lnTo>
                  <a:pt x="828316" y="497751"/>
                </a:lnTo>
                <a:lnTo>
                  <a:pt x="850680" y="523739"/>
                </a:lnTo>
                <a:lnTo>
                  <a:pt x="872924" y="549832"/>
                </a:lnTo>
                <a:lnTo>
                  <a:pt x="102870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B1703D"/>
            </a:solidFill>
            <a:prstDash val="solid"/>
          </a:ln>
        </p:spPr>
      </p:sp>
      <p:sp>
        <p:nvSpPr>
          <p:cNvPr id="3" name="oil-lower-channel.wall">
            <a:extLst xmlns:a="http://schemas.openxmlformats.org/drawingml/2006/main">
              <a:ext uri="{FF2B5EF4-FFF2-40B4-BE49-F238E27FC236}">
                <a16:creationId xmlns:a16="http://schemas.microsoft.com/office/drawing/2014/main" id="{23BAE75B-FCB9-4B31-960F-D9BB6FEC94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14500"/>
            <a:ext cx="1028700" cy="733425"/>
          </a:xfrm>
          <a:custGeom xmlns:a="http://schemas.openxmlformats.org/drawingml/2006/main">
            <a:pathLst>
              <a:path w="1028700" h="733425">
                <a:moveTo>
                  <a:pt x="0" y="733425"/>
                </a:moveTo>
                <a:lnTo>
                  <a:pt x="200025" y="733425"/>
                </a:lnTo>
                <a:lnTo>
                  <a:pt x="233769" y="732171"/>
                </a:lnTo>
                <a:lnTo>
                  <a:pt x="266422" y="728408"/>
                </a:lnTo>
                <a:lnTo>
                  <a:pt x="297984" y="722136"/>
                </a:lnTo>
                <a:lnTo>
                  <a:pt x="328454" y="713356"/>
                </a:lnTo>
                <a:lnTo>
                  <a:pt x="357833" y="702066"/>
                </a:lnTo>
                <a:lnTo>
                  <a:pt x="386120" y="688269"/>
                </a:lnTo>
                <a:lnTo>
                  <a:pt x="413317" y="671962"/>
                </a:lnTo>
                <a:lnTo>
                  <a:pt x="439421" y="653147"/>
                </a:lnTo>
                <a:lnTo>
                  <a:pt x="464435" y="631823"/>
                </a:lnTo>
                <a:lnTo>
                  <a:pt x="488357" y="607991"/>
                </a:lnTo>
                <a:lnTo>
                  <a:pt x="645118" y="439759"/>
                </a:lnTo>
                <a:lnTo>
                  <a:pt x="668435" y="414619"/>
                </a:lnTo>
                <a:lnTo>
                  <a:pt x="691633" y="389374"/>
                </a:lnTo>
                <a:lnTo>
                  <a:pt x="714711" y="364022"/>
                </a:lnTo>
                <a:lnTo>
                  <a:pt x="737670" y="338564"/>
                </a:lnTo>
                <a:lnTo>
                  <a:pt x="760511" y="313000"/>
                </a:lnTo>
                <a:lnTo>
                  <a:pt x="783232" y="287331"/>
                </a:lnTo>
                <a:lnTo>
                  <a:pt x="805834" y="261555"/>
                </a:lnTo>
                <a:lnTo>
                  <a:pt x="828316" y="235674"/>
                </a:lnTo>
                <a:lnTo>
                  <a:pt x="850680" y="209686"/>
                </a:lnTo>
                <a:lnTo>
                  <a:pt x="872924" y="183593"/>
                </a:ln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B1703D"/>
            </a:solidFill>
            <a:prstDash val="solid"/>
          </a:ln>
        </p:spPr>
      </p:sp>
      <p:sp>
        <p:nvSpPr>
          <p:cNvPr id="4" name="incubation-main-channel.wall">
            <a:extLst xmlns:a="http://schemas.openxmlformats.org/drawingml/2006/main">
              <a:ext uri="{FF2B5EF4-FFF2-40B4-BE49-F238E27FC236}">
                <a16:creationId xmlns:a16="http://schemas.microsoft.com/office/drawing/2014/main" id="{88BB9C7D-22C3-4FF5-B74A-B6A6BA94F1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0150" y="1333500"/>
            <a:ext cx="4038600" cy="762000"/>
          </a:xfrm>
          <a:custGeom xmlns:a="http://schemas.openxmlformats.org/drawingml/2006/main">
            <a:pathLst>
              <a:path w="4038600" h="762000">
                <a:moveTo>
                  <a:pt x="0" y="381000"/>
                </a:moveTo>
                <a:lnTo>
                  <a:pt x="752475" y="381000"/>
                </a:lnTo>
                <a:lnTo>
                  <a:pt x="768763" y="380143"/>
                </a:lnTo>
                <a:lnTo>
                  <a:pt x="783336" y="377571"/>
                </a:lnTo>
                <a:lnTo>
                  <a:pt x="796195" y="373285"/>
                </a:lnTo>
                <a:lnTo>
                  <a:pt x="807339" y="367284"/>
                </a:lnTo>
                <a:lnTo>
                  <a:pt x="816769" y="359569"/>
                </a:lnTo>
                <a:lnTo>
                  <a:pt x="824484" y="350139"/>
                </a:lnTo>
                <a:lnTo>
                  <a:pt x="830485" y="338995"/>
                </a:lnTo>
                <a:lnTo>
                  <a:pt x="834771" y="326136"/>
                </a:lnTo>
                <a:lnTo>
                  <a:pt x="837343" y="311563"/>
                </a:lnTo>
                <a:lnTo>
                  <a:pt x="838200" y="295275"/>
                </a:lnTo>
                <a:lnTo>
                  <a:pt x="838200" y="85725"/>
                </a:lnTo>
                <a:lnTo>
                  <a:pt x="839057" y="69437"/>
                </a:lnTo>
                <a:lnTo>
                  <a:pt x="841629" y="54864"/>
                </a:lnTo>
                <a:lnTo>
                  <a:pt x="845915" y="42005"/>
                </a:lnTo>
                <a:lnTo>
                  <a:pt x="851916" y="30861"/>
                </a:lnTo>
                <a:lnTo>
                  <a:pt x="859631" y="21431"/>
                </a:lnTo>
                <a:lnTo>
                  <a:pt x="869061" y="13716"/>
                </a:lnTo>
                <a:lnTo>
                  <a:pt x="880205" y="7715"/>
                </a:lnTo>
                <a:lnTo>
                  <a:pt x="893064" y="3429"/>
                </a:lnTo>
                <a:lnTo>
                  <a:pt x="907637" y="857"/>
                </a:lnTo>
                <a:lnTo>
                  <a:pt x="923925" y="0"/>
                </a:lnTo>
                <a:lnTo>
                  <a:pt x="1019175" y="0"/>
                </a:lnTo>
                <a:lnTo>
                  <a:pt x="1035463" y="857"/>
                </a:lnTo>
                <a:lnTo>
                  <a:pt x="1050036" y="3429"/>
                </a:lnTo>
                <a:lnTo>
                  <a:pt x="1062895" y="7715"/>
                </a:lnTo>
                <a:lnTo>
                  <a:pt x="1074039" y="13716"/>
                </a:lnTo>
                <a:lnTo>
                  <a:pt x="1083469" y="21431"/>
                </a:lnTo>
                <a:lnTo>
                  <a:pt x="1091184" y="30861"/>
                </a:lnTo>
                <a:lnTo>
                  <a:pt x="1097185" y="42005"/>
                </a:lnTo>
                <a:lnTo>
                  <a:pt x="1101471" y="54864"/>
                </a:lnTo>
                <a:lnTo>
                  <a:pt x="1104043" y="69437"/>
                </a:lnTo>
                <a:lnTo>
                  <a:pt x="1104900" y="85725"/>
                </a:lnTo>
                <a:lnTo>
                  <a:pt x="1104900" y="676275"/>
                </a:lnTo>
                <a:lnTo>
                  <a:pt x="1105757" y="692563"/>
                </a:lnTo>
                <a:lnTo>
                  <a:pt x="1108329" y="707136"/>
                </a:lnTo>
                <a:lnTo>
                  <a:pt x="1112615" y="719995"/>
                </a:lnTo>
                <a:lnTo>
                  <a:pt x="1118616" y="731139"/>
                </a:lnTo>
                <a:lnTo>
                  <a:pt x="1126331" y="740569"/>
                </a:lnTo>
                <a:lnTo>
                  <a:pt x="1135761" y="748284"/>
                </a:lnTo>
                <a:lnTo>
                  <a:pt x="1146905" y="754285"/>
                </a:lnTo>
                <a:lnTo>
                  <a:pt x="1159764" y="758571"/>
                </a:lnTo>
                <a:lnTo>
                  <a:pt x="1174337" y="761143"/>
                </a:lnTo>
                <a:lnTo>
                  <a:pt x="1190625" y="762000"/>
                </a:lnTo>
                <a:lnTo>
                  <a:pt x="1285875" y="762000"/>
                </a:lnTo>
                <a:lnTo>
                  <a:pt x="1302163" y="761143"/>
                </a:lnTo>
                <a:lnTo>
                  <a:pt x="1316736" y="758571"/>
                </a:lnTo>
                <a:lnTo>
                  <a:pt x="1329595" y="754285"/>
                </a:lnTo>
                <a:lnTo>
                  <a:pt x="1340739" y="748284"/>
                </a:lnTo>
                <a:lnTo>
                  <a:pt x="1350169" y="740569"/>
                </a:lnTo>
                <a:lnTo>
                  <a:pt x="1357884" y="731139"/>
                </a:lnTo>
                <a:lnTo>
                  <a:pt x="1363885" y="719995"/>
                </a:lnTo>
                <a:lnTo>
                  <a:pt x="1368171" y="707136"/>
                </a:lnTo>
                <a:lnTo>
                  <a:pt x="1370743" y="692563"/>
                </a:lnTo>
                <a:lnTo>
                  <a:pt x="1371600" y="676275"/>
                </a:lnTo>
                <a:lnTo>
                  <a:pt x="1371600" y="85725"/>
                </a:lnTo>
                <a:lnTo>
                  <a:pt x="1372457" y="69437"/>
                </a:lnTo>
                <a:lnTo>
                  <a:pt x="1375029" y="54864"/>
                </a:lnTo>
                <a:lnTo>
                  <a:pt x="1379315" y="42005"/>
                </a:lnTo>
                <a:lnTo>
                  <a:pt x="1385316" y="30861"/>
                </a:lnTo>
                <a:lnTo>
                  <a:pt x="1393031" y="21431"/>
                </a:lnTo>
                <a:lnTo>
                  <a:pt x="1402461" y="13716"/>
                </a:lnTo>
                <a:lnTo>
                  <a:pt x="1413605" y="7715"/>
                </a:lnTo>
                <a:lnTo>
                  <a:pt x="1426464" y="3429"/>
                </a:lnTo>
                <a:lnTo>
                  <a:pt x="1441037" y="857"/>
                </a:lnTo>
                <a:lnTo>
                  <a:pt x="1457325" y="0"/>
                </a:lnTo>
                <a:lnTo>
                  <a:pt x="1552575" y="0"/>
                </a:lnTo>
                <a:lnTo>
                  <a:pt x="1568863" y="857"/>
                </a:lnTo>
                <a:lnTo>
                  <a:pt x="1583436" y="3429"/>
                </a:lnTo>
                <a:lnTo>
                  <a:pt x="1596295" y="7715"/>
                </a:lnTo>
                <a:lnTo>
                  <a:pt x="1607439" y="13716"/>
                </a:lnTo>
                <a:lnTo>
                  <a:pt x="1616869" y="21431"/>
                </a:lnTo>
                <a:lnTo>
                  <a:pt x="1624584" y="30861"/>
                </a:lnTo>
                <a:lnTo>
                  <a:pt x="1630585" y="42005"/>
                </a:lnTo>
                <a:lnTo>
                  <a:pt x="1634871" y="54864"/>
                </a:lnTo>
                <a:lnTo>
                  <a:pt x="1637443" y="69437"/>
                </a:lnTo>
                <a:lnTo>
                  <a:pt x="1638300" y="85725"/>
                </a:lnTo>
                <a:lnTo>
                  <a:pt x="1638300" y="676275"/>
                </a:lnTo>
                <a:lnTo>
                  <a:pt x="1639157" y="692563"/>
                </a:lnTo>
                <a:lnTo>
                  <a:pt x="1641729" y="707136"/>
                </a:lnTo>
                <a:lnTo>
                  <a:pt x="1646015" y="719995"/>
                </a:lnTo>
                <a:lnTo>
                  <a:pt x="1652016" y="731139"/>
                </a:lnTo>
                <a:lnTo>
                  <a:pt x="1659731" y="740569"/>
                </a:lnTo>
                <a:lnTo>
                  <a:pt x="1669161" y="748284"/>
                </a:lnTo>
                <a:lnTo>
                  <a:pt x="1680305" y="754285"/>
                </a:lnTo>
                <a:lnTo>
                  <a:pt x="1693164" y="758571"/>
                </a:lnTo>
                <a:lnTo>
                  <a:pt x="1707737" y="761143"/>
                </a:lnTo>
                <a:lnTo>
                  <a:pt x="1724025" y="762000"/>
                </a:lnTo>
                <a:lnTo>
                  <a:pt x="1819275" y="762000"/>
                </a:lnTo>
                <a:lnTo>
                  <a:pt x="1835563" y="761143"/>
                </a:lnTo>
                <a:lnTo>
                  <a:pt x="1850136" y="758571"/>
                </a:lnTo>
                <a:lnTo>
                  <a:pt x="1862995" y="754285"/>
                </a:lnTo>
                <a:lnTo>
                  <a:pt x="1874139" y="748284"/>
                </a:lnTo>
                <a:lnTo>
                  <a:pt x="1883569" y="740569"/>
                </a:lnTo>
                <a:lnTo>
                  <a:pt x="1891284" y="731139"/>
                </a:lnTo>
                <a:lnTo>
                  <a:pt x="1897285" y="719995"/>
                </a:lnTo>
                <a:lnTo>
                  <a:pt x="1901571" y="707136"/>
                </a:lnTo>
                <a:lnTo>
                  <a:pt x="1904143" y="692563"/>
                </a:lnTo>
                <a:lnTo>
                  <a:pt x="1905000" y="676275"/>
                </a:lnTo>
                <a:lnTo>
                  <a:pt x="1905000" y="85725"/>
                </a:lnTo>
                <a:lnTo>
                  <a:pt x="1905857" y="69437"/>
                </a:lnTo>
                <a:lnTo>
                  <a:pt x="1908429" y="54864"/>
                </a:lnTo>
                <a:lnTo>
                  <a:pt x="1912715" y="42005"/>
                </a:lnTo>
                <a:lnTo>
                  <a:pt x="1918716" y="30861"/>
                </a:lnTo>
                <a:lnTo>
                  <a:pt x="1926431" y="21431"/>
                </a:lnTo>
                <a:lnTo>
                  <a:pt x="1935861" y="13716"/>
                </a:lnTo>
                <a:lnTo>
                  <a:pt x="1947005" y="7715"/>
                </a:lnTo>
                <a:lnTo>
                  <a:pt x="1959864" y="3429"/>
                </a:lnTo>
                <a:lnTo>
                  <a:pt x="1974437" y="857"/>
                </a:lnTo>
                <a:lnTo>
                  <a:pt x="1990725" y="0"/>
                </a:lnTo>
                <a:lnTo>
                  <a:pt x="2085975" y="0"/>
                </a:lnTo>
                <a:lnTo>
                  <a:pt x="2102263" y="857"/>
                </a:lnTo>
                <a:lnTo>
                  <a:pt x="2116836" y="3429"/>
                </a:lnTo>
                <a:lnTo>
                  <a:pt x="2129695" y="7715"/>
                </a:lnTo>
                <a:lnTo>
                  <a:pt x="2140839" y="13716"/>
                </a:lnTo>
                <a:lnTo>
                  <a:pt x="2150269" y="21431"/>
                </a:lnTo>
                <a:lnTo>
                  <a:pt x="2157984" y="30861"/>
                </a:lnTo>
                <a:lnTo>
                  <a:pt x="2163985" y="42005"/>
                </a:lnTo>
                <a:lnTo>
                  <a:pt x="2168271" y="54864"/>
                </a:lnTo>
                <a:lnTo>
                  <a:pt x="2170843" y="69437"/>
                </a:lnTo>
                <a:lnTo>
                  <a:pt x="2171700" y="85725"/>
                </a:lnTo>
                <a:lnTo>
                  <a:pt x="2171700" y="295275"/>
                </a:lnTo>
                <a:lnTo>
                  <a:pt x="2172557" y="311563"/>
                </a:lnTo>
                <a:lnTo>
                  <a:pt x="2175129" y="326136"/>
                </a:lnTo>
                <a:lnTo>
                  <a:pt x="2179415" y="338995"/>
                </a:lnTo>
                <a:lnTo>
                  <a:pt x="2185416" y="350139"/>
                </a:lnTo>
                <a:lnTo>
                  <a:pt x="2193131" y="359569"/>
                </a:lnTo>
                <a:lnTo>
                  <a:pt x="2202561" y="367284"/>
                </a:lnTo>
                <a:lnTo>
                  <a:pt x="2213705" y="373285"/>
                </a:lnTo>
                <a:lnTo>
                  <a:pt x="2226564" y="377571"/>
                </a:lnTo>
                <a:lnTo>
                  <a:pt x="2241137" y="380143"/>
                </a:lnTo>
                <a:lnTo>
                  <a:pt x="2257425" y="381000"/>
                </a:lnTo>
                <a:lnTo>
                  <a:pt x="40386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B1703D"/>
            </a:solidFill>
            <a:prstDash val="solid"/>
          </a:ln>
        </p:spPr>
      </p:sp>
      <p:sp>
        <p:nvSpPr>
          <p:cNvPr id="5" name="hit-outlet-channel.wall">
            <a:extLst xmlns:a="http://schemas.openxmlformats.org/drawingml/2006/main">
              <a:ext uri="{FF2B5EF4-FFF2-40B4-BE49-F238E27FC236}">
                <a16:creationId xmlns:a16="http://schemas.microsoft.com/office/drawing/2014/main" id="{7B171AAB-528B-4AC5-812A-1B11758AFE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0" y="1333500"/>
            <a:ext cx="990600" cy="381000"/>
          </a:xfrm>
          <a:custGeom xmlns:a="http://schemas.openxmlformats.org/drawingml/2006/main">
            <a:pathLst>
              <a:path w="990600" h="381000">
                <a:moveTo>
                  <a:pt x="0" y="381000"/>
                </a:moveTo>
                <a:lnTo>
                  <a:pt x="283226" y="82867"/>
                </a:lnTo>
                <a:lnTo>
                  <a:pt x="299327" y="67123"/>
                </a:lnTo>
                <a:lnTo>
                  <a:pt x="316139" y="53035"/>
                </a:lnTo>
                <a:lnTo>
                  <a:pt x="333662" y="40605"/>
                </a:lnTo>
                <a:lnTo>
                  <a:pt x="351897" y="29832"/>
                </a:lnTo>
                <a:lnTo>
                  <a:pt x="370844" y="20717"/>
                </a:lnTo>
                <a:lnTo>
                  <a:pt x="390502" y="13259"/>
                </a:lnTo>
                <a:lnTo>
                  <a:pt x="410872" y="7458"/>
                </a:lnTo>
                <a:lnTo>
                  <a:pt x="431953" y="3315"/>
                </a:lnTo>
                <a:lnTo>
                  <a:pt x="453746" y="829"/>
                </a:lnTo>
                <a:lnTo>
                  <a:pt x="476250" y="0"/>
                </a:ln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B1703D"/>
            </a:solidFill>
            <a:prstDash val="solid"/>
          </a:ln>
        </p:spPr>
      </p:sp>
      <p:sp>
        <p:nvSpPr>
          <p:cNvPr id="6" name="waste-outlet-channel.wall">
            <a:extLst xmlns:a="http://schemas.openxmlformats.org/drawingml/2006/main">
              <a:ext uri="{FF2B5EF4-FFF2-40B4-BE49-F238E27FC236}">
                <a16:creationId xmlns:a16="http://schemas.microsoft.com/office/drawing/2014/main" id="{AD1920BA-BC6A-4332-A6E2-48A07AB155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0" y="1714500"/>
            <a:ext cx="990600" cy="514350"/>
          </a:xfrm>
          <a:custGeom xmlns:a="http://schemas.openxmlformats.org/drawingml/2006/main">
            <a:pathLst>
              <a:path w="990600" h="514350">
                <a:moveTo>
                  <a:pt x="0" y="0"/>
                </a:moveTo>
                <a:lnTo>
                  <a:pt x="296171" y="420875"/>
                </a:lnTo>
                <a:lnTo>
                  <a:pt x="309812" y="438635"/>
                </a:lnTo>
                <a:lnTo>
                  <a:pt x="324424" y="454526"/>
                </a:lnTo>
                <a:lnTo>
                  <a:pt x="340005" y="468547"/>
                </a:lnTo>
                <a:lnTo>
                  <a:pt x="356558" y="480699"/>
                </a:lnTo>
                <a:lnTo>
                  <a:pt x="374080" y="490981"/>
                </a:lnTo>
                <a:lnTo>
                  <a:pt x="392573" y="499394"/>
                </a:lnTo>
                <a:lnTo>
                  <a:pt x="412037" y="505937"/>
                </a:lnTo>
                <a:lnTo>
                  <a:pt x="432471" y="510611"/>
                </a:lnTo>
                <a:lnTo>
                  <a:pt x="453875" y="513415"/>
                </a:lnTo>
                <a:lnTo>
                  <a:pt x="476250" y="514350"/>
                </a:lnTo>
                <a:lnTo>
                  <a:pt x="9906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B1703D"/>
            </a:solidFill>
            <a:prstDash val="solid"/>
          </a:ln>
        </p:spPr>
      </p:sp>
      <p:sp>
        <p:nvSpPr>
          <p:cNvPr id="7" name="aqueous-inlet-channel">
            <a:extLst xmlns:a="http://schemas.openxmlformats.org/drawingml/2006/main">
              <a:ext uri="{FF2B5EF4-FFF2-40B4-BE49-F238E27FC236}">
                <a16:creationId xmlns:a16="http://schemas.microsoft.com/office/drawing/2014/main" id="{E290B563-5F15-4347-99B2-273003757B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14500"/>
            <a:ext cx="1181100" cy="95"/>
          </a:xfrm>
          <a:custGeom xmlns:a="http://schemas.openxmlformats.org/drawingml/2006/main">
            <a:pathLst>
              <a:path w="1181100" h="9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830">
            <a:solidFill>
              <a:srgbClr val="F7E5D5"/>
            </a:solidFill>
            <a:prstDash val="solid"/>
          </a:ln>
        </p:spPr>
      </p:sp>
      <p:sp>
        <p:nvSpPr>
          <p:cNvPr id="8" name="oil-upper-channel">
            <a:extLst xmlns:a="http://schemas.openxmlformats.org/drawingml/2006/main">
              <a:ext uri="{FF2B5EF4-FFF2-40B4-BE49-F238E27FC236}">
                <a16:creationId xmlns:a16="http://schemas.microsoft.com/office/drawing/2014/main" id="{9D8AF8E4-CADA-4289-8D3A-D4730A9E13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81075"/>
            <a:ext cx="1028700" cy="733425"/>
          </a:xfrm>
          <a:custGeom xmlns:a="http://schemas.openxmlformats.org/drawingml/2006/main">
            <a:pathLst>
              <a:path w="1028700" h="733425">
                <a:moveTo>
                  <a:pt x="0" y="0"/>
                </a:moveTo>
                <a:lnTo>
                  <a:pt x="200025" y="0"/>
                </a:lnTo>
                <a:lnTo>
                  <a:pt x="233769" y="1254"/>
                </a:lnTo>
                <a:lnTo>
                  <a:pt x="266422" y="5017"/>
                </a:lnTo>
                <a:lnTo>
                  <a:pt x="297984" y="11289"/>
                </a:lnTo>
                <a:lnTo>
                  <a:pt x="328454" y="20069"/>
                </a:lnTo>
                <a:lnTo>
                  <a:pt x="357833" y="31359"/>
                </a:lnTo>
                <a:lnTo>
                  <a:pt x="386120" y="45156"/>
                </a:lnTo>
                <a:lnTo>
                  <a:pt x="413317" y="61463"/>
                </a:lnTo>
                <a:lnTo>
                  <a:pt x="439421" y="80278"/>
                </a:lnTo>
                <a:lnTo>
                  <a:pt x="464435" y="101602"/>
                </a:lnTo>
                <a:lnTo>
                  <a:pt x="488357" y="125434"/>
                </a:lnTo>
                <a:lnTo>
                  <a:pt x="645118" y="293666"/>
                </a:lnTo>
                <a:lnTo>
                  <a:pt x="668435" y="318806"/>
                </a:lnTo>
                <a:lnTo>
                  <a:pt x="691633" y="344051"/>
                </a:lnTo>
                <a:lnTo>
                  <a:pt x="714711" y="369403"/>
                </a:lnTo>
                <a:lnTo>
                  <a:pt x="737670" y="394861"/>
                </a:lnTo>
                <a:lnTo>
                  <a:pt x="760511" y="420425"/>
                </a:lnTo>
                <a:lnTo>
                  <a:pt x="783232" y="446094"/>
                </a:lnTo>
                <a:lnTo>
                  <a:pt x="805834" y="471870"/>
                </a:lnTo>
                <a:lnTo>
                  <a:pt x="828316" y="497751"/>
                </a:lnTo>
                <a:lnTo>
                  <a:pt x="850680" y="523739"/>
                </a:lnTo>
                <a:lnTo>
                  <a:pt x="872924" y="549832"/>
                </a:lnTo>
                <a:lnTo>
                  <a:pt x="102870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73355">
            <a:solidFill>
              <a:srgbClr val="F7E5D5"/>
            </a:solidFill>
            <a:prstDash val="solid"/>
          </a:ln>
        </p:spPr>
      </p:sp>
      <p:sp>
        <p:nvSpPr>
          <p:cNvPr id="9" name="oil-lower-channel">
            <a:extLst xmlns:a="http://schemas.openxmlformats.org/drawingml/2006/main">
              <a:ext uri="{FF2B5EF4-FFF2-40B4-BE49-F238E27FC236}">
                <a16:creationId xmlns:a16="http://schemas.microsoft.com/office/drawing/2014/main" id="{B08F22EF-C420-404A-8286-F781DDAE83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714500"/>
            <a:ext cx="1028700" cy="733425"/>
          </a:xfrm>
          <a:custGeom xmlns:a="http://schemas.openxmlformats.org/drawingml/2006/main">
            <a:pathLst>
              <a:path w="1028700" h="733425">
                <a:moveTo>
                  <a:pt x="0" y="733425"/>
                </a:moveTo>
                <a:lnTo>
                  <a:pt x="200025" y="733425"/>
                </a:lnTo>
                <a:lnTo>
                  <a:pt x="233769" y="732171"/>
                </a:lnTo>
                <a:lnTo>
                  <a:pt x="266422" y="728408"/>
                </a:lnTo>
                <a:lnTo>
                  <a:pt x="297984" y="722136"/>
                </a:lnTo>
                <a:lnTo>
                  <a:pt x="328454" y="713356"/>
                </a:lnTo>
                <a:lnTo>
                  <a:pt x="357833" y="702066"/>
                </a:lnTo>
                <a:lnTo>
                  <a:pt x="386120" y="688269"/>
                </a:lnTo>
                <a:lnTo>
                  <a:pt x="413317" y="671962"/>
                </a:lnTo>
                <a:lnTo>
                  <a:pt x="439421" y="653147"/>
                </a:lnTo>
                <a:lnTo>
                  <a:pt x="464435" y="631823"/>
                </a:lnTo>
                <a:lnTo>
                  <a:pt x="488357" y="607991"/>
                </a:lnTo>
                <a:lnTo>
                  <a:pt x="645118" y="439759"/>
                </a:lnTo>
                <a:lnTo>
                  <a:pt x="668435" y="414619"/>
                </a:lnTo>
                <a:lnTo>
                  <a:pt x="691633" y="389374"/>
                </a:lnTo>
                <a:lnTo>
                  <a:pt x="714711" y="364022"/>
                </a:lnTo>
                <a:lnTo>
                  <a:pt x="737670" y="338564"/>
                </a:lnTo>
                <a:lnTo>
                  <a:pt x="760511" y="313000"/>
                </a:lnTo>
                <a:lnTo>
                  <a:pt x="783232" y="287331"/>
                </a:lnTo>
                <a:lnTo>
                  <a:pt x="805834" y="261555"/>
                </a:lnTo>
                <a:lnTo>
                  <a:pt x="828316" y="235674"/>
                </a:lnTo>
                <a:lnTo>
                  <a:pt x="850680" y="209686"/>
                </a:lnTo>
                <a:lnTo>
                  <a:pt x="872924" y="183593"/>
                </a:ln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3355">
            <a:solidFill>
              <a:srgbClr val="F7E5D5"/>
            </a:solidFill>
            <a:prstDash val="solid"/>
          </a:ln>
        </p:spPr>
      </p:sp>
      <p:sp>
        <p:nvSpPr>
          <p:cNvPr id="10" name="incubation-main-channel">
            <a:extLst xmlns:a="http://schemas.openxmlformats.org/drawingml/2006/main">
              <a:ext uri="{FF2B5EF4-FFF2-40B4-BE49-F238E27FC236}">
                <a16:creationId xmlns:a16="http://schemas.microsoft.com/office/drawing/2014/main" id="{745C2773-8BD9-4E30-ACB4-FDB07A1C6A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0150" y="1333500"/>
            <a:ext cx="4038600" cy="762000"/>
          </a:xfrm>
          <a:custGeom xmlns:a="http://schemas.openxmlformats.org/drawingml/2006/main">
            <a:pathLst>
              <a:path w="4038600" h="762000">
                <a:moveTo>
                  <a:pt x="0" y="381000"/>
                </a:moveTo>
                <a:lnTo>
                  <a:pt x="752475" y="381000"/>
                </a:lnTo>
                <a:lnTo>
                  <a:pt x="768763" y="380143"/>
                </a:lnTo>
                <a:lnTo>
                  <a:pt x="783336" y="377571"/>
                </a:lnTo>
                <a:lnTo>
                  <a:pt x="796195" y="373285"/>
                </a:lnTo>
                <a:lnTo>
                  <a:pt x="807339" y="367284"/>
                </a:lnTo>
                <a:lnTo>
                  <a:pt x="816769" y="359569"/>
                </a:lnTo>
                <a:lnTo>
                  <a:pt x="824484" y="350139"/>
                </a:lnTo>
                <a:lnTo>
                  <a:pt x="830485" y="338995"/>
                </a:lnTo>
                <a:lnTo>
                  <a:pt x="834771" y="326136"/>
                </a:lnTo>
                <a:lnTo>
                  <a:pt x="837343" y="311563"/>
                </a:lnTo>
                <a:lnTo>
                  <a:pt x="838200" y="295275"/>
                </a:lnTo>
                <a:lnTo>
                  <a:pt x="838200" y="85725"/>
                </a:lnTo>
                <a:lnTo>
                  <a:pt x="839057" y="69437"/>
                </a:lnTo>
                <a:lnTo>
                  <a:pt x="841629" y="54864"/>
                </a:lnTo>
                <a:lnTo>
                  <a:pt x="845915" y="42005"/>
                </a:lnTo>
                <a:lnTo>
                  <a:pt x="851916" y="30861"/>
                </a:lnTo>
                <a:lnTo>
                  <a:pt x="859631" y="21431"/>
                </a:lnTo>
                <a:lnTo>
                  <a:pt x="869061" y="13716"/>
                </a:lnTo>
                <a:lnTo>
                  <a:pt x="880205" y="7715"/>
                </a:lnTo>
                <a:lnTo>
                  <a:pt x="893064" y="3429"/>
                </a:lnTo>
                <a:lnTo>
                  <a:pt x="907637" y="857"/>
                </a:lnTo>
                <a:lnTo>
                  <a:pt x="923925" y="0"/>
                </a:lnTo>
                <a:lnTo>
                  <a:pt x="1019175" y="0"/>
                </a:lnTo>
                <a:lnTo>
                  <a:pt x="1035463" y="857"/>
                </a:lnTo>
                <a:lnTo>
                  <a:pt x="1050036" y="3429"/>
                </a:lnTo>
                <a:lnTo>
                  <a:pt x="1062895" y="7715"/>
                </a:lnTo>
                <a:lnTo>
                  <a:pt x="1074039" y="13716"/>
                </a:lnTo>
                <a:lnTo>
                  <a:pt x="1083469" y="21431"/>
                </a:lnTo>
                <a:lnTo>
                  <a:pt x="1091184" y="30861"/>
                </a:lnTo>
                <a:lnTo>
                  <a:pt x="1097185" y="42005"/>
                </a:lnTo>
                <a:lnTo>
                  <a:pt x="1101471" y="54864"/>
                </a:lnTo>
                <a:lnTo>
                  <a:pt x="1104043" y="69437"/>
                </a:lnTo>
                <a:lnTo>
                  <a:pt x="1104900" y="85725"/>
                </a:lnTo>
                <a:lnTo>
                  <a:pt x="1104900" y="676275"/>
                </a:lnTo>
                <a:lnTo>
                  <a:pt x="1105757" y="692563"/>
                </a:lnTo>
                <a:lnTo>
                  <a:pt x="1108329" y="707136"/>
                </a:lnTo>
                <a:lnTo>
                  <a:pt x="1112615" y="719995"/>
                </a:lnTo>
                <a:lnTo>
                  <a:pt x="1118616" y="731139"/>
                </a:lnTo>
                <a:lnTo>
                  <a:pt x="1126331" y="740569"/>
                </a:lnTo>
                <a:lnTo>
                  <a:pt x="1135761" y="748284"/>
                </a:lnTo>
                <a:lnTo>
                  <a:pt x="1146905" y="754285"/>
                </a:lnTo>
                <a:lnTo>
                  <a:pt x="1159764" y="758571"/>
                </a:lnTo>
                <a:lnTo>
                  <a:pt x="1174337" y="761143"/>
                </a:lnTo>
                <a:lnTo>
                  <a:pt x="1190625" y="762000"/>
                </a:lnTo>
                <a:lnTo>
                  <a:pt x="1285875" y="762000"/>
                </a:lnTo>
                <a:lnTo>
                  <a:pt x="1302163" y="761143"/>
                </a:lnTo>
                <a:lnTo>
                  <a:pt x="1316736" y="758571"/>
                </a:lnTo>
                <a:lnTo>
                  <a:pt x="1329595" y="754285"/>
                </a:lnTo>
                <a:lnTo>
                  <a:pt x="1340739" y="748284"/>
                </a:lnTo>
                <a:lnTo>
                  <a:pt x="1350169" y="740569"/>
                </a:lnTo>
                <a:lnTo>
                  <a:pt x="1357884" y="731139"/>
                </a:lnTo>
                <a:lnTo>
                  <a:pt x="1363885" y="719995"/>
                </a:lnTo>
                <a:lnTo>
                  <a:pt x="1368171" y="707136"/>
                </a:lnTo>
                <a:lnTo>
                  <a:pt x="1370743" y="692563"/>
                </a:lnTo>
                <a:lnTo>
                  <a:pt x="1371600" y="676275"/>
                </a:lnTo>
                <a:lnTo>
                  <a:pt x="1371600" y="85725"/>
                </a:lnTo>
                <a:lnTo>
                  <a:pt x="1372457" y="69437"/>
                </a:lnTo>
                <a:lnTo>
                  <a:pt x="1375029" y="54864"/>
                </a:lnTo>
                <a:lnTo>
                  <a:pt x="1379315" y="42005"/>
                </a:lnTo>
                <a:lnTo>
                  <a:pt x="1385316" y="30861"/>
                </a:lnTo>
                <a:lnTo>
                  <a:pt x="1393031" y="21431"/>
                </a:lnTo>
                <a:lnTo>
                  <a:pt x="1402461" y="13716"/>
                </a:lnTo>
                <a:lnTo>
                  <a:pt x="1413605" y="7715"/>
                </a:lnTo>
                <a:lnTo>
                  <a:pt x="1426464" y="3429"/>
                </a:lnTo>
                <a:lnTo>
                  <a:pt x="1441037" y="857"/>
                </a:lnTo>
                <a:lnTo>
                  <a:pt x="1457325" y="0"/>
                </a:lnTo>
                <a:lnTo>
                  <a:pt x="1552575" y="0"/>
                </a:lnTo>
                <a:lnTo>
                  <a:pt x="1568863" y="857"/>
                </a:lnTo>
                <a:lnTo>
                  <a:pt x="1583436" y="3429"/>
                </a:lnTo>
                <a:lnTo>
                  <a:pt x="1596295" y="7715"/>
                </a:lnTo>
                <a:lnTo>
                  <a:pt x="1607439" y="13716"/>
                </a:lnTo>
                <a:lnTo>
                  <a:pt x="1616869" y="21431"/>
                </a:lnTo>
                <a:lnTo>
                  <a:pt x="1624584" y="30861"/>
                </a:lnTo>
                <a:lnTo>
                  <a:pt x="1630585" y="42005"/>
                </a:lnTo>
                <a:lnTo>
                  <a:pt x="1634871" y="54864"/>
                </a:lnTo>
                <a:lnTo>
                  <a:pt x="1637443" y="69437"/>
                </a:lnTo>
                <a:lnTo>
                  <a:pt x="1638300" y="85725"/>
                </a:lnTo>
                <a:lnTo>
                  <a:pt x="1638300" y="676275"/>
                </a:lnTo>
                <a:lnTo>
                  <a:pt x="1639157" y="692563"/>
                </a:lnTo>
                <a:lnTo>
                  <a:pt x="1641729" y="707136"/>
                </a:lnTo>
                <a:lnTo>
                  <a:pt x="1646015" y="719995"/>
                </a:lnTo>
                <a:lnTo>
                  <a:pt x="1652016" y="731139"/>
                </a:lnTo>
                <a:lnTo>
                  <a:pt x="1659731" y="740569"/>
                </a:lnTo>
                <a:lnTo>
                  <a:pt x="1669161" y="748284"/>
                </a:lnTo>
                <a:lnTo>
                  <a:pt x="1680305" y="754285"/>
                </a:lnTo>
                <a:lnTo>
                  <a:pt x="1693164" y="758571"/>
                </a:lnTo>
                <a:lnTo>
                  <a:pt x="1707737" y="761143"/>
                </a:lnTo>
                <a:lnTo>
                  <a:pt x="1724025" y="762000"/>
                </a:lnTo>
                <a:lnTo>
                  <a:pt x="1819275" y="762000"/>
                </a:lnTo>
                <a:lnTo>
                  <a:pt x="1835563" y="761143"/>
                </a:lnTo>
                <a:lnTo>
                  <a:pt x="1850136" y="758571"/>
                </a:lnTo>
                <a:lnTo>
                  <a:pt x="1862995" y="754285"/>
                </a:lnTo>
                <a:lnTo>
                  <a:pt x="1874139" y="748284"/>
                </a:lnTo>
                <a:lnTo>
                  <a:pt x="1883569" y="740569"/>
                </a:lnTo>
                <a:lnTo>
                  <a:pt x="1891284" y="731139"/>
                </a:lnTo>
                <a:lnTo>
                  <a:pt x="1897285" y="719995"/>
                </a:lnTo>
                <a:lnTo>
                  <a:pt x="1901571" y="707136"/>
                </a:lnTo>
                <a:lnTo>
                  <a:pt x="1904143" y="692563"/>
                </a:lnTo>
                <a:lnTo>
                  <a:pt x="1905000" y="676275"/>
                </a:lnTo>
                <a:lnTo>
                  <a:pt x="1905000" y="85725"/>
                </a:lnTo>
                <a:lnTo>
                  <a:pt x="1905857" y="69437"/>
                </a:lnTo>
                <a:lnTo>
                  <a:pt x="1908429" y="54864"/>
                </a:lnTo>
                <a:lnTo>
                  <a:pt x="1912715" y="42005"/>
                </a:lnTo>
                <a:lnTo>
                  <a:pt x="1918716" y="30861"/>
                </a:lnTo>
                <a:lnTo>
                  <a:pt x="1926431" y="21431"/>
                </a:lnTo>
                <a:lnTo>
                  <a:pt x="1935861" y="13716"/>
                </a:lnTo>
                <a:lnTo>
                  <a:pt x="1947005" y="7715"/>
                </a:lnTo>
                <a:lnTo>
                  <a:pt x="1959864" y="3429"/>
                </a:lnTo>
                <a:lnTo>
                  <a:pt x="1974437" y="857"/>
                </a:lnTo>
                <a:lnTo>
                  <a:pt x="1990725" y="0"/>
                </a:lnTo>
                <a:lnTo>
                  <a:pt x="2085975" y="0"/>
                </a:lnTo>
                <a:lnTo>
                  <a:pt x="2102263" y="857"/>
                </a:lnTo>
                <a:lnTo>
                  <a:pt x="2116836" y="3429"/>
                </a:lnTo>
                <a:lnTo>
                  <a:pt x="2129695" y="7715"/>
                </a:lnTo>
                <a:lnTo>
                  <a:pt x="2140839" y="13716"/>
                </a:lnTo>
                <a:lnTo>
                  <a:pt x="2150269" y="21431"/>
                </a:lnTo>
                <a:lnTo>
                  <a:pt x="2157984" y="30861"/>
                </a:lnTo>
                <a:lnTo>
                  <a:pt x="2163985" y="42005"/>
                </a:lnTo>
                <a:lnTo>
                  <a:pt x="2168271" y="54864"/>
                </a:lnTo>
                <a:lnTo>
                  <a:pt x="2170843" y="69437"/>
                </a:lnTo>
                <a:lnTo>
                  <a:pt x="2171700" y="85725"/>
                </a:lnTo>
                <a:lnTo>
                  <a:pt x="2171700" y="295275"/>
                </a:lnTo>
                <a:lnTo>
                  <a:pt x="2172557" y="311563"/>
                </a:lnTo>
                <a:lnTo>
                  <a:pt x="2175129" y="326136"/>
                </a:lnTo>
                <a:lnTo>
                  <a:pt x="2179415" y="338995"/>
                </a:lnTo>
                <a:lnTo>
                  <a:pt x="2185416" y="350139"/>
                </a:lnTo>
                <a:lnTo>
                  <a:pt x="2193131" y="359569"/>
                </a:lnTo>
                <a:lnTo>
                  <a:pt x="2202561" y="367284"/>
                </a:lnTo>
                <a:lnTo>
                  <a:pt x="2213705" y="373285"/>
                </a:lnTo>
                <a:lnTo>
                  <a:pt x="2226564" y="377571"/>
                </a:lnTo>
                <a:lnTo>
                  <a:pt x="2241137" y="380143"/>
                </a:lnTo>
                <a:lnTo>
                  <a:pt x="2257425" y="381000"/>
                </a:lnTo>
                <a:lnTo>
                  <a:pt x="40386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63830">
            <a:solidFill>
              <a:srgbClr val="F7E5D5"/>
            </a:solidFill>
            <a:prstDash val="solid"/>
          </a:ln>
        </p:spPr>
      </p:sp>
      <p:sp>
        <p:nvSpPr>
          <p:cNvPr id="11" name="hit-outlet-channel">
            <a:extLst xmlns:a="http://schemas.openxmlformats.org/drawingml/2006/main">
              <a:ext uri="{FF2B5EF4-FFF2-40B4-BE49-F238E27FC236}">
                <a16:creationId xmlns:a16="http://schemas.microsoft.com/office/drawing/2014/main" id="{CABF7A39-1D36-4F24-8079-F8110D241D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0" y="1333500"/>
            <a:ext cx="990600" cy="381000"/>
          </a:xfrm>
          <a:custGeom xmlns:a="http://schemas.openxmlformats.org/drawingml/2006/main">
            <a:pathLst>
              <a:path w="990600" h="381000">
                <a:moveTo>
                  <a:pt x="0" y="381000"/>
                </a:moveTo>
                <a:lnTo>
                  <a:pt x="283226" y="82867"/>
                </a:lnTo>
                <a:lnTo>
                  <a:pt x="299327" y="67123"/>
                </a:lnTo>
                <a:lnTo>
                  <a:pt x="316139" y="53035"/>
                </a:lnTo>
                <a:lnTo>
                  <a:pt x="333662" y="40605"/>
                </a:lnTo>
                <a:lnTo>
                  <a:pt x="351897" y="29832"/>
                </a:lnTo>
                <a:lnTo>
                  <a:pt x="370844" y="20717"/>
                </a:lnTo>
                <a:lnTo>
                  <a:pt x="390502" y="13259"/>
                </a:lnTo>
                <a:lnTo>
                  <a:pt x="410872" y="7458"/>
                </a:lnTo>
                <a:lnTo>
                  <a:pt x="431953" y="3315"/>
                </a:lnTo>
                <a:lnTo>
                  <a:pt x="453746" y="829"/>
                </a:lnTo>
                <a:lnTo>
                  <a:pt x="476250" y="0"/>
                </a:ln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830">
            <a:solidFill>
              <a:srgbClr val="F7E5D5"/>
            </a:solidFill>
            <a:prstDash val="solid"/>
          </a:ln>
        </p:spPr>
      </p:sp>
      <p:sp>
        <p:nvSpPr>
          <p:cNvPr id="12" name="waste-outlet-channel">
            <a:extLst xmlns:a="http://schemas.openxmlformats.org/drawingml/2006/main">
              <a:ext uri="{FF2B5EF4-FFF2-40B4-BE49-F238E27FC236}">
                <a16:creationId xmlns:a16="http://schemas.microsoft.com/office/drawing/2014/main" id="{2933FB17-4704-4769-A871-7AA514816A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0" y="1714500"/>
            <a:ext cx="990600" cy="514350"/>
          </a:xfrm>
          <a:custGeom xmlns:a="http://schemas.openxmlformats.org/drawingml/2006/main">
            <a:pathLst>
              <a:path w="990600" h="514350">
                <a:moveTo>
                  <a:pt x="0" y="0"/>
                </a:moveTo>
                <a:lnTo>
                  <a:pt x="296171" y="420875"/>
                </a:lnTo>
                <a:lnTo>
                  <a:pt x="309812" y="438635"/>
                </a:lnTo>
                <a:lnTo>
                  <a:pt x="324424" y="454526"/>
                </a:lnTo>
                <a:lnTo>
                  <a:pt x="340005" y="468547"/>
                </a:lnTo>
                <a:lnTo>
                  <a:pt x="356558" y="480699"/>
                </a:lnTo>
                <a:lnTo>
                  <a:pt x="374080" y="490981"/>
                </a:lnTo>
                <a:lnTo>
                  <a:pt x="392573" y="499394"/>
                </a:lnTo>
                <a:lnTo>
                  <a:pt x="412037" y="505937"/>
                </a:lnTo>
                <a:lnTo>
                  <a:pt x="432471" y="510611"/>
                </a:lnTo>
                <a:lnTo>
                  <a:pt x="453875" y="513415"/>
                </a:lnTo>
                <a:lnTo>
                  <a:pt x="476250" y="514350"/>
                </a:lnTo>
                <a:lnTo>
                  <a:pt x="99060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63830">
            <a:solidFill>
              <a:srgbClr val="F7E5D5"/>
            </a:solidFill>
            <a:prstDash val="solid"/>
          </a:ln>
        </p:spPr>
      </p:sp>
      <p:sp>
        <p:nvSpPr>
          <p:cNvPr id="13" name="aqueous-tongue">
            <a:extLst xmlns:a="http://schemas.openxmlformats.org/drawingml/2006/main">
              <a:ext uri="{FF2B5EF4-FFF2-40B4-BE49-F238E27FC236}">
                <a16:creationId xmlns:a16="http://schemas.microsoft.com/office/drawing/2014/main" id="{F8797BA1-413D-48B4-80B5-C2D1683E90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638300"/>
            <a:ext cx="1066800" cy="152400"/>
          </a:xfrm>
          <a:custGeom xmlns:a="http://schemas.openxmlformats.org/drawingml/2006/main">
            <a:pathLst>
              <a:path w="1066800" h="152400">
                <a:moveTo>
                  <a:pt x="0" y="0"/>
                </a:moveTo>
                <a:lnTo>
                  <a:pt x="676275" y="0"/>
                </a:lnTo>
                <a:lnTo>
                  <a:pt x="857250" y="28575"/>
                </a:lnTo>
                <a:lnTo>
                  <a:pt x="1066800" y="66675"/>
                </a:lnTo>
                <a:lnTo>
                  <a:pt x="1066800" y="85725"/>
                </a:lnTo>
                <a:lnTo>
                  <a:pt x="857250" y="123825"/>
                </a:lnTo>
                <a:lnTo>
                  <a:pt x="676275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E7EED8"/>
          </a:solidFill>
          <a:ln xmlns:a="http://schemas.openxmlformats.org/drawingml/2006/main" w="8096">
            <a:solidFill>
              <a:srgbClr val="698044"/>
            </a:solidFill>
            <a:prstDash val="solid"/>
          </a:ln>
        </p:spPr>
      </p:sp>
      <p:sp>
        <p:nvSpPr>
          <p:cNvPr id="14" name="unscored-0">
            <a:extLst xmlns:a="http://schemas.openxmlformats.org/drawingml/2006/main">
              <a:ext uri="{FF2B5EF4-FFF2-40B4-BE49-F238E27FC236}">
                <a16:creationId xmlns:a16="http://schemas.microsoft.com/office/drawing/2014/main" id="{996DB2FE-E234-4A5C-B191-208B2F3E8D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0653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15" name="unscored-1">
            <a:extLst xmlns:a="http://schemas.openxmlformats.org/drawingml/2006/main">
              <a:ext uri="{FF2B5EF4-FFF2-40B4-BE49-F238E27FC236}">
                <a16:creationId xmlns:a16="http://schemas.microsoft.com/office/drawing/2014/main" id="{1B414470-0DA7-4B3D-B8EA-7E51AA5874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8303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16" name="unscored-2">
            <a:extLst xmlns:a="http://schemas.openxmlformats.org/drawingml/2006/main">
              <a:ext uri="{FF2B5EF4-FFF2-40B4-BE49-F238E27FC236}">
                <a16:creationId xmlns:a16="http://schemas.microsoft.com/office/drawing/2014/main" id="{A7A60391-AB85-48F3-9F85-E15F30D5E1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953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17" name="unscored-3">
            <a:extLst xmlns:a="http://schemas.openxmlformats.org/drawingml/2006/main">
              <a:ext uri="{FF2B5EF4-FFF2-40B4-BE49-F238E27FC236}">
                <a16:creationId xmlns:a16="http://schemas.microsoft.com/office/drawing/2014/main" id="{CBE2D786-5BBF-416B-86EF-072433F66A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1203" y="1429703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18" name="unscored-4">
            <a:extLst xmlns:a="http://schemas.openxmlformats.org/drawingml/2006/main">
              <a:ext uri="{FF2B5EF4-FFF2-40B4-BE49-F238E27FC236}">
                <a16:creationId xmlns:a16="http://schemas.microsoft.com/office/drawing/2014/main" id="{397D13FC-5FA7-4C1C-AC13-9C8496E7DF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25028" y="1286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19" name="unscored-5">
            <a:extLst xmlns:a="http://schemas.openxmlformats.org/drawingml/2006/main">
              <a:ext uri="{FF2B5EF4-FFF2-40B4-BE49-F238E27FC236}">
                <a16:creationId xmlns:a16="http://schemas.microsoft.com/office/drawing/2014/main" id="{134D930C-F823-42D8-A2D6-3D786FB739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58378" y="1505903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0" name="unscored-6">
            <a:extLst xmlns:a="http://schemas.openxmlformats.org/drawingml/2006/main">
              <a:ext uri="{FF2B5EF4-FFF2-40B4-BE49-F238E27FC236}">
                <a16:creationId xmlns:a16="http://schemas.microsoft.com/office/drawing/2014/main" id="{EACAA0DD-57E9-431A-AA5E-4FA2FA13EF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58378" y="176307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1" name="unscored-7">
            <a:extLst xmlns:a="http://schemas.openxmlformats.org/drawingml/2006/main">
              <a:ext uri="{FF2B5EF4-FFF2-40B4-BE49-F238E27FC236}">
                <a16:creationId xmlns:a16="http://schemas.microsoft.com/office/drawing/2014/main" id="{309D1C73-129D-4F7F-9C38-BB925BD9B5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91728" y="2048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2" name="unscored-8">
            <a:extLst xmlns:a="http://schemas.openxmlformats.org/drawingml/2006/main">
              <a:ext uri="{FF2B5EF4-FFF2-40B4-BE49-F238E27FC236}">
                <a16:creationId xmlns:a16="http://schemas.microsoft.com/office/drawing/2014/main" id="{DE287254-BEAF-4D58-896E-2DCED5B31B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25078" y="18583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3" name="unscored-9">
            <a:extLst xmlns:a="http://schemas.openxmlformats.org/drawingml/2006/main">
              <a:ext uri="{FF2B5EF4-FFF2-40B4-BE49-F238E27FC236}">
                <a16:creationId xmlns:a16="http://schemas.microsoft.com/office/drawing/2014/main" id="{B48D0931-FDCD-4496-9155-6EFF2E2785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25078" y="1582103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4" name="unscored-10">
            <a:extLst xmlns:a="http://schemas.openxmlformats.org/drawingml/2006/main">
              <a:ext uri="{FF2B5EF4-FFF2-40B4-BE49-F238E27FC236}">
                <a16:creationId xmlns:a16="http://schemas.microsoft.com/office/drawing/2014/main" id="{E6927245-BF37-442C-BCCF-817C7F0C42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39378" y="1286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5" name="unscored-11">
            <a:extLst xmlns:a="http://schemas.openxmlformats.org/drawingml/2006/main">
              <a:ext uri="{FF2B5EF4-FFF2-40B4-BE49-F238E27FC236}">
                <a16:creationId xmlns:a16="http://schemas.microsoft.com/office/drawing/2014/main" id="{DC29CAAA-34A9-4B56-9CE6-371411ED42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91778" y="145827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6" name="unscored-12">
            <a:extLst xmlns:a="http://schemas.openxmlformats.org/drawingml/2006/main">
              <a:ext uri="{FF2B5EF4-FFF2-40B4-BE49-F238E27FC236}">
                <a16:creationId xmlns:a16="http://schemas.microsoft.com/office/drawing/2014/main" id="{32168230-1A6D-407C-822E-F344BD97C1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91778" y="1734503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7" name="unscored-13">
            <a:extLst xmlns:a="http://schemas.openxmlformats.org/drawingml/2006/main">
              <a:ext uri="{FF2B5EF4-FFF2-40B4-BE49-F238E27FC236}">
                <a16:creationId xmlns:a16="http://schemas.microsoft.com/office/drawing/2014/main" id="{6F3F8AF8-475C-4216-A75D-AD7E57F365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06078" y="2048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8" name="unscored-14">
            <a:extLst xmlns:a="http://schemas.openxmlformats.org/drawingml/2006/main">
              <a:ext uri="{FF2B5EF4-FFF2-40B4-BE49-F238E27FC236}">
                <a16:creationId xmlns:a16="http://schemas.microsoft.com/office/drawing/2014/main" id="{9788BA36-DD8A-4995-B61B-B268C803B8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58478" y="187737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29" name="unscored-15">
            <a:extLst xmlns:a="http://schemas.openxmlformats.org/drawingml/2006/main">
              <a:ext uri="{FF2B5EF4-FFF2-40B4-BE49-F238E27FC236}">
                <a16:creationId xmlns:a16="http://schemas.microsoft.com/office/drawing/2014/main" id="{64C561B5-68A1-4DBD-B0A0-85A19D8A34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58478" y="1601153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30" name="unscored-16">
            <a:extLst xmlns:a="http://schemas.openxmlformats.org/drawingml/2006/main">
              <a:ext uri="{FF2B5EF4-FFF2-40B4-BE49-F238E27FC236}">
                <a16:creationId xmlns:a16="http://schemas.microsoft.com/office/drawing/2014/main" id="{3A351736-CAE3-459F-AB65-661F3C3210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72778" y="1286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31" name="unscored-17">
            <a:extLst xmlns:a="http://schemas.openxmlformats.org/drawingml/2006/main">
              <a:ext uri="{FF2B5EF4-FFF2-40B4-BE49-F238E27FC236}">
                <a16:creationId xmlns:a16="http://schemas.microsoft.com/office/drawing/2014/main" id="{799506C7-809B-4617-B793-F4649CCD76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25178" y="145827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32" name="unscored-18">
            <a:extLst xmlns:a="http://schemas.openxmlformats.org/drawingml/2006/main">
              <a:ext uri="{FF2B5EF4-FFF2-40B4-BE49-F238E27FC236}">
                <a16:creationId xmlns:a16="http://schemas.microsoft.com/office/drawing/2014/main" id="{62074097-D582-48E1-B017-BBAF4153D0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15678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33" name="unscored-19">
            <a:extLst xmlns:a="http://schemas.openxmlformats.org/drawingml/2006/main">
              <a:ext uri="{FF2B5EF4-FFF2-40B4-BE49-F238E27FC236}">
                <a16:creationId xmlns:a16="http://schemas.microsoft.com/office/drawing/2014/main" id="{4F14FFF8-82B7-426D-A107-44422DCA9F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53803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34" name="measured-0">
            <a:extLst xmlns:a="http://schemas.openxmlformats.org/drawingml/2006/main">
              <a:ext uri="{FF2B5EF4-FFF2-40B4-BE49-F238E27FC236}">
                <a16:creationId xmlns:a16="http://schemas.microsoft.com/office/drawing/2014/main" id="{33B516C1-288F-4252-A9C8-71533338F1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2453" y="166782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35" name="measured-1">
            <a:extLst xmlns:a="http://schemas.openxmlformats.org/drawingml/2006/main">
              <a:ext uri="{FF2B5EF4-FFF2-40B4-BE49-F238E27FC236}">
                <a16:creationId xmlns:a16="http://schemas.microsoft.com/office/drawing/2014/main" id="{06A08DED-83EA-4D80-9CB0-C244DD785E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49153" y="166782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531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36" name="measured-2">
            <a:extLst xmlns:a="http://schemas.openxmlformats.org/drawingml/2006/main">
              <a:ext uri="{FF2B5EF4-FFF2-40B4-BE49-F238E27FC236}">
                <a16:creationId xmlns:a16="http://schemas.microsoft.com/office/drawing/2014/main" id="{37B16231-1FAA-4778-8C91-A000BF6BEC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06328" y="166782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37" name="hit-0">
            <a:extLst xmlns:a="http://schemas.openxmlformats.org/drawingml/2006/main">
              <a:ext uri="{FF2B5EF4-FFF2-40B4-BE49-F238E27FC236}">
                <a16:creationId xmlns:a16="http://schemas.microsoft.com/office/drawing/2014/main" id="{3AF9115D-CF28-4413-B4C1-DAD10A8375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01628" y="1448753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531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38" name="hit-1">
            <a:extLst xmlns:a="http://schemas.openxmlformats.org/drawingml/2006/main">
              <a:ext uri="{FF2B5EF4-FFF2-40B4-BE49-F238E27FC236}">
                <a16:creationId xmlns:a16="http://schemas.microsoft.com/office/drawing/2014/main" id="{E7DDB3E1-CB58-421B-B863-6A62B1C84E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7853" y="128682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531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39" name="hit-2">
            <a:extLst xmlns:a="http://schemas.openxmlformats.org/drawingml/2006/main">
              <a:ext uri="{FF2B5EF4-FFF2-40B4-BE49-F238E27FC236}">
                <a16:creationId xmlns:a16="http://schemas.microsoft.com/office/drawing/2014/main" id="{191B6B58-779C-4F44-91F5-565A308B90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06453" y="128682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531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40" name="low-0">
            <a:extLst xmlns:a="http://schemas.openxmlformats.org/drawingml/2006/main">
              <a:ext uri="{FF2B5EF4-FFF2-40B4-BE49-F238E27FC236}">
                <a16:creationId xmlns:a16="http://schemas.microsoft.com/office/drawing/2014/main" id="{3FF8CC78-5140-49BD-ADEE-AB2E680BD7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01628" y="1963103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41" name="low-1">
            <a:extLst xmlns:a="http://schemas.openxmlformats.org/drawingml/2006/main">
              <a:ext uri="{FF2B5EF4-FFF2-40B4-BE49-F238E27FC236}">
                <a16:creationId xmlns:a16="http://schemas.microsoft.com/office/drawing/2014/main" id="{D124945D-8144-4BEE-A377-CAF11ED856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7853" y="218217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42" name="low-2">
            <a:extLst xmlns:a="http://schemas.openxmlformats.org/drawingml/2006/main">
              <a:ext uri="{FF2B5EF4-FFF2-40B4-BE49-F238E27FC236}">
                <a16:creationId xmlns:a16="http://schemas.microsoft.com/office/drawing/2014/main" id="{B89CB358-EC7C-4CDC-AD88-E3C5B2B237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06453" y="2182178"/>
            <a:ext cx="93345" cy="93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698044"/>
            </a:solidFill>
            <a:prstDash val="solid"/>
          </a:ln>
        </p:spPr>
      </p:sp>
      <p:sp>
        <p:nvSpPr>
          <p:cNvPr id="43" name="aqueous-direction.shaft">
            <a:extLst xmlns:a="http://schemas.openxmlformats.org/drawingml/2006/main">
              <a:ext uri="{FF2B5EF4-FFF2-40B4-BE49-F238E27FC236}">
                <a16:creationId xmlns:a16="http://schemas.microsoft.com/office/drawing/2014/main" id="{EACB900B-6415-49FC-8823-456A759878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8" y="1714500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577531"/>
            </a:solidFill>
            <a:prstDash val="solid"/>
          </a:ln>
        </p:spPr>
      </p:sp>
      <p:sp>
        <p:nvSpPr>
          <p:cNvPr id="44" name="aqueous-direction.head">
            <a:extLst xmlns:a="http://schemas.openxmlformats.org/drawingml/2006/main">
              <a:ext uri="{FF2B5EF4-FFF2-40B4-BE49-F238E27FC236}">
                <a16:creationId xmlns:a16="http://schemas.microsoft.com/office/drawing/2014/main" id="{1A83916A-E1C4-45E5-A1E9-BFCC69B6A0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3" y="1692593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8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7753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oil-upper-direction.shaft">
            <a:extLst xmlns:a="http://schemas.openxmlformats.org/drawingml/2006/main">
              <a:ext uri="{FF2B5EF4-FFF2-40B4-BE49-F238E27FC236}">
                <a16:creationId xmlns:a16="http://schemas.microsoft.com/office/drawing/2014/main" id="{A7D519DD-A076-4E42-A68A-DFD20A804C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" y="98107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AF6228"/>
            </a:solidFill>
            <a:prstDash val="solid"/>
          </a:ln>
        </p:spPr>
      </p:sp>
      <p:sp>
        <p:nvSpPr>
          <p:cNvPr id="46" name="oil-upper-direction.head">
            <a:extLst xmlns:a="http://schemas.openxmlformats.org/drawingml/2006/main">
              <a:ext uri="{FF2B5EF4-FFF2-40B4-BE49-F238E27FC236}">
                <a16:creationId xmlns:a16="http://schemas.microsoft.com/office/drawing/2014/main" id="{6815747D-910A-44A9-8622-BD06D578E0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675" y="959168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7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622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il-lower-direction.shaft">
            <a:extLst xmlns:a="http://schemas.openxmlformats.org/drawingml/2006/main">
              <a:ext uri="{FF2B5EF4-FFF2-40B4-BE49-F238E27FC236}">
                <a16:creationId xmlns:a16="http://schemas.microsoft.com/office/drawing/2014/main" id="{39B3FF04-691A-4870-B64E-8A0BD6E045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" y="244792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AF6228"/>
            </a:solidFill>
            <a:prstDash val="solid"/>
          </a:ln>
        </p:spPr>
      </p:sp>
      <p:sp>
        <p:nvSpPr>
          <p:cNvPr id="48" name="oil-lower-direction.head">
            <a:extLst xmlns:a="http://schemas.openxmlformats.org/drawingml/2006/main">
              <a:ext uri="{FF2B5EF4-FFF2-40B4-BE49-F238E27FC236}">
                <a16:creationId xmlns:a16="http://schemas.microsoft.com/office/drawing/2014/main" id="{17838B89-486D-4AB9-AE3C-0F8020E6EF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675" y="2426018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8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622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main-direction.shaft">
            <a:extLst xmlns:a="http://schemas.openxmlformats.org/drawingml/2006/main">
              <a:ext uri="{FF2B5EF4-FFF2-40B4-BE49-F238E27FC236}">
                <a16:creationId xmlns:a16="http://schemas.microsoft.com/office/drawing/2014/main" id="{851D5B4F-9206-4D52-8CEE-6DEECEAF2C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24300" y="171450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AF6228"/>
            </a:solidFill>
            <a:prstDash val="solid"/>
          </a:ln>
        </p:spPr>
      </p:sp>
      <p:sp>
        <p:nvSpPr>
          <p:cNvPr id="50" name="main-direction.head">
            <a:extLst xmlns:a="http://schemas.openxmlformats.org/drawingml/2006/main">
              <a:ext uri="{FF2B5EF4-FFF2-40B4-BE49-F238E27FC236}">
                <a16:creationId xmlns:a16="http://schemas.microsoft.com/office/drawing/2014/main" id="{A4F28AC7-DA34-49D1-A2F9-58CF59515E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0" y="1692593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8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622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1" name="hit-direction.shaft">
            <a:extLst xmlns:a="http://schemas.openxmlformats.org/drawingml/2006/main">
              <a:ext uri="{FF2B5EF4-FFF2-40B4-BE49-F238E27FC236}">
                <a16:creationId xmlns:a16="http://schemas.microsoft.com/office/drawing/2014/main" id="{A653DE91-6B6D-4862-8E76-E2ABA81AC3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86475" y="133350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577531"/>
            </a:solidFill>
            <a:prstDash val="solid"/>
          </a:ln>
        </p:spPr>
      </p:sp>
      <p:sp>
        <p:nvSpPr>
          <p:cNvPr id="52" name="hit-direction.head">
            <a:extLst xmlns:a="http://schemas.openxmlformats.org/drawingml/2006/main">
              <a:ext uri="{FF2B5EF4-FFF2-40B4-BE49-F238E27FC236}">
                <a16:creationId xmlns:a16="http://schemas.microsoft.com/office/drawing/2014/main" id="{F7E9C82E-B880-42F7-B643-ACB7D76D79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62675" y="1311593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8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7753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waste-direction.shaft">
            <a:extLst xmlns:a="http://schemas.openxmlformats.org/drawingml/2006/main">
              <a:ext uri="{FF2B5EF4-FFF2-40B4-BE49-F238E27FC236}">
                <a16:creationId xmlns:a16="http://schemas.microsoft.com/office/drawing/2014/main" id="{0EE37B35-705C-4C43-9EE3-58F75C14DB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86475" y="222885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AF6228"/>
            </a:solidFill>
            <a:prstDash val="solid"/>
          </a:ln>
        </p:spPr>
      </p:sp>
      <p:sp>
        <p:nvSpPr>
          <p:cNvPr id="54" name="waste-direction.head">
            <a:extLst xmlns:a="http://schemas.openxmlformats.org/drawingml/2006/main">
              <a:ext uri="{FF2B5EF4-FFF2-40B4-BE49-F238E27FC236}">
                <a16:creationId xmlns:a16="http://schemas.microsoft.com/office/drawing/2014/main" id="{5948749B-5603-4189-8E34-4BCA6AE812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62675" y="2206943"/>
            <a:ext cx="38100" cy="43815"/>
          </a:xfrm>
          <a:custGeom xmlns:a="http://schemas.openxmlformats.org/drawingml/2006/main">
            <a:pathLst>
              <a:path w="38100" h="43815">
                <a:moveTo>
                  <a:pt x="38100" y="21908"/>
                </a:moveTo>
                <a:lnTo>
                  <a:pt x="0" y="43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622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optical-field">
            <a:extLst xmlns:a="http://schemas.openxmlformats.org/drawingml/2006/main">
              <a:ext uri="{FF2B5EF4-FFF2-40B4-BE49-F238E27FC236}">
                <a16:creationId xmlns:a16="http://schemas.microsoft.com/office/drawing/2014/main" id="{62F1DEB6-E04D-4680-AB11-52008B533C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81450" y="1876425"/>
            <a:ext cx="419100" cy="247650"/>
          </a:xfrm>
          <a:custGeom xmlns:a="http://schemas.openxmlformats.org/drawingml/2006/main">
            <a:pathLst>
              <a:path w="419100" h="247650">
                <a:moveTo>
                  <a:pt x="104775" y="0"/>
                </a:moveTo>
                <a:lnTo>
                  <a:pt x="314325" y="0"/>
                </a:lnTo>
                <a:lnTo>
                  <a:pt x="419100" y="247650"/>
                </a:lnTo>
                <a:lnTo>
                  <a:pt x="0" y="2476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8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56" name="detector-window">
            <a:extLst xmlns:a="http://schemas.openxmlformats.org/drawingml/2006/main">
              <a:ext uri="{FF2B5EF4-FFF2-40B4-BE49-F238E27FC236}">
                <a16:creationId xmlns:a16="http://schemas.microsoft.com/office/drawing/2014/main" id="{9ED3CCC0-4501-47CA-80BF-51FDA20246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86225" y="15525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426EAA"/>
            </a:solidFill>
            <a:prstDash val="solid"/>
          </a:ln>
        </p:spPr>
      </p:sp>
      <p:sp>
        <p:nvSpPr>
          <p:cNvPr id="57" name="sensed-unscored">
            <a:extLst xmlns:a="http://schemas.openxmlformats.org/drawingml/2006/main">
              <a:ext uri="{FF2B5EF4-FFF2-40B4-BE49-F238E27FC236}">
                <a16:creationId xmlns:a16="http://schemas.microsoft.com/office/drawing/2014/main" id="{94ED29CE-2BBE-42FC-B006-9C385CEA6C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44328" y="1667828"/>
            <a:ext cx="93345" cy="9334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1F5E6"/>
              </a:gs>
              <a:gs pos="55000">
                <a:srgbClr val="E7EED8"/>
              </a:gs>
              <a:gs pos="100000">
                <a:srgbClr val="AABF88"/>
              </a:gs>
            </a:gsLst>
            <a:lin ang="8100000"/>
          </a:gradFill>
          <a:ln xmlns:a="http://schemas.openxmlformats.org/drawingml/2006/main" w="6668">
            <a:solidFill>
              <a:srgbClr val="698044"/>
            </a:solidFill>
            <a:prstDash val="solid"/>
          </a:ln>
        </p:spPr>
      </p:sp>
      <p:sp>
        <p:nvSpPr>
          <p:cNvPr id="58" name="controller">
            <a:extLst xmlns:a="http://schemas.openxmlformats.org/drawingml/2006/main">
              <a:ext uri="{FF2B5EF4-FFF2-40B4-BE49-F238E27FC236}">
                <a16:creationId xmlns:a16="http://schemas.microsoft.com/office/drawing/2014/main" id="{39612611-2EBB-4CC3-8A12-0A3FF9BBC6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29025" y="228600"/>
            <a:ext cx="112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10478">
            <a:solidFill>
              <a:srgbClr val="426EAA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Controller</a:t>
            </a:r>
          </a:p>
          <a:p xmlns:a="http://schemas.openxmlformats.org/drawingml/2006/main">
            <a:pPr algn="ctr">
              <a:defRPr sz="88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Compare F with θ</a:t>
            </a:r>
          </a:p>
        </p:txBody>
      </p:sp>
      <p:sp>
        <p:nvSpPr>
          <p:cNvPr id="59" name="sorting-electrode">
            <a:extLst xmlns:a="http://schemas.openxmlformats.org/drawingml/2006/main">
              <a:ext uri="{FF2B5EF4-FFF2-40B4-BE49-F238E27FC236}">
                <a16:creationId xmlns:a16="http://schemas.microsoft.com/office/drawing/2014/main" id="{DE3922BA-0709-4E64-92EB-F0DF71149A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33975" y="146685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EAA"/>
          </a:solidFill>
          <a:ln xmlns:a="http://schemas.openxmlformats.org/drawingml/2006/main" w="6668">
            <a:solidFill>
              <a:srgbClr val="426EAA"/>
            </a:solidFill>
            <a:prstDash val="solid"/>
          </a:ln>
        </p:spPr>
      </p:sp>
      <p:cxnSp>
        <p:nvCxnSpPr>
          <p:cNvPr id="149" name="signal-F"/>
          <p:cNvCxnSpPr>
            <a:stCxn xmlns:a="http://schemas.openxmlformats.org/drawingml/2006/main" id="56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4191000" y="63817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2383" cap="rnd">
            <a:solidFill>
              <a:srgbClr val="426EAA"/>
            </a:solidFill>
            <a:prstDash val="dash"/>
            <a:round/>
            <a:tailEnd type="triangle" w="sm" len="sm"/>
          </a:ln>
        </p:spPr>
      </p:cxnSp>
      <p:cxnSp>
        <p:nvCxnSpPr>
          <p:cNvPr id="150" name="sorting-trigger"/>
          <p:cNvCxnSpPr>
            <a:stCxn xmlns:a="http://schemas.openxmlformats.org/drawingml/2006/main" id="58" idx="3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752975" y="433388"/>
            <a:ext cx="495300" cy="1033463"/>
          </a:xfrm>
          <a:prstGeom xmlns:a="http://schemas.openxmlformats.org/drawingml/2006/main" prst="bentConnector2">
            <a:avLst/>
          </a:prstGeom>
          <a:ln xmlns:a="http://schemas.openxmlformats.org/drawingml/2006/main" w="12383" cap="rnd">
            <a:solidFill>
              <a:srgbClr val="426EAA"/>
            </a:solidFill>
            <a:prstDash val="dash"/>
            <a:round/>
            <a:tailEnd type="triangle" w="sm" len="sm"/>
          </a:ln>
        </p:spPr>
      </p:cxnSp>
      <p:sp>
        <p:nvSpPr>
          <p:cNvPr id="62" name="signal-label">
            <a:extLst xmlns:a="http://schemas.openxmlformats.org/drawingml/2006/main">
              <a:ext uri="{FF2B5EF4-FFF2-40B4-BE49-F238E27FC236}">
                <a16:creationId xmlns:a16="http://schemas.microsoft.com/office/drawing/2014/main" id="{18F38D85-E5DC-404C-9BCA-730917C508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150" y="971550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426EA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63" name="trigger-label">
            <a:extLst xmlns:a="http://schemas.openxmlformats.org/drawingml/2006/main">
              <a:ext uri="{FF2B5EF4-FFF2-40B4-BE49-F238E27FC236}">
                <a16:creationId xmlns:a16="http://schemas.microsoft.com/office/drawing/2014/main" id="{D8CE9ACF-5F7D-4CC5-9E82-711344ABA1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34000" y="638175"/>
            <a:ext cx="93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426EAA"/>
                </a:solidFill>
                <a:latin typeface="Arial"/>
                <a:ea typeface="Arial"/>
                <a:cs typeface="Arial"/>
              </a:rPr>
              <a:t>Signal / trigger</a:t>
            </a:r>
          </a:p>
        </p:txBody>
      </p:sp>
      <p:sp>
        <p:nvSpPr>
          <p:cNvPr id="64" name="aqueous-label">
            <a:extLst xmlns:a="http://schemas.openxmlformats.org/drawingml/2006/main">
              <a:ext uri="{FF2B5EF4-FFF2-40B4-BE49-F238E27FC236}">
                <a16:creationId xmlns:a16="http://schemas.microsoft.com/office/drawing/2014/main" id="{9D180558-C658-4BBF-8708-086AD63D7D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925" y="131445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Aqueous assay</a:t>
            </a:r>
          </a:p>
          <a:p xmlns:a="http://schemas.openxmlformats.org/drawingml/2006/main">
            <a:pPr algn="l">
              <a:defRPr sz="87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mixture</a:t>
            </a:r>
          </a:p>
        </p:txBody>
      </p:sp>
      <p:sp>
        <p:nvSpPr>
          <p:cNvPr id="65" name="oil-upper-label">
            <a:extLst xmlns:a="http://schemas.openxmlformats.org/drawingml/2006/main">
              <a:ext uri="{FF2B5EF4-FFF2-40B4-BE49-F238E27FC236}">
                <a16:creationId xmlns:a16="http://schemas.microsoft.com/office/drawing/2014/main" id="{B8109F4F-C82E-4672-BD46-4B67D0686B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925" y="704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Carrier oil</a:t>
            </a:r>
          </a:p>
        </p:txBody>
      </p:sp>
      <p:sp>
        <p:nvSpPr>
          <p:cNvPr id="66" name="oil-lower-label">
            <a:extLst xmlns:a="http://schemas.openxmlformats.org/drawingml/2006/main">
              <a:ext uri="{FF2B5EF4-FFF2-40B4-BE49-F238E27FC236}">
                <a16:creationId xmlns:a16="http://schemas.microsoft.com/office/drawing/2014/main" id="{8471F10A-0D2F-4870-AAFC-6F6E51807B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925" y="25908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Carrier oil</a:t>
            </a:r>
          </a:p>
        </p:txBody>
      </p:sp>
      <p:sp>
        <p:nvSpPr>
          <p:cNvPr id="67" name="focus-label">
            <a:extLst xmlns:a="http://schemas.openxmlformats.org/drawingml/2006/main">
              <a:ext uri="{FF2B5EF4-FFF2-40B4-BE49-F238E27FC236}">
                <a16:creationId xmlns:a16="http://schemas.microsoft.com/office/drawing/2014/main" id="{C899F41E-638B-4CBD-A040-A823183AD5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81075" y="933450"/>
            <a:ext cx="1000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Flow focusing</a:t>
            </a:r>
          </a:p>
        </p:txBody>
      </p:sp>
      <p:sp>
        <p:nvSpPr>
          <p:cNvPr id="68" name="focus-leader">
            <a:extLst xmlns:a="http://schemas.openxmlformats.org/drawingml/2006/main">
              <a:ext uri="{FF2B5EF4-FFF2-40B4-BE49-F238E27FC236}">
                <a16:creationId xmlns:a16="http://schemas.microsoft.com/office/drawing/2014/main" id="{05AD60AC-C1FF-444D-9BAE-E2ACCC2C17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1133475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4272B"/>
            </a:solidFill>
            <a:prstDash val="solid"/>
          </a:ln>
        </p:spPr>
      </p:sp>
      <p:sp>
        <p:nvSpPr>
          <p:cNvPr id="69" name="focus-leader-dot">
            <a:extLst xmlns:a="http://schemas.openxmlformats.org/drawingml/2006/main">
              <a:ext uri="{FF2B5EF4-FFF2-40B4-BE49-F238E27FC236}">
                <a16:creationId xmlns:a16="http://schemas.microsoft.com/office/drawing/2014/main" id="{B0A8DF49-C25F-4E89-9797-1E29851640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535" y="1575435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incubation-label">
            <a:extLst xmlns:a="http://schemas.openxmlformats.org/drawingml/2006/main">
              <a:ext uri="{FF2B5EF4-FFF2-40B4-BE49-F238E27FC236}">
                <a16:creationId xmlns:a16="http://schemas.microsoft.com/office/drawing/2014/main" id="{02685CD4-52C0-438B-B61B-927F26C7CF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57400" y="809625"/>
            <a:ext cx="1552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On-chip incubation / delay</a:t>
            </a:r>
          </a:p>
        </p:txBody>
      </p:sp>
      <p:sp>
        <p:nvSpPr>
          <p:cNvPr id="71" name="incubation-bracket">
            <a:extLst xmlns:a="http://schemas.openxmlformats.org/drawingml/2006/main">
              <a:ext uri="{FF2B5EF4-FFF2-40B4-BE49-F238E27FC236}">
                <a16:creationId xmlns:a16="http://schemas.microsoft.com/office/drawing/2014/main" id="{B18B494D-A910-4AD9-A1FA-FF5DAD1259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90725" y="1057275"/>
            <a:ext cx="1457325" cy="76200"/>
          </a:xfrm>
          <a:custGeom xmlns:a="http://schemas.openxmlformats.org/drawingml/2006/main">
            <a:pathLst>
              <a:path w="1457325" h="76200">
                <a:moveTo>
                  <a:pt x="0" y="76200"/>
                </a:moveTo>
                <a:lnTo>
                  <a:pt x="0" y="0"/>
                </a:lnTo>
                <a:lnTo>
                  <a:pt x="1457325" y="0"/>
                </a:lnTo>
                <a:lnTo>
                  <a:pt x="14573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24272B"/>
            </a:solidFill>
            <a:prstDash val="solid"/>
          </a:ln>
        </p:spPr>
      </p:sp>
      <p:sp>
        <p:nvSpPr>
          <p:cNvPr id="72" name="incubation-bracket-tick">
            <a:extLst xmlns:a="http://schemas.openxmlformats.org/drawingml/2006/main">
              <a:ext uri="{FF2B5EF4-FFF2-40B4-BE49-F238E27FC236}">
                <a16:creationId xmlns:a16="http://schemas.microsoft.com/office/drawing/2014/main" id="{9E37B89C-F56A-43C8-B26B-E6033275A8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19388" y="1000125"/>
            <a:ext cx="95" cy="57150"/>
          </a:xfrm>
          <a:custGeom xmlns:a="http://schemas.openxmlformats.org/drawingml/2006/main">
            <a:pathLst>
              <a:path w="95" h="57150">
                <a:moveTo>
                  <a:pt x="0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24272B"/>
            </a:solidFill>
            <a:prstDash val="solid"/>
          </a:ln>
        </p:spPr>
      </p:sp>
      <p:sp>
        <p:nvSpPr>
          <p:cNvPr id="73" name="detector-label">
            <a:extLst xmlns:a="http://schemas.openxmlformats.org/drawingml/2006/main">
              <a:ext uri="{FF2B5EF4-FFF2-40B4-BE49-F238E27FC236}">
                <a16:creationId xmlns:a16="http://schemas.microsoft.com/office/drawing/2014/main" id="{8DABB84A-3354-42BD-AE50-77318CDA77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76650" y="22288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Fluorescence detector</a:t>
            </a:r>
          </a:p>
        </p:txBody>
      </p:sp>
      <p:sp>
        <p:nvSpPr>
          <p:cNvPr id="74" name="detector-leader">
            <a:extLst xmlns:a="http://schemas.openxmlformats.org/drawingml/2006/main">
              <a:ext uri="{FF2B5EF4-FFF2-40B4-BE49-F238E27FC236}">
                <a16:creationId xmlns:a16="http://schemas.microsoft.com/office/drawing/2014/main" id="{28A62765-6364-48F5-A4A1-31B4686127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91000" y="2124075"/>
            <a:ext cx="95" cy="38100"/>
          </a:xfrm>
          <a:custGeom xmlns:a="http://schemas.openxmlformats.org/drawingml/2006/main">
            <a:pathLst>
              <a:path w="95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24272B"/>
            </a:solidFill>
            <a:prstDash val="solid"/>
          </a:ln>
        </p:spPr>
      </p:sp>
      <p:sp>
        <p:nvSpPr>
          <p:cNvPr id="75" name="electrode-label">
            <a:extLst xmlns:a="http://schemas.openxmlformats.org/drawingml/2006/main">
              <a:ext uri="{FF2B5EF4-FFF2-40B4-BE49-F238E27FC236}">
                <a16:creationId xmlns:a16="http://schemas.microsoft.com/office/drawing/2014/main" id="{9DC259F6-5820-4AC2-BEFF-C1D6B8E99A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05325" y="1200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Sorting</a:t>
            </a:r>
          </a:p>
          <a:p xmlns:a="http://schemas.openxmlformats.org/drawingml/2006/main">
            <a:pPr algn="ctr">
              <a:defRPr sz="848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electrode</a:t>
            </a:r>
          </a:p>
        </p:txBody>
      </p:sp>
      <p:sp>
        <p:nvSpPr>
          <p:cNvPr id="76" name="hit-label">
            <a:extLst xmlns:a="http://schemas.openxmlformats.org/drawingml/2006/main">
              <a:ext uri="{FF2B5EF4-FFF2-40B4-BE49-F238E27FC236}">
                <a16:creationId xmlns:a16="http://schemas.microsoft.com/office/drawing/2014/main" id="{2CBEA9B9-58D0-4FF8-9C74-1086D688D3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350" y="1000125"/>
            <a:ext cx="866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Collected hits</a:t>
            </a:r>
          </a:p>
        </p:txBody>
      </p:sp>
      <p:sp>
        <p:nvSpPr>
          <p:cNvPr id="77" name="hit-rule">
            <a:extLst xmlns:a="http://schemas.openxmlformats.org/drawingml/2006/main">
              <a:ext uri="{FF2B5EF4-FFF2-40B4-BE49-F238E27FC236}">
                <a16:creationId xmlns:a16="http://schemas.microsoft.com/office/drawing/2014/main" id="{215E1AC0-BB2A-4A39-829C-2380EA686F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1476375"/>
            <a:ext cx="428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F ≥ θ</a:t>
            </a:r>
          </a:p>
        </p:txBody>
      </p:sp>
      <p:sp>
        <p:nvSpPr>
          <p:cNvPr id="78" name="waste-label">
            <a:extLst xmlns:a="http://schemas.openxmlformats.org/drawingml/2006/main">
              <a:ext uri="{FF2B5EF4-FFF2-40B4-BE49-F238E27FC236}">
                <a16:creationId xmlns:a16="http://schemas.microsoft.com/office/drawing/2014/main" id="{B0423FBA-22BE-4D3D-83DA-E78013BEC1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86425" y="2390775"/>
            <a:ext cx="600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Waste</a:t>
            </a:r>
          </a:p>
        </p:txBody>
      </p:sp>
      <p:sp>
        <p:nvSpPr>
          <p:cNvPr id="79" name="waste-rule">
            <a:extLst xmlns:a="http://schemas.openxmlformats.org/drawingml/2006/main">
              <a:ext uri="{FF2B5EF4-FFF2-40B4-BE49-F238E27FC236}">
                <a16:creationId xmlns:a16="http://schemas.microsoft.com/office/drawing/2014/main" id="{79B84A40-F2A0-46C0-9426-4046C221A3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25" y="2581275"/>
            <a:ext cx="466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F &lt; θ</a:t>
            </a:r>
          </a:p>
        </p:txBody>
      </p:sp>
      <p:grpSp>
        <p:nvGrpSpPr>
          <p:cNvPr id="151" name="state-legend"/>
          <p:cNvGrpSpPr/>
          <p:nvPr/>
        </p:nvGrpSpPr>
        <p:grpSpPr>
          <ns1:xfrm xmlns:ns1="http://schemas.openxmlformats.org/drawingml/2006/main">
            <ns1:off x="1791653" y="2686050"/>
            <ns1:ext cx="2227897" cy="190500"/>
            <ns1:chOff x="1791653" y="2686050"/>
            <ns1:chExt cx="2227897" cy="190500"/>
          </ns1:xfrm>
        </p:grpSpPr>
        <p:sp>
          <p:nvSpPr>
            <p:cNvPr id="80" name="legend-unscored">
              <a:extLst xmlns:a="http://schemas.openxmlformats.org/drawingml/2006/main">
                <a:ext uri="{FF2B5EF4-FFF2-40B4-BE49-F238E27FC236}">
                  <a16:creationId xmlns:a16="http://schemas.microsoft.com/office/drawing/2014/main" id="{9CDF5000-677D-4C37-A753-4B6C44DDCF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91653" y="2734628"/>
              <a:ext cx="93345" cy="93345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1F5E6"/>
                </a:gs>
                <a:gs pos="55000">
                  <a:srgbClr val="E7EED8"/>
                </a:gs>
                <a:gs pos="100000">
                  <a:srgbClr val="AABF88"/>
                </a:gs>
              </a:gsLst>
              <a:lin ang="8100000"/>
            </a:gradFill>
            <a:ln xmlns:a="http://schemas.openxmlformats.org/drawingml/2006/main" w="6668">
              <a:solidFill>
                <a:srgbClr val="698044"/>
              </a:solidFill>
              <a:prstDash val="solid"/>
            </a:ln>
          </p:spPr>
        </p:sp>
        <p:sp>
          <p:nvSpPr>
            <p:cNvPr id="81" name="legend-unscored-text">
              <a:extLst xmlns:a="http://schemas.openxmlformats.org/drawingml/2006/main">
                <a:ext uri="{FF2B5EF4-FFF2-40B4-BE49-F238E27FC236}">
                  <a16:creationId xmlns:a16="http://schemas.microsoft.com/office/drawing/2014/main" id="{B8E81B28-2E5B-4284-A65A-0F2BC4F9E6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3575" y="2686050"/>
              <a:ext cx="61912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Unscored</a:t>
              </a:r>
            </a:p>
          </p:txBody>
        </p:sp>
        <p:sp>
          <p:nvSpPr>
            <p:cNvPr id="82" name="legend-hit">
              <a:extLst xmlns:a="http://schemas.openxmlformats.org/drawingml/2006/main">
                <a:ext uri="{FF2B5EF4-FFF2-40B4-BE49-F238E27FC236}">
                  <a16:creationId xmlns:a16="http://schemas.microsoft.com/office/drawing/2014/main" id="{991DEAF4-73DF-46C7-A00F-33B7E216AB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25103" y="2734628"/>
              <a:ext cx="93345" cy="9334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77531"/>
            </a:solidFill>
            <a:ln xmlns:a="http://schemas.openxmlformats.org/drawingml/2006/main" w="9049">
              <a:solidFill>
                <a:srgbClr val="698044"/>
              </a:solidFill>
              <a:prstDash val="solid"/>
            </a:ln>
          </p:spPr>
        </p:sp>
        <p:sp>
          <p:nvSpPr>
            <p:cNvPr id="83" name="legend-hit-text">
              <a:extLst xmlns:a="http://schemas.openxmlformats.org/drawingml/2006/main">
                <a:ext uri="{FF2B5EF4-FFF2-40B4-BE49-F238E27FC236}">
                  <a16:creationId xmlns:a16="http://schemas.microsoft.com/office/drawing/2014/main" id="{C246287E-27B0-4470-81CD-3B52AE3683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7025" y="2686050"/>
              <a:ext cx="4381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F ≥ θ</a:t>
              </a:r>
            </a:p>
          </p:txBody>
        </p:sp>
        <p:sp>
          <p:nvSpPr>
            <p:cNvPr id="84" name="legend-low">
              <a:extLst xmlns:a="http://schemas.openxmlformats.org/drawingml/2006/main">
                <a:ext uri="{FF2B5EF4-FFF2-40B4-BE49-F238E27FC236}">
                  <a16:creationId xmlns:a16="http://schemas.microsoft.com/office/drawing/2014/main" id="{870AD258-DF24-48DD-A58D-B793ED0528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39478" y="2734628"/>
              <a:ext cx="93345" cy="9334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049">
              <a:solidFill>
                <a:srgbClr val="698044"/>
              </a:solidFill>
              <a:prstDash val="solid"/>
            </a:ln>
          </p:spPr>
        </p:sp>
        <p:sp>
          <p:nvSpPr>
            <p:cNvPr id="85" name="legend-low-text">
              <a:extLst xmlns:a="http://schemas.openxmlformats.org/drawingml/2006/main">
                <a:ext uri="{FF2B5EF4-FFF2-40B4-BE49-F238E27FC236}">
                  <a16:creationId xmlns:a16="http://schemas.microsoft.com/office/drawing/2014/main" id="{92BD231D-7F50-46E2-B480-E5D0ECCAA3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81400" y="2686050"/>
              <a:ext cx="4381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788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F &lt; θ</a:t>
              </a:r>
            </a:p>
          </p:txBody>
        </p:sp>
      </p:grpSp>
      <p:sp>
        <p:nvSpPr>
          <p:cNvPr id="86" name="legend-signal-line">
            <a:extLst xmlns:a="http://schemas.openxmlformats.org/drawingml/2006/main">
              <a:ext uri="{FF2B5EF4-FFF2-40B4-BE49-F238E27FC236}">
                <a16:creationId xmlns:a16="http://schemas.microsoft.com/office/drawing/2014/main" id="{8EB59083-8CFC-435B-A1A3-2CFCE066EB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48150" y="2781300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426EAA"/>
            </a:solidFill>
            <a:prstDash val="dash"/>
          </a:ln>
        </p:spPr>
      </p:sp>
      <p:sp>
        <p:nvSpPr>
          <p:cNvPr id="87" name="legend-signal-tip">
            <a:extLst xmlns:a="http://schemas.openxmlformats.org/drawingml/2006/main">
              <a:ext uri="{FF2B5EF4-FFF2-40B4-BE49-F238E27FC236}">
                <a16:creationId xmlns:a16="http://schemas.microsoft.com/office/drawing/2014/main" id="{1EA10A1B-CC17-4141-BC23-D4D7EE0016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81500" y="2759393"/>
            <a:ext cx="47625" cy="43815"/>
          </a:xfrm>
          <a:custGeom xmlns:a="http://schemas.openxmlformats.org/drawingml/2006/main">
            <a:pathLst>
              <a:path w="47625" h="43815">
                <a:moveTo>
                  <a:pt x="47625" y="21908"/>
                </a:moveTo>
                <a:lnTo>
                  <a:pt x="0" y="0"/>
                </a:lnTo>
                <a:lnTo>
                  <a:pt x="0" y="43815"/>
                </a:lnTo>
                <a:close/>
              </a:path>
            </a:pathLst>
          </a:custGeom>
          <a:solidFill xmlns:a="http://schemas.openxmlformats.org/drawingml/2006/main">
            <a:srgbClr val="426EA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legend-signal-text">
            <a:extLst xmlns:a="http://schemas.openxmlformats.org/drawingml/2006/main">
              <a:ext uri="{FF2B5EF4-FFF2-40B4-BE49-F238E27FC236}">
                <a16:creationId xmlns:a16="http://schemas.microsoft.com/office/drawing/2014/main" id="{30DD68DC-EBBE-454F-B52A-77424E9878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95800" y="268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Signal / trigger</a:t>
            </a:r>
          </a:p>
        </p:txBody>
      </p:sp>
      <p:sp>
        <p:nvSpPr>
          <p:cNvPr id="89" name="disclosure">
            <a:extLst xmlns:a="http://schemas.openxmlformats.org/drawingml/2006/main">
              <a:ext uri="{FF2B5EF4-FFF2-40B4-BE49-F238E27FC236}">
                <a16:creationId xmlns:a16="http://schemas.microsoft.com/office/drawing/2014/main" id="{9417E5E0-14F9-4184-862C-88FA0EA39D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019425"/>
            <a:ext cx="6057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Hypothetical schematic; geometry and droplets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474911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2026-09-30T07:28:26.7100000Z</dcterms:created>
  <dcterms:modified xsi:type="dcterms:W3CDTF">2026-09-30T07:28:26.7100000Z</dcterms:modified>
</coreProperties>
</file>