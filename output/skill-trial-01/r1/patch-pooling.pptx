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43558dce3f48bf" /><Relationship Type="http://schemas.openxmlformats.org/officeDocument/2006/relationships/extended-properties" Target="/docProps/app.xml" Id="R3e923ae44ecc49f2" /><Relationship Type="http://schemas.openxmlformats.org/officeDocument/2006/relationships/officeDocument" Target="/ppt/presentation.xml" Id="R91cba1a630624f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18edf778b442a7"/>
  </p:sldMasterIdLst>
  <p:notesMasterIdLst>
    <p:notesMasterId xmlns:r="http://schemas.openxmlformats.org/officeDocument/2006/relationships" r:id="Re0ece13a8c1549e6"/>
  </p:notesMasterIdLst>
  <p:sldIdLst>
    <p:sldId xmlns:r="http://schemas.openxmlformats.org/officeDocument/2006/relationships" id="256" r:id="Rdb86fe2e78a541e3"/>
  </p:sldIdLst>
  <p:sldSz cx="6400800" cy="4286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2eaa50f6eb4b83" /><Relationship Type="http://schemas.openxmlformats.org/officeDocument/2006/relationships/slideMaster" Target="/ppt/slideMasters/slideMaster1.xml" Id="Ra018edf778b442a7" /><Relationship Type="http://schemas.openxmlformats.org/officeDocument/2006/relationships/notesMaster" Target="/ppt/notesMasters/notesMaster1.xml" Id="Re0ece13a8c1549e6" /><Relationship Type="http://schemas.openxmlformats.org/officeDocument/2006/relationships/presProps" Target="/ppt/presProps.xml" Id="R334fc282709543a4" /><Relationship Type="http://schemas.openxmlformats.org/officeDocument/2006/relationships/tableStyles" Target="/ppt/tableStyles.xml" Id="R3d435f1b11a14158" /><Relationship Type="http://schemas.openxmlformats.org/officeDocument/2006/relationships/slide" Target="/ppt/slides/slide1.xml" Id="Rdb86fe2e78a541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d90186069244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ec86d95f59449b" /><Relationship Type="http://schemas.openxmlformats.org/officeDocument/2006/relationships/notesMaster" Target="/ppt/notesMasters/notesMaster1.xml" Id="R34216d1fa22040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Content-aware patch pooling</a:t>
            </a:r>
          </a:p>
          <a:p xmlns:a="http://schemas.openxmlformats.org/drawingml/2006/main">
            <a:r>
              <a:t>New illustrative test of the paper-figure skill. This is a hypothetical method, not a claimed implementation or empirical result. Scores and six-component vectors are illustrative. One shared E encodes the selected patches. Main arrows carry a collection; dashed guide only links two views of the same retained set. Source photograph: NASA, Eileen Collins, public domain via scikit-image: https://scikit-image.org/docs/stable/api/skimage.data#skimage.data.astronaut . Design references inspected: MAE https://arxiv.org/abs/2111.06377 and CLIP https://arxiv.org/abs/2103.00020 . Target width 177.8 mm; all annotations, bars, cells, frames and connectors are editable native shapes. Photograph and exact crops are separate pictures.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f4c6d900947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dae2b7a2e148db" /><Relationship Type="http://schemas.openxmlformats.org/officeDocument/2006/relationships/slideLayout" Target="/ppt/slideLayouts/slideLayout1.xml" Id="R8f89186fdc6c4c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89186fdc6c4c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f9eade4cc47de" /><Relationship Type="http://schemas.openxmlformats.org/officeDocument/2006/relationships/image" Target="/ppt/media/image.png" Id="R6e24461967724904" /><Relationship Type="http://schemas.openxmlformats.org/officeDocument/2006/relationships/image" Target="/ppt/media/image2.png" Id="R08b50df98a0e4c4f" /><Relationship Type="http://schemas.openxmlformats.org/officeDocument/2006/relationships/image" Target="/ppt/media/image3.png" Id="Re85b5492653549a0" /><Relationship Type="http://schemas.openxmlformats.org/officeDocument/2006/relationships/image" Target="/ppt/media/image4.png" Id="Rfbdd270b0a0e4f10" /><Relationship Type="http://schemas.openxmlformats.org/officeDocument/2006/relationships/notesSlide" Target="/ppt/notesSlides/notesSlide1.xml" Id="Rc2b1b257073d4e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selection-title">
            <a:extLst xmlns:a="http://schemas.openxmlformats.org/drawingml/2006/main">
              <a:ext uri="{FF2B5EF4-FFF2-40B4-BE49-F238E27FC236}">
                <a16:creationId xmlns:a16="http://schemas.microsoft.com/office/drawing/2014/main" id="{A0983D48-550E-4E74-BD44-056F3165662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(a) Select informative patches</a:t>
            </a:r>
          </a:p>
        </p:txBody>
      </p:sp>
      <p:sp>
        <p:nvSpPr>
          <p:cNvPr id="2" name="input-caption">
            <a:extLst xmlns:a="http://schemas.openxmlformats.org/drawingml/2006/main">
              <a:ext uri="{FF2B5EF4-FFF2-40B4-BE49-F238E27FC236}">
                <a16:creationId xmlns:a16="http://schemas.microsoft.com/office/drawing/2014/main" id="{9B02D3CB-C941-4BD5-BE69-C62FCCA724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42900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Input patches</a:t>
            </a:r>
          </a:p>
        </p:txBody>
      </p:sp>
      <p:sp>
        <p:nvSpPr>
          <p:cNvPr id="3" name="score-caption">
            <a:extLst xmlns:a="http://schemas.openxmlformats.org/drawingml/2006/main">
              <a:ext uri="{FF2B5EF4-FFF2-40B4-BE49-F238E27FC236}">
                <a16:creationId xmlns:a16="http://schemas.microsoft.com/office/drawing/2014/main" id="{340AE97D-9B41-4A0B-85AD-8D51408FAFA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3200" y="495300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Importance sᵢ</a:t>
            </a:r>
          </a:p>
        </p:txBody>
      </p:sp>
      <p:sp>
        <p:nvSpPr>
          <p:cNvPr id="4" name="selected-caption">
            <a:extLst xmlns:a="http://schemas.openxmlformats.org/drawingml/2006/main">
              <a:ext uri="{FF2B5EF4-FFF2-40B4-BE49-F238E27FC236}">
                <a16:creationId xmlns:a16="http://schemas.microsoft.com/office/drawing/2014/main" id="{A8A44900-A6D5-4726-B4AD-46EF0F67FE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81475" y="4572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Retained patches</a:t>
            </a:r>
          </a:p>
        </p:txBody>
      </p:sp>
      <p:pic>
        <p:nvPicPr>
          <p:cNvPr id="129" name="input-photo" descr="NASA photograph divided into sixteen image patch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4461967724904"/>
          <a:stretch xmlns:a="http://schemas.openxmlformats.org/drawingml/2006/main"/>
        </p:blipFill>
        <p:spPr>
          <a:xfrm xmlns:a="http://schemas.openxmlformats.org/drawingml/2006/main">
            <a:off x="171450" y="609600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6" name="input">
            <a:extLst xmlns:a="http://schemas.openxmlformats.org/drawingml/2006/main">
              <a:ext uri="{FF2B5EF4-FFF2-40B4-BE49-F238E27FC236}">
                <a16:creationId xmlns:a16="http://schemas.microsoft.com/office/drawing/2014/main" id="{D81C7B05-855C-46BE-8168-4240819848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609600"/>
            <a:ext cx="1371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323B"/>
            </a:solidFill>
            <a:prstDash val="solid"/>
          </a:ln>
        </p:spPr>
      </p:sp>
      <p:grpSp>
        <p:nvGrpSpPr>
          <p:cNvPr id="247" name="source-grid"/>
          <p:cNvGrpSpPr/>
          <p:nvPr/>
        </p:nvGrpSpPr>
        <p:grpSpPr>
          <ns1:xfrm xmlns:ns1="http://schemas.openxmlformats.org/drawingml/2006/main">
            <ns1:off x="171450" y="609600"/>
            <ns1:ext cx="1371600" cy="1371600"/>
            <ns1:chOff x="171450" y="609600"/>
            <ns1:chExt cx="1371600" cy="1371600"/>
          </ns1:xfrm>
        </p:grpSpPr>
        <p:sp>
          <p:nvSpPr>
            <p:cNvPr id="7" name="grid-v1">
              <a:extLst xmlns:a="http://schemas.openxmlformats.org/drawingml/2006/main">
                <a:ext uri="{FF2B5EF4-FFF2-40B4-BE49-F238E27FC236}">
                  <a16:creationId xmlns:a16="http://schemas.microsoft.com/office/drawing/2014/main" id="{6EF52E42-1F52-4CD9-A0F2-4D37629931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4350" y="609600"/>
              <a:ext cx="95" cy="1371600"/>
            </a:xfrm>
            <a:custGeom xmlns:a="http://schemas.openxmlformats.org/drawingml/2006/main">
              <a:pathLst>
                <a:path w="9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96">
              <a:solidFill>
                <a:srgbClr val="FFFFFF"/>
              </a:solidFill>
              <a:prstDash val="solid"/>
            </a:ln>
          </p:spPr>
        </p:sp>
        <p:sp>
          <p:nvSpPr>
            <p:cNvPr id="8" name="grid-h1">
              <a:extLst xmlns:a="http://schemas.openxmlformats.org/drawingml/2006/main">
                <a:ext uri="{FF2B5EF4-FFF2-40B4-BE49-F238E27FC236}">
                  <a16:creationId xmlns:a16="http://schemas.microsoft.com/office/drawing/2014/main" id="{444E3CD8-9940-4F43-B931-1D1EEA2A9C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0" y="952500"/>
              <a:ext cx="1371600" cy="95"/>
            </a:xfrm>
            <a:custGeom xmlns:a="http://schemas.openxmlformats.org/drawingml/2006/main">
              <a:pathLst>
                <a:path w="1371600" h="9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96">
              <a:solidFill>
                <a:srgbClr val="FFFFFF"/>
              </a:solidFill>
              <a:prstDash val="solid"/>
            </a:ln>
          </p:spPr>
        </p:sp>
        <p:sp>
          <p:nvSpPr>
            <p:cNvPr id="9" name="grid-v2">
              <a:extLst xmlns:a="http://schemas.openxmlformats.org/drawingml/2006/main">
                <a:ext uri="{FF2B5EF4-FFF2-40B4-BE49-F238E27FC236}">
                  <a16:creationId xmlns:a16="http://schemas.microsoft.com/office/drawing/2014/main" id="{DB63AD28-8FA1-4D9F-B8C9-56D784B88E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609600"/>
              <a:ext cx="95" cy="1371600"/>
            </a:xfrm>
            <a:custGeom xmlns:a="http://schemas.openxmlformats.org/drawingml/2006/main">
              <a:pathLst>
                <a:path w="9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96">
              <a:solidFill>
                <a:srgbClr val="FFFFFF"/>
              </a:solidFill>
              <a:prstDash val="solid"/>
            </a:ln>
          </p:spPr>
        </p:sp>
        <p:sp>
          <p:nvSpPr>
            <p:cNvPr id="10" name="grid-h2">
              <a:extLst xmlns:a="http://schemas.openxmlformats.org/drawingml/2006/main">
                <a:ext uri="{FF2B5EF4-FFF2-40B4-BE49-F238E27FC236}">
                  <a16:creationId xmlns:a16="http://schemas.microsoft.com/office/drawing/2014/main" id="{C7BCE32B-87D9-492B-A830-3779FC546F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0" y="1295400"/>
              <a:ext cx="1371600" cy="95"/>
            </a:xfrm>
            <a:custGeom xmlns:a="http://schemas.openxmlformats.org/drawingml/2006/main">
              <a:pathLst>
                <a:path w="1371600" h="9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96">
              <a:solidFill>
                <a:srgbClr val="FFFFFF"/>
              </a:solidFill>
              <a:prstDash val="solid"/>
            </a:ln>
          </p:spPr>
        </p:sp>
        <p:sp>
          <p:nvSpPr>
            <p:cNvPr id="11" name="grid-v3">
              <a:extLst xmlns:a="http://schemas.openxmlformats.org/drawingml/2006/main">
                <a:ext uri="{FF2B5EF4-FFF2-40B4-BE49-F238E27FC236}">
                  <a16:creationId xmlns:a16="http://schemas.microsoft.com/office/drawing/2014/main" id="{437CBF67-43B7-43CD-BD64-76091A59D9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0150" y="609600"/>
              <a:ext cx="95" cy="1371600"/>
            </a:xfrm>
            <a:custGeom xmlns:a="http://schemas.openxmlformats.org/drawingml/2006/main">
              <a:pathLst>
                <a:path w="9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96">
              <a:solidFill>
                <a:srgbClr val="FFFFFF"/>
              </a:solidFill>
              <a:prstDash val="solid"/>
            </a:ln>
          </p:spPr>
        </p:sp>
        <p:sp>
          <p:nvSpPr>
            <p:cNvPr id="12" name="grid-h3">
              <a:extLst xmlns:a="http://schemas.openxmlformats.org/drawingml/2006/main">
                <a:ext uri="{FF2B5EF4-FFF2-40B4-BE49-F238E27FC236}">
                  <a16:creationId xmlns:a16="http://schemas.microsoft.com/office/drawing/2014/main" id="{F67F19B6-9B01-4E14-9591-118C73A5E8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0" y="1638300"/>
              <a:ext cx="1371600" cy="95"/>
            </a:xfrm>
            <a:custGeom xmlns:a="http://schemas.openxmlformats.org/drawingml/2006/main">
              <a:pathLst>
                <a:path w="1371600" h="9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96">
              <a:solidFill>
                <a:srgbClr val="FFFFFF"/>
              </a:solidFill>
              <a:prstDash val="solid"/>
            </a:ln>
          </p:spPr>
        </p:sp>
        <p:sp>
          <p:nvSpPr>
            <p:cNvPr id="13" name="patch-outline-6">
              <a:extLst xmlns:a="http://schemas.openxmlformats.org/drawingml/2006/main">
                <a:ext uri="{FF2B5EF4-FFF2-40B4-BE49-F238E27FC236}">
                  <a16:creationId xmlns:a16="http://schemas.microsoft.com/office/drawing/2014/main" id="{F1147B5B-0447-4D59-A597-BE645956FB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875" y="962025"/>
              <a:ext cx="3238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20003">
              <a:solidFill>
                <a:srgbClr val="25323B"/>
              </a:solidFill>
              <a:prstDash val="solid"/>
            </a:ln>
          </p:spPr>
        </p:sp>
        <p:sp>
          <p:nvSpPr>
            <p:cNvPr id="14" name="patch-number-6">
              <a:extLst xmlns:a="http://schemas.openxmlformats.org/drawingml/2006/main">
                <a:ext uri="{FF2B5EF4-FFF2-40B4-BE49-F238E27FC236}">
                  <a16:creationId xmlns:a16="http://schemas.microsoft.com/office/drawing/2014/main" id="{5F08DBC6-232B-4DE5-9776-C1329823BB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875" y="962025"/>
              <a:ext cx="171450" cy="1428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1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863" b="1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5" name="patch-outline-10">
              <a:extLst xmlns:a="http://schemas.openxmlformats.org/drawingml/2006/main">
                <a:ext uri="{FF2B5EF4-FFF2-40B4-BE49-F238E27FC236}">
                  <a16:creationId xmlns:a16="http://schemas.microsoft.com/office/drawing/2014/main" id="{48A7BC72-3178-4820-8716-E553001CAE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875" y="1304925"/>
              <a:ext cx="3238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20003">
              <a:solidFill>
                <a:srgbClr val="25323B"/>
              </a:solidFill>
              <a:prstDash val="solid"/>
            </a:ln>
          </p:spPr>
        </p:sp>
        <p:sp>
          <p:nvSpPr>
            <p:cNvPr id="16" name="patch-number-10">
              <a:extLst xmlns:a="http://schemas.openxmlformats.org/drawingml/2006/main">
                <a:ext uri="{FF2B5EF4-FFF2-40B4-BE49-F238E27FC236}">
                  <a16:creationId xmlns:a16="http://schemas.microsoft.com/office/drawing/2014/main" id="{46888392-5658-4DFE-99F2-F93A706486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875" y="1304925"/>
              <a:ext cx="171450" cy="1428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1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863" b="1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17" name="patch-outline-16">
              <a:extLst xmlns:a="http://schemas.openxmlformats.org/drawingml/2006/main">
                <a:ext uri="{FF2B5EF4-FFF2-40B4-BE49-F238E27FC236}">
                  <a16:creationId xmlns:a16="http://schemas.microsoft.com/office/drawing/2014/main" id="{B372CD85-145C-4BCC-93F2-DE5ABE05C2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9675" y="1647825"/>
              <a:ext cx="3238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20003">
              <a:solidFill>
                <a:srgbClr val="25323B"/>
              </a:solidFill>
              <a:prstDash val="solid"/>
            </a:ln>
          </p:spPr>
        </p:sp>
        <p:sp>
          <p:nvSpPr>
            <p:cNvPr id="18" name="patch-number-16">
              <a:extLst xmlns:a="http://schemas.openxmlformats.org/drawingml/2006/main">
                <a:ext uri="{FF2B5EF4-FFF2-40B4-BE49-F238E27FC236}">
                  <a16:creationId xmlns:a16="http://schemas.microsoft.com/office/drawing/2014/main" id="{D426C791-3C61-4FC9-BACF-2AC263035B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9675" y="1647825"/>
              <a:ext cx="171450" cy="1428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1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863" b="1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16</a:t>
              </a:r>
            </a:p>
          </p:txBody>
        </p:sp>
      </p:grpSp>
      <p:sp>
        <p:nvSpPr>
          <p:cNvPr id="19" name="index-caption">
            <a:extLst xmlns:a="http://schemas.openxmlformats.org/drawingml/2006/main">
              <a:ext uri="{FF2B5EF4-FFF2-40B4-BE49-F238E27FC236}">
                <a16:creationId xmlns:a16="http://schemas.microsoft.com/office/drawing/2014/main" id="{95CA2B79-A216-454E-AB95-4F57AF39C0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300" y="2009775"/>
            <a:ext cx="1514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97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D6970"/>
                </a:solidFill>
                <a:latin typeface="Arial"/>
                <a:ea typeface="Arial"/>
                <a:cs typeface="Arial"/>
              </a:rPr>
              <a:t>4 × 4 grid, row-major IDs</a:t>
            </a:r>
          </a:p>
        </p:txBody>
      </p:sp>
      <p:sp>
        <p:nvSpPr>
          <p:cNvPr id="20" name="scorer">
            <a:extLst xmlns:a="http://schemas.openxmlformats.org/drawingml/2006/main">
              <a:ext uri="{FF2B5EF4-FFF2-40B4-BE49-F238E27FC236}">
                <a16:creationId xmlns:a16="http://schemas.microsoft.com/office/drawing/2014/main" id="{9C532041-EEBF-4B71-AAD1-0A83646D39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66900" y="106680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F1"/>
          </a:solidFill>
          <a:ln xmlns:a="http://schemas.openxmlformats.org/drawingml/2006/main" w="9525">
            <a:solidFill>
              <a:srgbClr val="356D83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Patch</a:t>
            </a:r>
          </a:p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scorer</a:t>
            </a:r>
          </a:p>
        </p:txBody>
      </p:sp>
      <p:sp>
        <p:nvSpPr>
          <p:cNvPr id="21" name="score-domain">
            <a:extLst xmlns:a="http://schemas.openxmlformats.org/drawingml/2006/main">
              <a:ext uri="{FF2B5EF4-FFF2-40B4-BE49-F238E27FC236}">
                <a16:creationId xmlns:a16="http://schemas.microsoft.com/office/drawing/2014/main" id="{77905462-88B4-4B59-8EDD-F41B773757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43100" y="15621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D6970"/>
                </a:solidFill>
                <a:latin typeface="Arial"/>
                <a:ea typeface="Arial"/>
                <a:cs typeface="Arial"/>
              </a:rPr>
              <a:t>sᵢ ≥ 0</a:t>
            </a:r>
          </a:p>
        </p:txBody>
      </p:sp>
      <p:sp>
        <p:nvSpPr>
          <p:cNvPr id="22" name="scores">
            <a:extLst xmlns:a="http://schemas.openxmlformats.org/drawingml/2006/main">
              <a:ext uri="{FF2B5EF4-FFF2-40B4-BE49-F238E27FC236}">
                <a16:creationId xmlns:a16="http://schemas.microsoft.com/office/drawing/2014/main" id="{A538B027-E76D-4519-B484-1435825B85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95600" y="838200"/>
            <a:ext cx="914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096">
            <a:solidFill>
              <a:srgbClr val="25323B"/>
            </a:solidFill>
            <a:prstDash val="solid"/>
          </a:ln>
        </p:spPr>
      </p:sp>
      <p:grpSp>
        <p:nvGrpSpPr>
          <p:cNvPr id="248" name="score-cells"/>
          <p:cNvGrpSpPr/>
          <p:nvPr/>
        </p:nvGrpSpPr>
        <p:grpSpPr>
          <ns1:xfrm xmlns:ns1="http://schemas.openxmlformats.org/drawingml/2006/main">
            <ns1:off x="2933700" y="876300"/>
            <ns1:ext cx="838200" cy="838200"/>
            <ns1:chOff x="2933700" y="876300"/>
            <ns1:chExt cx="838200" cy="838200"/>
          </ns1:xfrm>
        </p:grpSpPr>
        <p:sp>
          <p:nvSpPr>
            <p:cNvPr id="23" name="score-1">
              <a:extLst xmlns:a="http://schemas.openxmlformats.org/drawingml/2006/main">
                <a:ext uri="{FF2B5EF4-FFF2-40B4-BE49-F238E27FC236}">
                  <a16:creationId xmlns:a16="http://schemas.microsoft.com/office/drawing/2014/main" id="{681A358F-BD69-4F69-A251-FEBDABBD06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8763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4" name="score-2">
              <a:extLst xmlns:a="http://schemas.openxmlformats.org/drawingml/2006/main">
                <a:ext uri="{FF2B5EF4-FFF2-40B4-BE49-F238E27FC236}">
                  <a16:creationId xmlns:a16="http://schemas.microsoft.com/office/drawing/2014/main" id="{0420B8BC-4925-4040-AF28-76B47F70FA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0" y="8763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5" name="score-3">
              <a:extLst xmlns:a="http://schemas.openxmlformats.org/drawingml/2006/main">
                <a:ext uri="{FF2B5EF4-FFF2-40B4-BE49-F238E27FC236}">
                  <a16:creationId xmlns:a16="http://schemas.microsoft.com/office/drawing/2014/main" id="{633D71AE-6E04-4C15-924E-A51E708579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52800" y="8763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6" name="score-4">
              <a:extLst xmlns:a="http://schemas.openxmlformats.org/drawingml/2006/main">
                <a:ext uri="{FF2B5EF4-FFF2-40B4-BE49-F238E27FC236}">
                  <a16:creationId xmlns:a16="http://schemas.microsoft.com/office/drawing/2014/main" id="{554086C9-1E5C-4313-A5B4-B8479F3CC9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62350" y="8763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7" name="score-5">
              <a:extLst xmlns:a="http://schemas.openxmlformats.org/drawingml/2006/main">
                <a:ext uri="{FF2B5EF4-FFF2-40B4-BE49-F238E27FC236}">
                  <a16:creationId xmlns:a16="http://schemas.microsoft.com/office/drawing/2014/main" id="{DD264194-A7DC-46EF-9315-F084624698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10858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8" name="score-6">
              <a:extLst xmlns:a="http://schemas.openxmlformats.org/drawingml/2006/main">
                <a:ext uri="{FF2B5EF4-FFF2-40B4-BE49-F238E27FC236}">
                  <a16:creationId xmlns:a16="http://schemas.microsoft.com/office/drawing/2014/main" id="{CE69FCCE-DCEA-4493-B21A-211485271A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0" y="10858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EDF1"/>
            </a:solidFill>
            <a:ln xmlns:a="http://schemas.openxmlformats.org/drawingml/2006/main" w="14288">
              <a:solidFill>
                <a:srgbClr val="25323B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9" name="score-7">
              <a:extLst xmlns:a="http://schemas.openxmlformats.org/drawingml/2006/main">
                <a:ext uri="{FF2B5EF4-FFF2-40B4-BE49-F238E27FC236}">
                  <a16:creationId xmlns:a16="http://schemas.microsoft.com/office/drawing/2014/main" id="{A6E90374-869C-409C-B824-78A3500304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52800" y="10858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0" name="score-8">
              <a:extLst xmlns:a="http://schemas.openxmlformats.org/drawingml/2006/main">
                <a:ext uri="{FF2B5EF4-FFF2-40B4-BE49-F238E27FC236}">
                  <a16:creationId xmlns:a16="http://schemas.microsoft.com/office/drawing/2014/main" id="{335E3A3A-6E54-4011-9FC6-856B591D9F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62350" y="10858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1" name="score-9">
              <a:extLst xmlns:a="http://schemas.openxmlformats.org/drawingml/2006/main">
                <a:ext uri="{FF2B5EF4-FFF2-40B4-BE49-F238E27FC236}">
                  <a16:creationId xmlns:a16="http://schemas.microsoft.com/office/drawing/2014/main" id="{4DBE1038-25C8-413B-9ACD-C75D1239EC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12954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2" name="score-10">
              <a:extLst xmlns:a="http://schemas.openxmlformats.org/drawingml/2006/main">
                <a:ext uri="{FF2B5EF4-FFF2-40B4-BE49-F238E27FC236}">
                  <a16:creationId xmlns:a16="http://schemas.microsoft.com/office/drawing/2014/main" id="{2E447B18-8BC0-4F8D-95E6-3A07E7E47D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0" y="12954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EDF1"/>
            </a:solidFill>
            <a:ln xmlns:a="http://schemas.openxmlformats.org/drawingml/2006/main" w="14288">
              <a:solidFill>
                <a:srgbClr val="25323B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3" name="score-11">
              <a:extLst xmlns:a="http://schemas.openxmlformats.org/drawingml/2006/main">
                <a:ext uri="{FF2B5EF4-FFF2-40B4-BE49-F238E27FC236}">
                  <a16:creationId xmlns:a16="http://schemas.microsoft.com/office/drawing/2014/main" id="{9DF6B199-3E61-429E-BBAC-ACAE02D560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52800" y="12954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4" name="score-12">
              <a:extLst xmlns:a="http://schemas.openxmlformats.org/drawingml/2006/main">
                <a:ext uri="{FF2B5EF4-FFF2-40B4-BE49-F238E27FC236}">
                  <a16:creationId xmlns:a16="http://schemas.microsoft.com/office/drawing/2014/main" id="{AFE2D96A-99D9-40B0-ACA7-825B75057F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62350" y="12954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5" name="score-13">
              <a:extLst xmlns:a="http://schemas.openxmlformats.org/drawingml/2006/main">
                <a:ext uri="{FF2B5EF4-FFF2-40B4-BE49-F238E27FC236}">
                  <a16:creationId xmlns:a16="http://schemas.microsoft.com/office/drawing/2014/main" id="{D84F654C-6E29-48DE-9199-491DA70F0A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15049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6" name="score-14">
              <a:extLst xmlns:a="http://schemas.openxmlformats.org/drawingml/2006/main">
                <a:ext uri="{FF2B5EF4-FFF2-40B4-BE49-F238E27FC236}">
                  <a16:creationId xmlns:a16="http://schemas.microsoft.com/office/drawing/2014/main" id="{C2E6D2BA-2EFE-4105-B553-BD00F76B79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0" y="15049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7" name="score-15">
              <a:extLst xmlns:a="http://schemas.openxmlformats.org/drawingml/2006/main">
                <a:ext uri="{FF2B5EF4-FFF2-40B4-BE49-F238E27FC236}">
                  <a16:creationId xmlns:a16="http://schemas.microsoft.com/office/drawing/2014/main" id="{BD43118D-56C9-4160-9959-DD27B9DCEE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52800" y="15049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8" name="score-16">
              <a:extLst xmlns:a="http://schemas.openxmlformats.org/drawingml/2006/main">
                <a:ext uri="{FF2B5EF4-FFF2-40B4-BE49-F238E27FC236}">
                  <a16:creationId xmlns:a16="http://schemas.microsoft.com/office/drawing/2014/main" id="{C42303F4-9A77-4A65-8D12-432CD2EAFD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62350" y="15049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EDF1"/>
            </a:solidFill>
            <a:ln xmlns:a="http://schemas.openxmlformats.org/drawingml/2006/main" w="14288">
              <a:solidFill>
                <a:srgbClr val="25323B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</p:grpSp>
      <p:sp>
        <p:nvSpPr>
          <p:cNvPr id="39" name="spatial-caption">
            <a:extLst xmlns:a="http://schemas.openxmlformats.org/drawingml/2006/main">
              <a:ext uri="{FF2B5EF4-FFF2-40B4-BE49-F238E27FC236}">
                <a16:creationId xmlns:a16="http://schemas.microsoft.com/office/drawing/2014/main" id="{A3C5FA34-12E0-4654-84B6-69007C7BC7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00350" y="180975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97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D6970"/>
                </a:solidFill>
                <a:latin typeface="Arial"/>
                <a:ea typeface="Arial"/>
                <a:cs typeface="Arial"/>
              </a:rPr>
              <a:t>same spatial order</a:t>
            </a:r>
          </a:p>
        </p:txBody>
      </p:sp>
      <p:sp>
        <p:nvSpPr>
          <p:cNvPr id="40" name="top-k-caption">
            <a:extLst xmlns:a="http://schemas.openxmlformats.org/drawingml/2006/main">
              <a:ext uri="{FF2B5EF4-FFF2-40B4-BE49-F238E27FC236}">
                <a16:creationId xmlns:a16="http://schemas.microsoft.com/office/drawing/2014/main" id="{61C19F7F-9C3E-455D-9BCB-786A0AFD58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10000" y="942975"/>
            <a:ext cx="371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top 3</a:t>
            </a:r>
          </a:p>
        </p:txBody>
      </p:sp>
      <p:sp>
        <p:nvSpPr>
          <p:cNvPr id="41" name="selected">
            <a:extLst xmlns:a="http://schemas.openxmlformats.org/drawingml/2006/main">
              <a:ext uri="{FF2B5EF4-FFF2-40B4-BE49-F238E27FC236}">
                <a16:creationId xmlns:a16="http://schemas.microsoft.com/office/drawing/2014/main" id="{4844ABA0-A728-4314-BAEC-87DF437DA4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81475" y="80010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56D83"/>
            </a:solidFill>
            <a:prstDash val="solid"/>
          </a:ln>
        </p:spPr>
      </p:sp>
      <p:pic>
        <p:nvPicPr>
          <p:cNvPr id="166" name="selected-photo-6" descr="Exact source patch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50df98a0e4c4f"/>
          <ns0:srcRect xmlns:ns0="http://schemas.openxmlformats.org/drawingml/2006/main" l="25000" t="25000" r="50000" b="50000"/>
          <a:stretch xmlns:a="http://schemas.openxmlformats.org/drawingml/2006/main"/>
        </p:blipFill>
        <p:spPr>
          <a:xfrm xmlns:a="http://schemas.openxmlformats.org/drawingml/2006/main">
            <a:off x="4257675" y="8763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3" name="selected-photo-border-6">
            <a:extLst xmlns:a="http://schemas.openxmlformats.org/drawingml/2006/main">
              <a:ext uri="{FF2B5EF4-FFF2-40B4-BE49-F238E27FC236}">
                <a16:creationId xmlns:a16="http://schemas.microsoft.com/office/drawing/2014/main" id="{FE7D7A2A-419F-4383-A412-C9254A4A68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57675" y="8763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323B"/>
            </a:solidFill>
            <a:prstDash val="solid"/>
          </a:ln>
        </p:spPr>
      </p:sp>
      <p:sp>
        <p:nvSpPr>
          <p:cNvPr id="44" name="selected-id-6">
            <a:extLst xmlns:a="http://schemas.openxmlformats.org/drawingml/2006/main">
              <a:ext uri="{FF2B5EF4-FFF2-40B4-BE49-F238E27FC236}">
                <a16:creationId xmlns:a16="http://schemas.microsoft.com/office/drawing/2014/main" id="{A071B8EF-4F82-463B-A1C3-BE6C511C32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57675" y="148590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169" name="selected-photo-10" descr="Exact source patch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b5492653549a0"/>
          <ns0:srcRect xmlns:ns0="http://schemas.openxmlformats.org/drawingml/2006/main" l="25000" t="50000" r="50000" b="25000"/>
          <a:stretch xmlns:a="http://schemas.openxmlformats.org/drawingml/2006/main"/>
        </p:blipFill>
        <p:spPr>
          <a:xfrm xmlns:a="http://schemas.openxmlformats.org/drawingml/2006/main">
            <a:off x="4905375" y="8763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6" name="selected-photo-border-10">
            <a:extLst xmlns:a="http://schemas.openxmlformats.org/drawingml/2006/main">
              <a:ext uri="{FF2B5EF4-FFF2-40B4-BE49-F238E27FC236}">
                <a16:creationId xmlns:a16="http://schemas.microsoft.com/office/drawing/2014/main" id="{9F43C431-869A-4C82-BAC7-0EE8CEEEFE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05375" y="8763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323B"/>
            </a:solidFill>
            <a:prstDash val="solid"/>
          </a:ln>
        </p:spPr>
      </p:sp>
      <p:sp>
        <p:nvSpPr>
          <p:cNvPr id="47" name="selected-id-10">
            <a:extLst xmlns:a="http://schemas.openxmlformats.org/drawingml/2006/main">
              <a:ext uri="{FF2B5EF4-FFF2-40B4-BE49-F238E27FC236}">
                <a16:creationId xmlns:a16="http://schemas.microsoft.com/office/drawing/2014/main" id="{5FEF9C3A-E618-445E-803E-ED35FB34F7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05375" y="148590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72" name="selected-photo-16" descr="Exact source patch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d270b0a0e4f10"/>
          <ns0:srcRect xmlns:ns0="http://schemas.openxmlformats.org/drawingml/2006/main" l="75000" t="75000" r="0" b="0"/>
          <a:stretch xmlns:a="http://schemas.openxmlformats.org/drawingml/2006/main"/>
        </p:blipFill>
        <p:spPr>
          <a:xfrm xmlns:a="http://schemas.openxmlformats.org/drawingml/2006/main">
            <a:off x="5553075" y="8763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9" name="selected-photo-border-16">
            <a:extLst xmlns:a="http://schemas.openxmlformats.org/drawingml/2006/main">
              <a:ext uri="{FF2B5EF4-FFF2-40B4-BE49-F238E27FC236}">
                <a16:creationId xmlns:a16="http://schemas.microsoft.com/office/drawing/2014/main" id="{7FF2BE67-94F7-4153-A6D6-5A5AA8F729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53075" y="8763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323B"/>
            </a:solidFill>
            <a:prstDash val="solid"/>
          </a:ln>
        </p:spPr>
      </p:sp>
      <p:sp>
        <p:nvSpPr>
          <p:cNvPr id="50" name="selected-id-16">
            <a:extLst xmlns:a="http://schemas.openxmlformats.org/drawingml/2006/main">
              <a:ext uri="{FF2B5EF4-FFF2-40B4-BE49-F238E27FC236}">
                <a16:creationId xmlns:a16="http://schemas.microsoft.com/office/drawing/2014/main" id="{7DEB047C-AF9F-4BD0-81E8-136A22CF83C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53075" y="148590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1" name="selected-set-label">
            <a:extLst xmlns:a="http://schemas.openxmlformats.org/drawingml/2006/main">
              <a:ext uri="{FF2B5EF4-FFF2-40B4-BE49-F238E27FC236}">
                <a16:creationId xmlns:a16="http://schemas.microsoft.com/office/drawing/2014/main" id="{E0F6360B-AF44-411D-871A-4608C651A1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81475" y="18288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23B"/>
                </a:solidFill>
                <a:latin typeface="Arial"/>
                <a:ea typeface="Arial"/>
                <a:cs typeface="Arial"/>
              </a:rPr>
              <a:t>S = {6, 10, 16}</a:t>
            </a:r>
          </a:p>
        </p:txBody>
      </p:sp>
      <p:cxnSp>
        <p:nvCxnSpPr>
          <p:cNvPr id="176" name="score-input"/>
          <p:cNvCxnSpPr>
            <a:stCxn xmlns:a="http://schemas.openxmlformats.org/drawingml/2006/main" id="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543050" y="12954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77" name="score-grid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609850" y="1295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78" name="retain"/>
          <p:cNvCxnSpPr>
            <a:stCxn xmlns:a="http://schemas.openxmlformats.org/drawingml/2006/main" id="22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810000" y="12954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sp>
        <p:nvSpPr>
          <p:cNvPr id="55" name="retained-detail-guide">
            <a:extLst xmlns:a="http://schemas.openxmlformats.org/drawingml/2006/main">
              <a:ext uri="{FF2B5EF4-FFF2-40B4-BE49-F238E27FC236}">
                <a16:creationId xmlns:a16="http://schemas.microsoft.com/office/drawing/2014/main" id="{FAE98019-53F5-42BA-A684-B242BD93E3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05275" y="1295400"/>
            <a:ext cx="2209800" cy="1704975"/>
          </a:xfrm>
          <a:custGeom xmlns:a="http://schemas.openxmlformats.org/drawingml/2006/main">
            <a:pathLst>
              <a:path w="2209800" h="1704975">
                <a:moveTo>
                  <a:pt x="2114550" y="0"/>
                </a:moveTo>
                <a:lnTo>
                  <a:pt x="2209800" y="0"/>
                </a:lnTo>
                <a:lnTo>
                  <a:pt x="2209800" y="1009650"/>
                </a:lnTo>
                <a:lnTo>
                  <a:pt x="0" y="1009650"/>
                </a:lnTo>
                <a:lnTo>
                  <a:pt x="0" y="1704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56D83"/>
            </a:solidFill>
            <a:prstDash val="dash"/>
          </a:ln>
        </p:spPr>
      </p:sp>
      <p:sp>
        <p:nvSpPr>
          <p:cNvPr id="56" name="guide-caption">
            <a:extLst xmlns:a="http://schemas.openxmlformats.org/drawingml/2006/main">
              <a:ext uri="{FF2B5EF4-FFF2-40B4-BE49-F238E27FC236}">
                <a16:creationId xmlns:a16="http://schemas.microsoft.com/office/drawing/2014/main" id="{659FFBC5-B6FC-4558-BCEC-B547B4EB99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81475" y="2066925"/>
            <a:ext cx="2038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97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D6970"/>
                </a:solidFill>
                <a:latin typeface="Arial"/>
                <a:ea typeface="Arial"/>
                <a:cs typeface="Arial"/>
              </a:rPr>
              <a:t>retained set, expanded below</a:t>
            </a:r>
          </a:p>
        </p:txBody>
      </p:sp>
      <p:sp>
        <p:nvSpPr>
          <p:cNvPr id="57" name="panel-divider">
            <a:extLst xmlns:a="http://schemas.openxmlformats.org/drawingml/2006/main">
              <a:ext uri="{FF2B5EF4-FFF2-40B4-BE49-F238E27FC236}">
                <a16:creationId xmlns:a16="http://schemas.microsoft.com/office/drawing/2014/main" id="{7185A124-D434-49BA-919D-D1013578033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2343150"/>
            <a:ext cx="3743325" cy="95"/>
          </a:xfrm>
          <a:custGeom xmlns:a="http://schemas.openxmlformats.org/drawingml/2006/main">
            <a:pathLst>
              <a:path w="3743325" h="95">
                <a:moveTo>
                  <a:pt x="0" y="0"/>
                </a:moveTo>
                <a:lnTo>
                  <a:pt x="3743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FC8CC"/>
            </a:solidFill>
            <a:prstDash val="solid"/>
          </a:ln>
        </p:spPr>
      </p:sp>
      <p:sp>
        <p:nvSpPr>
          <p:cNvPr id="58" name="pooling-title">
            <a:extLst xmlns:a="http://schemas.openxmlformats.org/drawingml/2006/main">
              <a:ext uri="{FF2B5EF4-FFF2-40B4-BE49-F238E27FC236}">
                <a16:creationId xmlns:a16="http://schemas.microsoft.com/office/drawing/2014/main" id="{E717008F-E093-4C76-82F0-86A4C0DE8B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246697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(b) Pool the retained embeddings</a:t>
            </a:r>
          </a:p>
        </p:txBody>
      </p:sp>
      <p:sp>
        <p:nvSpPr>
          <p:cNvPr id="59" name="encoding-equation">
            <a:extLst xmlns:a="http://schemas.openxmlformats.org/drawingml/2006/main">
              <a:ext uri="{FF2B5EF4-FFF2-40B4-BE49-F238E27FC236}">
                <a16:creationId xmlns:a16="http://schemas.microsoft.com/office/drawing/2014/main" id="{16BF0F86-02A6-4862-A39F-545C3A2052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2714625"/>
            <a:ext cx="1323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23B"/>
                </a:solidFill>
                <a:latin typeface="Arial"/>
                <a:ea typeface="Arial"/>
                <a:cs typeface="Arial"/>
              </a:rPr>
              <a:t>hᵢ = E(xᵢ)</a:t>
            </a:r>
          </a:p>
        </p:txBody>
      </p:sp>
      <p:sp>
        <p:nvSpPr>
          <p:cNvPr id="60" name="normalization-equation">
            <a:extLst xmlns:a="http://schemas.openxmlformats.org/drawingml/2006/main">
              <a:ext uri="{FF2B5EF4-FFF2-40B4-BE49-F238E27FC236}">
                <a16:creationId xmlns:a16="http://schemas.microsoft.com/office/drawing/2014/main" id="{2DD7D12C-4CB2-421F-A797-3055F814D9D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71625" y="27146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23B"/>
                </a:solidFill>
                <a:latin typeface="Arial"/>
                <a:ea typeface="Arial"/>
                <a:cs typeface="Arial"/>
              </a:rPr>
              <a:t>αᵢ = sᵢ / Σⱼ∈S sⱼ</a:t>
            </a:r>
          </a:p>
        </p:txBody>
      </p:sp>
      <p:sp>
        <p:nvSpPr>
          <p:cNvPr id="61" name="weighted-set">
            <a:extLst xmlns:a="http://schemas.openxmlformats.org/drawingml/2006/main">
              <a:ext uri="{FF2B5EF4-FFF2-40B4-BE49-F238E27FC236}">
                <a16:creationId xmlns:a16="http://schemas.microsoft.com/office/drawing/2014/main" id="{D6E6EF60-43BD-4E01-ABC7-EAEF0FA2A7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000375"/>
            <a:ext cx="3943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356D83"/>
            </a:solidFill>
            <a:prstDash val="solid"/>
          </a:ln>
        </p:spPr>
      </p:sp>
      <p:grpSp>
        <p:nvGrpSpPr>
          <p:cNvPr id="249" name="embedding-6"/>
          <p:cNvGrpSpPr/>
          <p:nvPr/>
        </p:nvGrpSpPr>
        <p:grpSpPr>
          <ns1:xfrm xmlns:ns1="http://schemas.openxmlformats.org/drawingml/2006/main">
            <ns1:off x="304800" y="3019425"/>
            <ns1:ext cx="1123950" cy="733425"/>
            <ns1:chOff x="304800" y="3019425"/>
            <ns1:chExt cx="1123950" cy="733425"/>
          </ns1:xfrm>
        </p:grpSpPr>
        <p:sp>
          <p:nvSpPr>
            <p:cNvPr id="62" name="embedding-label-6">
              <a:extLst xmlns:a="http://schemas.openxmlformats.org/drawingml/2006/main">
                <a:ext uri="{FF2B5EF4-FFF2-40B4-BE49-F238E27FC236}">
                  <a16:creationId xmlns:a16="http://schemas.microsoft.com/office/drawing/2014/main" id="{4BEE018C-BE77-4C9A-AB14-1B5BD5F9B7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019425"/>
              <a:ext cx="78105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25323B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25323B"/>
                  </a:solidFill>
                  <a:latin typeface="Arial"/>
                  <a:ea typeface="Arial"/>
                  <a:cs typeface="Arial"/>
                </a:rPr>
                <a:t>h₆</a:t>
              </a:r>
            </a:p>
          </p:txBody>
        </p:sp>
        <p:sp>
          <p:nvSpPr>
            <p:cNvPr id="63" name="embedding-6-component-0-track">
              <a:extLst xmlns:a="http://schemas.openxmlformats.org/drawingml/2006/main">
                <a:ext uri="{FF2B5EF4-FFF2-40B4-BE49-F238E27FC236}">
                  <a16:creationId xmlns:a16="http://schemas.microsoft.com/office/drawing/2014/main" id="{31AB62B0-1B49-46BD-86B7-0529E19CA5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862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4" name="embedding-6-component-0">
              <a:extLst xmlns:a="http://schemas.openxmlformats.org/drawingml/2006/main">
                <a:ext uri="{FF2B5EF4-FFF2-40B4-BE49-F238E27FC236}">
                  <a16:creationId xmlns:a16="http://schemas.microsoft.com/office/drawing/2014/main" id="{15100780-D7B3-4BB5-8C6C-D159E83479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8625" y="3485674"/>
              <a:ext cx="104775" cy="3857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5" name="embedding-6-component-1-track">
              <a:extLst xmlns:a="http://schemas.openxmlformats.org/drawingml/2006/main">
                <a:ext uri="{FF2B5EF4-FFF2-40B4-BE49-F238E27FC236}">
                  <a16:creationId xmlns:a16="http://schemas.microsoft.com/office/drawing/2014/main" id="{F47C6C7E-7156-4888-9F40-4308EFFE1C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6" name="embedding-6-component-1">
              <a:extLst xmlns:a="http://schemas.openxmlformats.org/drawingml/2006/main">
                <a:ext uri="{FF2B5EF4-FFF2-40B4-BE49-F238E27FC236}">
                  <a16:creationId xmlns:a16="http://schemas.microsoft.com/office/drawing/2014/main" id="{737D5300-4700-4FAF-84F6-9419028051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3331369"/>
              <a:ext cx="104775" cy="19288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7" name="embedding-6-component-2-track">
              <a:extLst xmlns:a="http://schemas.openxmlformats.org/drawingml/2006/main">
                <a:ext uri="{FF2B5EF4-FFF2-40B4-BE49-F238E27FC236}">
                  <a16:creationId xmlns:a16="http://schemas.microsoft.com/office/drawing/2014/main" id="{A66C9DE6-6E39-4986-A646-01D84F0E9C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437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8" name="embedding-6-component-2">
              <a:extLst xmlns:a="http://schemas.openxmlformats.org/drawingml/2006/main">
                <a:ext uri="{FF2B5EF4-FFF2-40B4-BE49-F238E27FC236}">
                  <a16:creationId xmlns:a16="http://schemas.microsoft.com/office/drawing/2014/main" id="{194E549D-9D35-4A4F-BE67-AC243FF6DA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4375" y="3357086"/>
              <a:ext cx="104775" cy="16716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9" name="embedding-6-component-3-track">
              <a:extLst xmlns:a="http://schemas.openxmlformats.org/drawingml/2006/main">
                <a:ext uri="{FF2B5EF4-FFF2-40B4-BE49-F238E27FC236}">
                  <a16:creationId xmlns:a16="http://schemas.microsoft.com/office/drawing/2014/main" id="{EC7A9F08-37D5-4CCC-B8FE-021B66B411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0" name="embedding-6-component-3">
              <a:extLst xmlns:a="http://schemas.openxmlformats.org/drawingml/2006/main">
                <a:ext uri="{FF2B5EF4-FFF2-40B4-BE49-F238E27FC236}">
                  <a16:creationId xmlns:a16="http://schemas.microsoft.com/office/drawing/2014/main" id="{CEE4D56B-62AF-4788-8BCA-8B4A230915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3447098"/>
              <a:ext cx="104775" cy="7715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1" name="embedding-6-component-4-track">
              <a:extLst xmlns:a="http://schemas.openxmlformats.org/drawingml/2006/main">
                <a:ext uri="{FF2B5EF4-FFF2-40B4-BE49-F238E27FC236}">
                  <a16:creationId xmlns:a16="http://schemas.microsoft.com/office/drawing/2014/main" id="{A59B7499-B669-4251-B1E6-77A385F9AA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012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2" name="embedding-6-component-4">
              <a:extLst xmlns:a="http://schemas.openxmlformats.org/drawingml/2006/main">
                <a:ext uri="{FF2B5EF4-FFF2-40B4-BE49-F238E27FC236}">
                  <a16:creationId xmlns:a16="http://schemas.microsoft.com/office/drawing/2014/main" id="{7EA15135-96D2-4071-94CA-37CF74B7F0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0125" y="3305651"/>
              <a:ext cx="104775" cy="21859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3" name="embedding-6-component-5-track">
              <a:extLst xmlns:a="http://schemas.openxmlformats.org/drawingml/2006/main">
                <a:ext uri="{FF2B5EF4-FFF2-40B4-BE49-F238E27FC236}">
                  <a16:creationId xmlns:a16="http://schemas.microsoft.com/office/drawing/2014/main" id="{E4A6455B-15DE-4FBC-B4E9-E92F37F69B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300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4" name="embedding-6-component-5">
              <a:extLst xmlns:a="http://schemas.openxmlformats.org/drawingml/2006/main">
                <a:ext uri="{FF2B5EF4-FFF2-40B4-BE49-F238E27FC236}">
                  <a16:creationId xmlns:a16="http://schemas.microsoft.com/office/drawing/2014/main" id="{4282D95A-79B5-4F85-A381-B408B1EC79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3000" y="3459956"/>
              <a:ext cx="104775" cy="6429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5" name="weight-label-6">
              <a:extLst xmlns:a="http://schemas.openxmlformats.org/drawingml/2006/main">
                <a:ext uri="{FF2B5EF4-FFF2-40B4-BE49-F238E27FC236}">
                  <a16:creationId xmlns:a16="http://schemas.microsoft.com/office/drawing/2014/main" id="{DB8B8862-B971-4C9C-8B2C-C714D82426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4800" y="3543300"/>
              <a:ext cx="11239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38" b="0">
                  <a:solidFill>
                    <a:srgbClr val="25323B"/>
                  </a:solidFill>
                  <a:latin typeface="Arial"/>
                  <a:ea typeface="Arial"/>
                  <a:cs typeface="Arial"/>
                </a:defRPr>
              </a:pPr>
              <a:r>
                <a:rPr sz="938" b="0">
                  <a:solidFill>
                    <a:srgbClr val="25323B"/>
                  </a:solidFill>
                  <a:latin typeface="Arial"/>
                  <a:ea typeface="Arial"/>
                  <a:cs typeface="Arial"/>
                </a:rPr>
                <a:t>α₆ = 0.50</a:t>
              </a:r>
            </a:p>
          </p:txBody>
        </p:sp>
      </p:grpSp>
      <p:sp>
        <p:nvSpPr>
          <p:cNvPr id="76" name="pair-divider-0">
            <a:extLst xmlns:a="http://schemas.openxmlformats.org/drawingml/2006/main">
              <a:ext uri="{FF2B5EF4-FFF2-40B4-BE49-F238E27FC236}">
                <a16:creationId xmlns:a16="http://schemas.microsoft.com/office/drawing/2014/main" id="{E3C49E50-C134-4C02-80BE-4203E86A328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85900" y="3067050"/>
            <a:ext cx="95" cy="628650"/>
          </a:xfrm>
          <a:custGeom xmlns:a="http://schemas.openxmlformats.org/drawingml/2006/main">
            <a:pathLst>
              <a:path w="9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BFC8CC"/>
            </a:solidFill>
            <a:prstDash val="solid"/>
          </a:ln>
        </p:spPr>
      </p:sp>
      <p:grpSp>
        <p:nvGrpSpPr>
          <p:cNvPr id="250" name="embedding-10"/>
          <p:cNvGrpSpPr/>
          <p:nvPr/>
        </p:nvGrpSpPr>
        <p:grpSpPr>
          <ns1:xfrm xmlns:ns1="http://schemas.openxmlformats.org/drawingml/2006/main">
            <ns1:off x="1619250" y="3019425"/>
            <ns1:ext cx="1123950" cy="733425"/>
            <ns1:chOff x="1619250" y="3019425"/>
            <ns1:chExt cx="1123950" cy="733425"/>
          </ns1:xfrm>
        </p:grpSpPr>
        <p:sp>
          <p:nvSpPr>
            <p:cNvPr id="77" name="embedding-label-10">
              <a:extLst xmlns:a="http://schemas.openxmlformats.org/drawingml/2006/main">
                <a:ext uri="{FF2B5EF4-FFF2-40B4-BE49-F238E27FC236}">
                  <a16:creationId xmlns:a16="http://schemas.microsoft.com/office/drawing/2014/main" id="{A66ED95F-B38C-40FB-8686-345913AC67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71650" y="3019425"/>
              <a:ext cx="78105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25323B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25323B"/>
                  </a:solidFill>
                  <a:latin typeface="Arial"/>
                  <a:ea typeface="Arial"/>
                  <a:cs typeface="Arial"/>
                </a:rPr>
                <a:t>h₁₀</a:t>
              </a:r>
            </a:p>
          </p:txBody>
        </p:sp>
        <p:sp>
          <p:nvSpPr>
            <p:cNvPr id="78" name="embedding-10-component-0-track">
              <a:extLst xmlns:a="http://schemas.openxmlformats.org/drawingml/2006/main">
                <a:ext uri="{FF2B5EF4-FFF2-40B4-BE49-F238E27FC236}">
                  <a16:creationId xmlns:a16="http://schemas.microsoft.com/office/drawing/2014/main" id="{7681D723-42C7-4868-B982-829CC5BB37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4307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9" name="embedding-10-component-0">
              <a:extLst xmlns:a="http://schemas.openxmlformats.org/drawingml/2006/main">
                <a:ext uri="{FF2B5EF4-FFF2-40B4-BE49-F238E27FC236}">
                  <a16:creationId xmlns:a16="http://schemas.microsoft.com/office/drawing/2014/main" id="{4B9580B9-0322-46E6-9198-1F4632E92E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43075" y="3318510"/>
              <a:ext cx="104775" cy="20574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0" name="embedding-10-component-1-track">
              <a:extLst xmlns:a="http://schemas.openxmlformats.org/drawingml/2006/main">
                <a:ext uri="{FF2B5EF4-FFF2-40B4-BE49-F238E27FC236}">
                  <a16:creationId xmlns:a16="http://schemas.microsoft.com/office/drawing/2014/main" id="{D9E3B40F-456B-42E8-A9BC-296B272358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595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1" name="embedding-10-component-1">
              <a:extLst xmlns:a="http://schemas.openxmlformats.org/drawingml/2006/main">
                <a:ext uri="{FF2B5EF4-FFF2-40B4-BE49-F238E27FC236}">
                  <a16:creationId xmlns:a16="http://schemas.microsoft.com/office/drawing/2014/main" id="{FDB042B1-3406-42FB-8EB0-49BE4FD351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5950" y="3459956"/>
              <a:ext cx="104775" cy="6429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2" name="embedding-10-component-2-track">
              <a:extLst xmlns:a="http://schemas.openxmlformats.org/drawingml/2006/main">
                <a:ext uri="{FF2B5EF4-FFF2-40B4-BE49-F238E27FC236}">
                  <a16:creationId xmlns:a16="http://schemas.microsoft.com/office/drawing/2014/main" id="{54262C54-3B45-46FF-95CB-98E8953BBD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2882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3" name="embedding-10-component-2">
              <a:extLst xmlns:a="http://schemas.openxmlformats.org/drawingml/2006/main">
                <a:ext uri="{FF2B5EF4-FFF2-40B4-BE49-F238E27FC236}">
                  <a16:creationId xmlns:a16="http://schemas.microsoft.com/office/drawing/2014/main" id="{79F7184C-E6E9-418A-B08F-2A43C4B93B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28825" y="3395663"/>
              <a:ext cx="104775" cy="1285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4" name="embedding-10-component-3-track">
              <a:extLst xmlns:a="http://schemas.openxmlformats.org/drawingml/2006/main">
                <a:ext uri="{FF2B5EF4-FFF2-40B4-BE49-F238E27FC236}">
                  <a16:creationId xmlns:a16="http://schemas.microsoft.com/office/drawing/2014/main" id="{DEE48ED8-B043-4C5A-B635-8B65D7752C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7170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5" name="embedding-10-component-3">
              <a:extLst xmlns:a="http://schemas.openxmlformats.org/drawingml/2006/main">
                <a:ext uri="{FF2B5EF4-FFF2-40B4-BE49-F238E27FC236}">
                  <a16:creationId xmlns:a16="http://schemas.microsoft.com/office/drawing/2014/main" id="{81AD0F81-20BC-494C-A37C-83153E7582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71700" y="3357086"/>
              <a:ext cx="104775" cy="16716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6" name="embedding-10-component-4-track">
              <a:extLst xmlns:a="http://schemas.openxmlformats.org/drawingml/2006/main">
                <a:ext uri="{FF2B5EF4-FFF2-40B4-BE49-F238E27FC236}">
                  <a16:creationId xmlns:a16="http://schemas.microsoft.com/office/drawing/2014/main" id="{761897EE-08DA-4B32-A53A-DC8577E367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1457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7" name="embedding-10-component-4">
              <a:extLst xmlns:a="http://schemas.openxmlformats.org/drawingml/2006/main">
                <a:ext uri="{FF2B5EF4-FFF2-40B4-BE49-F238E27FC236}">
                  <a16:creationId xmlns:a16="http://schemas.microsoft.com/office/drawing/2014/main" id="{EE88AFF8-6FE7-4D32-B527-7E2ADB6448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14575" y="3447098"/>
              <a:ext cx="104775" cy="7715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8" name="embedding-10-component-5-track">
              <a:extLst xmlns:a="http://schemas.openxmlformats.org/drawingml/2006/main">
                <a:ext uri="{FF2B5EF4-FFF2-40B4-BE49-F238E27FC236}">
                  <a16:creationId xmlns:a16="http://schemas.microsoft.com/office/drawing/2014/main" id="{ADFACAEE-2B22-47C3-AB6A-580A11A8FA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5745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9" name="embedding-10-component-5">
              <a:extLst xmlns:a="http://schemas.openxmlformats.org/drawingml/2006/main">
                <a:ext uri="{FF2B5EF4-FFF2-40B4-BE49-F238E27FC236}">
                  <a16:creationId xmlns:a16="http://schemas.microsoft.com/office/drawing/2014/main" id="{D3421D8E-08CE-411C-BF4A-1EA9A2BE1B6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57450" y="3421380"/>
              <a:ext cx="104775" cy="1028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0" name="weight-label-10">
              <a:extLst xmlns:a="http://schemas.openxmlformats.org/drawingml/2006/main">
                <a:ext uri="{FF2B5EF4-FFF2-40B4-BE49-F238E27FC236}">
                  <a16:creationId xmlns:a16="http://schemas.microsoft.com/office/drawing/2014/main" id="{DBC5632D-B079-480A-BAD2-43C3B4BA2E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9250" y="3543300"/>
              <a:ext cx="11239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38" b="0">
                  <a:solidFill>
                    <a:srgbClr val="25323B"/>
                  </a:solidFill>
                  <a:latin typeface="Arial"/>
                  <a:ea typeface="Arial"/>
                  <a:cs typeface="Arial"/>
                </a:defRPr>
              </a:pPr>
              <a:r>
                <a:rPr sz="938" b="0">
                  <a:solidFill>
                    <a:srgbClr val="25323B"/>
                  </a:solidFill>
                  <a:latin typeface="Arial"/>
                  <a:ea typeface="Arial"/>
                  <a:cs typeface="Arial"/>
                </a:rPr>
                <a:t>α₁₀ = 0.30</a:t>
              </a:r>
            </a:p>
          </p:txBody>
        </p:sp>
      </p:grpSp>
      <p:sp>
        <p:nvSpPr>
          <p:cNvPr id="91" name="pair-divider-1">
            <a:extLst xmlns:a="http://schemas.openxmlformats.org/drawingml/2006/main">
              <a:ext uri="{FF2B5EF4-FFF2-40B4-BE49-F238E27FC236}">
                <a16:creationId xmlns:a16="http://schemas.microsoft.com/office/drawing/2014/main" id="{85797C7E-5CA3-4589-A791-E476E897C2A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00350" y="3067050"/>
            <a:ext cx="95" cy="628650"/>
          </a:xfrm>
          <a:custGeom xmlns:a="http://schemas.openxmlformats.org/drawingml/2006/main">
            <a:pathLst>
              <a:path w="9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BFC8CC"/>
            </a:solidFill>
            <a:prstDash val="solid"/>
          </a:ln>
        </p:spPr>
      </p:sp>
      <p:grpSp>
        <p:nvGrpSpPr>
          <p:cNvPr id="251" name="embedding-16"/>
          <p:cNvGrpSpPr/>
          <p:nvPr/>
        </p:nvGrpSpPr>
        <p:grpSpPr>
          <ns1:xfrm xmlns:ns1="http://schemas.openxmlformats.org/drawingml/2006/main">
            <ns1:off x="2933700" y="3019425"/>
            <ns1:ext cx="1123950" cy="733425"/>
            <ns1:chOff x="2933700" y="3019425"/>
            <ns1:chExt cx="1123950" cy="733425"/>
          </ns1:xfrm>
        </p:grpSpPr>
        <p:sp>
          <p:nvSpPr>
            <p:cNvPr id="92" name="embedding-label-16">
              <a:extLst xmlns:a="http://schemas.openxmlformats.org/drawingml/2006/main">
                <a:ext uri="{FF2B5EF4-FFF2-40B4-BE49-F238E27FC236}">
                  <a16:creationId xmlns:a16="http://schemas.microsoft.com/office/drawing/2014/main" id="{0E07B97B-868F-483B-90E2-5B5A0328C3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3019425"/>
              <a:ext cx="78105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25323B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25323B"/>
                  </a:solidFill>
                  <a:latin typeface="Arial"/>
                  <a:ea typeface="Arial"/>
                  <a:cs typeface="Arial"/>
                </a:rPr>
                <a:t>h₁₆</a:t>
              </a:r>
            </a:p>
          </p:txBody>
        </p:sp>
        <p:sp>
          <p:nvSpPr>
            <p:cNvPr id="93" name="embedding-16-component-0-track">
              <a:extLst xmlns:a="http://schemas.openxmlformats.org/drawingml/2006/main">
                <a:ext uri="{FF2B5EF4-FFF2-40B4-BE49-F238E27FC236}">
                  <a16:creationId xmlns:a16="http://schemas.microsoft.com/office/drawing/2014/main" id="{CE056363-E044-43A7-ABD0-BCE0C9F4BD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5752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4" name="embedding-16-component-0">
              <a:extLst xmlns:a="http://schemas.openxmlformats.org/drawingml/2006/main">
                <a:ext uri="{FF2B5EF4-FFF2-40B4-BE49-F238E27FC236}">
                  <a16:creationId xmlns:a16="http://schemas.microsoft.com/office/drawing/2014/main" id="{34008B66-E86E-419D-B842-B70650D0D4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57525" y="3408521"/>
              <a:ext cx="104775" cy="11572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5" name="embedding-16-component-1-track">
              <a:extLst xmlns:a="http://schemas.openxmlformats.org/drawingml/2006/main">
                <a:ext uri="{FF2B5EF4-FFF2-40B4-BE49-F238E27FC236}">
                  <a16:creationId xmlns:a16="http://schemas.microsoft.com/office/drawing/2014/main" id="{46EA98B7-B7FF-44C4-ACAF-FB12C5C646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6" name="embedding-16-component-1">
              <a:extLst xmlns:a="http://schemas.openxmlformats.org/drawingml/2006/main">
                <a:ext uri="{FF2B5EF4-FFF2-40B4-BE49-F238E27FC236}">
                  <a16:creationId xmlns:a16="http://schemas.microsoft.com/office/drawing/2014/main" id="{23C6EF4A-8DE3-4BD2-B66D-7669CA8D1A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0" y="3369945"/>
              <a:ext cx="104775" cy="15430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7" name="embedding-16-component-2-track">
              <a:extLst xmlns:a="http://schemas.openxmlformats.org/drawingml/2006/main">
                <a:ext uri="{FF2B5EF4-FFF2-40B4-BE49-F238E27FC236}">
                  <a16:creationId xmlns:a16="http://schemas.microsoft.com/office/drawing/2014/main" id="{8CAA4BF9-DE52-4083-A104-80072FBF1C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4327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8" name="embedding-16-component-2">
              <a:extLst xmlns:a="http://schemas.openxmlformats.org/drawingml/2006/main">
                <a:ext uri="{FF2B5EF4-FFF2-40B4-BE49-F238E27FC236}">
                  <a16:creationId xmlns:a16="http://schemas.microsoft.com/office/drawing/2014/main" id="{9AE9BDF6-215D-4B1B-B4F6-E12F1B54B1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43275" y="3472815"/>
              <a:ext cx="104775" cy="5143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9" name="embedding-16-component-3-track">
              <a:extLst xmlns:a="http://schemas.openxmlformats.org/drawingml/2006/main">
                <a:ext uri="{FF2B5EF4-FFF2-40B4-BE49-F238E27FC236}">
                  <a16:creationId xmlns:a16="http://schemas.microsoft.com/office/drawing/2014/main" id="{323F1B51-26F7-4DA8-92A6-2CDB5A85AF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8615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0" name="embedding-16-component-3">
              <a:extLst xmlns:a="http://schemas.openxmlformats.org/drawingml/2006/main">
                <a:ext uri="{FF2B5EF4-FFF2-40B4-BE49-F238E27FC236}">
                  <a16:creationId xmlns:a16="http://schemas.microsoft.com/office/drawing/2014/main" id="{E810C9BF-EB18-43D0-A85F-761A7A10FC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86150" y="3305651"/>
              <a:ext cx="104775" cy="21859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1" name="embedding-16-component-4-track">
              <a:extLst xmlns:a="http://schemas.openxmlformats.org/drawingml/2006/main">
                <a:ext uri="{FF2B5EF4-FFF2-40B4-BE49-F238E27FC236}">
                  <a16:creationId xmlns:a16="http://schemas.microsoft.com/office/drawing/2014/main" id="{037255F8-BAC0-4F75-8FBD-EC4872B493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2902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2" name="embedding-16-component-4">
              <a:extLst xmlns:a="http://schemas.openxmlformats.org/drawingml/2006/main">
                <a:ext uri="{FF2B5EF4-FFF2-40B4-BE49-F238E27FC236}">
                  <a16:creationId xmlns:a16="http://schemas.microsoft.com/office/drawing/2014/main" id="{62F6BC5A-5505-49D6-8207-8C9FBECC41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29025" y="3421380"/>
              <a:ext cx="104775" cy="1028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3" name="embedding-16-component-5-track">
              <a:extLst xmlns:a="http://schemas.openxmlformats.org/drawingml/2006/main">
                <a:ext uri="{FF2B5EF4-FFF2-40B4-BE49-F238E27FC236}">
                  <a16:creationId xmlns:a16="http://schemas.microsoft.com/office/drawing/2014/main" id="{2941B3EB-76A7-494D-AEC1-65605D432D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7190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4" name="embedding-16-component-5">
              <a:extLst xmlns:a="http://schemas.openxmlformats.org/drawingml/2006/main">
                <a:ext uri="{FF2B5EF4-FFF2-40B4-BE49-F238E27FC236}">
                  <a16:creationId xmlns:a16="http://schemas.microsoft.com/office/drawing/2014/main" id="{BCA1DEAA-9F4C-49C0-8F78-A7D508A6A5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71900" y="3331369"/>
              <a:ext cx="104775" cy="19288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5" name="weight-label-16">
              <a:extLst xmlns:a="http://schemas.openxmlformats.org/drawingml/2006/main">
                <a:ext uri="{FF2B5EF4-FFF2-40B4-BE49-F238E27FC236}">
                  <a16:creationId xmlns:a16="http://schemas.microsoft.com/office/drawing/2014/main" id="{8AE3F04A-75C1-4B86-9CE1-B5CDE7B5C4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3543300"/>
              <a:ext cx="11239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38" b="0">
                  <a:solidFill>
                    <a:srgbClr val="25323B"/>
                  </a:solidFill>
                  <a:latin typeface="Arial"/>
                  <a:ea typeface="Arial"/>
                  <a:cs typeface="Arial"/>
                </a:defRPr>
              </a:pPr>
              <a:r>
                <a:rPr sz="938" b="0">
                  <a:solidFill>
                    <a:srgbClr val="25323B"/>
                  </a:solidFill>
                  <a:latin typeface="Arial"/>
                  <a:ea typeface="Arial"/>
                  <a:cs typeface="Arial"/>
                </a:rPr>
                <a:t>α₁₆ = 0.20</a:t>
              </a:r>
            </a:p>
          </p:txBody>
        </p:sp>
      </p:grpSp>
      <p:sp>
        <p:nvSpPr>
          <p:cNvPr id="106" name="sum">
            <a:extLst xmlns:a="http://schemas.openxmlformats.org/drawingml/2006/main">
              <a:ext uri="{FF2B5EF4-FFF2-40B4-BE49-F238E27FC236}">
                <a16:creationId xmlns:a16="http://schemas.microsoft.com/office/drawing/2014/main" id="{71CBAFE4-69BF-4599-8B9A-16C9D6CC2A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38675" y="31908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F1"/>
          </a:solidFill>
          <a:ln xmlns:a="http://schemas.openxmlformats.org/drawingml/2006/main" w="9525">
            <a:solidFill>
              <a:srgbClr val="356D83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Σ</a:t>
            </a:r>
          </a:p>
        </p:txBody>
      </p:sp>
      <p:sp>
        <p:nvSpPr>
          <p:cNvPr id="107" name="pooled">
            <a:extLst xmlns:a="http://schemas.openxmlformats.org/drawingml/2006/main">
              <a:ext uri="{FF2B5EF4-FFF2-40B4-BE49-F238E27FC236}">
                <a16:creationId xmlns:a16="http://schemas.microsoft.com/office/drawing/2014/main" id="{DF2BE07B-D04A-4A11-9C7C-A6CE6920899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62600" y="31146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356D83"/>
            </a:solidFill>
            <a:prstDash val="solid"/>
          </a:ln>
        </p:spPr>
      </p:sp>
      <p:sp>
        <p:nvSpPr>
          <p:cNvPr id="108" name="pooled-label">
            <a:extLst xmlns:a="http://schemas.openxmlformats.org/drawingml/2006/main">
              <a:ext uri="{FF2B5EF4-FFF2-40B4-BE49-F238E27FC236}">
                <a16:creationId xmlns:a16="http://schemas.microsoft.com/office/drawing/2014/main" id="{AA8A9049-3005-4930-BE65-09910D8CB5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62600" y="286702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grpSp>
        <p:nvGrpSpPr>
          <p:cNvPr id="252" name="pooled-components"/>
          <p:cNvGrpSpPr/>
          <p:nvPr/>
        </p:nvGrpSpPr>
        <p:grpSpPr>
          <ns1:xfrm xmlns:ns1="http://schemas.openxmlformats.org/drawingml/2006/main">
            <ns1:off x="5619750" y="3190875"/>
            <ns1:ext cx="542925" cy="361950"/>
            <ns1:chOff x="5619750" y="3190875"/>
            <ns1:chExt cx="542925" cy="361950"/>
          </ns1:xfrm>
        </p:grpSpPr>
        <p:sp>
          <p:nvSpPr>
            <p:cNvPr id="109" name="pooled-track-0">
              <a:extLst xmlns:a="http://schemas.openxmlformats.org/drawingml/2006/main">
                <a:ext uri="{FF2B5EF4-FFF2-40B4-BE49-F238E27FC236}">
                  <a16:creationId xmlns:a16="http://schemas.microsoft.com/office/drawing/2014/main" id="{ECD35BB8-FF62-4A91-9390-3D1689DFF4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3190875"/>
              <a:ext cx="666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0" name="pooled-value-0">
              <a:extLst xmlns:a="http://schemas.openxmlformats.org/drawingml/2006/main">
                <a:ext uri="{FF2B5EF4-FFF2-40B4-BE49-F238E27FC236}">
                  <a16:creationId xmlns:a16="http://schemas.microsoft.com/office/drawing/2014/main" id="{09F6ABEA-DB2F-4DC3-ABA7-ECE6D74ABA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3406235"/>
              <a:ext cx="66675" cy="1465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1" name="pooled-track-1">
              <a:extLst xmlns:a="http://schemas.openxmlformats.org/drawingml/2006/main">
                <a:ext uri="{FF2B5EF4-FFF2-40B4-BE49-F238E27FC236}">
                  <a16:creationId xmlns:a16="http://schemas.microsoft.com/office/drawing/2014/main" id="{CF06D5C8-A277-4D30-9F08-46757CD33AA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0" y="3190875"/>
              <a:ext cx="666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2" name="pooled-value-1">
              <a:extLst xmlns:a="http://schemas.openxmlformats.org/drawingml/2006/main">
                <a:ext uri="{FF2B5EF4-FFF2-40B4-BE49-F238E27FC236}">
                  <a16:creationId xmlns:a16="http://schemas.microsoft.com/office/drawing/2014/main" id="{DB9BB44D-82C3-4A67-B8F0-489EFC245D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0" y="3346513"/>
              <a:ext cx="66675" cy="2063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3" name="pooled-track-2">
              <a:extLst xmlns:a="http://schemas.openxmlformats.org/drawingml/2006/main">
                <a:ext uri="{FF2B5EF4-FFF2-40B4-BE49-F238E27FC236}">
                  <a16:creationId xmlns:a16="http://schemas.microsoft.com/office/drawing/2014/main" id="{A72C7263-4D9D-4B89-8D92-075EF04062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0250" y="3190875"/>
              <a:ext cx="666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4" name="pooled-value-2">
              <a:extLst xmlns:a="http://schemas.openxmlformats.org/drawingml/2006/main">
                <a:ext uri="{FF2B5EF4-FFF2-40B4-BE49-F238E27FC236}">
                  <a16:creationId xmlns:a16="http://schemas.microsoft.com/office/drawing/2014/main" id="{208C7091-B00A-4653-BDEA-79A2F52E54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0250" y="3366421"/>
              <a:ext cx="66675" cy="1864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5" name="pooled-track-3">
              <a:extLst xmlns:a="http://schemas.openxmlformats.org/drawingml/2006/main">
                <a:ext uri="{FF2B5EF4-FFF2-40B4-BE49-F238E27FC236}">
                  <a16:creationId xmlns:a16="http://schemas.microsoft.com/office/drawing/2014/main" id="{00412DC0-8FA3-41DE-AA7A-ECDD84322C8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05500" y="3190875"/>
              <a:ext cx="666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6" name="pooled-value-3">
              <a:extLst xmlns:a="http://schemas.openxmlformats.org/drawingml/2006/main">
                <a:ext uri="{FF2B5EF4-FFF2-40B4-BE49-F238E27FC236}">
                  <a16:creationId xmlns:a16="http://schemas.microsoft.com/office/drawing/2014/main" id="{EB8E9B2B-F947-49D3-8215-0C5C44FD4E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05500" y="3366421"/>
              <a:ext cx="66675" cy="1864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7" name="pooled-track-4">
              <a:extLst xmlns:a="http://schemas.openxmlformats.org/drawingml/2006/main">
                <a:ext uri="{FF2B5EF4-FFF2-40B4-BE49-F238E27FC236}">
                  <a16:creationId xmlns:a16="http://schemas.microsoft.com/office/drawing/2014/main" id="{C46D2193-6082-4E0A-948F-5BAE7A7F4A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00750" y="3190875"/>
              <a:ext cx="666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8" name="pooled-value-4">
              <a:extLst xmlns:a="http://schemas.openxmlformats.org/drawingml/2006/main">
                <a:ext uri="{FF2B5EF4-FFF2-40B4-BE49-F238E27FC236}">
                  <a16:creationId xmlns:a16="http://schemas.microsoft.com/office/drawing/2014/main" id="{CA1B8C88-7158-42E5-B456-24A179A723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00750" y="3337465"/>
              <a:ext cx="66675" cy="2153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9" name="pooled-track-5">
              <a:extLst xmlns:a="http://schemas.openxmlformats.org/drawingml/2006/main">
                <a:ext uri="{FF2B5EF4-FFF2-40B4-BE49-F238E27FC236}">
                  <a16:creationId xmlns:a16="http://schemas.microsoft.com/office/drawing/2014/main" id="{9CC9E82B-5BB2-4430-8394-C56158E7D1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0" y="3190875"/>
              <a:ext cx="666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0" name="pooled-value-5">
              <a:extLst xmlns:a="http://schemas.openxmlformats.org/drawingml/2006/main">
                <a:ext uri="{FF2B5EF4-FFF2-40B4-BE49-F238E27FC236}">
                  <a16:creationId xmlns:a16="http://schemas.microsoft.com/office/drawing/2014/main" id="{D3F2E8F4-8C1F-4802-A7B5-7F172432CB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0" y="3409855"/>
              <a:ext cx="66675" cy="1429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</p:grpSp>
      <p:cxnSp>
        <p:nvCxnSpPr>
          <p:cNvPr id="245" name="weighted-collection"/>
          <p:cNvCxnSpPr>
            <a:stCxn xmlns:a="http://schemas.openxmlformats.org/drawingml/2006/main" id="61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 flipV="1">
            <a:off x="4114800" y="3371850"/>
            <a:ext cx="523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246" name="pooled-output"/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5000625" y="33718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sp>
        <p:nvSpPr>
          <p:cNvPr id="123" name="pooling-equation">
            <a:extLst xmlns:a="http://schemas.openxmlformats.org/drawingml/2006/main">
              <a:ext uri="{FF2B5EF4-FFF2-40B4-BE49-F238E27FC236}">
                <a16:creationId xmlns:a16="http://schemas.microsoft.com/office/drawing/2014/main" id="{4A5B0C08-2D7D-4771-9224-DD9E0D56F66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14825" y="3724275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5323B"/>
                </a:solidFill>
                <a:latin typeface="Arial"/>
                <a:ea typeface="Arial"/>
                <a:cs typeface="Arial"/>
              </a:rPr>
              <a:t>z = Σᵢ∈S αᵢhᵢ</a:t>
            </a:r>
          </a:p>
        </p:txBody>
      </p:sp>
      <p:sp>
        <p:nvSpPr>
          <p:cNvPr id="124" name="disclosure">
            <a:extLst xmlns:a="http://schemas.openxmlformats.org/drawingml/2006/main">
              <a:ext uri="{FF2B5EF4-FFF2-40B4-BE49-F238E27FC236}">
                <a16:creationId xmlns:a16="http://schemas.microsoft.com/office/drawing/2014/main" id="{E30CBCD2-53B9-4A7C-A0B4-DE008D7F3E6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404812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97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D6970"/>
                </a:solidFill>
                <a:latin typeface="Arial"/>
                <a:ea typeface="Arial"/>
                <a:cs typeface="Arial"/>
              </a:rPr>
              <a:t>Illustrative scores and embeddings. Photo: NASA / scikit-image.</a:t>
            </a:r>
          </a:p>
        </p:txBody>
      </p:sp>
    </p:spTree>
    <p:extLst>
      <p:ext uri="{BB962C8B-B14F-4D97-AF65-F5344CB8AC3E}">
        <p14:creationId xmlns:p14="http://schemas.microsoft.com/office/powerpoint/2010/main" val="707153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2026-09-30T01:37:05.3100000Z</dcterms:created>
  <dcterms:modified xsi:type="dcterms:W3CDTF">2026-09-30T01:37:05.3100000Z</dcterms:modified>
</coreProperties>
</file>