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c3a712e4284854" /><Relationship Type="http://schemas.openxmlformats.org/officeDocument/2006/relationships/extended-properties" Target="/docProps/app.xml" Id="R56a47e83457d4f2e" /><Relationship Type="http://schemas.openxmlformats.org/officeDocument/2006/relationships/officeDocument" Target="/ppt/presentation.xml" Id="R2701c9e5c37a40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b84601e4d4ba5"/>
  </p:sldMasterIdLst>
  <p:notesMasterIdLst>
    <p:notesMasterId xmlns:r="http://schemas.openxmlformats.org/officeDocument/2006/relationships" r:id="R03b283387d7d46c7"/>
  </p:notesMasterIdLst>
  <p:sldIdLst>
    <p:sldId xmlns:r="http://schemas.openxmlformats.org/officeDocument/2006/relationships" id="256" r:id="R58592211f38846d7"/>
  </p:sldIdLst>
  <p:sldSz cx="6400800" cy="4095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213fd44634037" /><Relationship Type="http://schemas.openxmlformats.org/officeDocument/2006/relationships/slideMaster" Target="/ppt/slideMasters/slideMaster1.xml" Id="R9f1b84601e4d4ba5" /><Relationship Type="http://schemas.openxmlformats.org/officeDocument/2006/relationships/notesMaster" Target="/ppt/notesMasters/notesMaster1.xml" Id="R03b283387d7d46c7" /><Relationship Type="http://schemas.openxmlformats.org/officeDocument/2006/relationships/presProps" Target="/ppt/presProps.xml" Id="R58dfd731d6ea4192" /><Relationship Type="http://schemas.openxmlformats.org/officeDocument/2006/relationships/tableStyles" Target="/ppt/tableStyles.xml" Id="R7dc8846ab97849cc" /><Relationship Type="http://schemas.openxmlformats.org/officeDocument/2006/relationships/slide" Target="/ppt/slides/slide1.xml" Id="R58592211f388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75cdf743e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7029ae5334e1d" /><Relationship Type="http://schemas.openxmlformats.org/officeDocument/2006/relationships/notesMaster" Target="/ppt/notesMasters/notesMaster1.xml" Id="R269654aa519146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Spatial assay assignment to segmented cells</a:t>
            </a:r>
          </a:p>
          <a:p xmlns:a="http://schemas.openxmlformats.org/drawingml/2006/main">
            <a:r>
              <a:t>Hypothetical method. Schematic footprints and symbolic weights only; no count values or measured overlaps. Draft generated with built-in image_gen and rebuilt as native objects. Matrix-axis design principle informed by the directly viewed CLIP source figure https://arxiv.org/html/2103.00020v1/main-diagrams.png . C1=blue, C2=apricot, black disk outlines=spot identities, gray hatch=unassigned footprint area. Simple formulas are editable Unicode text, not OMML.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62e469d3548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036221b7844995" /><Relationship Type="http://schemas.openxmlformats.org/officeDocument/2006/relationships/slideLayout" Target="/ppt/slideLayouts/slideLayout1.xml" Id="R0512f3dbc57840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12f3dbc57840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b0ed0095544df" /><Relationship Type="http://schemas.openxmlformats.org/officeDocument/2006/relationships/notesSlide" Target="/ppt/notesSlides/notesSlide1.xml" Id="R720ca1df305648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title-spatial">
            <a:extLst xmlns:a="http://schemas.openxmlformats.org/drawingml/2006/main">
              <a:ext uri="{FF2B5EF4-FFF2-40B4-BE49-F238E27FC236}">
                <a16:creationId xmlns:a16="http://schemas.microsoft.com/office/drawing/2014/main" id="{9D268479-A135-4A77-A8F7-1990BCA0F9B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133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a  Registered masks + spot footprints</a:t>
            </a:r>
          </a:p>
        </p:txBody>
      </p:sp>
      <p:sp>
        <p:nvSpPr>
          <p:cNvPr id="2" name="title-matrix">
            <a:extLst xmlns:a="http://schemas.openxmlformats.org/drawingml/2006/main">
              <a:ext uri="{FF2B5EF4-FFF2-40B4-BE49-F238E27FC236}">
                <a16:creationId xmlns:a16="http://schemas.microsoft.com/office/drawing/2014/main" id="{B720318F-5153-4AC6-8019-4854E9EE39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133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b  Cell-by-spot matrix A</a:t>
            </a:r>
          </a:p>
        </p:txBody>
      </p:sp>
      <p:sp>
        <p:nvSpPr>
          <p:cNvPr id="3" name="spatial-frame">
            <a:extLst xmlns:a="http://schemas.openxmlformats.org/drawingml/2006/main">
              <a:ext uri="{FF2B5EF4-FFF2-40B4-BE49-F238E27FC236}">
                <a16:creationId xmlns:a16="http://schemas.microsoft.com/office/drawing/2014/main" id="{5D1AC55E-2372-42B2-A317-2DEC7E3FC6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476250"/>
            <a:ext cx="26098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6CBD0"/>
            </a:solidFill>
            <a:prstDash val="solid"/>
          </a:ln>
        </p:spPr>
      </p:sp>
      <p:grpSp>
        <p:nvGrpSpPr>
          <p:cNvPr id="161" name="cell-C1"/>
          <p:cNvGrpSpPr/>
          <p:nvPr/>
        </p:nvGrpSpPr>
        <p:grpSpPr>
          <ns1:xfrm xmlns:ns1="http://schemas.openxmlformats.org/drawingml/2006/main">
            <ns1:off x="266700" y="657225"/>
            <ns1:ext cx="1066800" cy="1571625"/>
            <ns1:chOff x="266700" y="657225"/>
            <ns1:chExt cx="1066800" cy="1571625"/>
          </ns1:xfrm>
        </p:grpSpPr>
        <p:sp>
          <p:nvSpPr>
            <p:cNvPr id="4" name="mask-C1">
              <a:extLst xmlns:a="http://schemas.openxmlformats.org/drawingml/2006/main">
                <a:ext uri="{FF2B5EF4-FFF2-40B4-BE49-F238E27FC236}">
                  <a16:creationId xmlns:a16="http://schemas.microsoft.com/office/drawing/2014/main" id="{7676E880-A8DE-4F2E-9F34-E3795E5A5F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657225"/>
              <a:ext cx="1066800" cy="1571625"/>
            </a:xfrm>
            <a:custGeom xmlns:a="http://schemas.openxmlformats.org/drawingml/2006/main">
              <a:pathLst>
                <a:path w="1066800" h="1571625">
                  <a:moveTo>
                    <a:pt x="95250" y="361950"/>
                  </a:moveTo>
                  <a:lnTo>
                    <a:pt x="200025" y="171450"/>
                  </a:lnTo>
                  <a:lnTo>
                    <a:pt x="419100" y="28575"/>
                  </a:lnTo>
                  <a:lnTo>
                    <a:pt x="657225" y="0"/>
                  </a:lnTo>
                  <a:lnTo>
                    <a:pt x="895350" y="85725"/>
                  </a:lnTo>
                  <a:lnTo>
                    <a:pt x="1066800" y="238125"/>
                  </a:lnTo>
                  <a:lnTo>
                    <a:pt x="1066800" y="1304925"/>
                  </a:lnTo>
                  <a:lnTo>
                    <a:pt x="904875" y="1495425"/>
                  </a:lnTo>
                  <a:lnTo>
                    <a:pt x="628650" y="1571625"/>
                  </a:lnTo>
                  <a:lnTo>
                    <a:pt x="352425" y="1524000"/>
                  </a:lnTo>
                  <a:lnTo>
                    <a:pt x="142875" y="1352550"/>
                  </a:lnTo>
                  <a:lnTo>
                    <a:pt x="38100" y="1095375"/>
                  </a:lnTo>
                  <a:lnTo>
                    <a:pt x="0" y="742950"/>
                  </a:lnTo>
                  <a:close/>
                </a:path>
              </a:pathLst>
            </a:custGeom>
            <a:solidFill xmlns:a="http://schemas.openxmlformats.org/drawingml/2006/main">
              <a:srgbClr val="E1EBF6"/>
            </a:solidFill>
            <a:ln xmlns:a="http://schemas.openxmlformats.org/drawingml/2006/main" w="14288">
              <a:solidFill>
                <a:srgbClr val="577FA9"/>
              </a:solidFill>
              <a:prstDash val="solid"/>
            </a:ln>
          </p:spPr>
        </p:sp>
        <p:sp>
          <p:nvSpPr>
            <p:cNvPr id="6" name="mask-label-C1">
              <a:extLst xmlns:a="http://schemas.openxmlformats.org/drawingml/2006/main">
                <a:ext uri="{FF2B5EF4-FFF2-40B4-BE49-F238E27FC236}">
                  <a16:creationId xmlns:a16="http://schemas.microsoft.com/office/drawing/2014/main" id="{CB9EA622-C9B6-43A5-8521-B4D1C96A28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" y="828675"/>
              <a:ext cx="3429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30649B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30649B"/>
                  </a:solidFill>
                  <a:latin typeface="Arial"/>
                  <a:ea typeface="Arial"/>
                  <a:cs typeface="Arial"/>
                </a:rPr>
                <a:t>C1</a:t>
              </a:r>
            </a:p>
          </p:txBody>
        </p:sp>
      </p:grpSp>
      <p:grpSp>
        <p:nvGrpSpPr>
          <p:cNvPr id="162" name="cell-C2"/>
          <p:cNvGrpSpPr/>
          <p:nvPr/>
        </p:nvGrpSpPr>
        <p:grpSpPr>
          <ns1:xfrm xmlns:ns1="http://schemas.openxmlformats.org/drawingml/2006/main">
            <ns1:off x="1333500" y="666750"/>
            <ns1:ext cx="971550" cy="1524000"/>
            <ns1:chOff x="1333500" y="666750"/>
            <ns1:chExt cx="971550" cy="1524000"/>
          </ns1:xfrm>
        </p:grpSpPr>
        <p:sp>
          <p:nvSpPr>
            <p:cNvPr id="5" name="mask-C2">
              <a:extLst xmlns:a="http://schemas.openxmlformats.org/drawingml/2006/main">
                <a:ext uri="{FF2B5EF4-FFF2-40B4-BE49-F238E27FC236}">
                  <a16:creationId xmlns:a16="http://schemas.microsoft.com/office/drawing/2014/main" id="{BE529E8A-03ED-40B1-B7C8-11CEA7388E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3500" y="666750"/>
              <a:ext cx="971550" cy="1524000"/>
            </a:xfrm>
            <a:custGeom xmlns:a="http://schemas.openxmlformats.org/drawingml/2006/main">
              <a:pathLst>
                <a:path w="971550" h="1524000">
                  <a:moveTo>
                    <a:pt x="0" y="228600"/>
                  </a:moveTo>
                  <a:lnTo>
                    <a:pt x="190500" y="133350"/>
                  </a:lnTo>
                  <a:lnTo>
                    <a:pt x="438150" y="0"/>
                  </a:lnTo>
                  <a:lnTo>
                    <a:pt x="695325" y="47625"/>
                  </a:lnTo>
                  <a:lnTo>
                    <a:pt x="895350" y="209550"/>
                  </a:lnTo>
                  <a:lnTo>
                    <a:pt x="971550" y="447675"/>
                  </a:lnTo>
                  <a:lnTo>
                    <a:pt x="971550" y="1181100"/>
                  </a:lnTo>
                  <a:lnTo>
                    <a:pt x="828675" y="1419225"/>
                  </a:lnTo>
                  <a:lnTo>
                    <a:pt x="552450" y="1524000"/>
                  </a:lnTo>
                  <a:lnTo>
                    <a:pt x="238125" y="1438275"/>
                  </a:lnTo>
                  <a:lnTo>
                    <a:pt x="0" y="1295400"/>
                  </a:lnTo>
                  <a:close/>
                </a:path>
              </a:pathLst>
            </a:custGeom>
            <a:solidFill xmlns:a="http://schemas.openxmlformats.org/drawingml/2006/main">
              <a:srgbClr val="F8E5D2"/>
            </a:solidFill>
            <a:ln xmlns:a="http://schemas.openxmlformats.org/drawingml/2006/main" w="14288">
              <a:solidFill>
                <a:srgbClr val="A27343"/>
              </a:solidFill>
              <a:prstDash val="solid"/>
            </a:ln>
          </p:spPr>
        </p:sp>
        <p:sp>
          <p:nvSpPr>
            <p:cNvPr id="7" name="mask-label-C2">
              <a:extLst xmlns:a="http://schemas.openxmlformats.org/drawingml/2006/main">
                <a:ext uri="{FF2B5EF4-FFF2-40B4-BE49-F238E27FC236}">
                  <a16:creationId xmlns:a16="http://schemas.microsoft.com/office/drawing/2014/main" id="{BDC0FE54-F8E7-4E1D-B684-0B154DD375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0" y="819150"/>
              <a:ext cx="3429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AB632C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B632C"/>
                  </a:solidFill>
                  <a:latin typeface="Arial"/>
                  <a:ea typeface="Arial"/>
                  <a:cs typeface="Arial"/>
                </a:rPr>
                <a:t>C2</a:t>
              </a:r>
            </a:p>
          </p:txBody>
        </p:sp>
      </p:grpSp>
      <p:grpSp>
        <p:nvGrpSpPr>
          <p:cNvPr id="163" name="outside-footprint-S4"/>
          <p:cNvGrpSpPr/>
          <p:nvPr/>
        </p:nvGrpSpPr>
        <p:grpSpPr>
          <ns1:xfrm xmlns:ns1="http://schemas.openxmlformats.org/drawingml/2006/main">
            <ns1:off x="2133600" y="1495425"/>
            <ns1:ext cx="342900" cy="342900"/>
            <ns1:chOff x="2133600" y="1495425"/>
            <ns1:chExt cx="342900" cy="342900"/>
          </ns1:xfrm>
        </p:grpSpPr>
        <p:sp>
          <p:nvSpPr>
            <p:cNvPr id="8" name="S4-hatch-0">
              <a:extLst xmlns:a="http://schemas.openxmlformats.org/drawingml/2006/main">
                <a:ext uri="{FF2B5EF4-FFF2-40B4-BE49-F238E27FC236}">
                  <a16:creationId xmlns:a16="http://schemas.microsoft.com/office/drawing/2014/main" id="{B99CEA62-A211-4C5E-9D17-480F0A9EBD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36542" y="1498342"/>
              <a:ext cx="137041" cy="137041"/>
            </a:xfrm>
            <a:custGeom xmlns:a="http://schemas.openxmlformats.org/drawingml/2006/main">
              <a:pathLst>
                <a:path w="137041" h="137041">
                  <a:moveTo>
                    <a:pt x="0" y="0"/>
                  </a:moveTo>
                  <a:lnTo>
                    <a:pt x="137041" y="13704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9" name="S4-hatch-1">
              <a:extLst xmlns:a="http://schemas.openxmlformats.org/drawingml/2006/main">
                <a:ext uri="{FF2B5EF4-FFF2-40B4-BE49-F238E27FC236}">
                  <a16:creationId xmlns:a16="http://schemas.microsoft.com/office/drawing/2014/main" id="{615C064A-8FE4-4B99-B56F-59A69BCEEE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1514475"/>
              <a:ext cx="170493" cy="170493"/>
            </a:xfrm>
            <a:custGeom xmlns:a="http://schemas.openxmlformats.org/drawingml/2006/main">
              <a:pathLst>
                <a:path w="170493" h="170493">
                  <a:moveTo>
                    <a:pt x="0" y="0"/>
                  </a:moveTo>
                  <a:lnTo>
                    <a:pt x="170493" y="17049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0" name="S4-hatch-2">
              <a:extLst xmlns:a="http://schemas.openxmlformats.org/drawingml/2006/main">
                <a:ext uri="{FF2B5EF4-FFF2-40B4-BE49-F238E27FC236}">
                  <a16:creationId xmlns:a16="http://schemas.microsoft.com/office/drawing/2014/main" id="{8F78B42E-1AAC-49B6-A632-366AFAC457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1562100"/>
              <a:ext cx="161718" cy="161718"/>
            </a:xfrm>
            <a:custGeom xmlns:a="http://schemas.openxmlformats.org/drawingml/2006/main">
              <a:pathLst>
                <a:path w="161718" h="161718">
                  <a:moveTo>
                    <a:pt x="0" y="0"/>
                  </a:moveTo>
                  <a:lnTo>
                    <a:pt x="161718" y="16171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1" name="S4-hatch-3">
              <a:extLst xmlns:a="http://schemas.openxmlformats.org/drawingml/2006/main">
                <a:ext uri="{FF2B5EF4-FFF2-40B4-BE49-F238E27FC236}">
                  <a16:creationId xmlns:a16="http://schemas.microsoft.com/office/drawing/2014/main" id="{1838181D-040B-42ED-B716-B6A5A9CC67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1609725"/>
              <a:ext cx="146393" cy="146393"/>
            </a:xfrm>
            <a:custGeom xmlns:a="http://schemas.openxmlformats.org/drawingml/2006/main">
              <a:pathLst>
                <a:path w="146393" h="146393">
                  <a:moveTo>
                    <a:pt x="0" y="0"/>
                  </a:moveTo>
                  <a:lnTo>
                    <a:pt x="146393" y="14639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2" name="S4-hatch-4">
              <a:extLst xmlns:a="http://schemas.openxmlformats.org/drawingml/2006/main">
                <a:ext uri="{FF2B5EF4-FFF2-40B4-BE49-F238E27FC236}">
                  <a16:creationId xmlns:a16="http://schemas.microsoft.com/office/drawing/2014/main" id="{053B2BA7-E1AA-4AA7-924D-9802F49DA2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1657350"/>
              <a:ext cx="125902" cy="125902"/>
            </a:xfrm>
            <a:custGeom xmlns:a="http://schemas.openxmlformats.org/drawingml/2006/main">
              <a:pathLst>
                <a:path w="125902" h="125902">
                  <a:moveTo>
                    <a:pt x="0" y="0"/>
                  </a:moveTo>
                  <a:lnTo>
                    <a:pt x="125902" y="12590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3" name="S4-hatch-5">
              <a:extLst xmlns:a="http://schemas.openxmlformats.org/drawingml/2006/main">
                <a:ext uri="{FF2B5EF4-FFF2-40B4-BE49-F238E27FC236}">
                  <a16:creationId xmlns:a16="http://schemas.microsoft.com/office/drawing/2014/main" id="{AF370AEA-3450-4BA2-BB29-B448943EFE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1704975"/>
              <a:ext cx="100677" cy="100677"/>
            </a:xfrm>
            <a:custGeom xmlns:a="http://schemas.openxmlformats.org/drawingml/2006/main">
              <a:pathLst>
                <a:path w="100677" h="100677">
                  <a:moveTo>
                    <a:pt x="0" y="0"/>
                  </a:moveTo>
                  <a:lnTo>
                    <a:pt x="100677" y="10067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4" name="S4-hatch-6">
              <a:extLst xmlns:a="http://schemas.openxmlformats.org/drawingml/2006/main">
                <a:ext uri="{FF2B5EF4-FFF2-40B4-BE49-F238E27FC236}">
                  <a16:creationId xmlns:a16="http://schemas.microsoft.com/office/drawing/2014/main" id="{6CD49D89-B23F-4988-A793-ACF0F6CDAD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1752600"/>
              <a:ext cx="70541" cy="70541"/>
            </a:xfrm>
            <a:custGeom xmlns:a="http://schemas.openxmlformats.org/drawingml/2006/main">
              <a:pathLst>
                <a:path w="70541" h="70541">
                  <a:moveTo>
                    <a:pt x="0" y="0"/>
                  </a:moveTo>
                  <a:lnTo>
                    <a:pt x="70541" y="7054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5" name="S4-hatch-7">
              <a:extLst xmlns:a="http://schemas.openxmlformats.org/drawingml/2006/main">
                <a:ext uri="{FF2B5EF4-FFF2-40B4-BE49-F238E27FC236}">
                  <a16:creationId xmlns:a16="http://schemas.microsoft.com/office/drawing/2014/main" id="{74615C82-DF29-4CD4-9D73-EEC15C2A3E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1800225"/>
              <a:ext cx="34577" cy="34577"/>
            </a:xfrm>
            <a:custGeom xmlns:a="http://schemas.openxmlformats.org/drawingml/2006/main">
              <a:pathLst>
                <a:path w="34577" h="34577">
                  <a:moveTo>
                    <a:pt x="0" y="0"/>
                  </a:moveTo>
                  <a:lnTo>
                    <a:pt x="34577" y="3457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32" name="disk-S4">
              <a:extLst xmlns:a="http://schemas.openxmlformats.org/drawingml/2006/main">
                <a:ext uri="{FF2B5EF4-FFF2-40B4-BE49-F238E27FC236}">
                  <a16:creationId xmlns:a16="http://schemas.microsoft.com/office/drawing/2014/main" id="{E9FCFF32-22E4-4D87-A072-FE7B40543A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3600" y="1495425"/>
              <a:ext cx="342900" cy="34290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25282D"/>
              </a:solidFill>
              <a:prstDash val="solid"/>
            </a:ln>
          </p:spPr>
        </p:sp>
        <p:sp>
          <p:nvSpPr>
            <p:cNvPr id="33" name="spot-label-S4">
              <a:extLst xmlns:a="http://schemas.openxmlformats.org/drawingml/2006/main">
                <a:ext uri="{FF2B5EF4-FFF2-40B4-BE49-F238E27FC236}">
                  <a16:creationId xmlns:a16="http://schemas.microsoft.com/office/drawing/2014/main" id="{89E7F520-7286-4257-8C81-1CC85D8D60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3600" y="1581150"/>
              <a:ext cx="3429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900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S4</a:t>
              </a:r>
            </a:p>
          </p:txBody>
        </p:sp>
      </p:grpSp>
      <p:grpSp>
        <p:nvGrpSpPr>
          <p:cNvPr id="164" name="outside-footprint-S5"/>
          <p:cNvGrpSpPr/>
          <p:nvPr/>
        </p:nvGrpSpPr>
        <p:grpSpPr>
          <ns1:xfrm xmlns:ns1="http://schemas.openxmlformats.org/drawingml/2006/main">
            <ns1:off x="2362200" y="2085975"/>
            <ns1:ext cx="323850" cy="323850"/>
            <ns1:chOff x="2362200" y="2085975"/>
            <ns1:chExt cx="323850" cy="323850"/>
          </ns1:xfrm>
        </p:grpSpPr>
        <p:sp>
          <p:nvSpPr>
            <p:cNvPr id="16" name="S5-hatch-0">
              <a:extLst xmlns:a="http://schemas.openxmlformats.org/drawingml/2006/main">
                <a:ext uri="{FF2B5EF4-FFF2-40B4-BE49-F238E27FC236}">
                  <a16:creationId xmlns:a16="http://schemas.microsoft.com/office/drawing/2014/main" id="{B50B319F-8FDC-4802-BF8F-1226D9092E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31690" y="2126865"/>
              <a:ext cx="13470" cy="13470"/>
            </a:xfrm>
            <a:custGeom xmlns:a="http://schemas.openxmlformats.org/drawingml/2006/main">
              <a:pathLst>
                <a:path w="13470" h="13470">
                  <a:moveTo>
                    <a:pt x="0" y="0"/>
                  </a:moveTo>
                  <a:lnTo>
                    <a:pt x="13470" y="1347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7" name="S5-hatch-1">
              <a:extLst xmlns:a="http://schemas.openxmlformats.org/drawingml/2006/main">
                <a:ext uri="{FF2B5EF4-FFF2-40B4-BE49-F238E27FC236}">
                  <a16:creationId xmlns:a16="http://schemas.microsoft.com/office/drawing/2014/main" id="{2501F822-EB73-4AA4-8F0D-475E392F24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44456" y="2087256"/>
              <a:ext cx="140312" cy="140312"/>
            </a:xfrm>
            <a:custGeom xmlns:a="http://schemas.openxmlformats.org/drawingml/2006/main">
              <a:pathLst>
                <a:path w="140312" h="140312">
                  <a:moveTo>
                    <a:pt x="0" y="0"/>
                  </a:moveTo>
                  <a:lnTo>
                    <a:pt x="140312" y="14031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8" name="S5-hatch-2">
              <a:extLst xmlns:a="http://schemas.openxmlformats.org/drawingml/2006/main">
                <a:ext uri="{FF2B5EF4-FFF2-40B4-BE49-F238E27FC236}">
                  <a16:creationId xmlns:a16="http://schemas.microsoft.com/office/drawing/2014/main" id="{EB9F2615-25A3-475E-B520-88883D6E25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97718" y="2088143"/>
              <a:ext cx="186164" cy="186164"/>
            </a:xfrm>
            <a:custGeom xmlns:a="http://schemas.openxmlformats.org/drawingml/2006/main">
              <a:pathLst>
                <a:path w="186164" h="186164">
                  <a:moveTo>
                    <a:pt x="0" y="0"/>
                  </a:moveTo>
                  <a:lnTo>
                    <a:pt x="186164" y="18616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19" name="S5-hatch-3">
              <a:extLst xmlns:a="http://schemas.openxmlformats.org/drawingml/2006/main">
                <a:ext uri="{FF2B5EF4-FFF2-40B4-BE49-F238E27FC236}">
                  <a16:creationId xmlns:a16="http://schemas.microsoft.com/office/drawing/2014/main" id="{399E56E2-F4A4-4409-B3C2-90BDB1EF31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60815" y="2098865"/>
              <a:ext cx="212346" cy="212346"/>
            </a:xfrm>
            <a:custGeom xmlns:a="http://schemas.openxmlformats.org/drawingml/2006/main">
              <a:pathLst>
                <a:path w="212346" h="212346">
                  <a:moveTo>
                    <a:pt x="0" y="0"/>
                  </a:moveTo>
                  <a:lnTo>
                    <a:pt x="212346" y="212346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20" name="S5-hatch-4">
              <a:extLst xmlns:a="http://schemas.openxmlformats.org/drawingml/2006/main">
                <a:ext uri="{FF2B5EF4-FFF2-40B4-BE49-F238E27FC236}">
                  <a16:creationId xmlns:a16="http://schemas.microsoft.com/office/drawing/2014/main" id="{AEAEA196-6050-45C5-A85B-559505F494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30273" y="2115948"/>
              <a:ext cx="225805" cy="225805"/>
            </a:xfrm>
            <a:custGeom xmlns:a="http://schemas.openxmlformats.org/drawingml/2006/main">
              <a:pathLst>
                <a:path w="225805" h="225805">
                  <a:moveTo>
                    <a:pt x="0" y="0"/>
                  </a:moveTo>
                  <a:lnTo>
                    <a:pt x="225805" y="22580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21" name="S5-hatch-5">
              <a:extLst xmlns:a="http://schemas.openxmlformats.org/drawingml/2006/main">
                <a:ext uri="{FF2B5EF4-FFF2-40B4-BE49-F238E27FC236}">
                  <a16:creationId xmlns:a16="http://schemas.microsoft.com/office/drawing/2014/main" id="{C13C1056-78A8-4A4A-9C2F-06D0750830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04963" y="2138263"/>
              <a:ext cx="228798" cy="228798"/>
            </a:xfrm>
            <a:custGeom xmlns:a="http://schemas.openxmlformats.org/drawingml/2006/main">
              <a:pathLst>
                <a:path w="228798" h="228798">
                  <a:moveTo>
                    <a:pt x="0" y="0"/>
                  </a:moveTo>
                  <a:lnTo>
                    <a:pt x="228798" y="22879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22" name="S5-hatch-6">
              <a:extLst xmlns:a="http://schemas.openxmlformats.org/drawingml/2006/main">
                <a:ext uri="{FF2B5EF4-FFF2-40B4-BE49-F238E27FC236}">
                  <a16:creationId xmlns:a16="http://schemas.microsoft.com/office/drawing/2014/main" id="{7C08327F-A8CF-4FE7-976A-0A4ADB49B6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4675" y="2165600"/>
              <a:ext cx="221751" cy="221751"/>
            </a:xfrm>
            <a:custGeom xmlns:a="http://schemas.openxmlformats.org/drawingml/2006/main">
              <a:pathLst>
                <a:path w="221751" h="221751">
                  <a:moveTo>
                    <a:pt x="0" y="0"/>
                  </a:moveTo>
                  <a:lnTo>
                    <a:pt x="221751" y="22175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23" name="S5-hatch-7">
              <a:extLst xmlns:a="http://schemas.openxmlformats.org/drawingml/2006/main">
                <a:ext uri="{FF2B5EF4-FFF2-40B4-BE49-F238E27FC236}">
                  <a16:creationId xmlns:a16="http://schemas.microsoft.com/office/drawing/2014/main" id="{5E1BB1F2-9C13-4464-B996-AD745D9C44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9927" y="2198477"/>
              <a:ext cx="203621" cy="203621"/>
            </a:xfrm>
            <a:custGeom xmlns:a="http://schemas.openxmlformats.org/drawingml/2006/main">
              <a:pathLst>
                <a:path w="203621" h="203621">
                  <a:moveTo>
                    <a:pt x="0" y="0"/>
                  </a:moveTo>
                  <a:lnTo>
                    <a:pt x="203621" y="20362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24" name="S5-hatch-8">
              <a:extLst xmlns:a="http://schemas.openxmlformats.org/drawingml/2006/main">
                <a:ext uri="{FF2B5EF4-FFF2-40B4-BE49-F238E27FC236}">
                  <a16:creationId xmlns:a16="http://schemas.microsoft.com/office/drawing/2014/main" id="{537BC873-4A75-412F-8800-492E245C91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2465" y="2238640"/>
              <a:ext cx="170920" cy="170920"/>
            </a:xfrm>
            <a:custGeom xmlns:a="http://schemas.openxmlformats.org/drawingml/2006/main">
              <a:pathLst>
                <a:path w="170920" h="170920">
                  <a:moveTo>
                    <a:pt x="0" y="0"/>
                  </a:moveTo>
                  <a:lnTo>
                    <a:pt x="170920" y="17092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25" name="S5-hatch-9">
              <a:extLst xmlns:a="http://schemas.openxmlformats.org/drawingml/2006/main">
                <a:ext uri="{FF2B5EF4-FFF2-40B4-BE49-F238E27FC236}">
                  <a16:creationId xmlns:a16="http://schemas.microsoft.com/office/drawing/2014/main" id="{33DB0749-6F2F-4858-A57A-3F246300E9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8369" y="2292169"/>
              <a:ext cx="111487" cy="111487"/>
            </a:xfrm>
            <a:custGeom xmlns:a="http://schemas.openxmlformats.org/drawingml/2006/main">
              <a:pathLst>
                <a:path w="111487" h="111487">
                  <a:moveTo>
                    <a:pt x="0" y="0"/>
                  </a:moveTo>
                  <a:lnTo>
                    <a:pt x="111487" y="11148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5715">
              <a:solidFill>
                <a:srgbClr val="8A9096"/>
              </a:solidFill>
              <a:prstDash val="solid"/>
            </a:ln>
          </p:spPr>
        </p:sp>
        <p:sp>
          <p:nvSpPr>
            <p:cNvPr id="34" name="disk-S5">
              <a:extLst xmlns:a="http://schemas.openxmlformats.org/drawingml/2006/main">
                <a:ext uri="{FF2B5EF4-FFF2-40B4-BE49-F238E27FC236}">
                  <a16:creationId xmlns:a16="http://schemas.microsoft.com/office/drawing/2014/main" id="{6EA92C73-82FE-4681-A3FF-D5DBD06DFC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2200" y="2085975"/>
              <a:ext cx="323850" cy="32385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25282D"/>
              </a:solidFill>
              <a:prstDash val="solid"/>
            </a:ln>
          </p:spPr>
        </p:sp>
        <p:sp>
          <p:nvSpPr>
            <p:cNvPr id="35" name="S5-label-clear">
              <a:extLst xmlns:a="http://schemas.openxmlformats.org/drawingml/2006/main">
                <a:ext uri="{FF2B5EF4-FFF2-40B4-BE49-F238E27FC236}">
                  <a16:creationId xmlns:a16="http://schemas.microsoft.com/office/drawing/2014/main" id="{F95AA3C8-42DC-47CF-9A60-32B6408955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28875" y="2181225"/>
              <a:ext cx="190500" cy="1333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6" name="spot-label-S5">
              <a:extLst xmlns:a="http://schemas.openxmlformats.org/drawingml/2006/main">
                <a:ext uri="{FF2B5EF4-FFF2-40B4-BE49-F238E27FC236}">
                  <a16:creationId xmlns:a16="http://schemas.microsoft.com/office/drawing/2014/main" id="{16C6C1F0-A47A-488B-9E8C-1E8BCD6CED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2200" y="2162175"/>
              <a:ext cx="3238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900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S5</a:t>
              </a:r>
            </a:p>
          </p:txBody>
        </p:sp>
      </p:grpSp>
      <p:sp>
        <p:nvSpPr>
          <p:cNvPr id="26" name="disk-S1">
            <a:extLst xmlns:a="http://schemas.openxmlformats.org/drawingml/2006/main">
              <a:ext uri="{FF2B5EF4-FFF2-40B4-BE49-F238E27FC236}">
                <a16:creationId xmlns:a16="http://schemas.microsoft.com/office/drawing/2014/main" id="{AA108E0A-F2AA-4C2F-A545-7AC9BAC5D6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975" y="120015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82D"/>
            </a:solidFill>
            <a:prstDash val="solid"/>
          </a:ln>
        </p:spPr>
      </p:sp>
      <p:sp>
        <p:nvSpPr>
          <p:cNvPr id="27" name="spot-label-S1">
            <a:extLst xmlns:a="http://schemas.openxmlformats.org/drawingml/2006/main">
              <a:ext uri="{FF2B5EF4-FFF2-40B4-BE49-F238E27FC236}">
                <a16:creationId xmlns:a16="http://schemas.microsoft.com/office/drawing/2014/main" id="{58BEBACF-3013-47AE-8C27-E9610894F6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975" y="12858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28" name="disk-S2">
            <a:extLst xmlns:a="http://schemas.openxmlformats.org/drawingml/2006/main">
              <a:ext uri="{FF2B5EF4-FFF2-40B4-BE49-F238E27FC236}">
                <a16:creationId xmlns:a16="http://schemas.microsoft.com/office/drawing/2014/main" id="{05EF6601-38B2-4FED-BD64-3573E3069F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3000" y="128587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82D"/>
            </a:solidFill>
            <a:prstDash val="solid"/>
          </a:ln>
        </p:spPr>
      </p:sp>
      <p:sp>
        <p:nvSpPr>
          <p:cNvPr id="29" name="spot-label-S2">
            <a:extLst xmlns:a="http://schemas.openxmlformats.org/drawingml/2006/main">
              <a:ext uri="{FF2B5EF4-FFF2-40B4-BE49-F238E27FC236}">
                <a16:creationId xmlns:a16="http://schemas.microsoft.com/office/drawing/2014/main" id="{2A570D94-6DE5-4012-B5D0-183C0154D8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3000" y="1390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30" name="disk-S3">
            <a:extLst xmlns:a="http://schemas.openxmlformats.org/drawingml/2006/main">
              <a:ext uri="{FF2B5EF4-FFF2-40B4-BE49-F238E27FC236}">
                <a16:creationId xmlns:a16="http://schemas.microsoft.com/office/drawing/2014/main" id="{15906848-1944-4C83-A9ED-EA7E237F2E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119062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82D"/>
            </a:solidFill>
            <a:prstDash val="solid"/>
          </a:ln>
        </p:spPr>
      </p:sp>
      <p:sp>
        <p:nvSpPr>
          <p:cNvPr id="31" name="spot-label-S3">
            <a:extLst xmlns:a="http://schemas.openxmlformats.org/drawingml/2006/main">
              <a:ext uri="{FF2B5EF4-FFF2-40B4-BE49-F238E27FC236}">
                <a16:creationId xmlns:a16="http://schemas.microsoft.com/office/drawing/2014/main" id="{81E37D65-7F1F-4FA7-88FD-D9FD4F853F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1276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37" name="hatch-key">
            <a:extLst xmlns:a="http://schemas.openxmlformats.org/drawingml/2006/main">
              <a:ext uri="{FF2B5EF4-FFF2-40B4-BE49-F238E27FC236}">
                <a16:creationId xmlns:a16="http://schemas.microsoft.com/office/drawing/2014/main" id="{2FC3C19C-B451-48AF-9E56-318A2E0D4C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950" y="2343150"/>
            <a:ext cx="114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9096"/>
            </a:solidFill>
            <a:prstDash val="solid"/>
          </a:ln>
        </p:spPr>
      </p:sp>
      <p:sp>
        <p:nvSpPr>
          <p:cNvPr id="38" name="hatch-key-1">
            <a:extLst xmlns:a="http://schemas.openxmlformats.org/drawingml/2006/main">
              <a:ext uri="{FF2B5EF4-FFF2-40B4-BE49-F238E27FC236}">
                <a16:creationId xmlns:a16="http://schemas.microsoft.com/office/drawing/2014/main" id="{68225EDF-64BD-4301-B912-7E0D73B741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950" y="2343150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857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8A9096"/>
            </a:solidFill>
            <a:prstDash val="solid"/>
          </a:ln>
        </p:spPr>
      </p:sp>
      <p:sp>
        <p:nvSpPr>
          <p:cNvPr id="39" name="hatch-key-2">
            <a:extLst xmlns:a="http://schemas.openxmlformats.org/drawingml/2006/main">
              <a:ext uri="{FF2B5EF4-FFF2-40B4-BE49-F238E27FC236}">
                <a16:creationId xmlns:a16="http://schemas.microsoft.com/office/drawing/2014/main" id="{F6DD64C4-DA4B-47EA-BF4C-D366143840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575" y="2343150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66675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8A9096"/>
            </a:solidFill>
            <a:prstDash val="solid"/>
          </a:ln>
        </p:spPr>
      </p:sp>
      <p:sp>
        <p:nvSpPr>
          <p:cNvPr id="40" name="hatch-key-label">
            <a:extLst xmlns:a="http://schemas.openxmlformats.org/drawingml/2006/main">
              <a:ext uri="{FF2B5EF4-FFF2-40B4-BE49-F238E27FC236}">
                <a16:creationId xmlns:a16="http://schemas.microsoft.com/office/drawing/2014/main" id="{896B2BA3-3F53-46B2-974C-E97A454636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3875" y="22860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Unassigned area</a:t>
            </a:r>
          </a:p>
        </p:txBody>
      </p:sp>
      <p:sp>
        <p:nvSpPr>
          <p:cNvPr id="41" name="spatial-note">
            <a:extLst xmlns:a="http://schemas.openxmlformats.org/drawingml/2006/main">
              <a:ext uri="{FF2B5EF4-FFF2-40B4-BE49-F238E27FC236}">
                <a16:creationId xmlns:a16="http://schemas.microsoft.com/office/drawing/2014/main" id="{145E85B8-D00F-47D8-8245-B44DD13947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562225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S2 shares x₂; S4 retains unassigned area.</a:t>
            </a:r>
          </a:p>
        </p:txBody>
      </p:sp>
      <p:sp>
        <p:nvSpPr>
          <p:cNvPr id="42" name="weight-definition">
            <a:extLst xmlns:a="http://schemas.openxmlformats.org/drawingml/2006/main">
              <a:ext uri="{FF2B5EF4-FFF2-40B4-BE49-F238E27FC236}">
                <a16:creationId xmlns:a16="http://schemas.microsoft.com/office/drawing/2014/main" id="{03E4B3CB-4725-4B50-AF4A-913D51D4E9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447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a</a:t>
            </a:r>
            <a:r>
              <a:rPr sz="698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ci</a:t>
            </a:r>
            <a:r>
              <a:rPr sz="93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 = area(C</a:t>
            </a:r>
            <a:r>
              <a:rPr sz="698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c</a:t>
            </a:r>
            <a:r>
              <a:rPr sz="93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 ∩ D</a:t>
            </a:r>
            <a:r>
              <a:rPr sz="698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</a:t>
            </a:r>
            <a:r>
              <a:rPr sz="93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) / area(D</a:t>
            </a:r>
            <a:r>
              <a:rPr sz="698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</a:t>
            </a:r>
            <a:r>
              <a:rPr sz="93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43" name="footprint-definition">
            <a:extLst xmlns:a="http://schemas.openxmlformats.org/drawingml/2006/main">
              <a:ext uri="{FF2B5EF4-FFF2-40B4-BE49-F238E27FC236}">
                <a16:creationId xmlns:a16="http://schemas.microsoft.com/office/drawing/2014/main" id="{B6D64D32-1D81-492E-A8DB-86F4B36B1F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666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D</a:t>
            </a:r>
            <a:r>
              <a:rPr sz="641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</a:t>
            </a:r>
            <a:r>
              <a:rPr sz="855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: spot footprint     0 &lt; α, β &lt; 1</a:t>
            </a:r>
          </a:p>
        </p:txBody>
      </p:sp>
      <p:sp>
        <p:nvSpPr>
          <p:cNvPr id="44" name="matrix-column-1">
            <a:extLst xmlns:a="http://schemas.openxmlformats.org/drawingml/2006/main">
              <a:ext uri="{FF2B5EF4-FFF2-40B4-BE49-F238E27FC236}">
                <a16:creationId xmlns:a16="http://schemas.microsoft.com/office/drawing/2014/main" id="{554CDFD8-F4B2-499F-9221-D01E95BA1C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29050" y="933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45" name="matrix-column-2">
            <a:extLst xmlns:a="http://schemas.openxmlformats.org/drawingml/2006/main">
              <a:ext uri="{FF2B5EF4-FFF2-40B4-BE49-F238E27FC236}">
                <a16:creationId xmlns:a16="http://schemas.microsoft.com/office/drawing/2014/main" id="{95310BDD-EBF3-46D3-823B-98482FE8D8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05300" y="933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46" name="matrix-column-3">
            <a:extLst xmlns:a="http://schemas.openxmlformats.org/drawingml/2006/main">
              <a:ext uri="{FF2B5EF4-FFF2-40B4-BE49-F238E27FC236}">
                <a16:creationId xmlns:a16="http://schemas.microsoft.com/office/drawing/2014/main" id="{F4336B15-F178-4B13-B75B-234DD71B56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81550" y="933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47" name="matrix-column-4">
            <a:extLst xmlns:a="http://schemas.openxmlformats.org/drawingml/2006/main">
              <a:ext uri="{FF2B5EF4-FFF2-40B4-BE49-F238E27FC236}">
                <a16:creationId xmlns:a16="http://schemas.microsoft.com/office/drawing/2014/main" id="{2371526A-60AB-4342-A67F-5AE1B7CABF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57800" y="933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48" name="matrix-column-5">
            <a:extLst xmlns:a="http://schemas.openxmlformats.org/drawingml/2006/main">
              <a:ext uri="{FF2B5EF4-FFF2-40B4-BE49-F238E27FC236}">
                <a16:creationId xmlns:a16="http://schemas.microsoft.com/office/drawing/2014/main" id="{11D51B45-3192-44D9-B8E5-2C32E70E0A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4050" y="933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49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84FDADF9-9814-44FA-9C5F-B3AFD86262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11430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27A84"/>
            </a:solidFill>
            <a:prstDash val="solid"/>
          </a:ln>
        </p:spPr>
      </p:sp>
      <p:sp>
        <p:nvSpPr>
          <p:cNvPr id="50" name="matrix-C1-fill">
            <a:extLst xmlns:a="http://schemas.openxmlformats.org/drawingml/2006/main">
              <a:ext uri="{FF2B5EF4-FFF2-40B4-BE49-F238E27FC236}">
                <a16:creationId xmlns:a16="http://schemas.microsoft.com/office/drawing/2014/main" id="{865CDBC2-CDEB-4C3D-BB9D-60FD30C4CF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7563" y="1147763"/>
            <a:ext cx="2847975" cy="347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atrix-C2-fill">
            <a:extLst xmlns:a="http://schemas.openxmlformats.org/drawingml/2006/main">
              <a:ext uri="{FF2B5EF4-FFF2-40B4-BE49-F238E27FC236}">
                <a16:creationId xmlns:a16="http://schemas.microsoft.com/office/drawing/2014/main" id="{E3D76D6C-E2CC-4888-A741-2E23C22C55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7563" y="1495425"/>
            <a:ext cx="2847975" cy="347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matrix-row-rule">
            <a:extLst xmlns:a="http://schemas.openxmlformats.org/drawingml/2006/main">
              <a:ext uri="{FF2B5EF4-FFF2-40B4-BE49-F238E27FC236}">
                <a16:creationId xmlns:a16="http://schemas.microsoft.com/office/drawing/2014/main" id="{E5188721-339B-4372-9E0A-486C2BCAD5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1495425"/>
            <a:ext cx="2857500" cy="95"/>
          </a:xfrm>
          <a:custGeom xmlns:a="http://schemas.openxmlformats.org/drawingml/2006/main">
            <a:pathLst>
              <a:path w="2857500" h="9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27A84"/>
            </a:solidFill>
            <a:prstDash val="solid"/>
          </a:ln>
        </p:spPr>
      </p:sp>
      <p:sp>
        <p:nvSpPr>
          <p:cNvPr id="53" name="matrix-column-rule-1">
            <a:extLst xmlns:a="http://schemas.openxmlformats.org/drawingml/2006/main">
              <a:ext uri="{FF2B5EF4-FFF2-40B4-BE49-F238E27FC236}">
                <a16:creationId xmlns:a16="http://schemas.microsoft.com/office/drawing/2014/main" id="{332E40F3-5379-466A-8B12-6CD3028126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29050" y="1143000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C2C9"/>
            </a:solidFill>
            <a:prstDash val="solid"/>
          </a:ln>
        </p:spPr>
      </p:sp>
      <p:sp>
        <p:nvSpPr>
          <p:cNvPr id="54" name="matrix-column-rule-2">
            <a:extLst xmlns:a="http://schemas.openxmlformats.org/drawingml/2006/main">
              <a:ext uri="{FF2B5EF4-FFF2-40B4-BE49-F238E27FC236}">
                <a16:creationId xmlns:a16="http://schemas.microsoft.com/office/drawing/2014/main" id="{4DE903F0-2F01-4CD4-BA1C-E782FB2E27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05300" y="1143000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C2C9"/>
            </a:solidFill>
            <a:prstDash val="solid"/>
          </a:ln>
        </p:spPr>
      </p:sp>
      <p:sp>
        <p:nvSpPr>
          <p:cNvPr id="55" name="matrix-column-rule-3">
            <a:extLst xmlns:a="http://schemas.openxmlformats.org/drawingml/2006/main">
              <a:ext uri="{FF2B5EF4-FFF2-40B4-BE49-F238E27FC236}">
                <a16:creationId xmlns:a16="http://schemas.microsoft.com/office/drawing/2014/main" id="{2906063C-84FB-4BB4-9884-E83F3A8988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81550" y="1143000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C2C9"/>
            </a:solidFill>
            <a:prstDash val="solid"/>
          </a:ln>
        </p:spPr>
      </p:sp>
      <p:sp>
        <p:nvSpPr>
          <p:cNvPr id="56" name="matrix-column-rule-4">
            <a:extLst xmlns:a="http://schemas.openxmlformats.org/drawingml/2006/main">
              <a:ext uri="{FF2B5EF4-FFF2-40B4-BE49-F238E27FC236}">
                <a16:creationId xmlns:a16="http://schemas.microsoft.com/office/drawing/2014/main" id="{481BB27C-5490-4CDE-9635-EA0F7AD495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57800" y="1143000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C2C9"/>
            </a:solidFill>
            <a:prstDash val="solid"/>
          </a:ln>
        </p:spPr>
      </p:sp>
      <p:sp>
        <p:nvSpPr>
          <p:cNvPr id="57" name="matrix-column-rule-5">
            <a:extLst xmlns:a="http://schemas.openxmlformats.org/drawingml/2006/main">
              <a:ext uri="{FF2B5EF4-FFF2-40B4-BE49-F238E27FC236}">
                <a16:creationId xmlns:a16="http://schemas.microsoft.com/office/drawing/2014/main" id="{17A537E3-B9EB-4A07-B26F-D3EAEC4724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4050" y="1143000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C2C9"/>
            </a:solidFill>
            <a:prstDash val="solid"/>
          </a:ln>
        </p:spPr>
      </p:sp>
      <p:grpSp>
        <p:nvGrpSpPr>
          <p:cNvPr id="165" name="weights-A"/>
          <p:cNvGrpSpPr/>
          <p:nvPr/>
        </p:nvGrpSpPr>
        <p:grpSpPr>
          <ns1:xfrm xmlns:ns1="http://schemas.openxmlformats.org/drawingml/2006/main">
            <ns1:off x="3352800" y="1143000"/>
            <ns1:ext cx="2857500" cy="704850"/>
            <ns1:chOff x="3352800" y="1143000"/>
            <ns1:chExt cx="2857500" cy="704850"/>
          </ns1:xfrm>
        </p:grpSpPr>
        <p:sp>
          <p:nvSpPr>
            <p:cNvPr id="58" name="matrix-row-C1">
              <a:extLst xmlns:a="http://schemas.openxmlformats.org/drawingml/2006/main">
                <a:ext uri="{FF2B5EF4-FFF2-40B4-BE49-F238E27FC236}">
                  <a16:creationId xmlns:a16="http://schemas.microsoft.com/office/drawing/2014/main" id="{7914BF91-3734-409B-9832-1CE03ACC45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143000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30649B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30649B"/>
                  </a:solidFill>
                  <a:latin typeface="Arial"/>
                  <a:ea typeface="Arial"/>
                  <a:cs typeface="Arial"/>
                </a:rPr>
                <a:t>C1</a:t>
              </a:r>
            </a:p>
          </p:txBody>
        </p:sp>
        <p:sp>
          <p:nvSpPr>
            <p:cNvPr id="59" name="matrix-row-C2">
              <a:extLst xmlns:a="http://schemas.openxmlformats.org/drawingml/2006/main">
                <a:ext uri="{FF2B5EF4-FFF2-40B4-BE49-F238E27FC236}">
                  <a16:creationId xmlns:a16="http://schemas.microsoft.com/office/drawing/2014/main" id="{C00CA487-749D-4D44-BBBE-6C5DDBC369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495425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AB632C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AB632C"/>
                  </a:solidFill>
                  <a:latin typeface="Arial"/>
                  <a:ea typeface="Arial"/>
                  <a:cs typeface="Arial"/>
                </a:rPr>
                <a:t>C2</a:t>
              </a:r>
            </a:p>
          </p:txBody>
        </p:sp>
        <p:sp>
          <p:nvSpPr>
            <p:cNvPr id="60" name="A-1-1">
              <a:extLst xmlns:a="http://schemas.openxmlformats.org/drawingml/2006/main">
                <a:ext uri="{FF2B5EF4-FFF2-40B4-BE49-F238E27FC236}">
                  <a16:creationId xmlns:a16="http://schemas.microsoft.com/office/drawing/2014/main" id="{56390A7F-6FA5-4666-9AC8-30BE5C5A78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29050" y="1143000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61" name="A-1-2">
              <a:extLst xmlns:a="http://schemas.openxmlformats.org/drawingml/2006/main">
                <a:ext uri="{FF2B5EF4-FFF2-40B4-BE49-F238E27FC236}">
                  <a16:creationId xmlns:a16="http://schemas.microsoft.com/office/drawing/2014/main" id="{15DE0E17-C250-403F-825D-54242CBF6A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05300" y="1143000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α</a:t>
              </a:r>
            </a:p>
          </p:txBody>
        </p:sp>
        <p:sp>
          <p:nvSpPr>
            <p:cNvPr id="62" name="A-1-3">
              <a:extLst xmlns:a="http://schemas.openxmlformats.org/drawingml/2006/main">
                <a:ext uri="{FF2B5EF4-FFF2-40B4-BE49-F238E27FC236}">
                  <a16:creationId xmlns:a16="http://schemas.microsoft.com/office/drawing/2014/main" id="{E90C4AF8-EB34-4A0D-B092-6926F3F411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1550" y="1143000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63" name="A-1-4">
              <a:extLst xmlns:a="http://schemas.openxmlformats.org/drawingml/2006/main">
                <a:ext uri="{FF2B5EF4-FFF2-40B4-BE49-F238E27FC236}">
                  <a16:creationId xmlns:a16="http://schemas.microsoft.com/office/drawing/2014/main" id="{D01CD772-0A73-4F5F-AF04-1D692D6E4F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143000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64" name="A-1-5">
              <a:extLst xmlns:a="http://schemas.openxmlformats.org/drawingml/2006/main">
                <a:ext uri="{FF2B5EF4-FFF2-40B4-BE49-F238E27FC236}">
                  <a16:creationId xmlns:a16="http://schemas.microsoft.com/office/drawing/2014/main" id="{B95ED955-CC89-4B2C-B444-4A8AC8D8AF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4050" y="1143000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65" name="A-2-1">
              <a:extLst xmlns:a="http://schemas.openxmlformats.org/drawingml/2006/main">
                <a:ext uri="{FF2B5EF4-FFF2-40B4-BE49-F238E27FC236}">
                  <a16:creationId xmlns:a16="http://schemas.microsoft.com/office/drawing/2014/main" id="{767DBDB5-E09B-4377-9030-FB6F3439AA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29050" y="1495425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66" name="A-2-2">
              <a:extLst xmlns:a="http://schemas.openxmlformats.org/drawingml/2006/main">
                <a:ext uri="{FF2B5EF4-FFF2-40B4-BE49-F238E27FC236}">
                  <a16:creationId xmlns:a16="http://schemas.microsoft.com/office/drawing/2014/main" id="{92E01BB0-9C87-402C-A6B4-6A9919CFAC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05300" y="1495425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1−α</a:t>
              </a:r>
            </a:p>
          </p:txBody>
        </p:sp>
        <p:sp>
          <p:nvSpPr>
            <p:cNvPr id="67" name="A-2-3">
              <a:extLst xmlns:a="http://schemas.openxmlformats.org/drawingml/2006/main">
                <a:ext uri="{FF2B5EF4-FFF2-40B4-BE49-F238E27FC236}">
                  <a16:creationId xmlns:a16="http://schemas.microsoft.com/office/drawing/2014/main" id="{2F6B02A6-136A-4BC0-89EE-E65B6EEF76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1550" y="1495425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68" name="A-2-4">
              <a:extLst xmlns:a="http://schemas.openxmlformats.org/drawingml/2006/main">
                <a:ext uri="{FF2B5EF4-FFF2-40B4-BE49-F238E27FC236}">
                  <a16:creationId xmlns:a16="http://schemas.microsoft.com/office/drawing/2014/main" id="{694C30DE-2234-4871-8F64-601B70E1E5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495425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1125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β</a:t>
              </a:r>
            </a:p>
          </p:txBody>
        </p:sp>
        <p:sp>
          <p:nvSpPr>
            <p:cNvPr id="69" name="A-2-5">
              <a:extLst xmlns:a="http://schemas.openxmlformats.org/drawingml/2006/main">
                <a:ext uri="{FF2B5EF4-FFF2-40B4-BE49-F238E27FC236}">
                  <a16:creationId xmlns:a16="http://schemas.microsoft.com/office/drawing/2014/main" id="{8004356F-1A4A-4854-B37E-CFC8761C4D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4050" y="1495425"/>
              <a:ext cx="4762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47A8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</p:grpSp>
      <p:cxnSp>
        <p:nvCxnSpPr>
          <p:cNvPr id="160" name="derive-area-weights"/>
          <p:cNvCxnSpPr>
            <a:stCxn xmlns:a="http://schemas.openxmlformats.org/drawingml/2006/main" id="3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800350" y="14954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3D444C"/>
            </a:solidFill>
            <a:prstDash val="solid"/>
            <a:round/>
            <a:tailEnd type="triangle" w="med" len="med"/>
          </a:ln>
        </p:spPr>
      </p:cxnSp>
      <p:sp>
        <p:nvSpPr>
          <p:cNvPr id="71" name="weight-arrow-label">
            <a:extLst xmlns:a="http://schemas.openxmlformats.org/drawingml/2006/main">
              <a:ext uri="{FF2B5EF4-FFF2-40B4-BE49-F238E27FC236}">
                <a16:creationId xmlns:a16="http://schemas.microsoft.com/office/drawing/2014/main" id="{B984E848-9D66-41DE-95D5-3E6715A61D6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19400" y="1181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area</a:t>
            </a:r>
          </a:p>
          <a:p xmlns:a="http://schemas.openxmlformats.org/drawingml/2006/main">
            <a:pPr algn="ctr">
              <a:defRPr sz="765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overlap</a:t>
            </a:r>
          </a:p>
        </p:txBody>
      </p:sp>
      <p:sp>
        <p:nvSpPr>
          <p:cNvPr id="72" name="outside-row-label">
            <a:extLst xmlns:a="http://schemas.openxmlformats.org/drawingml/2006/main">
              <a:ext uri="{FF2B5EF4-FFF2-40B4-BE49-F238E27FC236}">
                <a16:creationId xmlns:a16="http://schemas.microsoft.com/office/drawing/2014/main" id="{0DD2644E-398B-40B9-A56F-4AEAA94D7D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24225" y="21240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Outside</a:t>
            </a:r>
          </a:p>
        </p:txBody>
      </p:sp>
      <p:sp>
        <p:nvSpPr>
          <p:cNvPr id="73" name="outside-1">
            <a:extLst xmlns:a="http://schemas.openxmlformats.org/drawingml/2006/main">
              <a:ext uri="{FF2B5EF4-FFF2-40B4-BE49-F238E27FC236}">
                <a16:creationId xmlns:a16="http://schemas.microsoft.com/office/drawing/2014/main" id="{B2800887-83C4-44FD-A958-BD79660285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29050" y="2124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outside-2">
            <a:extLst xmlns:a="http://schemas.openxmlformats.org/drawingml/2006/main">
              <a:ext uri="{FF2B5EF4-FFF2-40B4-BE49-F238E27FC236}">
                <a16:creationId xmlns:a16="http://schemas.microsoft.com/office/drawing/2014/main" id="{227F308F-A260-45C0-A721-D85B86AC81B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05300" y="2124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5" name="outside-3">
            <a:extLst xmlns:a="http://schemas.openxmlformats.org/drawingml/2006/main">
              <a:ext uri="{FF2B5EF4-FFF2-40B4-BE49-F238E27FC236}">
                <a16:creationId xmlns:a16="http://schemas.microsoft.com/office/drawing/2014/main" id="{49966B39-2A25-49E7-A3C6-5CAA5F99B8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81550" y="2124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" name="outside-4">
            <a:extLst xmlns:a="http://schemas.openxmlformats.org/drawingml/2006/main">
              <a:ext uri="{FF2B5EF4-FFF2-40B4-BE49-F238E27FC236}">
                <a16:creationId xmlns:a16="http://schemas.microsoft.com/office/drawing/2014/main" id="{DD9E3F3F-4561-4992-869E-58E3699916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57800" y="2124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52575F"/>
                </a:solidFill>
                <a:latin typeface="Arial"/>
                <a:ea typeface="Arial"/>
                <a:cs typeface="Arial"/>
              </a:rPr>
              <a:t>1−β</a:t>
            </a:r>
          </a:p>
        </p:txBody>
      </p:sp>
      <p:sp>
        <p:nvSpPr>
          <p:cNvPr id="77" name="outside-5">
            <a:extLst xmlns:a="http://schemas.openxmlformats.org/drawingml/2006/main">
              <a:ext uri="{FF2B5EF4-FFF2-40B4-BE49-F238E27FC236}">
                <a16:creationId xmlns:a16="http://schemas.microsoft.com/office/drawing/2014/main" id="{F389BC96-7BE0-4252-B017-551F5A0C7B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4050" y="2124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5257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8" name="outside-underline">
            <a:extLst xmlns:a="http://schemas.openxmlformats.org/drawingml/2006/main">
              <a:ext uri="{FF2B5EF4-FFF2-40B4-BE49-F238E27FC236}">
                <a16:creationId xmlns:a16="http://schemas.microsoft.com/office/drawing/2014/main" id="{432F78AB-A473-4E41-80BD-E8FEC1E960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29050" y="2343150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C6CBD0"/>
            </a:solidFill>
            <a:prstDash val="solid"/>
          </a:ln>
        </p:spPr>
      </p:sp>
      <p:sp>
        <p:nvSpPr>
          <p:cNvPr id="79" name="outside-note">
            <a:extLst xmlns:a="http://schemas.openxmlformats.org/drawingml/2006/main">
              <a:ext uri="{FF2B5EF4-FFF2-40B4-BE49-F238E27FC236}">
                <a16:creationId xmlns:a16="http://schemas.microsoft.com/office/drawing/2014/main" id="{DB8CC308-B72A-4D94-B417-5ECE8574B3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2390775"/>
            <a:ext cx="285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Outside area is not renormalized.</a:t>
            </a:r>
          </a:p>
        </p:txBody>
      </p:sp>
      <p:sp>
        <p:nvSpPr>
          <p:cNvPr id="8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DC414BE-B632-4F30-890E-DFB6EDC00C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809875"/>
            <a:ext cx="6019800" cy="95"/>
          </a:xfrm>
          <a:custGeom xmlns:a="http://schemas.openxmlformats.org/drawingml/2006/main">
            <a:pathLst>
              <a:path w="6019800" h="95">
                <a:moveTo>
                  <a:pt x="0" y="0"/>
                </a:moveTo>
                <a:lnTo>
                  <a:pt x="6019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CDD1D5"/>
            </a:solidFill>
            <a:prstDash val="solid"/>
          </a:ln>
        </p:spPr>
      </p:sp>
      <p:sp>
        <p:nvSpPr>
          <p:cNvPr id="81" name="aggregation-title">
            <a:extLst xmlns:a="http://schemas.openxmlformats.org/drawingml/2006/main">
              <a:ext uri="{FF2B5EF4-FFF2-40B4-BE49-F238E27FC236}">
                <a16:creationId xmlns:a16="http://schemas.microsoft.com/office/drawing/2014/main" id="{0E20D957-9353-460C-90EF-1ADFE0AC39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857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c  Feature aggregation</a:t>
            </a:r>
          </a:p>
        </p:txBody>
      </p:sp>
      <p:sp>
        <p:nvSpPr>
          <p:cNvPr id="82" name="aggregation-general">
            <a:extLst xmlns:a="http://schemas.openxmlformats.org/drawingml/2006/main">
              <a:ext uri="{FF2B5EF4-FFF2-40B4-BE49-F238E27FC236}">
                <a16:creationId xmlns:a16="http://schemas.microsoft.com/office/drawing/2014/main" id="{63E8079E-5A2E-46AF-8F1E-1680B61E1F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05275" y="2847975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y</a:t>
            </a:r>
            <a:r>
              <a:rPr sz="900" b="1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 = ∑</a:t>
            </a:r>
            <a:r>
              <a:rPr sz="900" b="1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 a</a:t>
            </a:r>
            <a:r>
              <a:rPr sz="900" b="1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ci</a:t>
            </a:r>
            <a:r>
              <a:rPr sz="12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 x</a:t>
            </a:r>
            <a:r>
              <a:rPr sz="900" b="1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3" name="vector-definition">
            <a:extLst xmlns:a="http://schemas.openxmlformats.org/drawingml/2006/main">
              <a:ext uri="{FF2B5EF4-FFF2-40B4-BE49-F238E27FC236}">
                <a16:creationId xmlns:a16="http://schemas.microsoft.com/office/drawing/2014/main" id="{C7C088A4-0BB8-42BF-9C26-E4065C5DF2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3105150"/>
            <a:ext cx="601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893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x</a:t>
            </a:r>
            <a:r>
              <a:rPr sz="670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</a:t>
            </a:r>
            <a:r>
              <a:rPr sz="893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 = (x</a:t>
            </a:r>
            <a:r>
              <a:rPr sz="670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i1</a:t>
            </a:r>
            <a:r>
              <a:rPr sz="893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, …, x</a:t>
            </a:r>
            <a:r>
              <a:rPr sz="670" b="0" baseline="-22000">
                <a:solidFill>
                  <a:srgbClr val="25282D"/>
                </a:solidFill>
                <a:latin typeface="Arial"/>
                <a:ea typeface="Arial"/>
                <a:cs typeface="Arial"/>
              </a:rPr>
              <a:t>iF</a:t>
            </a:r>
            <a:r>
              <a:rPr sz="893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): feature counts; i = spot, f = feature, F unspecified.</a:t>
            </a:r>
          </a:p>
        </p:txBody>
      </p:sp>
      <p:grpSp>
        <p:nvGrpSpPr>
          <p:cNvPr id="166" name="cell-vector-C1"/>
          <p:cNvGrpSpPr/>
          <p:nvPr/>
        </p:nvGrpSpPr>
        <p:grpSpPr>
          <ns1:xfrm xmlns:ns1="http://schemas.openxmlformats.org/drawingml/2006/main">
            <ns1:off x="190500" y="3371850"/>
            <ns1:ext cx="2333625" cy="400050"/>
            <ns1:chOff x="190500" y="3371850"/>
            <ns1:chExt cx="2333625" cy="400050"/>
          </ns1:xfrm>
        </p:grpSpPr>
        <p:sp>
          <p:nvSpPr>
            <p:cNvPr id="84" name="output-C1">
              <a:extLst xmlns:a="http://schemas.openxmlformats.org/drawingml/2006/main">
                <a:ext uri="{FF2B5EF4-FFF2-40B4-BE49-F238E27FC236}">
                  <a16:creationId xmlns:a16="http://schemas.microsoft.com/office/drawing/2014/main" id="{9DBC94D3-9430-45D9-9874-7BFF6C0992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0500" y="3371850"/>
              <a:ext cx="2333625" cy="400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EBF6"/>
            </a:solidFill>
            <a:ln xmlns:a="http://schemas.openxmlformats.org/drawingml/2006/main" w="8096">
              <a:solidFill>
                <a:srgbClr val="577FA9"/>
              </a:solidFill>
              <a:prstDash val="solid"/>
            </a:ln>
          </p:spPr>
        </p:sp>
        <p:sp>
          <p:nvSpPr>
            <p:cNvPr id="86" name="output-label-C1">
              <a:extLst xmlns:a="http://schemas.openxmlformats.org/drawingml/2006/main">
                <a:ext uri="{FF2B5EF4-FFF2-40B4-BE49-F238E27FC236}">
                  <a16:creationId xmlns:a16="http://schemas.microsoft.com/office/drawing/2014/main" id="{BFB12857-45EF-4222-AFC6-E85E636BD9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3457575"/>
              <a:ext cx="2857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013" b="1">
                  <a:solidFill>
                    <a:srgbClr val="30649B"/>
                  </a:solidFill>
                  <a:latin typeface="Arial"/>
                  <a:ea typeface="Arial"/>
                  <a:cs typeface="Arial"/>
                </a:defRPr>
              </a:pPr>
              <a:r>
                <a:rPr sz="1013" b="1">
                  <a:solidFill>
                    <a:srgbClr val="30649B"/>
                  </a:solidFill>
                  <a:latin typeface="Arial"/>
                  <a:ea typeface="Arial"/>
                  <a:cs typeface="Arial"/>
                </a:rPr>
                <a:t>C1</a:t>
              </a:r>
            </a:p>
          </p:txBody>
        </p:sp>
        <p:sp>
          <p:nvSpPr>
            <p:cNvPr id="87" name="output-vector-C1">
              <a:extLst xmlns:a="http://schemas.openxmlformats.org/drawingml/2006/main">
                <a:ext uri="{FF2B5EF4-FFF2-40B4-BE49-F238E27FC236}">
                  <a16:creationId xmlns:a16="http://schemas.microsoft.com/office/drawing/2014/main" id="{A304DE9E-FB1B-4814-A414-8482D48EBD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8175" y="3419475"/>
              <a:ext cx="1809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y₁ = x₁ + αx₂</a:t>
              </a:r>
            </a:p>
          </p:txBody>
        </p:sp>
      </p:grpSp>
      <p:grpSp>
        <p:nvGrpSpPr>
          <p:cNvPr id="167" name="cell-vector-C2"/>
          <p:cNvGrpSpPr/>
          <p:nvPr/>
        </p:nvGrpSpPr>
        <p:grpSpPr>
          <ns1:xfrm xmlns:ns1="http://schemas.openxmlformats.org/drawingml/2006/main">
            <ns1:off x="2647950" y="3371850"/>
            <ns1:ext cx="3562350" cy="400050"/>
            <ns1:chOff x="2647950" y="3371850"/>
            <ns1:chExt cx="3562350" cy="400050"/>
          </ns1:xfrm>
        </p:grpSpPr>
        <p:sp>
          <p:nvSpPr>
            <p:cNvPr id="85" name="output-C2">
              <a:extLst xmlns:a="http://schemas.openxmlformats.org/drawingml/2006/main">
                <a:ext uri="{FF2B5EF4-FFF2-40B4-BE49-F238E27FC236}">
                  <a16:creationId xmlns:a16="http://schemas.microsoft.com/office/drawing/2014/main" id="{4098E9CB-1F93-4160-BF23-31FDFCE196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47950" y="3371850"/>
              <a:ext cx="3562350" cy="400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8E5D2"/>
            </a:solidFill>
            <a:ln xmlns:a="http://schemas.openxmlformats.org/drawingml/2006/main" w="8096">
              <a:solidFill>
                <a:srgbClr val="A27343"/>
              </a:solidFill>
              <a:prstDash val="solid"/>
            </a:ln>
          </p:spPr>
        </p:sp>
        <p:sp>
          <p:nvSpPr>
            <p:cNvPr id="88" name="output-label-C2">
              <a:extLst xmlns:a="http://schemas.openxmlformats.org/drawingml/2006/main">
                <a:ext uri="{FF2B5EF4-FFF2-40B4-BE49-F238E27FC236}">
                  <a16:creationId xmlns:a16="http://schemas.microsoft.com/office/drawing/2014/main" id="{35F77319-C779-4D96-9927-27023667F8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33675" y="3457575"/>
              <a:ext cx="2857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013" b="1">
                  <a:solidFill>
                    <a:srgbClr val="AB632C"/>
                  </a:solidFill>
                  <a:latin typeface="Arial"/>
                  <a:ea typeface="Arial"/>
                  <a:cs typeface="Arial"/>
                </a:defRPr>
              </a:pPr>
              <a:r>
                <a:rPr sz="1013" b="1">
                  <a:solidFill>
                    <a:srgbClr val="AB632C"/>
                  </a:solidFill>
                  <a:latin typeface="Arial"/>
                  <a:ea typeface="Arial"/>
                  <a:cs typeface="Arial"/>
                </a:rPr>
                <a:t>C2</a:t>
              </a:r>
            </a:p>
          </p:txBody>
        </p:sp>
        <p:sp>
          <p:nvSpPr>
            <p:cNvPr id="89" name="output-vector-C2">
              <a:extLst xmlns:a="http://schemas.openxmlformats.org/drawingml/2006/main">
                <a:ext uri="{FF2B5EF4-FFF2-40B4-BE49-F238E27FC236}">
                  <a16:creationId xmlns:a16="http://schemas.microsoft.com/office/drawing/2014/main" id="{63B72AB9-314A-442E-AF03-31E67B3F0F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67050" y="3419475"/>
              <a:ext cx="30575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25282D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25282D"/>
                  </a:solidFill>
                  <a:latin typeface="Arial"/>
                  <a:ea typeface="Arial"/>
                  <a:cs typeface="Arial"/>
                </a:rPr>
                <a:t>y₂ = (1−α)x₂ + x₃ + βx₄</a:t>
              </a:r>
            </a:p>
          </p:txBody>
        </p:sp>
      </p:grpSp>
      <p:sp>
        <p:nvSpPr>
          <p:cNvPr id="90" name="schematic-note">
            <a:extLst xmlns:a="http://schemas.openxmlformats.org/drawingml/2006/main">
              <a:ext uri="{FF2B5EF4-FFF2-40B4-BE49-F238E27FC236}">
                <a16:creationId xmlns:a16="http://schemas.microsoft.com/office/drawing/2014/main" id="{0CCAFEA4-111C-47F0-81CB-E894014C89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3848100"/>
            <a:ext cx="6019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Schematic footprints; α and β are symbolic. S5 contributes to neither cell.</a:t>
            </a:r>
          </a:p>
        </p:txBody>
      </p:sp>
    </p:spTree>
    <p:extLst>
      <p:ext uri="{BB962C8B-B14F-4D97-AF65-F5344CB8AC3E}">
        <p14:creationId xmlns:p14="http://schemas.microsoft.com/office/powerpoint/2010/main" val="1621666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2026-09-30T08:07:08.8380000Z</dcterms:created>
  <dcterms:modified xsi:type="dcterms:W3CDTF">2026-09-30T08:07:08.8380000Z</dcterms:modified>
</coreProperties>
</file>