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cf655473214365" /><Relationship Type="http://schemas.openxmlformats.org/officeDocument/2006/relationships/extended-properties" Target="/docProps/app.xml" Id="R7a75988935a74cbc" /><Relationship Type="http://schemas.openxmlformats.org/officeDocument/2006/relationships/officeDocument" Target="/ppt/presentation.xml" Id="Rc9adce2a505a44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df3f632fb0432c"/>
  </p:sldMasterIdLst>
  <p:notesMasterIdLst>
    <p:notesMasterId xmlns:r="http://schemas.openxmlformats.org/officeDocument/2006/relationships" r:id="R939b746d30414ead"/>
  </p:notesMasterIdLst>
  <p:sldIdLst>
    <p:sldId xmlns:r="http://schemas.openxmlformats.org/officeDocument/2006/relationships" id="256" r:id="Rbdcd88bf6add4b59"/>
  </p:sldIdLst>
  <p:sldSz cx="6400800" cy="5600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6c806a6b8141fa" /><Relationship Type="http://schemas.openxmlformats.org/officeDocument/2006/relationships/slideMaster" Target="/ppt/slideMasters/slideMaster1.xml" Id="Rfedf3f632fb0432c" /><Relationship Type="http://schemas.openxmlformats.org/officeDocument/2006/relationships/notesMaster" Target="/ppt/notesMasters/notesMaster1.xml" Id="R939b746d30414ead" /><Relationship Type="http://schemas.openxmlformats.org/officeDocument/2006/relationships/presProps" Target="/ppt/presProps.xml" Id="R719179690f14457f" /><Relationship Type="http://schemas.openxmlformats.org/officeDocument/2006/relationships/tableStyles" Target="/ppt/tableStyles.xml" Id="R2692fc53e81f4eac" /><Relationship Type="http://schemas.openxmlformats.org/officeDocument/2006/relationships/slide" Target="/ppt/slides/slide1.xml" Id="Rbdcd88bf6add4b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de828c257147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5b58cfa874d25" /><Relationship Type="http://schemas.openxmlformats.org/officeDocument/2006/relationships/notesMaster" Target="/ppt/notesMasters/notesMaster1.xml" Id="Rc678a3d9301b44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Asynchronous materials screening with pending experiments</a:t>
            </a:r>
          </a:p>
          <a:p xmlns:a="http://schemas.openxmlformats.org/drawingml/2006/main">
            <a:r>
              <a:t>Hypothetical method from supplied brief. Letters A–F are stable candidate identities, not performance classes. Times and scores are unspecified. Imagegen draft used for composition only; no raster is embedded. Native reconstruction corrects E pending and B completed states. Original MAE figure inspected only for state/identity principle: https://arxiv.org/html/2111.06377v3/arch.png. Preview is rendered from saved PPTX with bundled LibreOffice; no PowerPoint app edit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cf4a6a57c40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9c45c09f474ae0" /><Relationship Type="http://schemas.openxmlformats.org/officeDocument/2006/relationships/slideLayout" Target="/ppt/slideLayouts/slideLayout1.xml" Id="Ra4f325122b244b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325122b244b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3314b25194574" /><Relationship Type="http://schemas.openxmlformats.org/officeDocument/2006/relationships/notesSlide" Target="/ppt/notesSlides/notesSlide1.xml" Id="R2c57ea6e10c44b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itle">
            <a:extLst xmlns:a="http://schemas.openxmlformats.org/drawingml/2006/main">
              <a:ext uri="{FF2B5EF4-FFF2-40B4-BE49-F238E27FC236}">
                <a16:creationId xmlns:a16="http://schemas.microsoft.com/office/drawing/2014/main" id="{D269A086-6551-4A7A-8B90-C8BB290DF6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857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Asynchronous materials screening with pending experiments</a:t>
            </a:r>
          </a:p>
        </p:txBody>
      </p:sp>
      <p:sp>
        <p:nvSpPr>
          <p:cNvPr id="2" name="decision">
            <a:extLst xmlns:a="http://schemas.openxmlformats.org/drawingml/2006/main">
              <a:ext uri="{FF2B5EF4-FFF2-40B4-BE49-F238E27FC236}">
                <a16:creationId xmlns:a16="http://schemas.microsoft.com/office/drawing/2014/main" id="{A217515C-0B98-4C22-B848-2EAE9328DD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09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a  Decision instant</a:t>
            </a:r>
          </a:p>
        </p:txBody>
      </p:sp>
      <p:sp>
        <p:nvSpPr>
          <p:cNvPr id="3" name="completed0">
            <a:extLst xmlns:a="http://schemas.openxmlformats.org/drawingml/2006/main">
              <a:ext uri="{FF2B5EF4-FFF2-40B4-BE49-F238E27FC236}">
                <a16:creationId xmlns:a16="http://schemas.microsoft.com/office/drawing/2014/main" id="{7D92B64F-BC45-4459-9AA2-797243DB7EB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704850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9"/>
          </a:solidFill>
          <a:ln xmlns:a="http://schemas.openxmlformats.org/drawingml/2006/main" w="8573">
            <a:solidFill>
              <a:srgbClr val="788455"/>
            </a:solidFill>
            <a:prstDash val="solid"/>
          </a:ln>
        </p:spPr>
        <p:txBody>
          <a:bodyPr xmlns:a="http://schemas.openxmlformats.org/drawingml/2006/main" wrap="square" lIns="85725" tIns="19050" rIns="8572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Completed</a:t>
            </a:r>
          </a:p>
          <a:p xmlns:a="http://schemas.openxmlformats.org/drawingml/2006/main">
            <a:pPr algn="l">
              <a:defRPr sz="90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measurements</a:t>
            </a:r>
          </a:p>
        </p:txBody>
      </p:sp>
      <p:sp>
        <p:nvSpPr>
          <p:cNvPr id="4" name="completed0.A">
            <a:extLst xmlns:a="http://schemas.openxmlformats.org/drawingml/2006/main">
              <a:ext uri="{FF2B5EF4-FFF2-40B4-BE49-F238E27FC236}">
                <a16:creationId xmlns:a16="http://schemas.microsoft.com/office/drawing/2014/main" id="{13A4A5D9-ECFB-46C5-B4A2-D83DED58FA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8096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9"/>
          </a:solidFill>
          <a:ln xmlns:a="http://schemas.openxmlformats.org/drawingml/2006/main" w="9525">
            <a:solidFill>
              <a:srgbClr val="7884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completed0.C">
            <a:extLst xmlns:a="http://schemas.openxmlformats.org/drawingml/2006/main">
              <a:ext uri="{FF2B5EF4-FFF2-40B4-BE49-F238E27FC236}">
                <a16:creationId xmlns:a16="http://schemas.microsoft.com/office/drawing/2014/main" id="{334B1124-3D52-4E07-B58A-71376BFB4B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5425" y="8096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9"/>
          </a:solidFill>
          <a:ln xmlns:a="http://schemas.openxmlformats.org/drawingml/2006/main" w="9525">
            <a:solidFill>
              <a:srgbClr val="7884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" name="registry0">
            <a:extLst xmlns:a="http://schemas.openxmlformats.org/drawingml/2006/main">
              <a:ext uri="{FF2B5EF4-FFF2-40B4-BE49-F238E27FC236}">
                <a16:creationId xmlns:a16="http://schemas.microsoft.com/office/drawing/2014/main" id="{D2A08ABE-B8BC-45F9-ACB8-FB6EE6A22D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1362075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8573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85725" tIns="19050" rIns="8572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Pending</a:t>
            </a:r>
          </a:p>
          <a:p xmlns:a="http://schemas.openxmlformats.org/drawingml/2006/main">
            <a:pPr algn="l">
              <a:defRPr sz="90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7" name="registry0.B">
            <a:extLst xmlns:a="http://schemas.openxmlformats.org/drawingml/2006/main">
              <a:ext uri="{FF2B5EF4-FFF2-40B4-BE49-F238E27FC236}">
                <a16:creationId xmlns:a16="http://schemas.microsoft.com/office/drawing/2014/main" id="{645F4CAF-0310-4A9D-A046-C26E70FDC8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14668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9525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" name="registry0.D">
            <a:extLst xmlns:a="http://schemas.openxmlformats.org/drawingml/2006/main">
              <a:ext uri="{FF2B5EF4-FFF2-40B4-BE49-F238E27FC236}">
                <a16:creationId xmlns:a16="http://schemas.microsoft.com/office/drawing/2014/main" id="{8F6FA35B-9A8A-4CB4-838B-01105D2935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5425" y="14668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9525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9" name="untested0">
            <a:extLst xmlns:a="http://schemas.openxmlformats.org/drawingml/2006/main">
              <a:ext uri="{FF2B5EF4-FFF2-40B4-BE49-F238E27FC236}">
                <a16:creationId xmlns:a16="http://schemas.microsoft.com/office/drawing/2014/main" id="{C76E8F76-846B-4B0F-8DB5-D69D5EB6C9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019300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77C73"/>
            </a:solidFill>
            <a:prstDash val="solid"/>
          </a:ln>
        </p:spPr>
        <p:txBody>
          <a:bodyPr xmlns:a="http://schemas.openxmlformats.org/drawingml/2006/main" wrap="square" lIns="85725" tIns="19050" rIns="8572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Untested</a:t>
            </a:r>
          </a:p>
          <a:p xmlns:a="http://schemas.openxmlformats.org/drawingml/2006/main">
            <a:pPr algn="l">
              <a:defRPr sz="90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10" name="untested0.E">
            <a:extLst xmlns:a="http://schemas.openxmlformats.org/drawingml/2006/main">
              <a:ext uri="{FF2B5EF4-FFF2-40B4-BE49-F238E27FC236}">
                <a16:creationId xmlns:a16="http://schemas.microsoft.com/office/drawing/2014/main" id="{6F08D95E-21D4-4DAF-BB75-292BF0B4C9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21240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C7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" name="untested0.F">
            <a:extLst xmlns:a="http://schemas.openxmlformats.org/drawingml/2006/main">
              <a:ext uri="{FF2B5EF4-FFF2-40B4-BE49-F238E27FC236}">
                <a16:creationId xmlns:a16="http://schemas.microsoft.com/office/drawing/2014/main" id="{0E74635F-EBF5-4602-A713-9BFCB7F3A0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5425" y="21240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C7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" name="surrogate">
            <a:extLst xmlns:a="http://schemas.openxmlformats.org/drawingml/2006/main">
              <a:ext uri="{FF2B5EF4-FFF2-40B4-BE49-F238E27FC236}">
                <a16:creationId xmlns:a16="http://schemas.microsoft.com/office/drawing/2014/main" id="{D6D2847E-C609-4F21-8EBB-909AF7D7F9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71775" y="7048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F"/>
          </a:solidFill>
          <a:ln xmlns:a="http://schemas.openxmlformats.org/drawingml/2006/main" w="8573">
            <a:solidFill>
              <a:srgbClr val="777C73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Surrogate model</a:t>
            </a:r>
          </a:p>
        </p:txBody>
      </p:sp>
      <p:sp>
        <p:nvSpPr>
          <p:cNvPr id="13" name="training_note">
            <a:extLst xmlns:a="http://schemas.openxmlformats.org/drawingml/2006/main">
              <a:ext uri="{FF2B5EF4-FFF2-40B4-BE49-F238E27FC236}">
                <a16:creationId xmlns:a16="http://schemas.microsoft.com/office/drawing/2014/main" id="{E50C9D4B-3C64-4938-96AC-62BD153AEB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81300" y="7239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Train on completed only</a:t>
            </a:r>
          </a:p>
        </p:txBody>
      </p:sp>
      <p:sp>
        <p:nvSpPr>
          <p:cNvPr id="14" name="selection">
            <a:extLst xmlns:a="http://schemas.openxmlformats.org/drawingml/2006/main">
              <a:ext uri="{FF2B5EF4-FFF2-40B4-BE49-F238E27FC236}">
                <a16:creationId xmlns:a16="http://schemas.microsoft.com/office/drawing/2014/main" id="{A06B3B77-536C-4FE6-A183-B6E7253BAA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67025" y="165735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F"/>
          </a:solidFill>
          <a:ln xmlns:a="http://schemas.openxmlformats.org/drawingml/2006/main" w="8573">
            <a:solidFill>
              <a:srgbClr val="777C73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5" name="queueE">
            <a:extLst xmlns:a="http://schemas.openxmlformats.org/drawingml/2006/main">
              <a:ext uri="{FF2B5EF4-FFF2-40B4-BE49-F238E27FC236}">
                <a16:creationId xmlns:a16="http://schemas.microsoft.com/office/drawing/2014/main" id="{E8297AFE-340F-473F-B087-C3C563E771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33975" y="1657350"/>
            <a:ext cx="1114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9ED"/>
          </a:solidFill>
          <a:ln xmlns:a="http://schemas.openxmlformats.org/drawingml/2006/main" w="8573">
            <a:solidFill>
              <a:srgbClr val="617D8B"/>
            </a:solidFill>
            <a:prstDash val="solid"/>
          </a:ln>
        </p:spPr>
        <p:txBody>
          <a:bodyPr xmlns:a="http://schemas.openxmlformats.org/drawingml/2006/main" wrap="square" lIns="57150" tIns="66675" rIns="57150" bIns="666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E queued</a:t>
            </a:r>
          </a:p>
        </p:txBody>
      </p:sp>
      <p:sp>
        <p:nvSpPr>
          <p:cNvPr id="16" name="queue_reason">
            <a:extLst xmlns:a="http://schemas.openxmlformats.org/drawingml/2006/main">
              <a:ext uri="{FF2B5EF4-FFF2-40B4-BE49-F238E27FC236}">
                <a16:creationId xmlns:a16="http://schemas.microsoft.com/office/drawing/2014/main" id="{78DFF9F5-E017-429F-B990-6C1ECF8EC4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3500" y="19431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Both stations occupied</a:t>
            </a:r>
          </a:p>
        </p:txBody>
      </p:sp>
      <p:cxnSp>
        <p:nvCxnSpPr>
          <p:cNvPr id="74" name="training"/>
          <p:cNvCxnSpPr>
            <a:stCxn xmlns:a="http://schemas.openxmlformats.org/drawingml/2006/main" id="3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790700" y="94297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5F7338"/>
            </a:solidFill>
            <a:prstDash val="solid"/>
            <a:round/>
            <a:tailEnd type="triangle" w="med" len="med"/>
          </a:ln>
        </p:spPr>
      </p:cxnSp>
      <p:sp>
        <p:nvSpPr>
          <p:cNvPr id="18" name="measured_label">
            <a:extLst xmlns:a="http://schemas.openxmlformats.org/drawingml/2006/main">
              <a:ext uri="{FF2B5EF4-FFF2-40B4-BE49-F238E27FC236}">
                <a16:creationId xmlns:a16="http://schemas.microsoft.com/office/drawing/2014/main" id="{2BF0F6CD-799A-4FE5-8F6A-E2049B5B26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57375" y="7239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Measured data</a:t>
            </a:r>
          </a:p>
        </p:txBody>
      </p:sp>
      <p:cxnSp>
        <p:nvCxnSpPr>
          <p:cNvPr id="76" name="predictions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533775" y="11811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40463F"/>
            </a:solidFill>
            <a:prstDash val="solid"/>
            <a:round/>
            <a:tailEnd type="triangle" w="med" len="med"/>
          </a:ln>
        </p:spPr>
      </p:cxnSp>
      <p:sp>
        <p:nvSpPr>
          <p:cNvPr id="20" name="prediction_label">
            <a:extLst xmlns:a="http://schemas.openxmlformats.org/drawingml/2006/main">
              <a:ext uri="{FF2B5EF4-FFF2-40B4-BE49-F238E27FC236}">
                <a16:creationId xmlns:a16="http://schemas.microsoft.com/office/drawing/2014/main" id="{39FD479D-9B2B-465B-9F21-92E161862A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48075" y="1285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78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cxnSp>
        <p:nvCxnSpPr>
          <p:cNvPr id="78" name="exclude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790700" y="1600200"/>
            <a:ext cx="107632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669" cap="rnd">
            <a:solidFill>
              <a:srgbClr val="40463F"/>
            </a:solidFill>
            <a:prstDash val="solid"/>
            <a:round/>
            <a:tailEnd type="triangle" w="med" len="med"/>
          </a:ln>
        </p:spPr>
      </p:cxnSp>
      <p:sp>
        <p:nvSpPr>
          <p:cNvPr id="22" name="registry_label">
            <a:extLst xmlns:a="http://schemas.openxmlformats.org/drawingml/2006/main">
              <a:ext uri="{FF2B5EF4-FFF2-40B4-BE49-F238E27FC236}">
                <a16:creationId xmlns:a16="http://schemas.microsoft.com/office/drawing/2014/main" id="{1969C633-DFDB-4DE0-A27A-278B774CD5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38325" y="1295400"/>
            <a:ext cx="1019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Exclude running jobs</a:t>
            </a:r>
          </a:p>
        </p:txBody>
      </p:sp>
      <p:cxnSp>
        <p:nvCxnSpPr>
          <p:cNvPr id="80" name="consider"/>
          <p:cNvCxnSpPr>
            <a:stCxn xmlns:a="http://schemas.openxmlformats.org/drawingml/2006/main" id="9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1790700" y="2152650"/>
            <a:ext cx="1743075" cy="104775"/>
          </a:xfrm>
          <a:prstGeom xmlns:a="http://schemas.openxmlformats.org/drawingml/2006/main" prst="bentConnector2">
            <a:avLst/>
          </a:prstGeom>
          <a:ln xmlns:a="http://schemas.openxmlformats.org/drawingml/2006/main" w="17621" cap="rnd">
            <a:solidFill>
              <a:srgbClr val="40463F"/>
            </a:solidFill>
            <a:prstDash val="solid"/>
            <a:round/>
            <a:tailEnd type="triangle" w="med" len="med"/>
          </a:ln>
        </p:spPr>
      </p:cxnSp>
      <p:sp>
        <p:nvSpPr>
          <p:cNvPr id="24" name="candidate_label">
            <a:extLst xmlns:a="http://schemas.openxmlformats.org/drawingml/2006/main">
              <a:ext uri="{FF2B5EF4-FFF2-40B4-BE49-F238E27FC236}">
                <a16:creationId xmlns:a16="http://schemas.microsoft.com/office/drawing/2014/main" id="{76D953CA-E324-479D-9972-F0899900EF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52625" y="22955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E, F considered</a:t>
            </a:r>
          </a:p>
        </p:txBody>
      </p:sp>
      <p:cxnSp>
        <p:nvCxnSpPr>
          <p:cNvPr id="82" name="choose_E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200525" y="190500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416B80"/>
            </a:solidFill>
            <a:prstDash val="solid"/>
            <a:round/>
            <a:tailEnd type="triangle" w="med" len="med"/>
          </a:ln>
        </p:spPr>
      </p:cxnSp>
      <p:sp>
        <p:nvSpPr>
          <p:cNvPr id="26" name="choice_note">
            <a:extLst xmlns:a="http://schemas.openxmlformats.org/drawingml/2006/main">
              <a:ext uri="{FF2B5EF4-FFF2-40B4-BE49-F238E27FC236}">
                <a16:creationId xmlns:a16="http://schemas.microsoft.com/office/drawing/2014/main" id="{25403D27-8EB5-4A68-BA62-356F958B01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76725" y="1628775"/>
            <a:ext cx="72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Illustrative choice</a:t>
            </a:r>
          </a:p>
        </p:txBody>
      </p:sp>
      <p:sp>
        <p:nvSpPr>
          <p:cNvPr id="27" name="panel_divider">
            <a:extLst xmlns:a="http://schemas.openxmlformats.org/drawingml/2006/main">
              <a:ext uri="{FF2B5EF4-FFF2-40B4-BE49-F238E27FC236}">
                <a16:creationId xmlns:a16="http://schemas.microsoft.com/office/drawing/2014/main" id="{15F31F29-4177-4E18-A620-F994B757AC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667000"/>
            <a:ext cx="6096000" cy="95"/>
          </a:xfrm>
          <a:custGeom xmlns:a="http://schemas.openxmlformats.org/drawingml/2006/main">
            <a:pathLst>
              <a:path w="6096000" h="9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6BAB3"/>
            </a:solidFill>
            <a:prstDash val="solid"/>
          </a:ln>
        </p:spPr>
      </p:sp>
      <p:sp>
        <p:nvSpPr>
          <p:cNvPr id="28" name="later">
            <a:extLst xmlns:a="http://schemas.openxmlformats.org/drawingml/2006/main">
              <a:ext uri="{FF2B5EF4-FFF2-40B4-BE49-F238E27FC236}">
                <a16:creationId xmlns:a16="http://schemas.microsoft.com/office/drawing/2014/main" id="{BDB8F170-B6A0-4F92-8383-EBB7EB2F5F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724150"/>
            <a:ext cx="414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b  B completes and station 1 is freed</a:t>
            </a:r>
          </a:p>
        </p:txBody>
      </p:sp>
      <p:sp>
        <p:nvSpPr>
          <p:cNvPr id="29" name="completed1">
            <a:extLst xmlns:a="http://schemas.openxmlformats.org/drawingml/2006/main">
              <a:ext uri="{FF2B5EF4-FFF2-40B4-BE49-F238E27FC236}">
                <a16:creationId xmlns:a16="http://schemas.microsoft.com/office/drawing/2014/main" id="{B5706D29-4957-431E-B444-5ED2F41454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19325" y="3019425"/>
            <a:ext cx="1628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9"/>
          </a:solidFill>
          <a:ln xmlns:a="http://schemas.openxmlformats.org/drawingml/2006/main" w="8573">
            <a:solidFill>
              <a:srgbClr val="788455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Completed measurements</a:t>
            </a:r>
          </a:p>
        </p:txBody>
      </p:sp>
      <p:sp>
        <p:nvSpPr>
          <p:cNvPr id="30" name="completed1.A">
            <a:extLst xmlns:a="http://schemas.openxmlformats.org/drawingml/2006/main">
              <a:ext uri="{FF2B5EF4-FFF2-40B4-BE49-F238E27FC236}">
                <a16:creationId xmlns:a16="http://schemas.microsoft.com/office/drawing/2014/main" id="{7588F407-33AB-417C-9D0C-093E4ADCA1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09850" y="32099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9"/>
          </a:solidFill>
          <a:ln xmlns:a="http://schemas.openxmlformats.org/drawingml/2006/main" w="9525">
            <a:solidFill>
              <a:srgbClr val="7884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1" name="completed1.C">
            <a:extLst xmlns:a="http://schemas.openxmlformats.org/drawingml/2006/main">
              <a:ext uri="{FF2B5EF4-FFF2-40B4-BE49-F238E27FC236}">
                <a16:creationId xmlns:a16="http://schemas.microsoft.com/office/drawing/2014/main" id="{1831ACD4-8FF9-4A90-BDBB-313D10B9B2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24175" y="32099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9"/>
          </a:solidFill>
          <a:ln xmlns:a="http://schemas.openxmlformats.org/drawingml/2006/main" w="9525">
            <a:solidFill>
              <a:srgbClr val="7884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2" name="completed1.B">
            <a:extLst xmlns:a="http://schemas.openxmlformats.org/drawingml/2006/main">
              <a:ext uri="{FF2B5EF4-FFF2-40B4-BE49-F238E27FC236}">
                <a16:creationId xmlns:a16="http://schemas.microsoft.com/office/drawing/2014/main" id="{087107F8-2AC8-4C30-80CE-81AB2CBB93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0" y="32099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9"/>
          </a:solidFill>
          <a:ln xmlns:a="http://schemas.openxmlformats.org/drawingml/2006/main" w="9525">
            <a:solidFill>
              <a:srgbClr val="7884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" name="modelUpdate">
            <a:extLst xmlns:a="http://schemas.openxmlformats.org/drawingml/2006/main">
              <a:ext uri="{FF2B5EF4-FFF2-40B4-BE49-F238E27FC236}">
                <a16:creationId xmlns:a16="http://schemas.microsoft.com/office/drawing/2014/main" id="{03BD5039-E8BF-46BA-9967-A1509CB1BB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38625" y="3019425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F"/>
          </a:solidFill>
          <a:ln xmlns:a="http://schemas.openxmlformats.org/drawingml/2006/main" w="8573">
            <a:solidFill>
              <a:srgbClr val="777C73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Model may</a:t>
            </a:r>
          </a:p>
          <a:p xmlns:a="http://schemas.openxmlformats.org/drawingml/2006/main">
            <a:pPr algn="ctr">
              <a:defRPr sz="923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cxnSp>
        <p:nvCxnSpPr>
          <p:cNvPr id="91" name="update_model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848100" y="32480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5F7338"/>
            </a:solidFill>
            <a:prstDash val="solid"/>
            <a:round/>
            <a:tailEnd type="triangle" w="med" len="med"/>
          </a:ln>
        </p:spPr>
      </p:cxnSp>
      <p:sp>
        <p:nvSpPr>
          <p:cNvPr id="35" name="station1_label">
            <a:extLst xmlns:a="http://schemas.openxmlformats.org/drawingml/2006/main">
              <a:ext uri="{FF2B5EF4-FFF2-40B4-BE49-F238E27FC236}">
                <a16:creationId xmlns:a16="http://schemas.microsoft.com/office/drawing/2014/main" id="{790DF927-CDC8-4507-9DB2-BA6F4A2402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36576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Station 1</a:t>
            </a:r>
          </a:p>
        </p:txBody>
      </p:sp>
      <p:sp>
        <p:nvSpPr>
          <p:cNvPr id="36" name="station1before">
            <a:extLst xmlns:a="http://schemas.openxmlformats.org/drawingml/2006/main">
              <a:ext uri="{FF2B5EF4-FFF2-40B4-BE49-F238E27FC236}">
                <a16:creationId xmlns:a16="http://schemas.microsoft.com/office/drawing/2014/main" id="{8ED2DAEA-A347-4748-B8C3-4171134599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3590925"/>
            <a:ext cx="1114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8573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B</a:t>
            </a:r>
          </a:p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7" name="resultB">
            <a:extLst xmlns:a="http://schemas.openxmlformats.org/drawingml/2006/main">
              <a:ext uri="{FF2B5EF4-FFF2-40B4-BE49-F238E27FC236}">
                <a16:creationId xmlns:a16="http://schemas.microsoft.com/office/drawing/2014/main" id="{E2FCC16E-5939-4CBE-809F-14D01443BA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19375" y="3590925"/>
            <a:ext cx="885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9"/>
          </a:solidFill>
          <a:ln xmlns:a="http://schemas.openxmlformats.org/drawingml/2006/main" w="8573">
            <a:solidFill>
              <a:srgbClr val="78845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B</a:t>
            </a:r>
          </a:p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Measured</a:t>
            </a:r>
          </a:p>
        </p:txBody>
      </p:sp>
      <p:sp>
        <p:nvSpPr>
          <p:cNvPr id="38" name="station1after">
            <a:extLst xmlns:a="http://schemas.openxmlformats.org/drawingml/2006/main">
              <a:ext uri="{FF2B5EF4-FFF2-40B4-BE49-F238E27FC236}">
                <a16:creationId xmlns:a16="http://schemas.microsoft.com/office/drawing/2014/main" id="{4D13F253-6C15-4D46-A545-B07DA6F5C2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33975" y="3590925"/>
            <a:ext cx="1114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8573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cxnSp>
        <p:nvCxnSpPr>
          <p:cNvPr id="96" name="B_completes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2105025" y="38195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5F7338"/>
            </a:solidFill>
            <a:prstDash val="solid"/>
            <a:round/>
            <a:tailEnd type="triangle" w="med" len="med"/>
          </a:ln>
        </p:spPr>
      </p:cxnSp>
      <p:cxnSp>
        <p:nvCxnSpPr>
          <p:cNvPr id="97" name="append_B"/>
          <p:cNvCxnSpPr>
            <a:stCxn xmlns:a="http://schemas.openxmlformats.org/drawingml/2006/main" id="37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H="1" flipV="1">
            <a:off x="3033713" y="3476625"/>
            <a:ext cx="2857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621" cap="rnd">
            <a:solidFill>
              <a:srgbClr val="5F7338"/>
            </a:solidFill>
            <a:prstDash val="solid"/>
            <a:round/>
            <a:tailEnd type="triangle" w="med" len="med"/>
          </a:ln>
        </p:spPr>
      </p:cxnSp>
      <p:cxnSp>
        <p:nvCxnSpPr>
          <p:cNvPr id="98" name="station_freed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3505200" y="3819525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0463F"/>
            </a:solidFill>
            <a:prstDash val="solid"/>
            <a:round/>
            <a:tailEnd type="triangle" w="med" len="med"/>
          </a:ln>
        </p:spPr>
      </p:cxnSp>
      <p:sp>
        <p:nvSpPr>
          <p:cNvPr id="42" name="release_label">
            <a:extLst xmlns:a="http://schemas.openxmlformats.org/drawingml/2006/main">
              <a:ext uri="{FF2B5EF4-FFF2-40B4-BE49-F238E27FC236}">
                <a16:creationId xmlns:a16="http://schemas.microsoft.com/office/drawing/2014/main" id="{B2E4073E-1467-487A-B918-493D44DA9B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67125" y="3600450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Station 1 freed</a:t>
            </a:r>
          </a:p>
        </p:txBody>
      </p:sp>
      <p:cxnSp>
        <p:nvCxnSpPr>
          <p:cNvPr id="100" name="dispatch_E"/>
          <p:cNvCxnSpPr>
            <a:stCxn xmlns:a="http://schemas.openxmlformats.org/drawingml/2006/main" id="15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5691188" y="2152650"/>
            <a:ext cx="0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416B80"/>
            </a:solidFill>
            <a:prstDash val="solid"/>
            <a:round/>
            <a:tailEnd type="triangle" w="med" len="med"/>
          </a:ln>
        </p:spPr>
      </p:cxnSp>
      <p:sp>
        <p:nvSpPr>
          <p:cNvPr id="44" name="dispatch_label">
            <a:extLst xmlns:a="http://schemas.openxmlformats.org/drawingml/2006/main">
              <a:ext uri="{FF2B5EF4-FFF2-40B4-BE49-F238E27FC236}">
                <a16:creationId xmlns:a16="http://schemas.microsoft.com/office/drawing/2014/main" id="{1AF85728-BAE8-4A0C-AD18-8E22DD4AFE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57850" y="308610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Dispatch E</a:t>
            </a:r>
          </a:p>
        </p:txBody>
      </p:sp>
      <p:sp>
        <p:nvSpPr>
          <p:cNvPr id="45" name="station2_label">
            <a:extLst xmlns:a="http://schemas.openxmlformats.org/drawingml/2006/main">
              <a:ext uri="{FF2B5EF4-FFF2-40B4-BE49-F238E27FC236}">
                <a16:creationId xmlns:a16="http://schemas.microsoft.com/office/drawing/2014/main" id="{B6FA80A1-E9CD-4AE5-A328-99E652DFDE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257675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Station 2</a:t>
            </a:r>
          </a:p>
        </p:txBody>
      </p:sp>
      <p:sp>
        <p:nvSpPr>
          <p:cNvPr id="46" name="station2before">
            <a:extLst xmlns:a="http://schemas.openxmlformats.org/drawingml/2006/main">
              <a:ext uri="{FF2B5EF4-FFF2-40B4-BE49-F238E27FC236}">
                <a16:creationId xmlns:a16="http://schemas.microsoft.com/office/drawing/2014/main" id="{529028FF-6BE7-44E9-B648-841C961948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4191000"/>
            <a:ext cx="1114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8573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D</a:t>
            </a:r>
          </a:p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47" name="station2after">
            <a:extLst xmlns:a="http://schemas.openxmlformats.org/drawingml/2006/main">
              <a:ext uri="{FF2B5EF4-FFF2-40B4-BE49-F238E27FC236}">
                <a16:creationId xmlns:a16="http://schemas.microsoft.com/office/drawing/2014/main" id="{E735E593-8B50-4E05-BA95-557D1B8270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33975" y="4191000"/>
            <a:ext cx="1114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8573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D</a:t>
            </a:r>
          </a:p>
          <a:p xmlns:a="http://schemas.openxmlformats.org/drawingml/2006/main">
            <a:pPr algn="ctr">
              <a:defRPr sz="105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cxnSp>
        <p:nvCxnSpPr>
          <p:cNvPr id="105" name="D_continues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105025" y="44196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A4603E"/>
            </a:solidFill>
            <a:prstDash val="solid"/>
            <a:round/>
            <a:tailEnd type="triangle" w="med" len="med"/>
          </a:ln>
        </p:spPr>
      </p:cxnSp>
      <p:sp>
        <p:nvSpPr>
          <p:cNvPr id="49" name="continue_label">
            <a:extLst xmlns:a="http://schemas.openxmlformats.org/drawingml/2006/main">
              <a:ext uri="{FF2B5EF4-FFF2-40B4-BE49-F238E27FC236}">
                <a16:creationId xmlns:a16="http://schemas.microsoft.com/office/drawing/2014/main" id="{4BBFB5A8-620B-4DA4-BFDE-673D315682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62200" y="4171950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7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D continues without waiting</a:t>
            </a:r>
          </a:p>
        </p:txBody>
      </p:sp>
      <p:sp>
        <p:nvSpPr>
          <p:cNvPr id="50" name="barrier_note">
            <a:extLst xmlns:a="http://schemas.openxmlformats.org/drawingml/2006/main">
              <a:ext uri="{FF2B5EF4-FFF2-40B4-BE49-F238E27FC236}">
                <a16:creationId xmlns:a16="http://schemas.microsoft.com/office/drawing/2014/main" id="{940D7AE8-FE35-4E35-A125-6F6A84B6BD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90800" y="446722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0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No global barrier</a:t>
            </a:r>
          </a:p>
        </p:txBody>
      </p:sp>
      <p:sp>
        <p:nvSpPr>
          <p:cNvPr id="51" name="registry1">
            <a:extLst xmlns:a="http://schemas.openxmlformats.org/drawingml/2006/main">
              <a:ext uri="{FF2B5EF4-FFF2-40B4-BE49-F238E27FC236}">
                <a16:creationId xmlns:a16="http://schemas.microsoft.com/office/drawing/2014/main" id="{B5C9D55E-2F36-4626-A0C2-FBB813683F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857750"/>
            <a:ext cx="3590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8573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85725" tIns="19050" rIns="8572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Pending registry after dispatch</a:t>
            </a:r>
          </a:p>
        </p:txBody>
      </p:sp>
      <p:sp>
        <p:nvSpPr>
          <p:cNvPr id="52" name="registry1.E">
            <a:extLst xmlns:a="http://schemas.openxmlformats.org/drawingml/2006/main">
              <a:ext uri="{FF2B5EF4-FFF2-40B4-BE49-F238E27FC236}">
                <a16:creationId xmlns:a16="http://schemas.microsoft.com/office/drawing/2014/main" id="{7A0641D0-0D8D-4374-8BC7-ABF9258810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76575" y="48958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9525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3" name="registry1.D">
            <a:extLst xmlns:a="http://schemas.openxmlformats.org/drawingml/2006/main">
              <a:ext uri="{FF2B5EF4-FFF2-40B4-BE49-F238E27FC236}">
                <a16:creationId xmlns:a16="http://schemas.microsoft.com/office/drawing/2014/main" id="{FD164331-99C1-4E4F-AA86-00629C9A58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00425" y="48958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5"/>
          </a:solidFill>
          <a:ln xmlns:a="http://schemas.openxmlformats.org/drawingml/2006/main" w="9525">
            <a:solidFill>
              <a:srgbClr val="A0735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2B27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4" name="registry_update">
            <a:extLst xmlns:a="http://schemas.openxmlformats.org/drawingml/2006/main">
              <a:ext uri="{FF2B5EF4-FFF2-40B4-BE49-F238E27FC236}">
                <a16:creationId xmlns:a16="http://schemas.microsoft.com/office/drawing/2014/main" id="{A375BD09-DA24-4128-A039-1C5D8DDD3D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24050" y="4676775"/>
            <a:ext cx="1828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18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818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Remove B; register E</a:t>
            </a:r>
          </a:p>
        </p:txBody>
      </p:sp>
      <p:sp>
        <p:nvSpPr>
          <p:cNvPr id="55" name="remainingF">
            <a:extLst xmlns:a="http://schemas.openxmlformats.org/drawingml/2006/main">
              <a:ext uri="{FF2B5EF4-FFF2-40B4-BE49-F238E27FC236}">
                <a16:creationId xmlns:a16="http://schemas.microsoft.com/office/drawing/2014/main" id="{F68EDDE4-8A5B-4BCF-A284-E47A17175F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29125" y="4857750"/>
            <a:ext cx="18192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77C73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F remains untested</a:t>
            </a:r>
          </a:p>
        </p:txBody>
      </p:sp>
      <p:sp>
        <p:nvSpPr>
          <p:cNvPr id="56" name="identity_note">
            <a:extLst xmlns:a="http://schemas.openxmlformats.org/drawingml/2006/main">
              <a:ext uri="{FF2B5EF4-FFF2-40B4-BE49-F238E27FC236}">
                <a16:creationId xmlns:a16="http://schemas.microsoft.com/office/drawing/2014/main" id="{38ACC31F-4ED5-456D-8CC4-3D6504601C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5238750"/>
            <a:ext cx="609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92B2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92B27"/>
                </a:solidFill>
                <a:latin typeface="Arial"/>
                <a:ea typeface="Arial"/>
                <a:cs typeface="Arial"/>
              </a:rPr>
              <a:t>Letters identify candidates; color denotes processing state.</a:t>
            </a:r>
          </a:p>
        </p:txBody>
      </p:sp>
      <p:sp>
        <p:nvSpPr>
          <p:cNvPr id="57" name="unknown_note">
            <a:extLst xmlns:a="http://schemas.openxmlformats.org/drawingml/2006/main">
              <a:ext uri="{FF2B5EF4-FFF2-40B4-BE49-F238E27FC236}">
                <a16:creationId xmlns:a16="http://schemas.microsoft.com/office/drawing/2014/main" id="{1CECB3D0-A967-4F1B-92E4-F74A134F50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5372100"/>
            <a:ext cx="6096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7" b="0">
                <a:solidFill>
                  <a:srgbClr val="555A52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55A52"/>
                </a:solidFill>
                <a:latin typeface="Arial"/>
                <a:ea typeface="Arial"/>
                <a:cs typeface="Arial"/>
              </a:rPr>
              <a:t>Selecting E does not imply better performance. Scores and durations unspecified.</a:t>
            </a:r>
          </a:p>
        </p:txBody>
      </p:sp>
    </p:spTree>
    <p:extLst>
      <p:ext uri="{BB962C8B-B14F-4D97-AF65-F5344CB8AC3E}">
        <p14:creationId xmlns:p14="http://schemas.microsoft.com/office/powerpoint/2010/main" val="1491549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2026-09-30T08:08:09.6370000Z</dcterms:created>
  <dcterms:modified xsi:type="dcterms:W3CDTF">2026-09-30T08:08:09.6370000Z</dcterms:modified>
</coreProperties>
</file>