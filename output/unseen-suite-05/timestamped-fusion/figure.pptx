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303c716f744f9b" /><Relationship Type="http://schemas.openxmlformats.org/officeDocument/2006/relationships/extended-properties" Target="/docProps/app.xml" Id="R63c81f91524342af" /><Relationship Type="http://schemas.openxmlformats.org/officeDocument/2006/relationships/officeDocument" Target="/ppt/presentation.xml" Id="R31f0449ed4604b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b6835c28444800"/>
  </p:sldMasterIdLst>
  <p:notesMasterIdLst>
    <p:notesMasterId xmlns:r="http://schemas.openxmlformats.org/officeDocument/2006/relationships" r:id="R8973de34e97348ed"/>
  </p:notesMasterIdLst>
  <p:sldIdLst>
    <p:sldId xmlns:r="http://schemas.openxmlformats.org/officeDocument/2006/relationships" id="256" r:id="R2293f8c4e3924952"/>
  </p:sldIdLst>
  <p:sldSz cx="6400800" cy="4324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191af680b74436" /><Relationship Type="http://schemas.openxmlformats.org/officeDocument/2006/relationships/slideMaster" Target="/ppt/slideMasters/slideMaster1.xml" Id="R8db6835c28444800" /><Relationship Type="http://schemas.openxmlformats.org/officeDocument/2006/relationships/notesMaster" Target="/ppt/notesMasters/notesMaster1.xml" Id="R8973de34e97348ed" /><Relationship Type="http://schemas.openxmlformats.org/officeDocument/2006/relationships/presProps" Target="/ppt/presProps.xml" Id="Ref0c46edb8114411" /><Relationship Type="http://schemas.openxmlformats.org/officeDocument/2006/relationships/tableStyles" Target="/ppt/tableStyles.xml" Id="R45ff957dd37b440d" /><Relationship Type="http://schemas.openxmlformats.org/officeDocument/2006/relationships/slide" Target="/ppt/slides/slide1.xml" Id="R2293f8c4e39249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24998aeb3748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51251a056f4a80" /><Relationship Type="http://schemas.openxmlformats.org/officeDocument/2006/relationships/notesMaster" Target="/ppt/notesMasters/notesMaster1.xml" Id="R1f33317d83b54f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Timestamped visual–inertial state correction</a:t>
            </a:r>
          </a:p>
          <a:p xmlns:a="http://schemas.openxmlformats.org/drawingml/2006/main">
            <a:r>
              <a:t>Hypothetical method supplied by the user. The state buffer and sample ticks are schematic. No measurements, latency or frame rates are asserted. Publication width: 177.8 mm. Composition draft made using image_gen, then corrected and rebuilt entirely as native objects. Design reference inspected: MAE original architecture, https://arxiv.org/html/2111.06377v3/arch.png, for recurring item identity only. Olive-copper book guides color allocation. No source artwork is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0af3b844b04b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d78ae8b72e49ba" /><Relationship Type="http://schemas.openxmlformats.org/officeDocument/2006/relationships/slideLayout" Target="/ppt/slideLayouts/slideLayout1.xml" Id="R0903bc62d99748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03bc62d99748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2f68efa5b4013" /><Relationship Type="http://schemas.openxmlformats.org/officeDocument/2006/relationships/notesSlide" Target="/ppt/notesSlides/notesSlide1.xml" Id="R01bad0f25b0c48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18009B43-4960-4047-8B20-AE1A0305101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1925" y="1143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Timestamped visual–inertial state correction</a:t>
            </a:r>
          </a:p>
        </p:txBody>
      </p:sp>
      <p:grpSp>
        <p:nvGrpSpPr>
          <p:cNvPr id="134" name="sensing-platform"/>
          <p:cNvGrpSpPr/>
          <p:nvPr/>
        </p:nvGrpSpPr>
        <p:grpSpPr>
          <ns1:xfrm xmlns:ns1="http://schemas.openxmlformats.org/drawingml/2006/main">
            <ns1:off x="152400" y="466725"/>
            <ns1:ext cx="1019175" cy="1200150"/>
            <ns1:chOff x="152400" y="466725"/>
            <ns1:chExt cx="1019175" cy="1200150"/>
          </ns1:xfrm>
        </p:grpSpPr>
        <p:sp>
          <p:nvSpPr>
            <p:cNvPr id="2" name="platform-boundary">
              <a:extLst xmlns:a="http://schemas.openxmlformats.org/drawingml/2006/main">
                <a:ext uri="{FF2B5EF4-FFF2-40B4-BE49-F238E27FC236}">
                  <a16:creationId xmlns:a16="http://schemas.microsoft.com/office/drawing/2014/main" id="{FDC90C34-3331-472A-891F-24E4C91CF32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2400" y="466725"/>
              <a:ext cx="1019175" cy="12001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3F4"/>
            </a:solidFill>
            <a:ln xmlns:a="http://schemas.openxmlformats.org/drawingml/2006/main" w="7620">
              <a:solidFill>
                <a:srgbClr val="A4A9AE"/>
              </a:solidFill>
              <a:prstDash val="solid"/>
            </a:ln>
          </p:spPr>
        </p:sp>
        <p:sp>
          <p:nvSpPr>
            <p:cNvPr id="3" name="platform-label">
              <a:extLst xmlns:a="http://schemas.openxmlformats.org/drawingml/2006/main">
                <a:ext uri="{FF2B5EF4-FFF2-40B4-BE49-F238E27FC236}">
                  <a16:creationId xmlns:a16="http://schemas.microsoft.com/office/drawing/2014/main" id="{A4DB34A6-82B4-45AA-8C7F-E08D9AF61D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0025" y="514350"/>
              <a:ext cx="92392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788" b="1">
                  <a:solidFill>
                    <a:srgbClr val="24272B"/>
                  </a:solidFill>
                  <a:latin typeface="Arial"/>
                  <a:ea typeface="Arial"/>
                  <a:cs typeface="Arial"/>
                </a:defRPr>
              </a:pPr>
              <a:r>
                <a:rPr sz="788" b="1">
                  <a:solidFill>
                    <a:srgbClr val="24272B"/>
                  </a:solidFill>
                  <a:latin typeface="Arial"/>
                  <a:ea typeface="Arial"/>
                  <a:cs typeface="Arial"/>
                </a:rPr>
                <a:t>Moving platform</a:t>
              </a:r>
            </a:p>
          </p:txBody>
        </p:sp>
        <p:sp>
          <p:nvSpPr>
            <p:cNvPr id="4" name="visual-observation">
              <a:extLst xmlns:a="http://schemas.openxmlformats.org/drawingml/2006/main">
                <a:ext uri="{FF2B5EF4-FFF2-40B4-BE49-F238E27FC236}">
                  <a16:creationId xmlns:a16="http://schemas.microsoft.com/office/drawing/2014/main" id="{A5400D5E-3105-469E-ABA0-9D5CECCC282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47650" y="762000"/>
              <a:ext cx="828675" cy="3143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FE8F5"/>
            </a:solidFill>
            <a:ln xmlns:a="http://schemas.openxmlformats.org/drawingml/2006/main" w="9525">
              <a:solidFill>
                <a:srgbClr val="627FA8"/>
              </a:solidFill>
              <a:prstDash val="solid"/>
            </a:ln>
          </p:spPr>
          <p:txBody>
            <a:bodyPr xmlns:a="http://schemas.openxmlformats.org/drawingml/2006/main" wrap="square" lIns="9525" tIns="19050" rIns="95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24272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24272B"/>
                  </a:solidFill>
                  <a:latin typeface="Arial"/>
                  <a:ea typeface="Arial"/>
                  <a:cs typeface="Arial"/>
                </a:rPr>
                <a:t>Visual obs.</a:t>
              </a:r>
            </a:p>
            <a:p xmlns:a="http://schemas.openxmlformats.org/drawingml/2006/main">
              <a:pPr algn="ctr">
                <a:defRPr sz="863" b="0">
                  <a:solidFill>
                    <a:srgbClr val="24272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24272B"/>
                  </a:solidFill>
                  <a:latin typeface="Arial"/>
                  <a:ea typeface="Arial"/>
                  <a:cs typeface="Arial"/>
                </a:rPr>
                <a:t>at tₖ</a:t>
              </a:r>
            </a:p>
          </p:txBody>
        </p:sp>
        <p:sp>
          <p:nvSpPr>
            <p:cNvPr id="5" name="inertial-source">
              <a:extLst xmlns:a="http://schemas.openxmlformats.org/drawingml/2006/main">
                <a:ext uri="{FF2B5EF4-FFF2-40B4-BE49-F238E27FC236}">
                  <a16:creationId xmlns:a16="http://schemas.microsoft.com/office/drawing/2014/main" id="{FE52B4A5-ED03-4644-8739-A8FD68B18A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47650" y="1266825"/>
              <a:ext cx="828675" cy="2476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7EED8"/>
            </a:solidFill>
            <a:ln xmlns:a="http://schemas.openxmlformats.org/drawingml/2006/main" w="9525">
              <a:solidFill>
                <a:srgbClr val="698044"/>
              </a:solidFill>
              <a:prstDash val="solid"/>
            </a:ln>
          </p:spPr>
          <p:txBody>
            <a:bodyPr xmlns:a="http://schemas.openxmlformats.org/drawingml/2006/main" wrap="square" lIns="9525" tIns="19050" rIns="952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24272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24272B"/>
                  </a:solidFill>
                  <a:latin typeface="Arial"/>
                  <a:ea typeface="Arial"/>
                  <a:cs typeface="Arial"/>
                </a:rPr>
                <a:t>Inertial stream</a:t>
              </a:r>
            </a:p>
          </p:txBody>
        </p:sp>
        <p:sp>
          <p:nvSpPr>
            <p:cNvPr id="6" name="faster-stream-label">
              <a:extLst xmlns:a="http://schemas.openxmlformats.org/drawingml/2006/main">
                <a:ext uri="{FF2B5EF4-FFF2-40B4-BE49-F238E27FC236}">
                  <a16:creationId xmlns:a16="http://schemas.microsoft.com/office/drawing/2014/main" id="{BB23EC98-6327-4F5F-8CD8-4E90F73F3D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1495425"/>
              <a:ext cx="85725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713" b="0">
                  <a:solidFill>
                    <a:srgbClr val="51565D"/>
                  </a:solidFill>
                  <a:latin typeface="Arial"/>
                  <a:ea typeface="Arial"/>
                  <a:cs typeface="Arial"/>
                </a:defRPr>
              </a:pPr>
              <a:r>
                <a:rPr sz="713" b="0">
                  <a:solidFill>
                    <a:srgbClr val="51565D"/>
                  </a:solidFill>
                  <a:latin typeface="Arial"/>
                  <a:ea typeface="Arial"/>
                  <a:cs typeface="Arial"/>
                </a:rPr>
                <a:t>faster sampling</a:t>
              </a:r>
            </a:p>
          </p:txBody>
        </p:sp>
      </p:grpSp>
      <p:sp>
        <p:nvSpPr>
          <p:cNvPr id="7" name="visual-estimator">
            <a:extLst xmlns:a="http://schemas.openxmlformats.org/drawingml/2006/main">
              <a:ext uri="{FF2B5EF4-FFF2-40B4-BE49-F238E27FC236}">
                <a16:creationId xmlns:a16="http://schemas.microsoft.com/office/drawing/2014/main" id="{6536DBA9-3DCB-4EB8-8828-C855D695D73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85925" y="7143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5"/>
          </a:solidFill>
          <a:ln xmlns:a="http://schemas.openxmlformats.org/drawingml/2006/main" w="9525">
            <a:solidFill>
              <a:srgbClr val="627FA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Visual estimator</a:t>
            </a:r>
          </a:p>
        </p:txBody>
      </p:sp>
      <p:sp>
        <p:nvSpPr>
          <p:cNvPr id="8" name="late-correction">
            <a:extLst xmlns:a="http://schemas.openxmlformats.org/drawingml/2006/main">
              <a:ext uri="{FF2B5EF4-FFF2-40B4-BE49-F238E27FC236}">
                <a16:creationId xmlns:a16="http://schemas.microsoft.com/office/drawing/2014/main" id="{35D30B27-A907-4DDF-A56B-70FC9BF7E9F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48175" y="714375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5"/>
          </a:solidFill>
          <a:ln xmlns:a="http://schemas.openxmlformats.org/drawingml/2006/main" w="9525">
            <a:solidFill>
              <a:srgbClr val="627FA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Pose correction</a:t>
            </a:r>
          </a:p>
          <a:p xmlns:a="http://schemas.openxmlformats.org/drawingml/2006/main">
            <a:pPr algn="ctr">
              <a:defRPr sz="938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for tₖ</a:t>
            </a:r>
          </a:p>
        </p:txBody>
      </p:sp>
      <p:sp>
        <p:nvSpPr>
          <p:cNvPr id="9" name="late-result-label">
            <a:extLst xmlns:a="http://schemas.openxmlformats.org/drawingml/2006/main">
              <a:ext uri="{FF2B5EF4-FFF2-40B4-BE49-F238E27FC236}">
                <a16:creationId xmlns:a16="http://schemas.microsoft.com/office/drawing/2014/main" id="{03FA0F99-E521-4445-9559-19969A83899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09925" y="6477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Processing finishes</a:t>
            </a:r>
          </a:p>
          <a:p xmlns:a="http://schemas.openxmlformats.org/drawingml/2006/main">
            <a:pPr algn="ctr">
              <a:defRPr sz="825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after tₖ</a:t>
            </a:r>
          </a:p>
        </p:txBody>
      </p:sp>
      <p:sp>
        <p:nvSpPr>
          <p:cNvPr id="10" name="inertial-propagation">
            <a:extLst xmlns:a="http://schemas.openxmlformats.org/drawingml/2006/main">
              <a:ext uri="{FF2B5EF4-FFF2-40B4-BE49-F238E27FC236}">
                <a16:creationId xmlns:a16="http://schemas.microsoft.com/office/drawing/2014/main" id="{F590E635-82D4-4747-9C6A-16E712FE328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85925" y="12954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D8"/>
          </a:solidFill>
          <a:ln xmlns:a="http://schemas.openxmlformats.org/drawingml/2006/main" w="9525">
            <a:solidFill>
              <a:srgbClr val="698044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Inertial propagation</a:t>
            </a:r>
          </a:p>
        </p:txBody>
      </p:sp>
      <p:sp>
        <p:nvSpPr>
          <p:cNvPr id="11" name="continual-label">
            <a:extLst xmlns:a="http://schemas.openxmlformats.org/drawingml/2006/main">
              <a:ext uri="{FF2B5EF4-FFF2-40B4-BE49-F238E27FC236}">
                <a16:creationId xmlns:a16="http://schemas.microsoft.com/office/drawing/2014/main" id="{E865BF3B-8B3A-46CC-8A81-44DB5B3721B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24250" y="1266825"/>
            <a:ext cx="14001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advances to t</a:t>
            </a:r>
            <a:r>
              <a:rPr sz="788" b="0" baseline="-25000">
                <a:solidFill>
                  <a:srgbClr val="51565D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cxnSp>
        <p:nvCxnSpPr>
          <p:cNvPr id="81" name="visual-input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1076325" y="914400"/>
            <a:ext cx="609600" cy="4763"/>
          </a:xfrm>
          <a:prstGeom xmlns:a="http://schemas.openxmlformats.org/drawingml/2006/main" prst="straightConnector1">
            <a:avLst/>
          </a:prstGeom>
          <a:ln xmlns:a="http://schemas.openxmlformats.org/drawingml/2006/main" w="20003" cap="rnd">
            <a:solidFill>
              <a:srgbClr val="426EAA"/>
            </a:solidFill>
            <a:prstDash val="solid"/>
            <a:round/>
            <a:tailEnd type="triangle" w="med" len="med"/>
          </a:ln>
        </p:spPr>
      </p:cxnSp>
      <p:cxnSp>
        <p:nvCxnSpPr>
          <p:cNvPr id="82" name="visual-estimation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52775" y="914400"/>
            <a:ext cx="12954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 cap="rnd">
            <a:solidFill>
              <a:srgbClr val="426EAA"/>
            </a:solidFill>
            <a:prstDash val="solid"/>
            <a:round/>
            <a:tailEnd type="triangle" w="med" len="med"/>
          </a:ln>
        </p:spPr>
      </p:cxnSp>
      <p:cxnSp>
        <p:nvCxnSpPr>
          <p:cNvPr id="83" name="inertial-input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76325" y="1390650"/>
            <a:ext cx="609600" cy="85725"/>
          </a:xfrm>
          <a:prstGeom xmlns:a="http://schemas.openxmlformats.org/drawingml/2006/main" prst="straightConnector1">
            <a:avLst/>
          </a:prstGeom>
          <a:ln xmlns:a="http://schemas.openxmlformats.org/drawingml/2006/main" w="20003" cap="rnd">
            <a:solidFill>
              <a:srgbClr val="577531"/>
            </a:solidFill>
            <a:prstDash val="solid"/>
            <a:round/>
            <a:tailEnd type="triangle" w="med" len="med"/>
          </a:ln>
        </p:spPr>
      </p:cxnSp>
      <p:sp>
        <p:nvSpPr>
          <p:cNvPr id="15" name="buffer-boundary">
            <a:extLst xmlns:a="http://schemas.openxmlformats.org/drawingml/2006/main">
              <a:ext uri="{FF2B5EF4-FFF2-40B4-BE49-F238E27FC236}">
                <a16:creationId xmlns:a16="http://schemas.microsoft.com/office/drawing/2014/main" id="{97FDA2BF-F3F2-485A-AA9A-EC6EB68B7DE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09725" y="2057400"/>
            <a:ext cx="4114800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A1A6AC"/>
            </a:solidFill>
            <a:prstDash val="solid"/>
          </a:ln>
        </p:spPr>
      </p:sp>
      <p:sp>
        <p:nvSpPr>
          <p:cNvPr id="16" name="buffer-label">
            <a:extLst xmlns:a="http://schemas.openxmlformats.org/drawingml/2006/main">
              <a:ext uri="{FF2B5EF4-FFF2-40B4-BE49-F238E27FC236}">
                <a16:creationId xmlns:a16="http://schemas.microsoft.com/office/drawing/2014/main" id="{7903ED28-07E1-485F-A436-9266A7DBD80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43200" y="2066925"/>
            <a:ext cx="2171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State and measurement buffer</a:t>
            </a:r>
          </a:p>
        </p:txBody>
      </p:sp>
      <p:sp>
        <p:nvSpPr>
          <p:cNvPr id="17" name="original-row-label">
            <a:extLst xmlns:a="http://schemas.openxmlformats.org/drawingml/2006/main">
              <a:ext uri="{FF2B5EF4-FFF2-40B4-BE49-F238E27FC236}">
                <a16:creationId xmlns:a16="http://schemas.microsoft.com/office/drawing/2014/main" id="{4DC85D55-33EA-48A9-90A5-AF3025C2951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2257425"/>
            <a:ext cx="1285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Stored</a:t>
            </a:r>
          </a:p>
          <a:p xmlns:a="http://schemas.openxmlformats.org/drawingml/2006/main">
            <a:pPr algn="l">
              <a:defRPr sz="90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states</a:t>
            </a:r>
          </a:p>
        </p:txBody>
      </p:sp>
      <p:sp>
        <p:nvSpPr>
          <p:cNvPr id="18" name="samples-row-label">
            <a:extLst xmlns:a="http://schemas.openxmlformats.org/drawingml/2006/main">
              <a:ext uri="{FF2B5EF4-FFF2-40B4-BE49-F238E27FC236}">
                <a16:creationId xmlns:a16="http://schemas.microsoft.com/office/drawing/2014/main" id="{C7628042-75CB-476C-A7A6-0656AE0E4C2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2695575"/>
            <a:ext cx="1323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Buffered</a:t>
            </a:r>
          </a:p>
          <a:p xmlns:a="http://schemas.openxmlformats.org/drawingml/2006/main">
            <a:pPr algn="l">
              <a:defRPr sz="90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inertial samples</a:t>
            </a:r>
          </a:p>
        </p:txBody>
      </p:sp>
      <p:sp>
        <p:nvSpPr>
          <p:cNvPr id="19" name="replayed-row-label">
            <a:extLst xmlns:a="http://schemas.openxmlformats.org/drawingml/2006/main">
              <a:ext uri="{FF2B5EF4-FFF2-40B4-BE49-F238E27FC236}">
                <a16:creationId xmlns:a16="http://schemas.microsoft.com/office/drawing/2014/main" id="{353A58B0-32AE-4888-AE7F-0F4D55F554F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314700"/>
            <a:ext cx="1323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After correction</a:t>
            </a:r>
          </a:p>
          <a:p xmlns:a="http://schemas.openxmlformats.org/drawingml/2006/main">
            <a:pPr algn="l">
              <a:defRPr sz="90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and replay</a:t>
            </a:r>
          </a:p>
        </p:txBody>
      </p:sp>
      <p:sp>
        <p:nvSpPr>
          <p:cNvPr id="20" name="stored-k">
            <a:extLst xmlns:a="http://schemas.openxmlformats.org/drawingml/2006/main">
              <a:ext uri="{FF2B5EF4-FFF2-40B4-BE49-F238E27FC236}">
                <a16:creationId xmlns:a16="http://schemas.microsoft.com/office/drawing/2014/main" id="{26AF905A-00C2-438E-ADFD-2BF75BE3D41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33575" y="2276475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737980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s(tₖ)</a:t>
            </a:r>
          </a:p>
        </p:txBody>
      </p:sp>
      <p:sp>
        <p:nvSpPr>
          <p:cNvPr id="21" name="stored-k1">
            <a:extLst xmlns:a="http://schemas.openxmlformats.org/drawingml/2006/main">
              <a:ext uri="{FF2B5EF4-FFF2-40B4-BE49-F238E27FC236}">
                <a16:creationId xmlns:a16="http://schemas.microsoft.com/office/drawing/2014/main" id="{6C2F3119-8A72-4AE1-9C63-3675A5CDCC7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33750" y="2276475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737980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s(tₖ₊₁)</a:t>
            </a:r>
          </a:p>
        </p:txBody>
      </p:sp>
      <p:sp>
        <p:nvSpPr>
          <p:cNvPr id="22" name="stored-now">
            <a:extLst xmlns:a="http://schemas.openxmlformats.org/drawingml/2006/main">
              <a:ext uri="{FF2B5EF4-FFF2-40B4-BE49-F238E27FC236}">
                <a16:creationId xmlns:a16="http://schemas.microsoft.com/office/drawing/2014/main" id="{9C236709-A03D-481D-886E-ABB2DB47BFC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38700" y="227647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737980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s(t</a:t>
            </a:r>
            <a:r>
              <a:rPr sz="1013" b="0" baseline="-25000">
                <a:solidFill>
                  <a:srgbClr val="24272B"/>
                </a:solidFill>
                <a:latin typeface="Arial"/>
                <a:ea typeface="Arial"/>
                <a:cs typeface="Arial"/>
              </a:rPr>
              <a:t>now</a:t>
            </a:r>
            <a:r>
              <a:rPr sz="1013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cxnSp>
        <p:nvCxnSpPr>
          <p:cNvPr id="92" name="propagate-k-k1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543175" y="2438400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577531"/>
            </a:solidFill>
            <a:prstDash val="solid"/>
            <a:round/>
            <a:tailEnd type="triangle" w="med" len="med"/>
          </a:ln>
        </p:spPr>
      </p:cxnSp>
      <p:cxnSp>
        <p:nvCxnSpPr>
          <p:cNvPr id="93" name="propagate-k1-now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981450" y="24384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577531"/>
            </a:solidFill>
            <a:prstDash val="solid"/>
            <a:round/>
            <a:tailEnd type="triangle" w="med" len="med"/>
          </a:ln>
        </p:spPr>
      </p:cxnSp>
      <p:sp>
        <p:nvSpPr>
          <p:cNvPr id="25" name="more-states">
            <a:extLst xmlns:a="http://schemas.openxmlformats.org/drawingml/2006/main">
              <a:ext uri="{FF2B5EF4-FFF2-40B4-BE49-F238E27FC236}">
                <a16:creationId xmlns:a16="http://schemas.microsoft.com/office/drawing/2014/main" id="{AB53F539-6170-411F-96FB-C82D10AA4E0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76725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cxnSp>
        <p:nvCxnSpPr>
          <p:cNvPr id="95" name="live-to-current"/>
          <p:cNvCxnSpPr>
            <a:stCxn xmlns:a="http://schemas.openxmlformats.org/drawingml/2006/main" id="10" idx="3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3400425" y="1476375"/>
            <a:ext cx="1819275" cy="800100"/>
          </a:xfrm>
          <a:prstGeom xmlns:a="http://schemas.openxmlformats.org/drawingml/2006/main" prst="bentConnector2">
            <a:avLst/>
          </a:prstGeom>
          <a:ln xmlns:a="http://schemas.openxmlformats.org/drawingml/2006/main" w="20955" cap="rnd">
            <a:solidFill>
              <a:srgbClr val="577531"/>
            </a:solidFill>
            <a:prstDash val="solid"/>
            <a:round/>
            <a:tailEnd type="triangle" w="med" len="med"/>
          </a:ln>
        </p:spPr>
      </p:cxnSp>
      <p:cxnSp>
        <p:nvCxnSpPr>
          <p:cNvPr id="96" name="correction-to-history"/>
          <p:cNvCxnSpPr>
            <a:stCxn xmlns:a="http://schemas.openxmlformats.org/drawingml/2006/main" id="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2238375" y="1114425"/>
            <a:ext cx="2819400" cy="1162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 cap="rnd">
            <a:solidFill>
              <a:srgbClr val="426EAA"/>
            </a:solidFill>
            <a:prstDash val="solid"/>
            <a:round/>
            <a:tailEnd type="triangle" w="med" len="med"/>
          </a:ln>
        </p:spPr>
      </p:cxnSp>
      <p:sp>
        <p:nvSpPr>
          <p:cNvPr id="28" name="historical-target-label">
            <a:extLst xmlns:a="http://schemas.openxmlformats.org/drawingml/2006/main">
              <a:ext uri="{FF2B5EF4-FFF2-40B4-BE49-F238E27FC236}">
                <a16:creationId xmlns:a16="http://schemas.microsoft.com/office/drawing/2014/main" id="{E75D0EED-BAA2-4E3C-B1FE-A2F93C6F33B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00300" y="1819275"/>
            <a:ext cx="2562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6E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6EAA"/>
                </a:solidFill>
                <a:latin typeface="Arial"/>
                <a:ea typeface="Arial"/>
                <a:cs typeface="Arial"/>
              </a:rPr>
              <a:t>Update the stored state at tₖ</a:t>
            </a:r>
          </a:p>
        </p:txBody>
      </p:sp>
      <p:sp>
        <p:nvSpPr>
          <p:cNvPr id="29" name="buffered-measurements">
            <a:extLst xmlns:a="http://schemas.openxmlformats.org/drawingml/2006/main">
              <a:ext uri="{FF2B5EF4-FFF2-40B4-BE49-F238E27FC236}">
                <a16:creationId xmlns:a16="http://schemas.microsoft.com/office/drawing/2014/main" id="{E401439D-A6C3-45CB-9D2C-97F11F093B5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43200" y="2781300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D8"/>
          </a:solidFill>
          <a:ln xmlns:a="http://schemas.openxmlformats.org/drawingml/2006/main" w="9525">
            <a:solidFill>
              <a:srgbClr val="698044"/>
            </a:solidFill>
            <a:prstDash val="solid"/>
          </a:ln>
        </p:spPr>
      </p:sp>
      <p:grpSp>
        <p:nvGrpSpPr>
          <p:cNvPr id="135" name="inertial-sample-marks"/>
          <p:cNvGrpSpPr/>
          <p:nvPr/>
        </p:nvGrpSpPr>
        <p:grpSpPr>
          <ns1:xfrm xmlns:ns1="http://schemas.openxmlformats.org/drawingml/2006/main">
            <ns1:off x="2838450" y="2819400"/>
            <ns1:ext cx="2475643" cy="114300"/>
            <ns1:chOff x="2838450" y="2819400"/>
            <ns1:chExt cx="2475643" cy="114300"/>
          </ns1:xfrm>
        </p:grpSpPr>
        <p:sp>
          <p:nvSpPr>
            <p:cNvPr id="30" name="imu-mark-0">
              <a:extLst xmlns:a="http://schemas.openxmlformats.org/drawingml/2006/main">
                <a:ext uri="{FF2B5EF4-FFF2-40B4-BE49-F238E27FC236}">
                  <a16:creationId xmlns:a16="http://schemas.microsoft.com/office/drawing/2014/main" id="{44895C9F-F23B-491A-A336-2C29745C8B3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38450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31" name="imu-mark-1">
              <a:extLst xmlns:a="http://schemas.openxmlformats.org/drawingml/2006/main">
                <a:ext uri="{FF2B5EF4-FFF2-40B4-BE49-F238E27FC236}">
                  <a16:creationId xmlns:a16="http://schemas.microsoft.com/office/drawing/2014/main" id="{6000D766-4F97-48A8-AD9A-4545F399B68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46083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32" name="imu-mark-2">
              <a:extLst xmlns:a="http://schemas.openxmlformats.org/drawingml/2006/main">
                <a:ext uri="{FF2B5EF4-FFF2-40B4-BE49-F238E27FC236}">
                  <a16:creationId xmlns:a16="http://schemas.microsoft.com/office/drawing/2014/main" id="{04CCF6C4-1DE2-4447-B5D7-1720D8C596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53715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33" name="imu-mark-3">
              <a:extLst xmlns:a="http://schemas.openxmlformats.org/drawingml/2006/main">
                <a:ext uri="{FF2B5EF4-FFF2-40B4-BE49-F238E27FC236}">
                  <a16:creationId xmlns:a16="http://schemas.microsoft.com/office/drawing/2014/main" id="{2824022A-A8A5-4214-9D73-3D596A6E99E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61348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34" name="imu-mark-4">
              <a:extLst xmlns:a="http://schemas.openxmlformats.org/drawingml/2006/main">
                <a:ext uri="{FF2B5EF4-FFF2-40B4-BE49-F238E27FC236}">
                  <a16:creationId xmlns:a16="http://schemas.microsoft.com/office/drawing/2014/main" id="{4632E577-457E-4117-8C2D-2A0133F936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68980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35" name="imu-mark-5">
              <a:extLst xmlns:a="http://schemas.openxmlformats.org/drawingml/2006/main">
                <a:ext uri="{FF2B5EF4-FFF2-40B4-BE49-F238E27FC236}">
                  <a16:creationId xmlns:a16="http://schemas.microsoft.com/office/drawing/2014/main" id="{87901265-D377-465D-8790-901FC3E0899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76613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36" name="imu-mark-6">
              <a:extLst xmlns:a="http://schemas.openxmlformats.org/drawingml/2006/main">
                <a:ext uri="{FF2B5EF4-FFF2-40B4-BE49-F238E27FC236}">
                  <a16:creationId xmlns:a16="http://schemas.microsoft.com/office/drawing/2014/main" id="{ACDD355B-6F4F-45F8-83DC-7C27CC0C717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84245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37" name="imu-mark-7">
              <a:extLst xmlns:a="http://schemas.openxmlformats.org/drawingml/2006/main">
                <a:ext uri="{FF2B5EF4-FFF2-40B4-BE49-F238E27FC236}">
                  <a16:creationId xmlns:a16="http://schemas.microsoft.com/office/drawing/2014/main" id="{239B4A7B-A723-4981-B445-F0E00A93B22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91878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38" name="imu-mark-8">
              <a:extLst xmlns:a="http://schemas.openxmlformats.org/drawingml/2006/main">
                <a:ext uri="{FF2B5EF4-FFF2-40B4-BE49-F238E27FC236}">
                  <a16:creationId xmlns:a16="http://schemas.microsoft.com/office/drawing/2014/main" id="{7020B969-B3B6-4EDA-B2B9-066DC67CAF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99510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39" name="imu-mark-9">
              <a:extLst xmlns:a="http://schemas.openxmlformats.org/drawingml/2006/main">
                <a:ext uri="{FF2B5EF4-FFF2-40B4-BE49-F238E27FC236}">
                  <a16:creationId xmlns:a16="http://schemas.microsoft.com/office/drawing/2014/main" id="{DC8FC11D-F3AF-4F32-AD0B-547CCA4926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07143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40" name="imu-mark-10">
              <a:extLst xmlns:a="http://schemas.openxmlformats.org/drawingml/2006/main">
                <a:ext uri="{FF2B5EF4-FFF2-40B4-BE49-F238E27FC236}">
                  <a16:creationId xmlns:a16="http://schemas.microsoft.com/office/drawing/2014/main" id="{5A6D06B8-26E4-4729-8880-415D4B9B432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14775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41" name="imu-mark-11">
              <a:extLst xmlns:a="http://schemas.openxmlformats.org/drawingml/2006/main">
                <a:ext uri="{FF2B5EF4-FFF2-40B4-BE49-F238E27FC236}">
                  <a16:creationId xmlns:a16="http://schemas.microsoft.com/office/drawing/2014/main" id="{4D18BCA2-C4BB-4801-99AB-37C7D5D29C4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22408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42" name="imu-mark-12">
              <a:extLst xmlns:a="http://schemas.openxmlformats.org/drawingml/2006/main">
                <a:ext uri="{FF2B5EF4-FFF2-40B4-BE49-F238E27FC236}">
                  <a16:creationId xmlns:a16="http://schemas.microsoft.com/office/drawing/2014/main" id="{55D2D9B4-4213-44CD-BA46-4B5193B8688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30040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43" name="imu-mark-13">
              <a:extLst xmlns:a="http://schemas.openxmlformats.org/drawingml/2006/main">
                <a:ext uri="{FF2B5EF4-FFF2-40B4-BE49-F238E27FC236}">
                  <a16:creationId xmlns:a16="http://schemas.microsoft.com/office/drawing/2014/main" id="{6B89302E-7142-4DFB-A864-A9746DC394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37673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44" name="imu-mark-14">
              <a:extLst xmlns:a="http://schemas.openxmlformats.org/drawingml/2006/main">
                <a:ext uri="{FF2B5EF4-FFF2-40B4-BE49-F238E27FC236}">
                  <a16:creationId xmlns:a16="http://schemas.microsoft.com/office/drawing/2014/main" id="{40F20AAC-786F-4131-9B0B-66AFECF8CAC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45305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45" name="imu-mark-15">
              <a:extLst xmlns:a="http://schemas.openxmlformats.org/drawingml/2006/main">
                <a:ext uri="{FF2B5EF4-FFF2-40B4-BE49-F238E27FC236}">
                  <a16:creationId xmlns:a16="http://schemas.microsoft.com/office/drawing/2014/main" id="{F78709EA-AD55-41F5-AB84-D2069F6BFEB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52938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46" name="imu-mark-16">
              <a:extLst xmlns:a="http://schemas.openxmlformats.org/drawingml/2006/main">
                <a:ext uri="{FF2B5EF4-FFF2-40B4-BE49-F238E27FC236}">
                  <a16:creationId xmlns:a16="http://schemas.microsoft.com/office/drawing/2014/main" id="{6ACC4EF9-F7FD-42DA-835F-70A06FB584B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60570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47" name="imu-mark-17">
              <a:extLst xmlns:a="http://schemas.openxmlformats.org/drawingml/2006/main">
                <a:ext uri="{FF2B5EF4-FFF2-40B4-BE49-F238E27FC236}">
                  <a16:creationId xmlns:a16="http://schemas.microsoft.com/office/drawing/2014/main" id="{BF9E8033-32DF-45BD-8527-E0257FEA911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68203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48" name="imu-mark-18">
              <a:extLst xmlns:a="http://schemas.openxmlformats.org/drawingml/2006/main">
                <a:ext uri="{FF2B5EF4-FFF2-40B4-BE49-F238E27FC236}">
                  <a16:creationId xmlns:a16="http://schemas.microsoft.com/office/drawing/2014/main" id="{8DA984BB-623E-43D2-89A4-51B2C12D3FF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75835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49" name="imu-mark-19">
              <a:extLst xmlns:a="http://schemas.openxmlformats.org/drawingml/2006/main">
                <a:ext uri="{FF2B5EF4-FFF2-40B4-BE49-F238E27FC236}">
                  <a16:creationId xmlns:a16="http://schemas.microsoft.com/office/drawing/2014/main" id="{3C67847E-76CE-4E71-AD3A-9CA7B03439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83468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50" name="imu-mark-20">
              <a:extLst xmlns:a="http://schemas.openxmlformats.org/drawingml/2006/main">
                <a:ext uri="{FF2B5EF4-FFF2-40B4-BE49-F238E27FC236}">
                  <a16:creationId xmlns:a16="http://schemas.microsoft.com/office/drawing/2014/main" id="{DD43AD92-B023-45D5-B655-E3DB974F886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91100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51" name="imu-mark-21">
              <a:extLst xmlns:a="http://schemas.openxmlformats.org/drawingml/2006/main">
                <a:ext uri="{FF2B5EF4-FFF2-40B4-BE49-F238E27FC236}">
                  <a16:creationId xmlns:a16="http://schemas.microsoft.com/office/drawing/2014/main" id="{3095C1C9-C21C-48AA-AE6F-743EC7F05D9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98733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52" name="imu-mark-22">
              <a:extLst xmlns:a="http://schemas.openxmlformats.org/drawingml/2006/main">
                <a:ext uri="{FF2B5EF4-FFF2-40B4-BE49-F238E27FC236}">
                  <a16:creationId xmlns:a16="http://schemas.microsoft.com/office/drawing/2014/main" id="{7B9FD4A5-A7DD-4D5E-BDFF-BB0EDA4E075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06365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53" name="imu-mark-23">
              <a:extLst xmlns:a="http://schemas.openxmlformats.org/drawingml/2006/main">
                <a:ext uri="{FF2B5EF4-FFF2-40B4-BE49-F238E27FC236}">
                  <a16:creationId xmlns:a16="http://schemas.microsoft.com/office/drawing/2014/main" id="{BD02F480-2FDA-4340-B836-7422348E1AC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13998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</p:grpSp>
      <p:sp>
        <p:nvSpPr>
          <p:cNvPr id="54" name="retained-interval">
            <a:extLst xmlns:a="http://schemas.openxmlformats.org/drawingml/2006/main">
              <a:ext uri="{FF2B5EF4-FFF2-40B4-BE49-F238E27FC236}">
                <a16:creationId xmlns:a16="http://schemas.microsoft.com/office/drawing/2014/main" id="{FBBE374E-C877-4D96-874F-D0E4A0068B5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57350" y="2905125"/>
            <a:ext cx="504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426EAA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26EAA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55" name="retention-note">
            <a:extLst xmlns:a="http://schemas.openxmlformats.org/drawingml/2006/main">
              <a:ext uri="{FF2B5EF4-FFF2-40B4-BE49-F238E27FC236}">
                <a16:creationId xmlns:a16="http://schemas.microsoft.com/office/drawing/2014/main" id="{F7A4E1E9-C4DB-4D23-9985-FE9A4EF77C2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52725" y="2581275"/>
            <a:ext cx="2705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Retained IMU samples in (tₖ, t</a:t>
            </a:r>
            <a:r>
              <a:rPr sz="788" b="0" baseline="-25000">
                <a:solidFill>
                  <a:srgbClr val="51565D"/>
                </a:solidFill>
                <a:latin typeface="Arial"/>
                <a:ea typeface="Arial"/>
                <a:cs typeface="Arial"/>
              </a:rPr>
              <a:t>now</a:t>
            </a:r>
            <a:r>
              <a:rPr sz="788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]</a:t>
            </a:r>
          </a:p>
        </p:txBody>
      </p:sp>
      <p:sp>
        <p:nvSpPr>
          <p:cNvPr id="56" name="updated-k">
            <a:extLst xmlns:a="http://schemas.openxmlformats.org/drawingml/2006/main">
              <a:ext uri="{FF2B5EF4-FFF2-40B4-BE49-F238E27FC236}">
                <a16:creationId xmlns:a16="http://schemas.microsoft.com/office/drawing/2014/main" id="{E86785DB-6923-455C-938A-4AA6B1A0827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33575" y="3343275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D5"/>
          </a:solidFill>
          <a:ln xmlns:a="http://schemas.openxmlformats.org/drawingml/2006/main" w="14288">
            <a:solidFill>
              <a:srgbClr val="B1703D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s⁺(tₖ)</a:t>
            </a:r>
          </a:p>
        </p:txBody>
      </p:sp>
      <p:sp>
        <p:nvSpPr>
          <p:cNvPr id="57" name="replay">
            <a:extLst xmlns:a="http://schemas.openxmlformats.org/drawingml/2006/main">
              <a:ext uri="{FF2B5EF4-FFF2-40B4-BE49-F238E27FC236}">
                <a16:creationId xmlns:a16="http://schemas.microsoft.com/office/drawing/2014/main" id="{743B46A1-9575-488A-96BB-DABC4BDA973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24225" y="3286125"/>
            <a:ext cx="781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1703D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58" name="corrected-now">
            <a:extLst xmlns:a="http://schemas.openxmlformats.org/drawingml/2006/main">
              <a:ext uri="{FF2B5EF4-FFF2-40B4-BE49-F238E27FC236}">
                <a16:creationId xmlns:a16="http://schemas.microsoft.com/office/drawing/2014/main" id="{B63D2ECA-DF62-408D-A601-3BC1A8DA2EC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81550" y="3343275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D5"/>
          </a:solidFill>
          <a:ln xmlns:a="http://schemas.openxmlformats.org/drawingml/2006/main" w="17145">
            <a:solidFill>
              <a:srgbClr val="AF622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s⁺(t</a:t>
            </a:r>
            <a:r>
              <a:rPr sz="1013" b="1" baseline="-25000">
                <a:solidFill>
                  <a:srgbClr val="24272B"/>
                </a:solidFill>
                <a:latin typeface="Arial"/>
                <a:ea typeface="Arial"/>
                <a:cs typeface="Arial"/>
              </a:rPr>
              <a:t>now</a:t>
            </a:r>
            <a:r>
              <a:rPr sz="1013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59" name="future-state">
            <a:extLst xmlns:a="http://schemas.openxmlformats.org/drawingml/2006/main">
              <a:ext uri="{FF2B5EF4-FFF2-40B4-BE49-F238E27FC236}">
                <a16:creationId xmlns:a16="http://schemas.microsoft.com/office/drawing/2014/main" id="{FDDFDDAA-E1DE-4DBF-93F3-3FECDA1CC4B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57875" y="3314700"/>
            <a:ext cx="400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1703D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Next</a:t>
            </a:r>
          </a:p>
          <a:p xmlns:a="http://schemas.openxmlformats.org/drawingml/2006/main">
            <a:pPr algn="ctr">
              <a:defRPr sz="825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cxnSp>
        <p:nvCxnSpPr>
          <p:cNvPr id="129" name="update-k"/>
          <p:cNvCxnSpPr>
            <a:stCxn xmlns:a="http://schemas.openxmlformats.org/drawingml/2006/main" id="20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2238375" y="2600325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20003" cap="rnd">
            <a:solidFill>
              <a:srgbClr val="426EAA"/>
            </a:solidFill>
            <a:prstDash val="solid"/>
            <a:round/>
            <a:tailEnd type="triangle" w="med" len="med"/>
          </a:ln>
        </p:spPr>
      </p:cxnSp>
      <p:cxnSp>
        <p:nvCxnSpPr>
          <p:cNvPr id="130" name="start-replay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2543175" y="350520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AF6228"/>
            </a:solidFill>
            <a:prstDash val="solid"/>
            <a:round/>
            <a:tailEnd type="triangle" w="med" len="med"/>
          </a:ln>
        </p:spPr>
      </p:cxnSp>
      <p:cxnSp>
        <p:nvCxnSpPr>
          <p:cNvPr id="131" name="replay-samples"/>
          <p:cNvCxnSpPr>
            <a:stCxn xmlns:a="http://schemas.openxmlformats.org/drawingml/2006/main" id="29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 flipH="1">
            <a:off x="3714750" y="2971800"/>
            <a:ext cx="38100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8098" cap="rnd">
            <a:solidFill>
              <a:srgbClr val="577531"/>
            </a:solidFill>
            <a:prstDash val="solid"/>
            <a:round/>
            <a:tailEnd type="triangle" w="med" len="med"/>
          </a:ln>
        </p:spPr>
      </p:cxnSp>
      <p:cxnSp>
        <p:nvCxnSpPr>
          <p:cNvPr id="132" name="correct-current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4105275" y="3505200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AF6228"/>
            </a:solidFill>
            <a:prstDash val="solid"/>
            <a:round/>
            <a:tailEnd type="triangle" w="med" len="med"/>
          </a:ln>
        </p:spPr>
      </p:cxnSp>
      <p:cxnSp>
        <p:nvCxnSpPr>
          <p:cNvPr id="133" name="continue-future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5600700" y="3505200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AF6228"/>
            </a:solidFill>
            <a:prstDash val="solid"/>
            <a:round/>
            <a:tailEnd type="triangle" w="med" len="med"/>
          </a:ln>
        </p:spPr>
      </p:cxnSp>
      <p:sp>
        <p:nvSpPr>
          <p:cNvPr id="65" name="replay-interval-label">
            <a:extLst xmlns:a="http://schemas.openxmlformats.org/drawingml/2006/main">
              <a:ext uri="{FF2B5EF4-FFF2-40B4-BE49-F238E27FC236}">
                <a16:creationId xmlns:a16="http://schemas.microsoft.com/office/drawing/2014/main" id="{1614BF12-B9AD-498B-8B95-922C71E8D24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00525" y="3086100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F62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F6228"/>
                </a:solidFill>
                <a:latin typeface="Arial"/>
                <a:ea typeface="Arial"/>
                <a:cs typeface="Arial"/>
              </a:rPr>
              <a:t>from tₖ to t</a:t>
            </a:r>
            <a:r>
              <a:rPr sz="825" b="0" baseline="-25000">
                <a:solidFill>
                  <a:srgbClr val="AF6228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66" name="corrected-output-label">
            <a:extLst xmlns:a="http://schemas.openxmlformats.org/drawingml/2006/main">
              <a:ext uri="{FF2B5EF4-FFF2-40B4-BE49-F238E27FC236}">
                <a16:creationId xmlns:a16="http://schemas.microsoft.com/office/drawing/2014/main" id="{9E1FD59A-DCF9-4400-B0C8-E1D2C7BD87A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38650" y="3838575"/>
            <a:ext cx="1304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F62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F6228"/>
                </a:solidFill>
                <a:latin typeface="Arial"/>
                <a:ea typeface="Arial"/>
                <a:cs typeface="Arial"/>
              </a:rPr>
              <a:t>Corrected current pose</a:t>
            </a:r>
          </a:p>
        </p:txBody>
      </p:sp>
      <p:sp>
        <p:nvSpPr>
          <p:cNvPr id="67" name="future-propagation-label">
            <a:extLst xmlns:a="http://schemas.openxmlformats.org/drawingml/2006/main">
              <a:ext uri="{FF2B5EF4-FFF2-40B4-BE49-F238E27FC236}">
                <a16:creationId xmlns:a16="http://schemas.microsoft.com/office/drawing/2014/main" id="{FDFFB6C2-1163-4C86-8AA5-E8F536E0DCF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43575" y="2895600"/>
            <a:ext cx="609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Future</a:t>
            </a:r>
          </a:p>
          <a:p xmlns:a="http://schemas.openxmlformats.org/drawingml/2006/main">
            <a:pPr algn="ctr">
              <a:defRPr sz="788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propagation</a:t>
            </a:r>
          </a:p>
        </p:txBody>
      </p:sp>
      <p:sp>
        <p:nvSpPr>
          <p:cNvPr id="68" name="state-legend">
            <a:extLst xmlns:a="http://schemas.openxmlformats.org/drawingml/2006/main">
              <a:ext uri="{FF2B5EF4-FFF2-40B4-BE49-F238E27FC236}">
                <a16:creationId xmlns:a16="http://schemas.microsoft.com/office/drawing/2014/main" id="{90843800-A250-45BE-AA19-1C894BE6DBA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82905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s(t): propagated pose     s⁺(t): corrected pose</a:t>
            </a:r>
          </a:p>
        </p:txBody>
      </p:sp>
      <p:sp>
        <p:nvSpPr>
          <p:cNvPr id="69" name="schematic-disclosure">
            <a:extLst xmlns:a="http://schemas.openxmlformats.org/drawingml/2006/main">
              <a:ext uri="{FF2B5EF4-FFF2-40B4-BE49-F238E27FC236}">
                <a16:creationId xmlns:a16="http://schemas.microsoft.com/office/drawing/2014/main" id="{64F61787-D768-41EF-95E4-CEDBB1443D3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4095750"/>
            <a:ext cx="6048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Symbolic timing and schematic samples. Time intervals are not to scale.</a:t>
            </a:r>
          </a:p>
        </p:txBody>
      </p:sp>
    </p:spTree>
    <p:extLst>
      <p:ext uri="{BB962C8B-B14F-4D97-AF65-F5344CB8AC3E}">
        <p14:creationId xmlns:p14="http://schemas.microsoft.com/office/powerpoint/2010/main" val="532798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2026-09-30T08:12:48.8420000Z</dcterms:created>
  <dcterms:modified xsi:type="dcterms:W3CDTF">2026-09-30T08:12:48.8420000Z</dcterms:modified>
</coreProperties>
</file>